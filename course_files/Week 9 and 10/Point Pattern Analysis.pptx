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2"/>
  </p:sldMasterIdLst>
  <p:notesMasterIdLst>
    <p:notesMasterId r:id="rId18"/>
  </p:notesMasterIdLst>
  <p:handoutMasterIdLst>
    <p:handoutMasterId r:id="rId19"/>
  </p:handoutMasterIdLst>
  <p:sldIdLst>
    <p:sldId id="435" r:id="rId3"/>
    <p:sldId id="422" r:id="rId4"/>
    <p:sldId id="451" r:id="rId5"/>
    <p:sldId id="452" r:id="rId6"/>
    <p:sldId id="437" r:id="rId7"/>
    <p:sldId id="438" r:id="rId8"/>
    <p:sldId id="439" r:id="rId9"/>
    <p:sldId id="441" r:id="rId10"/>
    <p:sldId id="440" r:id="rId11"/>
    <p:sldId id="445" r:id="rId12"/>
    <p:sldId id="446" r:id="rId13"/>
    <p:sldId id="447" r:id="rId14"/>
    <p:sldId id="448" r:id="rId15"/>
    <p:sldId id="449" r:id="rId16"/>
    <p:sldId id="450" r:id="rId17"/>
  </p:sldIdLst>
  <p:sldSz cx="9144000" cy="6858000" type="screen4x3"/>
  <p:notesSz cx="7045325" cy="9345613"/>
  <p:defaultTextStyle>
    <a:defPPr>
      <a:defRPr lang="en-US"/>
    </a:defPPr>
    <a:lvl1pPr algn="l" rtl="0" fontAlgn="base">
      <a:spcBef>
        <a:spcPct val="0"/>
      </a:spcBef>
      <a:spcAft>
        <a:spcPct val="0"/>
      </a:spcAft>
      <a:defRPr sz="2000" kern="1200">
        <a:solidFill>
          <a:schemeClr val="tx1"/>
        </a:solidFill>
        <a:latin typeface="Times New Roman" pitchFamily="18" charset="0"/>
        <a:ea typeface="+mn-ea"/>
        <a:cs typeface="+mn-cs"/>
      </a:defRPr>
    </a:lvl1pPr>
    <a:lvl2pPr marL="457200" algn="l" rtl="0" fontAlgn="base">
      <a:spcBef>
        <a:spcPct val="0"/>
      </a:spcBef>
      <a:spcAft>
        <a:spcPct val="0"/>
      </a:spcAft>
      <a:defRPr sz="2000" kern="1200">
        <a:solidFill>
          <a:schemeClr val="tx1"/>
        </a:solidFill>
        <a:latin typeface="Times New Roman" pitchFamily="18" charset="0"/>
        <a:ea typeface="+mn-ea"/>
        <a:cs typeface="+mn-cs"/>
      </a:defRPr>
    </a:lvl2pPr>
    <a:lvl3pPr marL="914400" algn="l" rtl="0" fontAlgn="base">
      <a:spcBef>
        <a:spcPct val="0"/>
      </a:spcBef>
      <a:spcAft>
        <a:spcPct val="0"/>
      </a:spcAft>
      <a:defRPr sz="2000" kern="1200">
        <a:solidFill>
          <a:schemeClr val="tx1"/>
        </a:solidFill>
        <a:latin typeface="Times New Roman" pitchFamily="18" charset="0"/>
        <a:ea typeface="+mn-ea"/>
        <a:cs typeface="+mn-cs"/>
      </a:defRPr>
    </a:lvl3pPr>
    <a:lvl4pPr marL="1371600" algn="l" rtl="0" fontAlgn="base">
      <a:spcBef>
        <a:spcPct val="0"/>
      </a:spcBef>
      <a:spcAft>
        <a:spcPct val="0"/>
      </a:spcAft>
      <a:defRPr sz="2000" kern="1200">
        <a:solidFill>
          <a:schemeClr val="tx1"/>
        </a:solidFill>
        <a:latin typeface="Times New Roman" pitchFamily="18" charset="0"/>
        <a:ea typeface="+mn-ea"/>
        <a:cs typeface="+mn-cs"/>
      </a:defRPr>
    </a:lvl4pPr>
    <a:lvl5pPr marL="1828800" algn="l" rtl="0" fontAlgn="base">
      <a:spcBef>
        <a:spcPct val="0"/>
      </a:spcBef>
      <a:spcAft>
        <a:spcPct val="0"/>
      </a:spcAft>
      <a:defRPr sz="2000" kern="1200">
        <a:solidFill>
          <a:schemeClr val="tx1"/>
        </a:solidFill>
        <a:latin typeface="Times New Roman" pitchFamily="18" charset="0"/>
        <a:ea typeface="+mn-ea"/>
        <a:cs typeface="+mn-cs"/>
      </a:defRPr>
    </a:lvl5pPr>
    <a:lvl6pPr marL="2286000" algn="l" defTabSz="914400" rtl="0" eaLnBrk="1" latinLnBrk="0" hangingPunct="1">
      <a:defRPr sz="2000" kern="1200">
        <a:solidFill>
          <a:schemeClr val="tx1"/>
        </a:solidFill>
        <a:latin typeface="Times New Roman" pitchFamily="18" charset="0"/>
        <a:ea typeface="+mn-ea"/>
        <a:cs typeface="+mn-cs"/>
      </a:defRPr>
    </a:lvl6pPr>
    <a:lvl7pPr marL="2743200" algn="l" defTabSz="914400" rtl="0" eaLnBrk="1" latinLnBrk="0" hangingPunct="1">
      <a:defRPr sz="2000" kern="1200">
        <a:solidFill>
          <a:schemeClr val="tx1"/>
        </a:solidFill>
        <a:latin typeface="Times New Roman" pitchFamily="18" charset="0"/>
        <a:ea typeface="+mn-ea"/>
        <a:cs typeface="+mn-cs"/>
      </a:defRPr>
    </a:lvl7pPr>
    <a:lvl8pPr marL="3200400" algn="l" defTabSz="914400" rtl="0" eaLnBrk="1" latinLnBrk="0" hangingPunct="1">
      <a:defRPr sz="2000" kern="1200">
        <a:solidFill>
          <a:schemeClr val="tx1"/>
        </a:solidFill>
        <a:latin typeface="Times New Roman" pitchFamily="18" charset="0"/>
        <a:ea typeface="+mn-ea"/>
        <a:cs typeface="+mn-cs"/>
      </a:defRPr>
    </a:lvl8pPr>
    <a:lvl9pPr marL="3657600" algn="l" defTabSz="914400" rtl="0" eaLnBrk="1" latinLnBrk="0" hangingPunct="1">
      <a:defRPr sz="20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208">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28" autoAdjust="0"/>
    <p:restoredTop sz="69450" autoAdjust="0"/>
  </p:normalViewPr>
  <p:slideViewPr>
    <p:cSldViewPr>
      <p:cViewPr varScale="1">
        <p:scale>
          <a:sx n="91" d="100"/>
          <a:sy n="91" d="100"/>
        </p:scale>
        <p:origin x="2166" y="90"/>
      </p:cViewPr>
      <p:guideLst>
        <p:guide orient="horz" pos="2208"/>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image" Target="../media/image6.emf"/><Relationship Id="rId4"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image" Target="../media/image10.emf"/><Relationship Id="rId5" Type="http://schemas.openxmlformats.org/officeDocument/2006/relationships/image" Target="../media/image14.wmf"/><Relationship Id="rId4" Type="http://schemas.openxmlformats.org/officeDocument/2006/relationships/image" Target="../media/image1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90" name="Rectangle 2"/>
          <p:cNvSpPr>
            <a:spLocks noGrp="1" noChangeArrowheads="1"/>
          </p:cNvSpPr>
          <p:nvPr>
            <p:ph type="hdr" sz="quarter"/>
          </p:nvPr>
        </p:nvSpPr>
        <p:spPr bwMode="auto">
          <a:xfrm>
            <a:off x="0" y="0"/>
            <a:ext cx="3052763" cy="466725"/>
          </a:xfrm>
          <a:prstGeom prst="rect">
            <a:avLst/>
          </a:prstGeom>
          <a:noFill/>
          <a:ln w="9525">
            <a:noFill/>
            <a:miter lim="800000"/>
            <a:headEnd/>
            <a:tailEnd/>
          </a:ln>
          <a:effectLst/>
        </p:spPr>
        <p:txBody>
          <a:bodyPr vert="horz" wrap="square" lIns="93647" tIns="46823" rIns="93647" bIns="46823" numCol="1" anchor="t" anchorCtr="0" compatLnSpc="1">
            <a:prstTxWarp prst="textNoShape">
              <a:avLst/>
            </a:prstTxWarp>
          </a:bodyPr>
          <a:lstStyle>
            <a:lvl1pPr defTabSz="936048">
              <a:defRPr sz="1200"/>
            </a:lvl1pPr>
          </a:lstStyle>
          <a:p>
            <a:pPr>
              <a:defRPr/>
            </a:pPr>
            <a:endParaRPr lang="en-US"/>
          </a:p>
        </p:txBody>
      </p:sp>
      <p:sp>
        <p:nvSpPr>
          <p:cNvPr id="63491" name="Rectangle 3"/>
          <p:cNvSpPr>
            <a:spLocks noGrp="1" noChangeArrowheads="1"/>
          </p:cNvSpPr>
          <p:nvPr>
            <p:ph type="dt" sz="quarter" idx="1"/>
          </p:nvPr>
        </p:nvSpPr>
        <p:spPr bwMode="auto">
          <a:xfrm>
            <a:off x="3992563" y="0"/>
            <a:ext cx="3052762" cy="466725"/>
          </a:xfrm>
          <a:prstGeom prst="rect">
            <a:avLst/>
          </a:prstGeom>
          <a:noFill/>
          <a:ln w="9525">
            <a:noFill/>
            <a:miter lim="800000"/>
            <a:headEnd/>
            <a:tailEnd/>
          </a:ln>
          <a:effectLst/>
        </p:spPr>
        <p:txBody>
          <a:bodyPr vert="horz" wrap="square" lIns="93647" tIns="46823" rIns="93647" bIns="46823" numCol="1" anchor="t" anchorCtr="0" compatLnSpc="1">
            <a:prstTxWarp prst="textNoShape">
              <a:avLst/>
            </a:prstTxWarp>
          </a:bodyPr>
          <a:lstStyle>
            <a:lvl1pPr algn="r" defTabSz="936048">
              <a:defRPr sz="1200"/>
            </a:lvl1pPr>
          </a:lstStyle>
          <a:p>
            <a:pPr>
              <a:defRPr/>
            </a:pPr>
            <a:endParaRPr lang="en-US"/>
          </a:p>
        </p:txBody>
      </p:sp>
      <p:sp>
        <p:nvSpPr>
          <p:cNvPr id="63492" name="Rectangle 4"/>
          <p:cNvSpPr>
            <a:spLocks noGrp="1" noChangeArrowheads="1"/>
          </p:cNvSpPr>
          <p:nvPr>
            <p:ph type="ftr" sz="quarter" idx="2"/>
          </p:nvPr>
        </p:nvSpPr>
        <p:spPr bwMode="auto">
          <a:xfrm>
            <a:off x="0" y="8878888"/>
            <a:ext cx="3052763" cy="466725"/>
          </a:xfrm>
          <a:prstGeom prst="rect">
            <a:avLst/>
          </a:prstGeom>
          <a:noFill/>
          <a:ln w="9525">
            <a:noFill/>
            <a:miter lim="800000"/>
            <a:headEnd/>
            <a:tailEnd/>
          </a:ln>
          <a:effectLst/>
        </p:spPr>
        <p:txBody>
          <a:bodyPr vert="horz" wrap="square" lIns="93647" tIns="46823" rIns="93647" bIns="46823" numCol="1" anchor="b" anchorCtr="0" compatLnSpc="1">
            <a:prstTxWarp prst="textNoShape">
              <a:avLst/>
            </a:prstTxWarp>
          </a:bodyPr>
          <a:lstStyle>
            <a:lvl1pPr defTabSz="936048">
              <a:defRPr sz="1200"/>
            </a:lvl1pPr>
          </a:lstStyle>
          <a:p>
            <a:pPr>
              <a:defRPr/>
            </a:pPr>
            <a:endParaRPr lang="en-US"/>
          </a:p>
        </p:txBody>
      </p:sp>
      <p:sp>
        <p:nvSpPr>
          <p:cNvPr id="63493" name="Rectangle 5"/>
          <p:cNvSpPr>
            <a:spLocks noGrp="1" noChangeArrowheads="1"/>
          </p:cNvSpPr>
          <p:nvPr>
            <p:ph type="sldNum" sz="quarter" idx="3"/>
          </p:nvPr>
        </p:nvSpPr>
        <p:spPr bwMode="auto">
          <a:xfrm>
            <a:off x="3992563" y="8878888"/>
            <a:ext cx="3052762" cy="466725"/>
          </a:xfrm>
          <a:prstGeom prst="rect">
            <a:avLst/>
          </a:prstGeom>
          <a:noFill/>
          <a:ln w="9525">
            <a:noFill/>
            <a:miter lim="800000"/>
            <a:headEnd/>
            <a:tailEnd/>
          </a:ln>
          <a:effectLst/>
        </p:spPr>
        <p:txBody>
          <a:bodyPr vert="horz" wrap="square" lIns="93647" tIns="46823" rIns="93647" bIns="46823" numCol="1" anchor="b" anchorCtr="0" compatLnSpc="1">
            <a:prstTxWarp prst="textNoShape">
              <a:avLst/>
            </a:prstTxWarp>
          </a:bodyPr>
          <a:lstStyle>
            <a:lvl1pPr algn="r" defTabSz="936048">
              <a:defRPr sz="1200"/>
            </a:lvl1pPr>
          </a:lstStyle>
          <a:p>
            <a:pPr>
              <a:defRPr/>
            </a:pPr>
            <a:fld id="{3AACDC19-FAC8-4526-981A-63D285405B7B}" type="slidenum">
              <a:rPr lang="en-US"/>
              <a:pPr>
                <a:defRPr/>
              </a:pPr>
              <a:t>‹#›</a:t>
            </a:fld>
            <a:endParaRPr lang="en-US"/>
          </a:p>
        </p:txBody>
      </p:sp>
    </p:spTree>
    <p:extLst>
      <p:ext uri="{BB962C8B-B14F-4D97-AF65-F5344CB8AC3E}">
        <p14:creationId xmlns:p14="http://schemas.microsoft.com/office/powerpoint/2010/main" val="9472361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3970" name="Rectangle 1026"/>
          <p:cNvSpPr>
            <a:spLocks noGrp="1" noChangeArrowheads="1"/>
          </p:cNvSpPr>
          <p:nvPr>
            <p:ph type="hdr" sz="quarter"/>
          </p:nvPr>
        </p:nvSpPr>
        <p:spPr bwMode="auto">
          <a:xfrm>
            <a:off x="0" y="0"/>
            <a:ext cx="3052763" cy="466725"/>
          </a:xfrm>
          <a:prstGeom prst="rect">
            <a:avLst/>
          </a:prstGeom>
          <a:noFill/>
          <a:ln w="9525">
            <a:noFill/>
            <a:miter lim="800000"/>
            <a:headEnd/>
            <a:tailEnd/>
          </a:ln>
          <a:effectLst/>
        </p:spPr>
        <p:txBody>
          <a:bodyPr vert="horz" wrap="square" lIns="93647" tIns="46823" rIns="93647" bIns="46823" numCol="1" anchor="t" anchorCtr="0" compatLnSpc="1">
            <a:prstTxWarp prst="textNoShape">
              <a:avLst/>
            </a:prstTxWarp>
          </a:bodyPr>
          <a:lstStyle>
            <a:lvl1pPr defTabSz="936048">
              <a:defRPr sz="1200"/>
            </a:lvl1pPr>
          </a:lstStyle>
          <a:p>
            <a:pPr>
              <a:defRPr/>
            </a:pPr>
            <a:endParaRPr lang="en-US"/>
          </a:p>
        </p:txBody>
      </p:sp>
      <p:sp>
        <p:nvSpPr>
          <p:cNvPr id="83971" name="Rectangle 1027"/>
          <p:cNvSpPr>
            <a:spLocks noGrp="1" noChangeArrowheads="1"/>
          </p:cNvSpPr>
          <p:nvPr>
            <p:ph type="dt" idx="1"/>
          </p:nvPr>
        </p:nvSpPr>
        <p:spPr bwMode="auto">
          <a:xfrm>
            <a:off x="3992563" y="0"/>
            <a:ext cx="3052762" cy="466725"/>
          </a:xfrm>
          <a:prstGeom prst="rect">
            <a:avLst/>
          </a:prstGeom>
          <a:noFill/>
          <a:ln w="9525">
            <a:noFill/>
            <a:miter lim="800000"/>
            <a:headEnd/>
            <a:tailEnd/>
          </a:ln>
          <a:effectLst/>
        </p:spPr>
        <p:txBody>
          <a:bodyPr vert="horz" wrap="square" lIns="93647" tIns="46823" rIns="93647" bIns="46823" numCol="1" anchor="t" anchorCtr="0" compatLnSpc="1">
            <a:prstTxWarp prst="textNoShape">
              <a:avLst/>
            </a:prstTxWarp>
          </a:bodyPr>
          <a:lstStyle>
            <a:lvl1pPr algn="r" defTabSz="936048">
              <a:defRPr sz="1200"/>
            </a:lvl1pPr>
          </a:lstStyle>
          <a:p>
            <a:pPr>
              <a:defRPr/>
            </a:pPr>
            <a:endParaRPr lang="en-US"/>
          </a:p>
        </p:txBody>
      </p:sp>
      <p:sp>
        <p:nvSpPr>
          <p:cNvPr id="40964" name="Rectangle 1028"/>
          <p:cNvSpPr>
            <a:spLocks noGrp="1" noRot="1" noChangeAspect="1" noChangeArrowheads="1" noTextEdit="1"/>
          </p:cNvSpPr>
          <p:nvPr>
            <p:ph type="sldImg" idx="2"/>
          </p:nvPr>
        </p:nvSpPr>
        <p:spPr bwMode="auto">
          <a:xfrm>
            <a:off x="1187450" y="701675"/>
            <a:ext cx="4670425" cy="3503613"/>
          </a:xfrm>
          <a:prstGeom prst="rect">
            <a:avLst/>
          </a:prstGeom>
          <a:noFill/>
          <a:ln w="9525">
            <a:solidFill>
              <a:srgbClr val="000000"/>
            </a:solidFill>
            <a:miter lim="800000"/>
            <a:headEnd/>
            <a:tailEnd/>
          </a:ln>
        </p:spPr>
      </p:sp>
      <p:sp>
        <p:nvSpPr>
          <p:cNvPr id="83973" name="Rectangle 1029"/>
          <p:cNvSpPr>
            <a:spLocks noGrp="1" noChangeArrowheads="1"/>
          </p:cNvSpPr>
          <p:nvPr>
            <p:ph type="body" sz="quarter" idx="3"/>
          </p:nvPr>
        </p:nvSpPr>
        <p:spPr bwMode="auto">
          <a:xfrm>
            <a:off x="939800" y="4438650"/>
            <a:ext cx="5165725" cy="4205288"/>
          </a:xfrm>
          <a:prstGeom prst="rect">
            <a:avLst/>
          </a:prstGeom>
          <a:noFill/>
          <a:ln w="9525">
            <a:noFill/>
            <a:miter lim="800000"/>
            <a:headEnd/>
            <a:tailEnd/>
          </a:ln>
          <a:effectLst/>
        </p:spPr>
        <p:txBody>
          <a:bodyPr vert="horz" wrap="square" lIns="93647" tIns="46823" rIns="93647" bIns="46823"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83974" name="Rectangle 1030"/>
          <p:cNvSpPr>
            <a:spLocks noGrp="1" noChangeArrowheads="1"/>
          </p:cNvSpPr>
          <p:nvPr>
            <p:ph type="ftr" sz="quarter" idx="4"/>
          </p:nvPr>
        </p:nvSpPr>
        <p:spPr bwMode="auto">
          <a:xfrm>
            <a:off x="0" y="8878888"/>
            <a:ext cx="3052763" cy="466725"/>
          </a:xfrm>
          <a:prstGeom prst="rect">
            <a:avLst/>
          </a:prstGeom>
          <a:noFill/>
          <a:ln w="9525">
            <a:noFill/>
            <a:miter lim="800000"/>
            <a:headEnd/>
            <a:tailEnd/>
          </a:ln>
          <a:effectLst/>
        </p:spPr>
        <p:txBody>
          <a:bodyPr vert="horz" wrap="square" lIns="93647" tIns="46823" rIns="93647" bIns="46823" numCol="1" anchor="b" anchorCtr="0" compatLnSpc="1">
            <a:prstTxWarp prst="textNoShape">
              <a:avLst/>
            </a:prstTxWarp>
          </a:bodyPr>
          <a:lstStyle>
            <a:lvl1pPr defTabSz="936048">
              <a:defRPr sz="1200"/>
            </a:lvl1pPr>
          </a:lstStyle>
          <a:p>
            <a:pPr>
              <a:defRPr/>
            </a:pPr>
            <a:endParaRPr lang="en-US"/>
          </a:p>
        </p:txBody>
      </p:sp>
      <p:sp>
        <p:nvSpPr>
          <p:cNvPr id="83975" name="Rectangle 1031"/>
          <p:cNvSpPr>
            <a:spLocks noGrp="1" noChangeArrowheads="1"/>
          </p:cNvSpPr>
          <p:nvPr>
            <p:ph type="sldNum" sz="quarter" idx="5"/>
          </p:nvPr>
        </p:nvSpPr>
        <p:spPr bwMode="auto">
          <a:xfrm>
            <a:off x="3992563" y="8878888"/>
            <a:ext cx="3052762" cy="466725"/>
          </a:xfrm>
          <a:prstGeom prst="rect">
            <a:avLst/>
          </a:prstGeom>
          <a:noFill/>
          <a:ln w="9525">
            <a:noFill/>
            <a:miter lim="800000"/>
            <a:headEnd/>
            <a:tailEnd/>
          </a:ln>
          <a:effectLst/>
        </p:spPr>
        <p:txBody>
          <a:bodyPr vert="horz" wrap="square" lIns="93647" tIns="46823" rIns="93647" bIns="46823" numCol="1" anchor="b" anchorCtr="0" compatLnSpc="1">
            <a:prstTxWarp prst="textNoShape">
              <a:avLst/>
            </a:prstTxWarp>
          </a:bodyPr>
          <a:lstStyle>
            <a:lvl1pPr algn="r" defTabSz="936048">
              <a:defRPr sz="1200"/>
            </a:lvl1pPr>
          </a:lstStyle>
          <a:p>
            <a:pPr>
              <a:defRPr/>
            </a:pPr>
            <a:fld id="{DB79BC27-43D6-4AE3-B8A5-9EC0AF7CD672}" type="slidenum">
              <a:rPr lang="en-US"/>
              <a:pPr>
                <a:defRPr/>
              </a:pPr>
              <a:t>‹#›</a:t>
            </a:fld>
            <a:endParaRPr lang="en-US"/>
          </a:p>
        </p:txBody>
      </p:sp>
    </p:spTree>
    <p:extLst>
      <p:ext uri="{BB962C8B-B14F-4D97-AF65-F5344CB8AC3E}">
        <p14:creationId xmlns:p14="http://schemas.microsoft.com/office/powerpoint/2010/main" val="156032903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ln/>
        </p:spPr>
      </p:sp>
      <p:sp>
        <p:nvSpPr>
          <p:cNvPr id="74755" name="Notes Placeholder 2"/>
          <p:cNvSpPr>
            <a:spLocks noGrp="1"/>
          </p:cNvSpPr>
          <p:nvPr>
            <p:ph type="body" idx="1"/>
          </p:nvPr>
        </p:nvSpPr>
        <p:spPr>
          <a:noFill/>
          <a:ln/>
        </p:spPr>
        <p:txBody>
          <a:bodyPr/>
          <a:lstStyle/>
          <a:p>
            <a:endParaRPr lang="en-US" smtClean="0"/>
          </a:p>
        </p:txBody>
      </p:sp>
      <p:sp>
        <p:nvSpPr>
          <p:cNvPr id="74756" name="Slide Number Placeholder 3"/>
          <p:cNvSpPr>
            <a:spLocks noGrp="1"/>
          </p:cNvSpPr>
          <p:nvPr>
            <p:ph type="sldNum" sz="quarter" idx="5"/>
          </p:nvPr>
        </p:nvSpPr>
        <p:spPr>
          <a:noFill/>
        </p:spPr>
        <p:txBody>
          <a:bodyPr/>
          <a:lstStyle/>
          <a:p>
            <a:pPr defTabSz="935038"/>
            <a:fld id="{E608E210-C34A-4808-9FF8-D0EBF3F83CB5}" type="slidenum">
              <a:rPr lang="en-US" smtClean="0"/>
              <a:pPr defTabSz="935038"/>
              <a:t>2</a:t>
            </a:fld>
            <a:endParaRPr lang="en-US" smtClean="0"/>
          </a:p>
        </p:txBody>
      </p:sp>
    </p:spTree>
    <p:extLst>
      <p:ext uri="{BB962C8B-B14F-4D97-AF65-F5344CB8AC3E}">
        <p14:creationId xmlns:p14="http://schemas.microsoft.com/office/powerpoint/2010/main" val="12752747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ln/>
        </p:spPr>
      </p:sp>
      <p:sp>
        <p:nvSpPr>
          <p:cNvPr id="74755" name="Notes Placeholder 2"/>
          <p:cNvSpPr>
            <a:spLocks noGrp="1"/>
          </p:cNvSpPr>
          <p:nvPr>
            <p:ph type="body" idx="1"/>
          </p:nvPr>
        </p:nvSpPr>
        <p:spPr>
          <a:noFill/>
          <a:ln/>
        </p:spPr>
        <p:txBody>
          <a:bodyPr/>
          <a:lstStyle/>
          <a:p>
            <a:endParaRPr lang="en-US" smtClean="0"/>
          </a:p>
        </p:txBody>
      </p:sp>
      <p:sp>
        <p:nvSpPr>
          <p:cNvPr id="74756" name="Slide Number Placeholder 3"/>
          <p:cNvSpPr>
            <a:spLocks noGrp="1"/>
          </p:cNvSpPr>
          <p:nvPr>
            <p:ph type="sldNum" sz="quarter" idx="5"/>
          </p:nvPr>
        </p:nvSpPr>
        <p:spPr>
          <a:noFill/>
        </p:spPr>
        <p:txBody>
          <a:bodyPr/>
          <a:lstStyle/>
          <a:p>
            <a:pPr defTabSz="935038"/>
            <a:fld id="{E608E210-C34A-4808-9FF8-D0EBF3F83CB5}" type="slidenum">
              <a:rPr lang="en-US" smtClean="0"/>
              <a:pPr defTabSz="935038"/>
              <a:t>3</a:t>
            </a:fld>
            <a:endParaRPr lang="en-US" smtClean="0"/>
          </a:p>
        </p:txBody>
      </p:sp>
    </p:spTree>
    <p:extLst>
      <p:ext uri="{BB962C8B-B14F-4D97-AF65-F5344CB8AC3E}">
        <p14:creationId xmlns:p14="http://schemas.microsoft.com/office/powerpoint/2010/main" val="11984160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ln/>
        </p:spPr>
      </p:sp>
      <p:sp>
        <p:nvSpPr>
          <p:cNvPr id="74755" name="Notes Placeholder 2"/>
          <p:cNvSpPr>
            <a:spLocks noGrp="1"/>
          </p:cNvSpPr>
          <p:nvPr>
            <p:ph type="body" idx="1"/>
          </p:nvPr>
        </p:nvSpPr>
        <p:spPr>
          <a:noFill/>
          <a:ln/>
        </p:spPr>
        <p:txBody>
          <a:bodyPr/>
          <a:lstStyle/>
          <a:p>
            <a:endParaRPr lang="en-US" smtClean="0"/>
          </a:p>
        </p:txBody>
      </p:sp>
      <p:sp>
        <p:nvSpPr>
          <p:cNvPr id="74756" name="Slide Number Placeholder 3"/>
          <p:cNvSpPr>
            <a:spLocks noGrp="1"/>
          </p:cNvSpPr>
          <p:nvPr>
            <p:ph type="sldNum" sz="quarter" idx="5"/>
          </p:nvPr>
        </p:nvSpPr>
        <p:spPr>
          <a:noFill/>
        </p:spPr>
        <p:txBody>
          <a:bodyPr/>
          <a:lstStyle/>
          <a:p>
            <a:pPr defTabSz="935038"/>
            <a:fld id="{E608E210-C34A-4808-9FF8-D0EBF3F83CB5}" type="slidenum">
              <a:rPr lang="en-US" smtClean="0"/>
              <a:pPr defTabSz="935038"/>
              <a:t>4</a:t>
            </a:fld>
            <a:endParaRPr lang="en-US" smtClean="0"/>
          </a:p>
        </p:txBody>
      </p:sp>
    </p:spTree>
    <p:extLst>
      <p:ext uri="{BB962C8B-B14F-4D97-AF65-F5344CB8AC3E}">
        <p14:creationId xmlns:p14="http://schemas.microsoft.com/office/powerpoint/2010/main" val="34483901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a:t>
            </a:r>
            <a:r>
              <a:rPr lang="en-US" baseline="0" dirty="0" smtClean="0"/>
              <a:t> variance to mean ratio indicates the type of point pattern:  if it’s close to one it is random.  If it’s close to zero, it’s uniform.  And if it is above one then it is more clustered.</a:t>
            </a:r>
            <a:endParaRPr lang="en-US" dirty="0"/>
          </a:p>
        </p:txBody>
      </p:sp>
      <p:sp>
        <p:nvSpPr>
          <p:cNvPr id="4" name="Slide Number Placeholder 3"/>
          <p:cNvSpPr>
            <a:spLocks noGrp="1"/>
          </p:cNvSpPr>
          <p:nvPr>
            <p:ph type="sldNum" sz="quarter" idx="10"/>
          </p:nvPr>
        </p:nvSpPr>
        <p:spPr/>
        <p:txBody>
          <a:bodyPr/>
          <a:lstStyle/>
          <a:p>
            <a:pPr>
              <a:defRPr/>
            </a:pPr>
            <a:fld id="{DB79BC27-43D6-4AE3-B8A5-9EC0AF7CD672}" type="slidenum">
              <a:rPr lang="en-US" smtClean="0"/>
              <a:pPr>
                <a:defRPr/>
              </a:pPr>
              <a:t>8</a:t>
            </a:fld>
            <a:endParaRPr lang="en-US"/>
          </a:p>
        </p:txBody>
      </p:sp>
    </p:spTree>
    <p:extLst>
      <p:ext uri="{BB962C8B-B14F-4D97-AF65-F5344CB8AC3E}">
        <p14:creationId xmlns:p14="http://schemas.microsoft.com/office/powerpoint/2010/main" val="42416139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latin typeface="Times New Roman" pitchFamily="18" charset="0"/>
                <a:ea typeface="+mn-ea"/>
                <a:cs typeface="+mn-cs"/>
              </a:rPr>
              <a:t>The Average Nearest Neighbor tool measures the distance between each feature centroid and its nearest neighbor's centroid location. It then averages all these nearest neighbor distances. </a:t>
            </a:r>
          </a:p>
          <a:p>
            <a:endParaRPr lang="en-US" sz="1200" kern="1200" dirty="0" smtClean="0">
              <a:solidFill>
                <a:schemeClr val="tx1"/>
              </a:solidFill>
              <a:latin typeface="Times New Roman" pitchFamily="18" charset="0"/>
              <a:ea typeface="+mn-ea"/>
              <a:cs typeface="+mn-cs"/>
            </a:endParaRPr>
          </a:p>
          <a:p>
            <a:r>
              <a:rPr lang="en-US" sz="1200" kern="1200" dirty="0" smtClean="0">
                <a:solidFill>
                  <a:schemeClr val="tx1"/>
                </a:solidFill>
                <a:latin typeface="Times New Roman" pitchFamily="18" charset="0"/>
                <a:ea typeface="+mn-ea"/>
                <a:cs typeface="+mn-cs"/>
              </a:rPr>
              <a:t>If the average distance is less than the average for a hypothetical random distribution, the distribution of the features being analyzed is considered clustered. If the average distance is greater than a hypothetical random distribution, the features are considered dispersed. </a:t>
            </a:r>
          </a:p>
          <a:p>
            <a:endParaRPr lang="en-US" sz="1200" kern="1200" dirty="0" smtClean="0">
              <a:solidFill>
                <a:schemeClr val="tx1"/>
              </a:solidFill>
              <a:latin typeface="Times New Roman" pitchFamily="18" charset="0"/>
              <a:ea typeface="+mn-ea"/>
              <a:cs typeface="+mn-cs"/>
            </a:endParaRPr>
          </a:p>
          <a:p>
            <a:r>
              <a:rPr lang="en-US" sz="1200" kern="1200" dirty="0" smtClean="0">
                <a:solidFill>
                  <a:schemeClr val="tx1"/>
                </a:solidFill>
                <a:latin typeface="Times New Roman" pitchFamily="18" charset="0"/>
                <a:ea typeface="+mn-ea"/>
                <a:cs typeface="+mn-cs"/>
              </a:rPr>
              <a:t>The average nearest neighbor ratio is calculated as the observed average distance divided by the expected average distance (with expected average distance being based on a hypothetical random distribution with the same number of features covering the same total area).</a:t>
            </a:r>
          </a:p>
          <a:p>
            <a:endParaRPr lang="en-US" sz="1200" kern="1200" dirty="0" smtClean="0">
              <a:solidFill>
                <a:schemeClr val="tx1"/>
              </a:solidFill>
              <a:latin typeface="Times New Roman" pitchFamily="18" charset="0"/>
              <a:ea typeface="+mn-ea"/>
              <a:cs typeface="+mn-cs"/>
            </a:endParaRPr>
          </a:p>
          <a:p>
            <a:r>
              <a:rPr lang="en-US" sz="1200" kern="1200" dirty="0" smtClean="0">
                <a:solidFill>
                  <a:schemeClr val="tx1"/>
                </a:solidFill>
                <a:latin typeface="Times New Roman" pitchFamily="18" charset="0"/>
                <a:ea typeface="+mn-ea"/>
                <a:cs typeface="+mn-cs"/>
              </a:rPr>
              <a:t>Random patterns are</a:t>
            </a:r>
            <a:r>
              <a:rPr lang="en-US" sz="1200" kern="1200" baseline="0" dirty="0" smtClean="0">
                <a:solidFill>
                  <a:schemeClr val="tx1"/>
                </a:solidFill>
                <a:latin typeface="Times New Roman" pitchFamily="18" charset="0"/>
                <a:ea typeface="+mn-ea"/>
                <a:cs typeface="+mn-cs"/>
              </a:rPr>
              <a:t> closer to 1 on R</a:t>
            </a:r>
          </a:p>
          <a:p>
            <a:endParaRPr lang="en-US" sz="1200" kern="1200" dirty="0" smtClean="0">
              <a:solidFill>
                <a:schemeClr val="tx1"/>
              </a:solidFill>
              <a:latin typeface="Times New Roman" pitchFamily="18" charset="0"/>
              <a:ea typeface="+mn-ea"/>
              <a:cs typeface="+mn-cs"/>
            </a:endParaRPr>
          </a:p>
          <a:p>
            <a:r>
              <a:rPr lang="en-US" sz="1200" kern="1200" dirty="0" smtClean="0">
                <a:solidFill>
                  <a:schemeClr val="tx1"/>
                </a:solidFill>
                <a:latin typeface="Times New Roman" pitchFamily="18" charset="0"/>
                <a:ea typeface="+mn-ea"/>
                <a:cs typeface="+mn-cs"/>
              </a:rPr>
              <a:t>Clustered Patterns are Closer to 0 on </a:t>
            </a:r>
            <a:r>
              <a:rPr lang="en-US" sz="1200" i="1" kern="1200" dirty="0" smtClean="0">
                <a:solidFill>
                  <a:schemeClr val="tx1"/>
                </a:solidFill>
                <a:latin typeface="Times New Roman" pitchFamily="18" charset="0"/>
                <a:ea typeface="+mn-ea"/>
                <a:cs typeface="+mn-cs"/>
              </a:rPr>
              <a:t>R</a:t>
            </a:r>
          </a:p>
          <a:p>
            <a:r>
              <a:rPr lang="en-US" dirty="0" smtClean="0"/>
              <a:t>Dispersed patterns</a:t>
            </a:r>
            <a:r>
              <a:rPr lang="en-US" baseline="0" dirty="0" smtClean="0"/>
              <a:t> </a:t>
            </a:r>
            <a:r>
              <a:rPr lang="en-US" baseline="0" smtClean="0"/>
              <a:t>are above 1 on R</a:t>
            </a:r>
            <a:endParaRPr lang="en-US" dirty="0"/>
          </a:p>
        </p:txBody>
      </p:sp>
      <p:sp>
        <p:nvSpPr>
          <p:cNvPr id="4" name="Slide Number Placeholder 3"/>
          <p:cNvSpPr>
            <a:spLocks noGrp="1"/>
          </p:cNvSpPr>
          <p:nvPr>
            <p:ph type="sldNum" sz="quarter" idx="10"/>
          </p:nvPr>
        </p:nvSpPr>
        <p:spPr/>
        <p:txBody>
          <a:bodyPr/>
          <a:lstStyle/>
          <a:p>
            <a:pPr>
              <a:defRPr/>
            </a:pPr>
            <a:fld id="{DB79BC27-43D6-4AE3-B8A5-9EC0AF7CD672}" type="slidenum">
              <a:rPr lang="en-US" smtClean="0"/>
              <a:pPr>
                <a:defRPr/>
              </a:pPr>
              <a:t>13</a:t>
            </a:fld>
            <a:endParaRPr lang="en-US"/>
          </a:p>
        </p:txBody>
      </p:sp>
    </p:spTree>
    <p:extLst>
      <p:ext uri="{BB962C8B-B14F-4D97-AF65-F5344CB8AC3E}">
        <p14:creationId xmlns:p14="http://schemas.microsoft.com/office/powerpoint/2010/main" val="37344324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pPr>
              <a:defRPr/>
            </a:pPr>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pPr>
              <a:defRPr/>
            </a:pPr>
            <a:r>
              <a:rPr lang="en-US" smtClean="0"/>
              <a:t>Briggs  Henan University 2010</a:t>
            </a:r>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pPr>
              <a:defRPr/>
            </a:pPr>
            <a:fld id="{B9D408D7-9084-4EE8-A57F-FA395E54F66E}" type="slidenum">
              <a:rPr lang="en-US" smtClean="0"/>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smtClean="0"/>
              <a:t>Briggs  Henan University 2010</a:t>
            </a:r>
            <a:endParaRPr lang="en-US"/>
          </a:p>
        </p:txBody>
      </p:sp>
      <p:sp>
        <p:nvSpPr>
          <p:cNvPr id="6" name="Slide Number Placeholder 5"/>
          <p:cNvSpPr>
            <a:spLocks noGrp="1"/>
          </p:cNvSpPr>
          <p:nvPr>
            <p:ph type="sldNum" sz="quarter" idx="12"/>
          </p:nvPr>
        </p:nvSpPr>
        <p:spPr/>
        <p:txBody>
          <a:bodyPr/>
          <a:lstStyle/>
          <a:p>
            <a:pPr>
              <a:defRPr/>
            </a:pPr>
            <a:fld id="{10040BF0-8023-45DB-AFB0-81FB57F04FB9}" type="slidenum">
              <a:rPr lang="en-US" smtClean="0"/>
              <a:pPr>
                <a:defRPr/>
              </a:pPr>
              <a:t>‹#›</a:t>
            </a:fld>
            <a:endParaRPr lang="en-US"/>
          </a:p>
        </p:txBody>
      </p:sp>
      <p:sp>
        <p:nvSpPr>
          <p:cNvPr id="7" name="Title 6"/>
          <p:cNvSpPr>
            <a:spLocks noGrp="1"/>
          </p:cNvSpPr>
          <p:nvPr>
            <p:ph type="title"/>
          </p:nvPr>
        </p:nvSpPr>
        <p:spPr/>
        <p:txBody>
          <a:bodyPr rtlCol="0"/>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smtClean="0"/>
              <a:t>Briggs  Henan University 2010</a:t>
            </a:r>
            <a:endParaRPr lang="en-US"/>
          </a:p>
        </p:txBody>
      </p:sp>
      <p:sp>
        <p:nvSpPr>
          <p:cNvPr id="6" name="Slide Number Placeholder 5"/>
          <p:cNvSpPr>
            <a:spLocks noGrp="1"/>
          </p:cNvSpPr>
          <p:nvPr>
            <p:ph type="sldNum" sz="quarter" idx="12"/>
          </p:nvPr>
        </p:nvSpPr>
        <p:spPr/>
        <p:txBody>
          <a:bodyPr/>
          <a:lstStyle/>
          <a:p>
            <a:pPr>
              <a:defRPr/>
            </a:pPr>
            <a:fld id="{DD821670-DE42-4B28-AB4F-F011BEC82141}" type="slidenum">
              <a:rPr lang="en-US" smtClean="0"/>
              <a:pPr>
                <a:defRPr/>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r>
              <a:rPr lang="en-US" smtClean="0"/>
              <a:t>Briggs  Henan University 2010</a:t>
            </a:r>
            <a:endParaRPr lang="en-US"/>
          </a:p>
        </p:txBody>
      </p:sp>
      <p:sp>
        <p:nvSpPr>
          <p:cNvPr id="7" name="Slide Number Placeholder 6"/>
          <p:cNvSpPr>
            <a:spLocks noGrp="1"/>
          </p:cNvSpPr>
          <p:nvPr>
            <p:ph type="sldNum" sz="quarter" idx="12"/>
          </p:nvPr>
        </p:nvSpPr>
        <p:spPr/>
        <p:txBody>
          <a:bodyPr/>
          <a:lstStyle/>
          <a:p>
            <a:pPr>
              <a:defRPr/>
            </a:pPr>
            <a:fld id="{B6F2DE32-FE49-4D8A-9115-E9BB1CC66559}" type="slidenum">
              <a:rPr lang="en-US" smtClean="0"/>
              <a:pPr>
                <a:defRPr/>
              </a:pPr>
              <a:t>‹#›</a:t>
            </a:fld>
            <a:endParaRPr lang="en-US"/>
          </a:p>
        </p:txBody>
      </p:sp>
      <p:sp>
        <p:nvSpPr>
          <p:cNvPr id="8" name="Title 7"/>
          <p:cNvSpPr>
            <a:spLocks noGrp="1"/>
          </p:cNvSpPr>
          <p:nvPr>
            <p:ph type="title"/>
          </p:nvPr>
        </p:nvSpPr>
        <p:spPr/>
        <p:txBody>
          <a:bodyPr rtlCol="0"/>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r>
              <a:rPr lang="en-US" smtClean="0"/>
              <a:t>Briggs  Henan University 2010</a:t>
            </a:r>
            <a:endParaRPr lang="en-US"/>
          </a:p>
        </p:txBody>
      </p:sp>
      <p:sp>
        <p:nvSpPr>
          <p:cNvPr id="9" name="Slide Number Placeholder 8"/>
          <p:cNvSpPr>
            <a:spLocks noGrp="1"/>
          </p:cNvSpPr>
          <p:nvPr>
            <p:ph type="sldNum" sz="quarter" idx="12"/>
          </p:nvPr>
        </p:nvSpPr>
        <p:spPr/>
        <p:txBody>
          <a:bodyPr/>
          <a:lstStyle/>
          <a:p>
            <a:pPr>
              <a:defRPr/>
            </a:pPr>
            <a:fld id="{DB602797-25E3-41EA-8136-63A07F6297DC}" type="slidenum">
              <a:rPr lang="en-US" smtClean="0"/>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r>
              <a:rPr lang="en-US" smtClean="0"/>
              <a:t>Briggs  Henan University 2010</a:t>
            </a:r>
            <a:endParaRPr lang="en-US"/>
          </a:p>
        </p:txBody>
      </p:sp>
      <p:sp>
        <p:nvSpPr>
          <p:cNvPr id="5" name="Slide Number Placeholder 4"/>
          <p:cNvSpPr>
            <a:spLocks noGrp="1"/>
          </p:cNvSpPr>
          <p:nvPr>
            <p:ph type="sldNum" sz="quarter" idx="12"/>
          </p:nvPr>
        </p:nvSpPr>
        <p:spPr/>
        <p:txBody>
          <a:bodyPr/>
          <a:lstStyle/>
          <a:p>
            <a:pPr>
              <a:defRPr/>
            </a:pPr>
            <a:fld id="{84148B80-9A05-4CBD-9650-B5992EA55D3A}" type="slidenum">
              <a:rPr lang="en-US" smtClean="0"/>
              <a:pPr>
                <a:defRPr/>
              </a:pPr>
              <a:t>‹#›</a:t>
            </a:fld>
            <a:endParaRPr lang="en-US"/>
          </a:p>
        </p:txBody>
      </p:sp>
      <p:sp>
        <p:nvSpPr>
          <p:cNvPr id="6" name="Title 5"/>
          <p:cNvSpPr>
            <a:spLocks noGrp="1"/>
          </p:cNvSpPr>
          <p:nvPr>
            <p:ph type="title"/>
          </p:nvPr>
        </p:nvSpPr>
        <p:spPr/>
        <p:txBody>
          <a:bodyPr rtlCol="0"/>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r>
              <a:rPr lang="en-US" smtClean="0"/>
              <a:t>Briggs  Henan University 2010</a:t>
            </a:r>
            <a:endParaRPr lang="en-US"/>
          </a:p>
        </p:txBody>
      </p:sp>
      <p:sp>
        <p:nvSpPr>
          <p:cNvPr id="4" name="Slide Number Placeholder 3"/>
          <p:cNvSpPr>
            <a:spLocks noGrp="1"/>
          </p:cNvSpPr>
          <p:nvPr>
            <p:ph type="sldNum" sz="quarter" idx="12"/>
          </p:nvPr>
        </p:nvSpPr>
        <p:spPr/>
        <p:txBody>
          <a:bodyPr/>
          <a:lstStyle/>
          <a:p>
            <a:pPr>
              <a:defRPr/>
            </a:pPr>
            <a:fld id="{75135013-186F-4052-BBC9-82346E4629A2}"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pPr>
              <a:defRPr/>
            </a:pPr>
            <a:endParaRPr lang="en-US"/>
          </a:p>
        </p:txBody>
      </p:sp>
      <p:sp>
        <p:nvSpPr>
          <p:cNvPr id="6" name="Footer Placeholder 5"/>
          <p:cNvSpPr>
            <a:spLocks noGrp="1"/>
          </p:cNvSpPr>
          <p:nvPr>
            <p:ph type="ftr" sz="quarter" idx="11"/>
          </p:nvPr>
        </p:nvSpPr>
        <p:spPr/>
        <p:txBody>
          <a:bodyPr/>
          <a:lstStyle/>
          <a:p>
            <a:pPr>
              <a:defRPr/>
            </a:pPr>
            <a:r>
              <a:rPr lang="en-US" smtClean="0"/>
              <a:t>Briggs  Henan University 2010</a:t>
            </a:r>
            <a:endParaRPr lang="en-US"/>
          </a:p>
        </p:txBody>
      </p:sp>
      <p:sp>
        <p:nvSpPr>
          <p:cNvPr id="7" name="Slide Number Placeholder 6"/>
          <p:cNvSpPr>
            <a:spLocks noGrp="1"/>
          </p:cNvSpPr>
          <p:nvPr>
            <p:ph type="sldNum" sz="quarter" idx="12"/>
          </p:nvPr>
        </p:nvSpPr>
        <p:spPr/>
        <p:txBody>
          <a:bodyPr/>
          <a:lstStyle/>
          <a:p>
            <a:pPr>
              <a:defRPr/>
            </a:pPr>
            <a:fld id="{1FC80A9B-A7C3-4936-8EAF-5260D15DAEDC}" type="slidenum">
              <a:rPr lang="en-US" smtClean="0"/>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pPr>
              <a:defRPr/>
            </a:pPr>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pPr>
              <a:defRPr/>
            </a:pPr>
            <a:r>
              <a:rPr lang="en-US" smtClean="0"/>
              <a:t>Briggs  Henan University 2010</a:t>
            </a:r>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pPr>
              <a:defRPr/>
            </a:pPr>
            <a:fld id="{F3B503B6-8A06-4D6E-9B94-C02B3757F658}" type="slidenum">
              <a:rPr lang="en-US" smtClean="0"/>
              <a:pPr>
                <a:defRPr/>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smtClean="0"/>
              <a:t>Briggs  Henan University 2010</a:t>
            </a:r>
            <a:endParaRPr lang="en-US"/>
          </a:p>
        </p:txBody>
      </p:sp>
      <p:sp>
        <p:nvSpPr>
          <p:cNvPr id="6" name="Slide Number Placeholder 5"/>
          <p:cNvSpPr>
            <a:spLocks noGrp="1"/>
          </p:cNvSpPr>
          <p:nvPr>
            <p:ph type="sldNum" sz="quarter" idx="12"/>
          </p:nvPr>
        </p:nvSpPr>
        <p:spPr/>
        <p:txBody>
          <a:bodyPr/>
          <a:lstStyle/>
          <a:p>
            <a:pPr>
              <a:defRPr/>
            </a:pPr>
            <a:fld id="{5551D1AE-DB00-4CA6-B9CD-C1CC942C11AD}"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smtClean="0"/>
              <a:t>Briggs  Henan University 2010</a:t>
            </a:r>
            <a:endParaRPr lang="en-US"/>
          </a:p>
        </p:txBody>
      </p:sp>
      <p:sp>
        <p:nvSpPr>
          <p:cNvPr id="6" name="Slide Number Placeholder 5"/>
          <p:cNvSpPr>
            <a:spLocks noGrp="1"/>
          </p:cNvSpPr>
          <p:nvPr>
            <p:ph type="sldNum" sz="quarter" idx="12"/>
          </p:nvPr>
        </p:nvSpPr>
        <p:spPr/>
        <p:txBody>
          <a:bodyPr/>
          <a:lstStyle/>
          <a:p>
            <a:pPr>
              <a:defRPr/>
            </a:pPr>
            <a:fld id="{5FF89A01-7CCE-4523-8A23-A773EB32967F}"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pPr>
              <a:defRPr/>
            </a:pPr>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pPr>
              <a:defRPr/>
            </a:pPr>
            <a:r>
              <a:rPr lang="en-US" smtClean="0"/>
              <a:t>Briggs  Henan University 2010</a:t>
            </a:r>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pPr>
              <a:defRPr/>
            </a:pPr>
            <a:fld id="{36FC7840-C743-4A1F-96CC-4604810C3B71}"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hd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4.xml"/><Relationship Id="rId7" Type="http://schemas.openxmlformats.org/officeDocument/2006/relationships/image" Target="../media/image7.e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9.wmf"/><Relationship Id="rId5" Type="http://schemas.openxmlformats.org/officeDocument/2006/relationships/image" Target="../media/image6.e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8.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image" Target="../media/image14.wmf"/><Relationship Id="rId3" Type="http://schemas.openxmlformats.org/officeDocument/2006/relationships/notesSlide" Target="../notesSlides/notesSlide5.xml"/><Relationship Id="rId7" Type="http://schemas.openxmlformats.org/officeDocument/2006/relationships/image" Target="../media/image11.emf"/><Relationship Id="rId12"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6.bin"/><Relationship Id="rId11" Type="http://schemas.openxmlformats.org/officeDocument/2006/relationships/image" Target="../media/image13.wmf"/><Relationship Id="rId5" Type="http://schemas.openxmlformats.org/officeDocument/2006/relationships/image" Target="../media/image10.emf"/><Relationship Id="rId10" Type="http://schemas.openxmlformats.org/officeDocument/2006/relationships/oleObject" Target="../embeddings/oleObject8.bin"/><Relationship Id="rId4" Type="http://schemas.openxmlformats.org/officeDocument/2006/relationships/oleObject" Target="../embeddings/oleObject5.bin"/><Relationship Id="rId9" Type="http://schemas.openxmlformats.org/officeDocument/2006/relationships/image" Target="../media/image12.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en-US" dirty="0" smtClean="0"/>
              <a:t>Point Pattern Analysis</a:t>
            </a:r>
            <a:endParaRPr lang="en-US" dirty="0"/>
          </a:p>
        </p:txBody>
      </p:sp>
      <p:sp>
        <p:nvSpPr>
          <p:cNvPr id="7" name="Subtitle 6"/>
          <p:cNvSpPr>
            <a:spLocks noGrp="1"/>
          </p:cNvSpPr>
          <p:nvPr>
            <p:ph type="subTitle" idx="1"/>
          </p:nvPr>
        </p:nvSpPr>
        <p:spPr/>
        <p:txBody>
          <a:bodyPr/>
          <a:lstStyle/>
          <a:p>
            <a:endParaRPr lang="en-US" dirty="0"/>
          </a:p>
        </p:txBody>
      </p:sp>
      <p:sp>
        <p:nvSpPr>
          <p:cNvPr id="4" name="Slide Number Placeholder 3"/>
          <p:cNvSpPr>
            <a:spLocks noGrp="1"/>
          </p:cNvSpPr>
          <p:nvPr>
            <p:ph type="sldNum" sz="quarter" idx="12"/>
          </p:nvPr>
        </p:nvSpPr>
        <p:spPr/>
        <p:txBody>
          <a:bodyPr/>
          <a:lstStyle/>
          <a:p>
            <a:pPr>
              <a:defRPr/>
            </a:pPr>
            <a:fld id="{10040BF0-8023-45DB-AFB0-81FB57F04FB9}" type="slidenum">
              <a:rPr lang="en-US" smtClean="0"/>
              <a:pPr>
                <a:defRPr/>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2"/>
          <p:cNvSpPr>
            <a:spLocks noGrp="1"/>
          </p:cNvSpPr>
          <p:nvPr>
            <p:ph idx="1"/>
          </p:nvPr>
        </p:nvSpPr>
        <p:spPr>
          <a:xfrm>
            <a:off x="228600" y="1219200"/>
            <a:ext cx="8610600" cy="1905000"/>
          </a:xfrm>
        </p:spPr>
        <p:txBody>
          <a:bodyPr>
            <a:normAutofit fontScale="92500" lnSpcReduction="20000"/>
          </a:bodyPr>
          <a:lstStyle/>
          <a:p>
            <a:r>
              <a:rPr lang="en-US" sz="2800" dirty="0" smtClean="0"/>
              <a:t>commonly used to “visually enhance” a point pattern</a:t>
            </a:r>
          </a:p>
          <a:p>
            <a:endParaRPr lang="en-US" sz="3000" dirty="0" smtClean="0"/>
          </a:p>
          <a:p>
            <a:r>
              <a:rPr lang="en-US" sz="2800" dirty="0" smtClean="0"/>
              <a:t>Is an example of “exploratory spatial data analysis” (ESDA)  </a:t>
            </a:r>
          </a:p>
        </p:txBody>
      </p:sp>
      <p:sp>
        <p:nvSpPr>
          <p:cNvPr id="34821" name="Slide Number Placeholder 4"/>
          <p:cNvSpPr>
            <a:spLocks noGrp="1"/>
          </p:cNvSpPr>
          <p:nvPr>
            <p:ph type="sldNum" sz="quarter" idx="12"/>
          </p:nvPr>
        </p:nvSpPr>
        <p:spPr>
          <a:noFill/>
        </p:spPr>
        <p:txBody>
          <a:bodyPr/>
          <a:lstStyle/>
          <a:p>
            <a:fld id="{852237D5-C551-4941-8FA6-1E1C83110941}" type="slidenum">
              <a:rPr lang="en-US" smtClean="0"/>
              <a:pPr/>
              <a:t>2</a:t>
            </a:fld>
            <a:endParaRPr lang="en-US" smtClean="0"/>
          </a:p>
        </p:txBody>
      </p:sp>
      <p:sp>
        <p:nvSpPr>
          <p:cNvPr id="34818" name="Title 1"/>
          <p:cNvSpPr>
            <a:spLocks noGrp="1"/>
          </p:cNvSpPr>
          <p:nvPr>
            <p:ph type="title"/>
          </p:nvPr>
        </p:nvSpPr>
        <p:spPr>
          <a:xfrm>
            <a:off x="0" y="0"/>
            <a:ext cx="9144000" cy="914400"/>
          </a:xfrm>
        </p:spPr>
        <p:txBody>
          <a:bodyPr>
            <a:normAutofit/>
          </a:bodyPr>
          <a:lstStyle/>
          <a:p>
            <a:r>
              <a:rPr lang="en-US" sz="3200" dirty="0" smtClean="0"/>
              <a:t>Density Kernel Estimation</a:t>
            </a:r>
          </a:p>
        </p:txBody>
      </p:sp>
      <p:pic>
        <p:nvPicPr>
          <p:cNvPr id="34822" name="Picture 3"/>
          <p:cNvPicPr>
            <a:picLocks noChangeAspect="1" noChangeArrowheads="1"/>
          </p:cNvPicPr>
          <p:nvPr/>
        </p:nvPicPr>
        <p:blipFill>
          <a:blip r:embed="rId3" cstate="print"/>
          <a:srcRect/>
          <a:stretch>
            <a:fillRect/>
          </a:stretch>
        </p:blipFill>
        <p:spPr bwMode="auto">
          <a:xfrm>
            <a:off x="0" y="3429000"/>
            <a:ext cx="3121025" cy="2971800"/>
          </a:xfrm>
          <a:prstGeom prst="rect">
            <a:avLst/>
          </a:prstGeom>
          <a:noFill/>
          <a:ln w="9525">
            <a:solidFill>
              <a:schemeClr val="tx1"/>
            </a:solidFill>
            <a:miter lim="800000"/>
            <a:headEnd/>
            <a:tailEnd/>
          </a:ln>
        </p:spPr>
      </p:pic>
      <p:pic>
        <p:nvPicPr>
          <p:cNvPr id="34823" name="Picture 4"/>
          <p:cNvPicPr>
            <a:picLocks noChangeAspect="1" noChangeArrowheads="1"/>
          </p:cNvPicPr>
          <p:nvPr/>
        </p:nvPicPr>
        <p:blipFill>
          <a:blip r:embed="rId4" cstate="print"/>
          <a:srcRect/>
          <a:stretch>
            <a:fillRect/>
          </a:stretch>
        </p:blipFill>
        <p:spPr bwMode="auto">
          <a:xfrm>
            <a:off x="3124200" y="3429000"/>
            <a:ext cx="3084513" cy="2971800"/>
          </a:xfrm>
          <a:prstGeom prst="rect">
            <a:avLst/>
          </a:prstGeom>
          <a:noFill/>
          <a:ln w="9525">
            <a:solidFill>
              <a:schemeClr val="tx1"/>
            </a:solidFill>
            <a:miter lim="800000"/>
            <a:headEnd/>
            <a:tailEnd/>
          </a:ln>
        </p:spPr>
      </p:pic>
      <p:pic>
        <p:nvPicPr>
          <p:cNvPr id="34824" name="Picture 5"/>
          <p:cNvPicPr>
            <a:picLocks noChangeAspect="1" noChangeArrowheads="1"/>
          </p:cNvPicPr>
          <p:nvPr/>
        </p:nvPicPr>
        <p:blipFill>
          <a:blip r:embed="rId5" cstate="print"/>
          <a:srcRect/>
          <a:stretch>
            <a:fillRect/>
          </a:stretch>
        </p:blipFill>
        <p:spPr bwMode="auto">
          <a:xfrm>
            <a:off x="6022975" y="3429000"/>
            <a:ext cx="3121025" cy="2971800"/>
          </a:xfrm>
          <a:prstGeom prst="rect">
            <a:avLst/>
          </a:prstGeom>
          <a:noFill/>
          <a:ln w="9525">
            <a:solidFill>
              <a:schemeClr val="tx1"/>
            </a:solidFill>
            <a:miter lim="800000"/>
            <a:headEnd/>
            <a:tailEnd/>
          </a:ln>
        </p:spPr>
      </p:pic>
      <p:sp>
        <p:nvSpPr>
          <p:cNvPr id="34825" name="TextBox 5"/>
          <p:cNvSpPr txBox="1">
            <a:spLocks noChangeArrowheads="1"/>
          </p:cNvSpPr>
          <p:nvPr/>
        </p:nvSpPr>
        <p:spPr bwMode="auto">
          <a:xfrm>
            <a:off x="4343400" y="6019800"/>
            <a:ext cx="1692275" cy="369888"/>
          </a:xfrm>
          <a:prstGeom prst="rect">
            <a:avLst/>
          </a:prstGeom>
          <a:noFill/>
          <a:ln w="9525">
            <a:noFill/>
            <a:miter lim="800000"/>
            <a:headEnd/>
            <a:tailEnd/>
          </a:ln>
        </p:spPr>
        <p:txBody>
          <a:bodyPr wrap="none">
            <a:spAutoFit/>
          </a:bodyPr>
          <a:lstStyle/>
          <a:p>
            <a:r>
              <a:rPr lang="en-US"/>
              <a:t>Kernel=10,000</a:t>
            </a:r>
          </a:p>
        </p:txBody>
      </p:sp>
      <p:sp>
        <p:nvSpPr>
          <p:cNvPr id="34826" name="TextBox 6"/>
          <p:cNvSpPr txBox="1">
            <a:spLocks noChangeArrowheads="1"/>
          </p:cNvSpPr>
          <p:nvPr/>
        </p:nvSpPr>
        <p:spPr bwMode="auto">
          <a:xfrm>
            <a:off x="7580313" y="6019800"/>
            <a:ext cx="1563687" cy="369888"/>
          </a:xfrm>
          <a:prstGeom prst="rect">
            <a:avLst/>
          </a:prstGeom>
          <a:noFill/>
          <a:ln w="9525">
            <a:noFill/>
            <a:miter lim="800000"/>
            <a:headEnd/>
            <a:tailEnd/>
          </a:ln>
        </p:spPr>
        <p:txBody>
          <a:bodyPr wrap="none">
            <a:spAutoFit/>
          </a:bodyPr>
          <a:lstStyle/>
          <a:p>
            <a:r>
              <a:rPr lang="en-US"/>
              <a:t>Kernel=5,000</a:t>
            </a: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2"/>
          <p:cNvSpPr>
            <a:spLocks noGrp="1"/>
          </p:cNvSpPr>
          <p:nvPr>
            <p:ph idx="1"/>
          </p:nvPr>
        </p:nvSpPr>
        <p:spPr>
          <a:xfrm>
            <a:off x="228600" y="762000"/>
            <a:ext cx="8610600" cy="4800600"/>
          </a:xfrm>
        </p:spPr>
        <p:txBody>
          <a:bodyPr>
            <a:normAutofit fontScale="92500" lnSpcReduction="10000"/>
          </a:bodyPr>
          <a:lstStyle/>
          <a:p>
            <a:r>
              <a:rPr lang="en-US" sz="2800" dirty="0" smtClean="0"/>
              <a:t>Radii </a:t>
            </a:r>
            <a:r>
              <a:rPr lang="en-US" sz="2800" dirty="0"/>
              <a:t>surrounding each point are based on a quadratic formula with the highest value of observations assumed to be at the center (the point location), then tapering to zero at the radius distance. </a:t>
            </a:r>
            <a:endParaRPr lang="en-US" sz="2800" dirty="0" smtClean="0"/>
          </a:p>
          <a:p>
            <a:endParaRPr lang="en-US" sz="2800" dirty="0" smtClean="0"/>
          </a:p>
          <a:p>
            <a:r>
              <a:rPr lang="en-US" sz="2800" dirty="0" smtClean="0"/>
              <a:t>Kernel </a:t>
            </a:r>
            <a:r>
              <a:rPr lang="en-US" sz="2800" dirty="0"/>
              <a:t>density calculates a "magnitude per search radius" from a point using a kernel </a:t>
            </a:r>
            <a:r>
              <a:rPr lang="en-US" sz="2800" dirty="0" smtClean="0"/>
              <a:t>function </a:t>
            </a:r>
            <a:r>
              <a:rPr lang="en-US" sz="2800" dirty="0"/>
              <a:t>to fit a smoothly tapered surface to each point</a:t>
            </a:r>
            <a:r>
              <a:rPr lang="en-US" sz="2800" dirty="0" smtClean="0"/>
              <a:t>.</a:t>
            </a:r>
          </a:p>
          <a:p>
            <a:pPr marL="109728" indent="0">
              <a:buNone/>
            </a:pPr>
            <a:endParaRPr lang="en-US" sz="2800" dirty="0"/>
          </a:p>
          <a:p>
            <a:pPr lvl="1"/>
            <a:r>
              <a:rPr lang="en-US" sz="2400" dirty="0" smtClean="0"/>
              <a:t>Note </a:t>
            </a:r>
            <a:r>
              <a:rPr lang="en-US" sz="2400" dirty="0"/>
              <a:t>that while density maps can show where clusters exist in your data, they do not indicate whether there are statistically significant differences between clusters.</a:t>
            </a:r>
            <a:endParaRPr lang="en-US" sz="2400" dirty="0" smtClean="0"/>
          </a:p>
        </p:txBody>
      </p:sp>
      <p:sp>
        <p:nvSpPr>
          <p:cNvPr id="34821" name="Slide Number Placeholder 4"/>
          <p:cNvSpPr>
            <a:spLocks noGrp="1"/>
          </p:cNvSpPr>
          <p:nvPr>
            <p:ph type="sldNum" sz="quarter" idx="12"/>
          </p:nvPr>
        </p:nvSpPr>
        <p:spPr>
          <a:noFill/>
        </p:spPr>
        <p:txBody>
          <a:bodyPr/>
          <a:lstStyle/>
          <a:p>
            <a:fld id="{852237D5-C551-4941-8FA6-1E1C83110941}" type="slidenum">
              <a:rPr lang="en-US" smtClean="0"/>
              <a:pPr/>
              <a:t>3</a:t>
            </a:fld>
            <a:endParaRPr lang="en-US" smtClean="0"/>
          </a:p>
        </p:txBody>
      </p:sp>
      <p:sp>
        <p:nvSpPr>
          <p:cNvPr id="34818" name="Title 1"/>
          <p:cNvSpPr>
            <a:spLocks noGrp="1"/>
          </p:cNvSpPr>
          <p:nvPr>
            <p:ph type="title"/>
          </p:nvPr>
        </p:nvSpPr>
        <p:spPr>
          <a:xfrm>
            <a:off x="0" y="0"/>
            <a:ext cx="9144000" cy="914400"/>
          </a:xfrm>
        </p:spPr>
        <p:txBody>
          <a:bodyPr>
            <a:normAutofit/>
          </a:bodyPr>
          <a:lstStyle/>
          <a:p>
            <a:r>
              <a:rPr lang="en-US" sz="3200" dirty="0" smtClean="0"/>
              <a:t>Density Kernel Estimation</a:t>
            </a:r>
          </a:p>
        </p:txBody>
      </p:sp>
    </p:spTree>
    <p:extLst>
      <p:ext uri="{BB962C8B-B14F-4D97-AF65-F5344CB8AC3E}">
        <p14:creationId xmlns:p14="http://schemas.microsoft.com/office/powerpoint/2010/main" val="1398573562"/>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1" name="Slide Number Placeholder 4"/>
          <p:cNvSpPr>
            <a:spLocks noGrp="1"/>
          </p:cNvSpPr>
          <p:nvPr>
            <p:ph type="sldNum" sz="quarter" idx="12"/>
          </p:nvPr>
        </p:nvSpPr>
        <p:spPr>
          <a:noFill/>
        </p:spPr>
        <p:txBody>
          <a:bodyPr/>
          <a:lstStyle/>
          <a:p>
            <a:fld id="{852237D5-C551-4941-8FA6-1E1C83110941}" type="slidenum">
              <a:rPr lang="en-US" smtClean="0"/>
              <a:pPr/>
              <a:t>4</a:t>
            </a:fld>
            <a:endParaRPr lang="en-US" smtClean="0"/>
          </a:p>
        </p:txBody>
      </p:sp>
      <p:sp>
        <p:nvSpPr>
          <p:cNvPr id="34818" name="Title 1"/>
          <p:cNvSpPr>
            <a:spLocks noGrp="1"/>
          </p:cNvSpPr>
          <p:nvPr>
            <p:ph type="title"/>
          </p:nvPr>
        </p:nvSpPr>
        <p:spPr>
          <a:xfrm>
            <a:off x="0" y="0"/>
            <a:ext cx="9144000" cy="914400"/>
          </a:xfrm>
        </p:spPr>
        <p:txBody>
          <a:bodyPr>
            <a:normAutofit/>
          </a:bodyPr>
          <a:lstStyle/>
          <a:p>
            <a:r>
              <a:rPr lang="en-US" sz="3200" dirty="0" smtClean="0"/>
              <a:t>Density Kernel Estimation</a:t>
            </a:r>
          </a:p>
        </p:txBody>
      </p:sp>
      <p:sp>
        <p:nvSpPr>
          <p:cNvPr id="2" name="Content Placeholder 1"/>
          <p:cNvSpPr>
            <a:spLocks noGrp="1"/>
          </p:cNvSpPr>
          <p:nvPr>
            <p:ph idx="1"/>
          </p:nvPr>
        </p:nvSpPr>
        <p:spPr/>
        <p:txBody>
          <a:bodyPr/>
          <a:lstStyle/>
          <a:p>
            <a:r>
              <a:rPr lang="en-US" dirty="0" smtClean="0"/>
              <a:t>Pop is equal to one unless we want to weight results to a column value</a:t>
            </a:r>
          </a:p>
          <a:p>
            <a:r>
              <a:rPr lang="en-US" dirty="0" smtClean="0"/>
              <a:t>We choose the radius</a:t>
            </a:r>
          </a:p>
          <a:p>
            <a:r>
              <a:rPr lang="en-US" dirty="0" err="1" smtClean="0"/>
              <a:t>Dist</a:t>
            </a:r>
            <a:r>
              <a:rPr lang="en-US" dirty="0" smtClean="0"/>
              <a:t> is the distance from a point in a grid cell and any points within the radius…</a:t>
            </a:r>
            <a:endParaRPr lang="en-US" dirty="0"/>
          </a:p>
        </p:txBody>
      </p:sp>
      <p:sp>
        <p:nvSpPr>
          <p:cNvPr id="8" name="Content Placeholder 2"/>
          <p:cNvSpPr txBox="1">
            <a:spLocks/>
          </p:cNvSpPr>
          <p:nvPr/>
        </p:nvSpPr>
        <p:spPr>
          <a:xfrm>
            <a:off x="149225" y="998538"/>
            <a:ext cx="8610600" cy="4800600"/>
          </a:xfrm>
          <a:prstGeom prst="rect">
            <a:avLst/>
          </a:prstGeom>
        </p:spPr>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fontAlgn="auto"/>
            <a:r>
              <a:rPr lang="en-US" sz="2400" smtClean="0"/>
              <a:t>Formula:</a:t>
            </a:r>
          </a:p>
          <a:p>
            <a:pPr fontAlgn="auto"/>
            <a:endParaRPr lang="en-US" sz="2400" smtClean="0"/>
          </a:p>
          <a:p>
            <a:pPr lvl="1" fontAlgn="auto">
              <a:spcAft>
                <a:spcPts val="0"/>
              </a:spcAft>
            </a:pPr>
            <a:endParaRPr lang="en-US" sz="2000" dirty="0" smtClean="0"/>
          </a:p>
        </p:txBody>
      </p:sp>
      <p:pic>
        <p:nvPicPr>
          <p:cNvPr id="9" name="Picture 4" descr="Predicted density formul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9881" y="3962400"/>
            <a:ext cx="6529287" cy="1752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2835657"/>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0"/>
            <a:ext cx="8686800" cy="1066800"/>
          </a:xfrm>
        </p:spPr>
        <p:txBody>
          <a:bodyPr>
            <a:normAutofit/>
          </a:bodyPr>
          <a:lstStyle/>
          <a:p>
            <a:r>
              <a:rPr lang="en-US" sz="3200" dirty="0"/>
              <a:t>Types of Distribution</a:t>
            </a:r>
          </a:p>
        </p:txBody>
      </p:sp>
      <p:sp>
        <p:nvSpPr>
          <p:cNvPr id="17411" name="Rectangle 3"/>
          <p:cNvSpPr>
            <a:spLocks noGrp="1" noChangeArrowheads="1"/>
          </p:cNvSpPr>
          <p:nvPr>
            <p:ph type="body" idx="1"/>
          </p:nvPr>
        </p:nvSpPr>
        <p:spPr>
          <a:xfrm>
            <a:off x="152400" y="990600"/>
            <a:ext cx="8305800" cy="4495800"/>
          </a:xfrm>
        </p:spPr>
        <p:txBody>
          <a:bodyPr>
            <a:normAutofit lnSpcReduction="10000"/>
          </a:bodyPr>
          <a:lstStyle/>
          <a:p>
            <a:pPr>
              <a:lnSpc>
                <a:spcPct val="90000"/>
              </a:lnSpc>
            </a:pPr>
            <a:r>
              <a:rPr lang="en-US" sz="2800" dirty="0"/>
              <a:t>Three general </a:t>
            </a:r>
            <a:r>
              <a:rPr lang="en-US" sz="2800" dirty="0" smtClean="0"/>
              <a:t>patterns:</a:t>
            </a:r>
          </a:p>
          <a:p>
            <a:pPr>
              <a:lnSpc>
                <a:spcPct val="90000"/>
              </a:lnSpc>
              <a:buNone/>
            </a:pPr>
            <a:endParaRPr lang="en-US" sz="2400" dirty="0"/>
          </a:p>
          <a:p>
            <a:pPr lvl="1">
              <a:lnSpc>
                <a:spcPct val="90000"/>
              </a:lnSpc>
            </a:pPr>
            <a:r>
              <a:rPr lang="en-US" sz="2400" b="1" dirty="0"/>
              <a:t>Random</a:t>
            </a:r>
            <a:r>
              <a:rPr lang="en-US" sz="2400" dirty="0"/>
              <a:t> any point is equally likely to occur at any location and the position of any point is not affected by the position of any other point.  There is no apparent ordering of the </a:t>
            </a:r>
            <a:r>
              <a:rPr lang="en-US" sz="2400" dirty="0" smtClean="0"/>
              <a:t>distribution</a:t>
            </a:r>
          </a:p>
          <a:p>
            <a:pPr lvl="1">
              <a:lnSpc>
                <a:spcPct val="90000"/>
              </a:lnSpc>
            </a:pPr>
            <a:endParaRPr lang="en-US" sz="2400" dirty="0"/>
          </a:p>
          <a:p>
            <a:pPr lvl="1">
              <a:lnSpc>
                <a:spcPct val="90000"/>
              </a:lnSpc>
            </a:pPr>
            <a:r>
              <a:rPr lang="en-US" sz="2400" b="1" dirty="0"/>
              <a:t>Uniform</a:t>
            </a:r>
            <a:r>
              <a:rPr lang="en-US" sz="2400" dirty="0"/>
              <a:t> every point is as far from all of its neighbors as </a:t>
            </a:r>
            <a:r>
              <a:rPr lang="en-US" sz="2400" dirty="0" smtClean="0"/>
              <a:t>possible</a:t>
            </a:r>
          </a:p>
          <a:p>
            <a:pPr lvl="1">
              <a:lnSpc>
                <a:spcPct val="90000"/>
              </a:lnSpc>
            </a:pPr>
            <a:endParaRPr lang="en-US" sz="2400" dirty="0"/>
          </a:p>
          <a:p>
            <a:pPr lvl="1">
              <a:lnSpc>
                <a:spcPct val="90000"/>
              </a:lnSpc>
            </a:pPr>
            <a:r>
              <a:rPr lang="en-US" sz="2400" b="1" dirty="0"/>
              <a:t>Clustered</a:t>
            </a:r>
            <a:r>
              <a:rPr lang="en-US" sz="2400" dirty="0"/>
              <a:t> many points are concentrated close together, and large areas that contain very few, if any, points</a:t>
            </a:r>
            <a:endParaRPr lang="en-US" sz="2400" b="1"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0" y="-76200"/>
            <a:ext cx="8229600" cy="838200"/>
          </a:xfrm>
        </p:spPr>
        <p:txBody>
          <a:bodyPr>
            <a:normAutofit/>
          </a:bodyPr>
          <a:lstStyle/>
          <a:p>
            <a:r>
              <a:rPr lang="en-US" sz="3200" dirty="0"/>
              <a:t>Quadrat Analysis</a:t>
            </a:r>
          </a:p>
        </p:txBody>
      </p:sp>
      <p:sp>
        <p:nvSpPr>
          <p:cNvPr id="19459" name="Rectangle 3"/>
          <p:cNvSpPr>
            <a:spLocks noGrp="1" noChangeArrowheads="1"/>
          </p:cNvSpPr>
          <p:nvPr>
            <p:ph type="body" idx="1"/>
          </p:nvPr>
        </p:nvSpPr>
        <p:spPr>
          <a:xfrm>
            <a:off x="914400" y="914400"/>
            <a:ext cx="7543800" cy="5562600"/>
          </a:xfrm>
        </p:spPr>
        <p:txBody>
          <a:bodyPr>
            <a:normAutofit/>
          </a:bodyPr>
          <a:lstStyle/>
          <a:p>
            <a:pPr>
              <a:lnSpc>
                <a:spcPct val="90000"/>
              </a:lnSpc>
            </a:pPr>
            <a:r>
              <a:rPr lang="en-US" sz="2400" dirty="0"/>
              <a:t>Based on a measure derived from data obtained after a uniform grid network is </a:t>
            </a:r>
            <a:r>
              <a:rPr lang="en-US" sz="2400" dirty="0" smtClean="0"/>
              <a:t>drawn </a:t>
            </a:r>
            <a:r>
              <a:rPr lang="en-US" sz="2400" dirty="0"/>
              <a:t>over a map of the distribution of </a:t>
            </a:r>
            <a:r>
              <a:rPr lang="en-US" sz="2400" dirty="0" smtClean="0"/>
              <a:t>interest</a:t>
            </a:r>
          </a:p>
          <a:p>
            <a:pPr>
              <a:lnSpc>
                <a:spcPct val="90000"/>
              </a:lnSpc>
            </a:pPr>
            <a:endParaRPr lang="en-US" sz="2400" dirty="0"/>
          </a:p>
          <a:p>
            <a:pPr>
              <a:lnSpc>
                <a:spcPct val="90000"/>
              </a:lnSpc>
            </a:pPr>
            <a:r>
              <a:rPr lang="en-US" sz="2400" dirty="0"/>
              <a:t>The frequency count, the number of points occurring within each </a:t>
            </a:r>
            <a:r>
              <a:rPr lang="en-US" sz="2400" dirty="0" err="1"/>
              <a:t>quadrat</a:t>
            </a:r>
            <a:r>
              <a:rPr lang="en-US" sz="2400" dirty="0"/>
              <a:t> is recorded </a:t>
            </a:r>
            <a:r>
              <a:rPr lang="en-US" sz="2400" dirty="0" smtClean="0"/>
              <a:t>first</a:t>
            </a:r>
          </a:p>
          <a:p>
            <a:pPr>
              <a:lnSpc>
                <a:spcPct val="90000"/>
              </a:lnSpc>
            </a:pPr>
            <a:endParaRPr lang="en-US" sz="2400" dirty="0"/>
          </a:p>
          <a:p>
            <a:pPr>
              <a:lnSpc>
                <a:spcPct val="90000"/>
              </a:lnSpc>
            </a:pPr>
            <a:r>
              <a:rPr lang="en-US" sz="2400" dirty="0"/>
              <a:t>These data are then used to compute a measure called the variance</a:t>
            </a:r>
          </a:p>
          <a:p>
            <a:pPr>
              <a:lnSpc>
                <a:spcPct val="90000"/>
              </a:lnSpc>
            </a:pPr>
            <a:r>
              <a:rPr lang="en-US" sz="2400" dirty="0"/>
              <a:t>The variance compares the number of points in each grid cell with the average number of points over </a:t>
            </a:r>
            <a:r>
              <a:rPr lang="en-US" sz="2400" i="1" dirty="0"/>
              <a:t>all</a:t>
            </a:r>
            <a:r>
              <a:rPr lang="en-US" sz="2400" dirty="0"/>
              <a:t> of the cells</a:t>
            </a:r>
          </a:p>
          <a:p>
            <a:pPr>
              <a:lnSpc>
                <a:spcPct val="90000"/>
              </a:lnSpc>
            </a:pPr>
            <a:r>
              <a:rPr lang="en-US" sz="2400" dirty="0"/>
              <a:t>The variance of the distribution is compared to the characteristics of a random distribution</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457200" y="38862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35" name="Rectangle 3"/>
          <p:cNvSpPr>
            <a:spLocks noChangeArrowheads="1"/>
          </p:cNvSpPr>
          <p:nvPr/>
        </p:nvSpPr>
        <p:spPr bwMode="auto">
          <a:xfrm>
            <a:off x="1524000" y="38862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36" name="Rectangle 4"/>
          <p:cNvSpPr>
            <a:spLocks noChangeArrowheads="1"/>
          </p:cNvSpPr>
          <p:nvPr/>
        </p:nvSpPr>
        <p:spPr bwMode="auto">
          <a:xfrm>
            <a:off x="457200" y="22098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37" name="Rectangle 5"/>
          <p:cNvSpPr>
            <a:spLocks noChangeArrowheads="1"/>
          </p:cNvSpPr>
          <p:nvPr/>
        </p:nvSpPr>
        <p:spPr bwMode="auto">
          <a:xfrm>
            <a:off x="1524000" y="22098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38" name="Rectangle 6"/>
          <p:cNvSpPr>
            <a:spLocks noChangeArrowheads="1"/>
          </p:cNvSpPr>
          <p:nvPr/>
        </p:nvSpPr>
        <p:spPr bwMode="auto">
          <a:xfrm>
            <a:off x="457200" y="30480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39" name="Rectangle 7"/>
          <p:cNvSpPr>
            <a:spLocks noChangeArrowheads="1"/>
          </p:cNvSpPr>
          <p:nvPr/>
        </p:nvSpPr>
        <p:spPr bwMode="auto">
          <a:xfrm>
            <a:off x="1524000" y="30480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40" name="Rectangle 8"/>
          <p:cNvSpPr>
            <a:spLocks noChangeArrowheads="1"/>
          </p:cNvSpPr>
          <p:nvPr/>
        </p:nvSpPr>
        <p:spPr bwMode="auto">
          <a:xfrm>
            <a:off x="457200" y="14478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41" name="Rectangle 9"/>
          <p:cNvSpPr>
            <a:spLocks noChangeArrowheads="1"/>
          </p:cNvSpPr>
          <p:nvPr/>
        </p:nvSpPr>
        <p:spPr bwMode="auto">
          <a:xfrm>
            <a:off x="1524000" y="14478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42" name="Rectangle 10"/>
          <p:cNvSpPr>
            <a:spLocks noChangeArrowheads="1"/>
          </p:cNvSpPr>
          <p:nvPr/>
        </p:nvSpPr>
        <p:spPr bwMode="auto">
          <a:xfrm>
            <a:off x="457200" y="47244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43" name="Rectangle 11"/>
          <p:cNvSpPr>
            <a:spLocks noChangeArrowheads="1"/>
          </p:cNvSpPr>
          <p:nvPr/>
        </p:nvSpPr>
        <p:spPr bwMode="auto">
          <a:xfrm>
            <a:off x="1524000" y="47244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44" name="Rectangle 12"/>
          <p:cNvSpPr>
            <a:spLocks noChangeArrowheads="1"/>
          </p:cNvSpPr>
          <p:nvPr/>
        </p:nvSpPr>
        <p:spPr bwMode="auto">
          <a:xfrm>
            <a:off x="3124200" y="38862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45" name="Rectangle 13"/>
          <p:cNvSpPr>
            <a:spLocks noChangeArrowheads="1"/>
          </p:cNvSpPr>
          <p:nvPr/>
        </p:nvSpPr>
        <p:spPr bwMode="auto">
          <a:xfrm>
            <a:off x="4191000" y="38862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46" name="Rectangle 14"/>
          <p:cNvSpPr>
            <a:spLocks noChangeArrowheads="1"/>
          </p:cNvSpPr>
          <p:nvPr/>
        </p:nvSpPr>
        <p:spPr bwMode="auto">
          <a:xfrm>
            <a:off x="3124200" y="22098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47" name="Rectangle 15"/>
          <p:cNvSpPr>
            <a:spLocks noChangeArrowheads="1"/>
          </p:cNvSpPr>
          <p:nvPr/>
        </p:nvSpPr>
        <p:spPr bwMode="auto">
          <a:xfrm>
            <a:off x="4191000" y="22098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48" name="Rectangle 16"/>
          <p:cNvSpPr>
            <a:spLocks noChangeArrowheads="1"/>
          </p:cNvSpPr>
          <p:nvPr/>
        </p:nvSpPr>
        <p:spPr bwMode="auto">
          <a:xfrm>
            <a:off x="3124200" y="30480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49" name="Rectangle 17"/>
          <p:cNvSpPr>
            <a:spLocks noChangeArrowheads="1"/>
          </p:cNvSpPr>
          <p:nvPr/>
        </p:nvSpPr>
        <p:spPr bwMode="auto">
          <a:xfrm>
            <a:off x="4191000" y="30480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50" name="Rectangle 18"/>
          <p:cNvSpPr>
            <a:spLocks noChangeArrowheads="1"/>
          </p:cNvSpPr>
          <p:nvPr/>
        </p:nvSpPr>
        <p:spPr bwMode="auto">
          <a:xfrm>
            <a:off x="3124200" y="14478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51" name="Rectangle 19"/>
          <p:cNvSpPr>
            <a:spLocks noChangeArrowheads="1"/>
          </p:cNvSpPr>
          <p:nvPr/>
        </p:nvSpPr>
        <p:spPr bwMode="auto">
          <a:xfrm>
            <a:off x="4191000" y="14478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52" name="Rectangle 20"/>
          <p:cNvSpPr>
            <a:spLocks noChangeArrowheads="1"/>
          </p:cNvSpPr>
          <p:nvPr/>
        </p:nvSpPr>
        <p:spPr bwMode="auto">
          <a:xfrm>
            <a:off x="3124200" y="47244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53" name="Rectangle 21"/>
          <p:cNvSpPr>
            <a:spLocks noChangeArrowheads="1"/>
          </p:cNvSpPr>
          <p:nvPr/>
        </p:nvSpPr>
        <p:spPr bwMode="auto">
          <a:xfrm>
            <a:off x="4191000" y="47244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54" name="Rectangle 22"/>
          <p:cNvSpPr>
            <a:spLocks noChangeArrowheads="1"/>
          </p:cNvSpPr>
          <p:nvPr/>
        </p:nvSpPr>
        <p:spPr bwMode="auto">
          <a:xfrm>
            <a:off x="5715000" y="38862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55" name="Rectangle 23"/>
          <p:cNvSpPr>
            <a:spLocks noChangeArrowheads="1"/>
          </p:cNvSpPr>
          <p:nvPr/>
        </p:nvSpPr>
        <p:spPr bwMode="auto">
          <a:xfrm>
            <a:off x="6781800" y="38862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56" name="Rectangle 24"/>
          <p:cNvSpPr>
            <a:spLocks noChangeArrowheads="1"/>
          </p:cNvSpPr>
          <p:nvPr/>
        </p:nvSpPr>
        <p:spPr bwMode="auto">
          <a:xfrm>
            <a:off x="5715000" y="22098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57" name="Rectangle 25"/>
          <p:cNvSpPr>
            <a:spLocks noChangeArrowheads="1"/>
          </p:cNvSpPr>
          <p:nvPr/>
        </p:nvSpPr>
        <p:spPr bwMode="auto">
          <a:xfrm>
            <a:off x="6781800" y="22098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58" name="Rectangle 26"/>
          <p:cNvSpPr>
            <a:spLocks noChangeArrowheads="1"/>
          </p:cNvSpPr>
          <p:nvPr/>
        </p:nvSpPr>
        <p:spPr bwMode="auto">
          <a:xfrm>
            <a:off x="5715000" y="30480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59" name="Rectangle 27"/>
          <p:cNvSpPr>
            <a:spLocks noChangeArrowheads="1"/>
          </p:cNvSpPr>
          <p:nvPr/>
        </p:nvSpPr>
        <p:spPr bwMode="auto">
          <a:xfrm>
            <a:off x="6781800" y="30480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60" name="Rectangle 28"/>
          <p:cNvSpPr>
            <a:spLocks noChangeArrowheads="1"/>
          </p:cNvSpPr>
          <p:nvPr/>
        </p:nvSpPr>
        <p:spPr bwMode="auto">
          <a:xfrm>
            <a:off x="5715000" y="14478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61" name="Rectangle 29"/>
          <p:cNvSpPr>
            <a:spLocks noChangeArrowheads="1"/>
          </p:cNvSpPr>
          <p:nvPr/>
        </p:nvSpPr>
        <p:spPr bwMode="auto">
          <a:xfrm>
            <a:off x="6781800" y="14478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62" name="Rectangle 30"/>
          <p:cNvSpPr>
            <a:spLocks noChangeArrowheads="1"/>
          </p:cNvSpPr>
          <p:nvPr/>
        </p:nvSpPr>
        <p:spPr bwMode="auto">
          <a:xfrm>
            <a:off x="5715000" y="47244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63" name="Rectangle 31"/>
          <p:cNvSpPr>
            <a:spLocks noChangeArrowheads="1"/>
          </p:cNvSpPr>
          <p:nvPr/>
        </p:nvSpPr>
        <p:spPr bwMode="auto">
          <a:xfrm>
            <a:off x="6781800" y="4724400"/>
            <a:ext cx="1214172" cy="8382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18464" name="Oval 32"/>
          <p:cNvSpPr>
            <a:spLocks noChangeArrowheads="1"/>
          </p:cNvSpPr>
          <p:nvPr/>
        </p:nvSpPr>
        <p:spPr bwMode="auto">
          <a:xfrm>
            <a:off x="685799" y="16764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65" name="Oval 33"/>
          <p:cNvSpPr>
            <a:spLocks noChangeArrowheads="1"/>
          </p:cNvSpPr>
          <p:nvPr/>
        </p:nvSpPr>
        <p:spPr bwMode="auto">
          <a:xfrm>
            <a:off x="838199" y="19812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66" name="Oval 34"/>
          <p:cNvSpPr>
            <a:spLocks noChangeArrowheads="1"/>
          </p:cNvSpPr>
          <p:nvPr/>
        </p:nvSpPr>
        <p:spPr bwMode="auto">
          <a:xfrm>
            <a:off x="1066799" y="16764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67" name="Oval 35"/>
          <p:cNvSpPr>
            <a:spLocks noChangeArrowheads="1"/>
          </p:cNvSpPr>
          <p:nvPr/>
        </p:nvSpPr>
        <p:spPr bwMode="auto">
          <a:xfrm>
            <a:off x="838199" y="24384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68" name="Oval 36"/>
          <p:cNvSpPr>
            <a:spLocks noChangeArrowheads="1"/>
          </p:cNvSpPr>
          <p:nvPr/>
        </p:nvSpPr>
        <p:spPr bwMode="auto">
          <a:xfrm>
            <a:off x="1142999" y="25908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69" name="Oval 37"/>
          <p:cNvSpPr>
            <a:spLocks noChangeArrowheads="1"/>
          </p:cNvSpPr>
          <p:nvPr/>
        </p:nvSpPr>
        <p:spPr bwMode="auto">
          <a:xfrm>
            <a:off x="685799" y="26670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70" name="Oval 38"/>
          <p:cNvSpPr>
            <a:spLocks noChangeArrowheads="1"/>
          </p:cNvSpPr>
          <p:nvPr/>
        </p:nvSpPr>
        <p:spPr bwMode="auto">
          <a:xfrm>
            <a:off x="990599" y="28194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71" name="Oval 39"/>
          <p:cNvSpPr>
            <a:spLocks noChangeArrowheads="1"/>
          </p:cNvSpPr>
          <p:nvPr/>
        </p:nvSpPr>
        <p:spPr bwMode="auto">
          <a:xfrm>
            <a:off x="1219199" y="23622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72" name="Oval 40"/>
          <p:cNvSpPr>
            <a:spLocks noChangeArrowheads="1"/>
          </p:cNvSpPr>
          <p:nvPr/>
        </p:nvSpPr>
        <p:spPr bwMode="auto">
          <a:xfrm>
            <a:off x="1066799" y="32004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73" name="Oval 41"/>
          <p:cNvSpPr>
            <a:spLocks noChangeArrowheads="1"/>
          </p:cNvSpPr>
          <p:nvPr/>
        </p:nvSpPr>
        <p:spPr bwMode="auto">
          <a:xfrm>
            <a:off x="685799" y="35052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74" name="Oval 42"/>
          <p:cNvSpPr>
            <a:spLocks noChangeArrowheads="1"/>
          </p:cNvSpPr>
          <p:nvPr/>
        </p:nvSpPr>
        <p:spPr bwMode="auto">
          <a:xfrm>
            <a:off x="914399" y="41148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75" name="Oval 43"/>
          <p:cNvSpPr>
            <a:spLocks noChangeArrowheads="1"/>
          </p:cNvSpPr>
          <p:nvPr/>
        </p:nvSpPr>
        <p:spPr bwMode="auto">
          <a:xfrm>
            <a:off x="685799" y="48768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76" name="Oval 44"/>
          <p:cNvSpPr>
            <a:spLocks noChangeArrowheads="1"/>
          </p:cNvSpPr>
          <p:nvPr/>
        </p:nvSpPr>
        <p:spPr bwMode="auto">
          <a:xfrm>
            <a:off x="838199" y="51816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77" name="Oval 45"/>
          <p:cNvSpPr>
            <a:spLocks noChangeArrowheads="1"/>
          </p:cNvSpPr>
          <p:nvPr/>
        </p:nvSpPr>
        <p:spPr bwMode="auto">
          <a:xfrm>
            <a:off x="1142999" y="48768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78" name="Oval 46"/>
          <p:cNvSpPr>
            <a:spLocks noChangeArrowheads="1"/>
          </p:cNvSpPr>
          <p:nvPr/>
        </p:nvSpPr>
        <p:spPr bwMode="auto">
          <a:xfrm>
            <a:off x="2057399" y="18288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79" name="Oval 47"/>
          <p:cNvSpPr>
            <a:spLocks noChangeArrowheads="1"/>
          </p:cNvSpPr>
          <p:nvPr/>
        </p:nvSpPr>
        <p:spPr bwMode="auto">
          <a:xfrm>
            <a:off x="2057399" y="33528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80" name="Oval 48"/>
          <p:cNvSpPr>
            <a:spLocks noChangeArrowheads="1"/>
          </p:cNvSpPr>
          <p:nvPr/>
        </p:nvSpPr>
        <p:spPr bwMode="auto">
          <a:xfrm>
            <a:off x="2209799" y="40386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81" name="Oval 49"/>
          <p:cNvSpPr>
            <a:spLocks noChangeArrowheads="1"/>
          </p:cNvSpPr>
          <p:nvPr/>
        </p:nvSpPr>
        <p:spPr bwMode="auto">
          <a:xfrm>
            <a:off x="2057399" y="44196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82" name="Oval 50"/>
          <p:cNvSpPr>
            <a:spLocks noChangeArrowheads="1"/>
          </p:cNvSpPr>
          <p:nvPr/>
        </p:nvSpPr>
        <p:spPr bwMode="auto">
          <a:xfrm>
            <a:off x="1752599" y="40386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83" name="Oval 51"/>
          <p:cNvSpPr>
            <a:spLocks noChangeArrowheads="1"/>
          </p:cNvSpPr>
          <p:nvPr/>
        </p:nvSpPr>
        <p:spPr bwMode="auto">
          <a:xfrm>
            <a:off x="2133599" y="50292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84" name="Oval 52"/>
          <p:cNvSpPr>
            <a:spLocks noChangeArrowheads="1"/>
          </p:cNvSpPr>
          <p:nvPr/>
        </p:nvSpPr>
        <p:spPr bwMode="auto">
          <a:xfrm>
            <a:off x="3276599" y="19812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85" name="Oval 53"/>
          <p:cNvSpPr>
            <a:spLocks noChangeArrowheads="1"/>
          </p:cNvSpPr>
          <p:nvPr/>
        </p:nvSpPr>
        <p:spPr bwMode="auto">
          <a:xfrm>
            <a:off x="2362199" y="41910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86" name="Oval 54"/>
          <p:cNvSpPr>
            <a:spLocks noChangeArrowheads="1"/>
          </p:cNvSpPr>
          <p:nvPr/>
        </p:nvSpPr>
        <p:spPr bwMode="auto">
          <a:xfrm>
            <a:off x="3809999" y="15240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87" name="Oval 55"/>
          <p:cNvSpPr>
            <a:spLocks noChangeArrowheads="1"/>
          </p:cNvSpPr>
          <p:nvPr/>
        </p:nvSpPr>
        <p:spPr bwMode="auto">
          <a:xfrm>
            <a:off x="3962399" y="23622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88" name="Oval 56"/>
          <p:cNvSpPr>
            <a:spLocks noChangeArrowheads="1"/>
          </p:cNvSpPr>
          <p:nvPr/>
        </p:nvSpPr>
        <p:spPr bwMode="auto">
          <a:xfrm>
            <a:off x="3276599" y="28194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89" name="Oval 57"/>
          <p:cNvSpPr>
            <a:spLocks noChangeArrowheads="1"/>
          </p:cNvSpPr>
          <p:nvPr/>
        </p:nvSpPr>
        <p:spPr bwMode="auto">
          <a:xfrm>
            <a:off x="3276599" y="35814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90" name="Oval 58"/>
          <p:cNvSpPr>
            <a:spLocks noChangeArrowheads="1"/>
          </p:cNvSpPr>
          <p:nvPr/>
        </p:nvSpPr>
        <p:spPr bwMode="auto">
          <a:xfrm>
            <a:off x="3886199" y="31242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91" name="Oval 59"/>
          <p:cNvSpPr>
            <a:spLocks noChangeArrowheads="1"/>
          </p:cNvSpPr>
          <p:nvPr/>
        </p:nvSpPr>
        <p:spPr bwMode="auto">
          <a:xfrm>
            <a:off x="3276599" y="44196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92" name="Oval 60"/>
          <p:cNvSpPr>
            <a:spLocks noChangeArrowheads="1"/>
          </p:cNvSpPr>
          <p:nvPr/>
        </p:nvSpPr>
        <p:spPr bwMode="auto">
          <a:xfrm>
            <a:off x="3886199" y="39624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93" name="Oval 61"/>
          <p:cNvSpPr>
            <a:spLocks noChangeArrowheads="1"/>
          </p:cNvSpPr>
          <p:nvPr/>
        </p:nvSpPr>
        <p:spPr bwMode="auto">
          <a:xfrm>
            <a:off x="3962399" y="48768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94" name="Oval 62"/>
          <p:cNvSpPr>
            <a:spLocks noChangeArrowheads="1"/>
          </p:cNvSpPr>
          <p:nvPr/>
        </p:nvSpPr>
        <p:spPr bwMode="auto">
          <a:xfrm>
            <a:off x="3276599" y="53340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95" name="Oval 63"/>
          <p:cNvSpPr>
            <a:spLocks noChangeArrowheads="1"/>
          </p:cNvSpPr>
          <p:nvPr/>
        </p:nvSpPr>
        <p:spPr bwMode="auto">
          <a:xfrm>
            <a:off x="4343399" y="19812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96" name="Oval 64"/>
          <p:cNvSpPr>
            <a:spLocks noChangeArrowheads="1"/>
          </p:cNvSpPr>
          <p:nvPr/>
        </p:nvSpPr>
        <p:spPr bwMode="auto">
          <a:xfrm>
            <a:off x="4876799" y="15240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97" name="Oval 65"/>
          <p:cNvSpPr>
            <a:spLocks noChangeArrowheads="1"/>
          </p:cNvSpPr>
          <p:nvPr/>
        </p:nvSpPr>
        <p:spPr bwMode="auto">
          <a:xfrm>
            <a:off x="5029199" y="23622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98" name="Oval 66"/>
          <p:cNvSpPr>
            <a:spLocks noChangeArrowheads="1"/>
          </p:cNvSpPr>
          <p:nvPr/>
        </p:nvSpPr>
        <p:spPr bwMode="auto">
          <a:xfrm>
            <a:off x="4343399" y="28194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499" name="Oval 67"/>
          <p:cNvSpPr>
            <a:spLocks noChangeArrowheads="1"/>
          </p:cNvSpPr>
          <p:nvPr/>
        </p:nvSpPr>
        <p:spPr bwMode="auto">
          <a:xfrm>
            <a:off x="4343399" y="35814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00" name="Oval 68"/>
          <p:cNvSpPr>
            <a:spLocks noChangeArrowheads="1"/>
          </p:cNvSpPr>
          <p:nvPr/>
        </p:nvSpPr>
        <p:spPr bwMode="auto">
          <a:xfrm>
            <a:off x="4952999" y="31242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01" name="Oval 69"/>
          <p:cNvSpPr>
            <a:spLocks noChangeArrowheads="1"/>
          </p:cNvSpPr>
          <p:nvPr/>
        </p:nvSpPr>
        <p:spPr bwMode="auto">
          <a:xfrm>
            <a:off x="4343399" y="44196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02" name="Oval 70"/>
          <p:cNvSpPr>
            <a:spLocks noChangeArrowheads="1"/>
          </p:cNvSpPr>
          <p:nvPr/>
        </p:nvSpPr>
        <p:spPr bwMode="auto">
          <a:xfrm>
            <a:off x="4952999" y="39624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03" name="Oval 71"/>
          <p:cNvSpPr>
            <a:spLocks noChangeArrowheads="1"/>
          </p:cNvSpPr>
          <p:nvPr/>
        </p:nvSpPr>
        <p:spPr bwMode="auto">
          <a:xfrm>
            <a:off x="5029199" y="48768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04" name="Oval 72"/>
          <p:cNvSpPr>
            <a:spLocks noChangeArrowheads="1"/>
          </p:cNvSpPr>
          <p:nvPr/>
        </p:nvSpPr>
        <p:spPr bwMode="auto">
          <a:xfrm>
            <a:off x="4343399" y="53340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05" name="Oval 73"/>
          <p:cNvSpPr>
            <a:spLocks noChangeArrowheads="1"/>
          </p:cNvSpPr>
          <p:nvPr/>
        </p:nvSpPr>
        <p:spPr bwMode="auto">
          <a:xfrm>
            <a:off x="6934199" y="32004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06" name="Oval 74"/>
          <p:cNvSpPr>
            <a:spLocks noChangeArrowheads="1"/>
          </p:cNvSpPr>
          <p:nvPr/>
        </p:nvSpPr>
        <p:spPr bwMode="auto">
          <a:xfrm>
            <a:off x="7086599" y="34290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07" name="Oval 75"/>
          <p:cNvSpPr>
            <a:spLocks noChangeArrowheads="1"/>
          </p:cNvSpPr>
          <p:nvPr/>
        </p:nvSpPr>
        <p:spPr bwMode="auto">
          <a:xfrm>
            <a:off x="7238999" y="32004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08" name="Oval 76"/>
          <p:cNvSpPr>
            <a:spLocks noChangeArrowheads="1"/>
          </p:cNvSpPr>
          <p:nvPr/>
        </p:nvSpPr>
        <p:spPr bwMode="auto">
          <a:xfrm>
            <a:off x="6857999" y="35814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09" name="Oval 77"/>
          <p:cNvSpPr>
            <a:spLocks noChangeArrowheads="1"/>
          </p:cNvSpPr>
          <p:nvPr/>
        </p:nvSpPr>
        <p:spPr bwMode="auto">
          <a:xfrm>
            <a:off x="7467599" y="33528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10" name="Oval 78"/>
          <p:cNvSpPr>
            <a:spLocks noChangeArrowheads="1"/>
          </p:cNvSpPr>
          <p:nvPr/>
        </p:nvSpPr>
        <p:spPr bwMode="auto">
          <a:xfrm>
            <a:off x="7086599" y="36576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11" name="Oval 79"/>
          <p:cNvSpPr>
            <a:spLocks noChangeArrowheads="1"/>
          </p:cNvSpPr>
          <p:nvPr/>
        </p:nvSpPr>
        <p:spPr bwMode="auto">
          <a:xfrm>
            <a:off x="7315199" y="35814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12" name="Oval 80"/>
          <p:cNvSpPr>
            <a:spLocks noChangeArrowheads="1"/>
          </p:cNvSpPr>
          <p:nvPr/>
        </p:nvSpPr>
        <p:spPr bwMode="auto">
          <a:xfrm>
            <a:off x="7543799" y="31242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13" name="Oval 81"/>
          <p:cNvSpPr>
            <a:spLocks noChangeArrowheads="1"/>
          </p:cNvSpPr>
          <p:nvPr/>
        </p:nvSpPr>
        <p:spPr bwMode="auto">
          <a:xfrm>
            <a:off x="7619999" y="36576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14" name="Oval 82"/>
          <p:cNvSpPr>
            <a:spLocks noChangeArrowheads="1"/>
          </p:cNvSpPr>
          <p:nvPr/>
        </p:nvSpPr>
        <p:spPr bwMode="auto">
          <a:xfrm>
            <a:off x="7086599" y="30480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15" name="Oval 83"/>
          <p:cNvSpPr>
            <a:spLocks noChangeArrowheads="1"/>
          </p:cNvSpPr>
          <p:nvPr/>
        </p:nvSpPr>
        <p:spPr bwMode="auto">
          <a:xfrm>
            <a:off x="5867399" y="32004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16" name="Oval 84"/>
          <p:cNvSpPr>
            <a:spLocks noChangeArrowheads="1"/>
          </p:cNvSpPr>
          <p:nvPr/>
        </p:nvSpPr>
        <p:spPr bwMode="auto">
          <a:xfrm>
            <a:off x="6019799" y="34290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17" name="Oval 85"/>
          <p:cNvSpPr>
            <a:spLocks noChangeArrowheads="1"/>
          </p:cNvSpPr>
          <p:nvPr/>
        </p:nvSpPr>
        <p:spPr bwMode="auto">
          <a:xfrm>
            <a:off x="6172199" y="32004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18" name="Oval 86"/>
          <p:cNvSpPr>
            <a:spLocks noChangeArrowheads="1"/>
          </p:cNvSpPr>
          <p:nvPr/>
        </p:nvSpPr>
        <p:spPr bwMode="auto">
          <a:xfrm>
            <a:off x="5791199" y="35814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19" name="Oval 87"/>
          <p:cNvSpPr>
            <a:spLocks noChangeArrowheads="1"/>
          </p:cNvSpPr>
          <p:nvPr/>
        </p:nvSpPr>
        <p:spPr bwMode="auto">
          <a:xfrm>
            <a:off x="6400799" y="33528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20" name="Oval 88"/>
          <p:cNvSpPr>
            <a:spLocks noChangeArrowheads="1"/>
          </p:cNvSpPr>
          <p:nvPr/>
        </p:nvSpPr>
        <p:spPr bwMode="auto">
          <a:xfrm>
            <a:off x="6019799" y="36576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21" name="Oval 89"/>
          <p:cNvSpPr>
            <a:spLocks noChangeArrowheads="1"/>
          </p:cNvSpPr>
          <p:nvPr/>
        </p:nvSpPr>
        <p:spPr bwMode="auto">
          <a:xfrm>
            <a:off x="6248399" y="35814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22" name="Oval 90"/>
          <p:cNvSpPr>
            <a:spLocks noChangeArrowheads="1"/>
          </p:cNvSpPr>
          <p:nvPr/>
        </p:nvSpPr>
        <p:spPr bwMode="auto">
          <a:xfrm>
            <a:off x="6476999" y="31242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23" name="Oval 91"/>
          <p:cNvSpPr>
            <a:spLocks noChangeArrowheads="1"/>
          </p:cNvSpPr>
          <p:nvPr/>
        </p:nvSpPr>
        <p:spPr bwMode="auto">
          <a:xfrm>
            <a:off x="6553199" y="36576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24" name="Oval 92"/>
          <p:cNvSpPr>
            <a:spLocks noChangeArrowheads="1"/>
          </p:cNvSpPr>
          <p:nvPr/>
        </p:nvSpPr>
        <p:spPr bwMode="auto">
          <a:xfrm>
            <a:off x="6019799" y="3048000"/>
            <a:ext cx="173453"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18525" name="Text Box 93"/>
          <p:cNvSpPr txBox="1">
            <a:spLocks noChangeArrowheads="1"/>
          </p:cNvSpPr>
          <p:nvPr/>
        </p:nvSpPr>
        <p:spPr bwMode="auto">
          <a:xfrm>
            <a:off x="609600" y="5641975"/>
            <a:ext cx="1905000" cy="400110"/>
          </a:xfrm>
          <a:prstGeom prst="rect">
            <a:avLst/>
          </a:prstGeom>
          <a:noFill/>
          <a:ln w="9525">
            <a:noFill/>
            <a:miter lim="800000"/>
            <a:headEnd/>
            <a:tailEnd/>
          </a:ln>
          <a:effectLst/>
        </p:spPr>
        <p:txBody>
          <a:bodyPr wrap="square">
            <a:spAutoFit/>
          </a:bodyPr>
          <a:lstStyle/>
          <a:p>
            <a:pPr algn="ctr"/>
            <a:r>
              <a:rPr lang="en-US" dirty="0">
                <a:latin typeface="Arial Unicode MS" pitchFamily="34" charset="-128"/>
              </a:rPr>
              <a:t>RANDOM</a:t>
            </a:r>
          </a:p>
        </p:txBody>
      </p:sp>
      <p:sp>
        <p:nvSpPr>
          <p:cNvPr id="18526" name="Text Box 94"/>
          <p:cNvSpPr txBox="1">
            <a:spLocks noChangeArrowheads="1"/>
          </p:cNvSpPr>
          <p:nvPr/>
        </p:nvSpPr>
        <p:spPr bwMode="auto">
          <a:xfrm>
            <a:off x="3306763" y="5638800"/>
            <a:ext cx="1828486" cy="400110"/>
          </a:xfrm>
          <a:prstGeom prst="rect">
            <a:avLst/>
          </a:prstGeom>
          <a:noFill/>
          <a:ln w="9525">
            <a:noFill/>
            <a:miter lim="800000"/>
            <a:headEnd/>
            <a:tailEnd/>
          </a:ln>
          <a:effectLst/>
        </p:spPr>
        <p:txBody>
          <a:bodyPr wrap="square">
            <a:spAutoFit/>
          </a:bodyPr>
          <a:lstStyle/>
          <a:p>
            <a:pPr algn="ctr"/>
            <a:r>
              <a:rPr lang="en-US" dirty="0">
                <a:latin typeface="Arial Unicode MS" pitchFamily="34" charset="-128"/>
              </a:rPr>
              <a:t>UNIFORM</a:t>
            </a:r>
          </a:p>
        </p:txBody>
      </p:sp>
      <p:sp>
        <p:nvSpPr>
          <p:cNvPr id="18527" name="Text Box 95"/>
          <p:cNvSpPr txBox="1">
            <a:spLocks noChangeArrowheads="1"/>
          </p:cNvSpPr>
          <p:nvPr/>
        </p:nvSpPr>
        <p:spPr bwMode="auto">
          <a:xfrm>
            <a:off x="5761037" y="5638800"/>
            <a:ext cx="2312709" cy="400110"/>
          </a:xfrm>
          <a:prstGeom prst="rect">
            <a:avLst/>
          </a:prstGeom>
          <a:noFill/>
          <a:ln w="9525">
            <a:noFill/>
            <a:miter lim="800000"/>
            <a:headEnd/>
            <a:tailEnd/>
          </a:ln>
          <a:effectLst/>
        </p:spPr>
        <p:txBody>
          <a:bodyPr wrap="square">
            <a:spAutoFit/>
          </a:bodyPr>
          <a:lstStyle/>
          <a:p>
            <a:pPr algn="ctr"/>
            <a:r>
              <a:rPr lang="en-US" dirty="0">
                <a:latin typeface="Arial Unicode MS" pitchFamily="34" charset="-128"/>
              </a:rPr>
              <a:t>CLUSTERED</a:t>
            </a:r>
          </a:p>
        </p:txBody>
      </p:sp>
      <p:sp>
        <p:nvSpPr>
          <p:cNvPr id="96" name="Title 95"/>
          <p:cNvSpPr>
            <a:spLocks noGrp="1"/>
          </p:cNvSpPr>
          <p:nvPr>
            <p:ph type="title"/>
          </p:nvPr>
        </p:nvSpPr>
        <p:spPr>
          <a:xfrm>
            <a:off x="0" y="0"/>
            <a:ext cx="8686800" cy="990600"/>
          </a:xfrm>
        </p:spPr>
        <p:txBody>
          <a:bodyPr>
            <a:normAutofit/>
          </a:bodyPr>
          <a:lstStyle/>
          <a:p>
            <a:r>
              <a:rPr lang="en-US" sz="3200" dirty="0" smtClean="0"/>
              <a:t>Quadrats</a:t>
            </a:r>
            <a:endParaRPr lang="en-US" sz="3200" dirty="0"/>
          </a:p>
        </p:txBody>
      </p:sp>
      <p:sp>
        <p:nvSpPr>
          <p:cNvPr id="97" name="Content Placeholder 96"/>
          <p:cNvSpPr>
            <a:spLocks noGrp="1"/>
          </p:cNvSpPr>
          <p:nvPr>
            <p:ph idx="1"/>
          </p:nvPr>
        </p:nvSpPr>
        <p:spPr/>
        <p:txBody>
          <a:bodyPr/>
          <a:lstStyle/>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482" name="Object 2"/>
          <p:cNvGraphicFramePr>
            <a:graphicFrameLocks noChangeAspect="1"/>
          </p:cNvGraphicFramePr>
          <p:nvPr/>
        </p:nvGraphicFramePr>
        <p:xfrm>
          <a:off x="1057275" y="1219200"/>
          <a:ext cx="2227263" cy="3962400"/>
        </p:xfrm>
        <a:graphic>
          <a:graphicData uri="http://schemas.openxmlformats.org/presentationml/2006/ole">
            <mc:AlternateContent xmlns:mc="http://schemas.openxmlformats.org/markup-compatibility/2006">
              <mc:Choice xmlns:v="urn:schemas-microsoft-com:vml" Requires="v">
                <p:oleObj spid="_x0000_s95310" name="Worksheet" r:id="rId4" imgW="2373840" imgH="4792680" progId="Excel.Sheet.8">
                  <p:embed/>
                </p:oleObj>
              </mc:Choice>
              <mc:Fallback>
                <p:oleObj name="Worksheet" r:id="rId4" imgW="2373840" imgH="4792680" progId="Excel.Sheet.8">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7275" y="1219200"/>
                        <a:ext cx="2227263" cy="3962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20483" name="Object 3"/>
          <p:cNvGraphicFramePr>
            <a:graphicFrameLocks noChangeAspect="1"/>
          </p:cNvGraphicFramePr>
          <p:nvPr/>
        </p:nvGraphicFramePr>
        <p:xfrm>
          <a:off x="3568700" y="1257300"/>
          <a:ext cx="2146300" cy="3848100"/>
        </p:xfrm>
        <a:graphic>
          <a:graphicData uri="http://schemas.openxmlformats.org/presentationml/2006/ole">
            <mc:AlternateContent xmlns:mc="http://schemas.openxmlformats.org/markup-compatibility/2006">
              <mc:Choice xmlns:v="urn:schemas-microsoft-com:vml" Requires="v">
                <p:oleObj spid="_x0000_s95311" name="Worksheet" r:id="rId6" imgW="1971545" imgH="4057769" progId="Excel.Sheet.8">
                  <p:embed/>
                </p:oleObj>
              </mc:Choice>
              <mc:Fallback>
                <p:oleObj name="Worksheet" r:id="rId6" imgW="1971545" imgH="4057769" progId="Excel.Sheet.8">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68700" y="1257300"/>
                        <a:ext cx="2146300" cy="3848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20484" name="Object 4"/>
          <p:cNvGraphicFramePr>
            <a:graphicFrameLocks noChangeAspect="1"/>
          </p:cNvGraphicFramePr>
          <p:nvPr/>
        </p:nvGraphicFramePr>
        <p:xfrm>
          <a:off x="5934075" y="1295400"/>
          <a:ext cx="2143125" cy="3886200"/>
        </p:xfrm>
        <a:graphic>
          <a:graphicData uri="http://schemas.openxmlformats.org/presentationml/2006/ole">
            <mc:AlternateContent xmlns:mc="http://schemas.openxmlformats.org/markup-compatibility/2006">
              <mc:Choice xmlns:v="urn:schemas-microsoft-com:vml" Requires="v">
                <p:oleObj spid="_x0000_s95312" name="Worksheet" r:id="rId8" imgW="2283840" imgH="4792680" progId="Excel.Sheet.8">
                  <p:embed/>
                </p:oleObj>
              </mc:Choice>
              <mc:Fallback>
                <p:oleObj name="Worksheet" r:id="rId8" imgW="2283840" imgH="4792680" progId="Excel.Sheet.8">
                  <p:embed/>
                  <p:pic>
                    <p:nvPicPr>
                      <p:cNvPr id="0"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934075" y="1295400"/>
                        <a:ext cx="2143125" cy="3886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20485" name="Object 5"/>
          <p:cNvGraphicFramePr>
            <a:graphicFrameLocks noChangeAspect="1"/>
          </p:cNvGraphicFramePr>
          <p:nvPr>
            <p:extLst>
              <p:ext uri="{D42A27DB-BD31-4B8C-83A1-F6EECF244321}">
                <p14:modId xmlns:p14="http://schemas.microsoft.com/office/powerpoint/2010/main" val="2715784433"/>
              </p:ext>
            </p:extLst>
          </p:nvPr>
        </p:nvGraphicFramePr>
        <p:xfrm>
          <a:off x="3271091" y="5282363"/>
          <a:ext cx="3087688" cy="1601787"/>
        </p:xfrm>
        <a:graphic>
          <a:graphicData uri="http://schemas.openxmlformats.org/presentationml/2006/ole">
            <mc:AlternateContent xmlns:mc="http://schemas.openxmlformats.org/markup-compatibility/2006">
              <mc:Choice xmlns:v="urn:schemas-microsoft-com:vml" Requires="v">
                <p:oleObj spid="_x0000_s95313" name="Equation" r:id="rId10" imgW="2108160" imgH="1091880" progId="Equation.3">
                  <p:embed/>
                </p:oleObj>
              </mc:Choice>
              <mc:Fallback>
                <p:oleObj name="Equation" r:id="rId10" imgW="2108160" imgH="1091880" progId="Equation.3">
                  <p:embed/>
                  <p:pic>
                    <p:nvPicPr>
                      <p:cNvPr id="0" name="Picture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71091" y="5282363"/>
                        <a:ext cx="3087688" cy="1601787"/>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tx1"/>
                            </a:solidFill>
                          </a14:hiddenFill>
                        </a:ext>
                      </a:extLst>
                    </p:spPr>
                  </p:pic>
                </p:oleObj>
              </mc:Fallback>
            </mc:AlternateContent>
          </a:graphicData>
        </a:graphic>
      </p:graphicFrame>
      <p:sp>
        <p:nvSpPr>
          <p:cNvPr id="7" name="Title 6"/>
          <p:cNvSpPr>
            <a:spLocks noGrp="1"/>
          </p:cNvSpPr>
          <p:nvPr>
            <p:ph type="title"/>
          </p:nvPr>
        </p:nvSpPr>
        <p:spPr>
          <a:xfrm>
            <a:off x="0" y="0"/>
            <a:ext cx="8686800" cy="914400"/>
          </a:xfrm>
        </p:spPr>
        <p:txBody>
          <a:bodyPr>
            <a:normAutofit/>
          </a:bodyPr>
          <a:lstStyle/>
          <a:p>
            <a:r>
              <a:rPr lang="en-US" sz="3200" dirty="0" smtClean="0"/>
              <a:t>Quadrat Calculation</a:t>
            </a:r>
            <a:endParaRPr lang="en-US" sz="3200" dirty="0"/>
          </a:p>
        </p:txBody>
      </p:sp>
      <p:sp>
        <p:nvSpPr>
          <p:cNvPr id="8" name="Content Placeholder 7"/>
          <p:cNvSpPr>
            <a:spLocks noGrp="1"/>
          </p:cNvSpPr>
          <p:nvPr>
            <p:ph idx="1"/>
          </p:nvPr>
        </p:nvSpPr>
        <p:spPr/>
        <p:txBody>
          <a:bodyPr/>
          <a:lstStyle/>
          <a:p>
            <a:pPr>
              <a:buNone/>
            </a:pPr>
            <a:r>
              <a:rPr lang="en-US" dirty="0" smtClean="0"/>
              <a:t> </a:t>
            </a:r>
            <a:endParaRPr lang="en-US" dirty="0"/>
          </a:p>
        </p:txBody>
      </p:sp>
      <p:sp>
        <p:nvSpPr>
          <p:cNvPr id="2" name="TextBox 1"/>
          <p:cNvSpPr txBox="1"/>
          <p:nvPr/>
        </p:nvSpPr>
        <p:spPr>
          <a:xfrm>
            <a:off x="230606" y="5201591"/>
            <a:ext cx="2921794" cy="707886"/>
          </a:xfrm>
          <a:prstGeom prst="rect">
            <a:avLst/>
          </a:prstGeom>
          <a:noFill/>
        </p:spPr>
        <p:txBody>
          <a:bodyPr wrap="square" rtlCol="0">
            <a:spAutoFit/>
          </a:bodyPr>
          <a:lstStyle/>
          <a:p>
            <a:r>
              <a:rPr lang="en-US" dirty="0" smtClean="0"/>
              <a:t>Mean = # of points   / # of quadrats</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1066800"/>
            <a:ext cx="8534400" cy="4940491"/>
          </a:xfrm>
        </p:spPr>
        <p:txBody>
          <a:bodyPr/>
          <a:lstStyle/>
          <a:p>
            <a:r>
              <a:rPr lang="en-US" sz="2800" dirty="0" smtClean="0"/>
              <a:t>A random distribution would indicate that that the variance and mean are the same.  Therefore, we would expect a variance-mean ratio around 1</a:t>
            </a:r>
          </a:p>
          <a:p>
            <a:pPr>
              <a:buNone/>
            </a:pPr>
            <a:endParaRPr lang="en-US" dirty="0" smtClean="0"/>
          </a:p>
          <a:p>
            <a:r>
              <a:rPr lang="en-US" sz="2800" dirty="0" smtClean="0"/>
              <a:t>Values other than 1 would indicate a non-random distribution.  </a:t>
            </a:r>
          </a:p>
          <a:p>
            <a:endParaRPr lang="en-US" dirty="0"/>
          </a:p>
        </p:txBody>
      </p:sp>
      <p:sp>
        <p:nvSpPr>
          <p:cNvPr id="4" name="Slide Number Placeholder 3"/>
          <p:cNvSpPr>
            <a:spLocks noGrp="1"/>
          </p:cNvSpPr>
          <p:nvPr>
            <p:ph type="sldNum" sz="quarter" idx="12"/>
          </p:nvPr>
        </p:nvSpPr>
        <p:spPr/>
        <p:txBody>
          <a:bodyPr/>
          <a:lstStyle/>
          <a:p>
            <a:pPr>
              <a:defRPr/>
            </a:pPr>
            <a:fld id="{10040BF0-8023-45DB-AFB0-81FB57F04FB9}" type="slidenum">
              <a:rPr lang="en-US" smtClean="0"/>
              <a:pPr>
                <a:defRPr/>
              </a:pPr>
              <a:t>9</a:t>
            </a:fld>
            <a:endParaRPr lang="en-US"/>
          </a:p>
        </p:txBody>
      </p:sp>
      <p:sp>
        <p:nvSpPr>
          <p:cNvPr id="5" name="Title 4"/>
          <p:cNvSpPr>
            <a:spLocks noGrp="1"/>
          </p:cNvSpPr>
          <p:nvPr>
            <p:ph type="title"/>
          </p:nvPr>
        </p:nvSpPr>
        <p:spPr>
          <a:xfrm>
            <a:off x="0" y="0"/>
            <a:ext cx="8686800" cy="838200"/>
          </a:xfrm>
        </p:spPr>
        <p:txBody>
          <a:bodyPr>
            <a:noAutofit/>
          </a:bodyPr>
          <a:lstStyle/>
          <a:p>
            <a:r>
              <a:rPr lang="en-US" sz="3200" dirty="0" smtClean="0"/>
              <a:t>Quadrat Calculation Results</a:t>
            </a:r>
            <a:endParaRPr lang="en-US" sz="3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0" y="0"/>
            <a:ext cx="8686800" cy="990600"/>
          </a:xfrm>
        </p:spPr>
        <p:txBody>
          <a:bodyPr>
            <a:normAutofit/>
          </a:bodyPr>
          <a:lstStyle/>
          <a:p>
            <a:r>
              <a:rPr lang="en-US" sz="3200" dirty="0"/>
              <a:t>Weakness of Quadrat Analysis</a:t>
            </a:r>
          </a:p>
        </p:txBody>
      </p:sp>
      <p:sp>
        <p:nvSpPr>
          <p:cNvPr id="22531" name="Rectangle 3"/>
          <p:cNvSpPr>
            <a:spLocks noGrp="1" noChangeArrowheads="1"/>
          </p:cNvSpPr>
          <p:nvPr>
            <p:ph type="body" idx="1"/>
          </p:nvPr>
        </p:nvSpPr>
        <p:spPr>
          <a:xfrm>
            <a:off x="457200" y="1066800"/>
            <a:ext cx="8229600" cy="4940491"/>
          </a:xfrm>
        </p:spPr>
        <p:txBody>
          <a:bodyPr/>
          <a:lstStyle/>
          <a:p>
            <a:r>
              <a:rPr lang="en-US" sz="2800" dirty="0"/>
              <a:t>Quadrat size and </a:t>
            </a:r>
            <a:r>
              <a:rPr lang="en-US" sz="2800" dirty="0" smtClean="0"/>
              <a:t>orientation</a:t>
            </a:r>
          </a:p>
          <a:p>
            <a:endParaRPr lang="en-US" sz="2600" dirty="0"/>
          </a:p>
          <a:p>
            <a:pPr lvl="1"/>
            <a:r>
              <a:rPr lang="en-US" sz="2400" dirty="0"/>
              <a:t>If the quadrats are too small, they may contain only a couple of points.  If they are too large, they may contain too many </a:t>
            </a:r>
            <a:r>
              <a:rPr lang="en-US" sz="2400" dirty="0" smtClean="0"/>
              <a:t>points – a scale issue.</a:t>
            </a:r>
            <a:endParaRPr lang="en-US" sz="2200" dirty="0" smtClean="0"/>
          </a:p>
          <a:p>
            <a:pPr lvl="1">
              <a:buNone/>
            </a:pPr>
            <a:endParaRPr lang="en-US" sz="2200" dirty="0"/>
          </a:p>
          <a:p>
            <a:pPr lvl="2">
              <a:buClr>
                <a:srgbClr val="00B0F0"/>
              </a:buClr>
              <a:buNone/>
            </a:pPr>
            <a:endParaRPr lang="en-US" sz="1800" dirty="0"/>
          </a:p>
          <a:p>
            <a:pPr lvl="2">
              <a:buClr>
                <a:srgbClr val="00B0F0"/>
              </a:buClr>
            </a:pPr>
            <a:r>
              <a:rPr lang="en-US" sz="1800" dirty="0" smtClean="0"/>
              <a:t>Test </a:t>
            </a:r>
            <a:r>
              <a:rPr lang="en-US" sz="1800" dirty="0"/>
              <a:t>different </a:t>
            </a:r>
            <a:r>
              <a:rPr lang="en-US" sz="1800" dirty="0" smtClean="0"/>
              <a:t>sizes to </a:t>
            </a:r>
            <a:r>
              <a:rPr lang="en-US" sz="1800" dirty="0"/>
              <a:t>determine the effects of each test on the results</a:t>
            </a:r>
          </a:p>
          <a:p>
            <a:pPr lvl="1"/>
            <a:endParaRPr lang="en-US" sz="22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0" y="0"/>
            <a:ext cx="8686800" cy="990600"/>
          </a:xfrm>
        </p:spPr>
        <p:txBody>
          <a:bodyPr>
            <a:normAutofit/>
          </a:bodyPr>
          <a:lstStyle/>
          <a:p>
            <a:r>
              <a:rPr lang="en-US" sz="3200" dirty="0" smtClean="0"/>
              <a:t>Nearest-Neighbor </a:t>
            </a:r>
            <a:r>
              <a:rPr lang="en-US" sz="3200" dirty="0"/>
              <a:t>Analysis</a:t>
            </a:r>
          </a:p>
        </p:txBody>
      </p:sp>
      <p:sp>
        <p:nvSpPr>
          <p:cNvPr id="24579" name="Rectangle 3"/>
          <p:cNvSpPr>
            <a:spLocks noGrp="1" noChangeArrowheads="1"/>
          </p:cNvSpPr>
          <p:nvPr>
            <p:ph type="body" idx="1"/>
          </p:nvPr>
        </p:nvSpPr>
        <p:spPr>
          <a:xfrm>
            <a:off x="152400" y="990600"/>
            <a:ext cx="8534400" cy="5016691"/>
          </a:xfrm>
        </p:spPr>
        <p:txBody>
          <a:bodyPr/>
          <a:lstStyle/>
          <a:p>
            <a:r>
              <a:rPr lang="en-US" sz="2800" dirty="0"/>
              <a:t>Unlike quadrat </a:t>
            </a:r>
            <a:r>
              <a:rPr lang="en-US" sz="2800" dirty="0" smtClean="0"/>
              <a:t>analysis, </a:t>
            </a:r>
            <a:r>
              <a:rPr lang="en-US" sz="2800" dirty="0"/>
              <a:t>uses distances between points as its basis.  </a:t>
            </a:r>
            <a:endParaRPr lang="en-US" sz="2800" dirty="0" smtClean="0"/>
          </a:p>
          <a:p>
            <a:endParaRPr lang="en-US" dirty="0"/>
          </a:p>
          <a:p>
            <a:r>
              <a:rPr lang="en-US" sz="2800" dirty="0"/>
              <a:t>The mean of the distance observed between each point and its nearest </a:t>
            </a:r>
            <a:r>
              <a:rPr lang="en-US" sz="2800" dirty="0" smtClean="0"/>
              <a:t>neighbor </a:t>
            </a:r>
            <a:r>
              <a:rPr lang="en-US" sz="2800" dirty="0"/>
              <a:t>is compared with the expected mean distance that would occur if the distribution were random</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auto">
          <a:xfrm>
            <a:off x="609600" y="1143000"/>
            <a:ext cx="2362200" cy="41148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25603" name="Rectangle 3"/>
          <p:cNvSpPr>
            <a:spLocks noChangeArrowheads="1"/>
          </p:cNvSpPr>
          <p:nvPr/>
        </p:nvSpPr>
        <p:spPr bwMode="auto">
          <a:xfrm>
            <a:off x="3276600" y="1143000"/>
            <a:ext cx="2286000" cy="41148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25604" name="Rectangle 4"/>
          <p:cNvSpPr>
            <a:spLocks noChangeArrowheads="1"/>
          </p:cNvSpPr>
          <p:nvPr/>
        </p:nvSpPr>
        <p:spPr bwMode="auto">
          <a:xfrm>
            <a:off x="6019800" y="1143000"/>
            <a:ext cx="2286000" cy="41148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25605" name="Oval 5"/>
          <p:cNvSpPr>
            <a:spLocks noChangeArrowheads="1"/>
          </p:cNvSpPr>
          <p:nvPr/>
        </p:nvSpPr>
        <p:spPr bwMode="auto">
          <a:xfrm>
            <a:off x="990600" y="13716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06" name="Oval 6"/>
          <p:cNvSpPr>
            <a:spLocks noChangeArrowheads="1"/>
          </p:cNvSpPr>
          <p:nvPr/>
        </p:nvSpPr>
        <p:spPr bwMode="auto">
          <a:xfrm>
            <a:off x="1752600" y="40386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07" name="Oval 7"/>
          <p:cNvSpPr>
            <a:spLocks noChangeArrowheads="1"/>
          </p:cNvSpPr>
          <p:nvPr/>
        </p:nvSpPr>
        <p:spPr bwMode="auto">
          <a:xfrm>
            <a:off x="1371600" y="13716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08" name="Oval 8"/>
          <p:cNvSpPr>
            <a:spLocks noChangeArrowheads="1"/>
          </p:cNvSpPr>
          <p:nvPr/>
        </p:nvSpPr>
        <p:spPr bwMode="auto">
          <a:xfrm>
            <a:off x="1143000" y="21336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09" name="Oval 9"/>
          <p:cNvSpPr>
            <a:spLocks noChangeArrowheads="1"/>
          </p:cNvSpPr>
          <p:nvPr/>
        </p:nvSpPr>
        <p:spPr bwMode="auto">
          <a:xfrm>
            <a:off x="2438400" y="22860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10" name="Oval 10"/>
          <p:cNvSpPr>
            <a:spLocks noChangeArrowheads="1"/>
          </p:cNvSpPr>
          <p:nvPr/>
        </p:nvSpPr>
        <p:spPr bwMode="auto">
          <a:xfrm>
            <a:off x="990600" y="25908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11" name="Oval 11"/>
          <p:cNvSpPr>
            <a:spLocks noChangeArrowheads="1"/>
          </p:cNvSpPr>
          <p:nvPr/>
        </p:nvSpPr>
        <p:spPr bwMode="auto">
          <a:xfrm>
            <a:off x="1600200" y="25146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12" name="Oval 12"/>
          <p:cNvSpPr>
            <a:spLocks noChangeArrowheads="1"/>
          </p:cNvSpPr>
          <p:nvPr/>
        </p:nvSpPr>
        <p:spPr bwMode="auto">
          <a:xfrm>
            <a:off x="1828800" y="20574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13" name="Oval 13"/>
          <p:cNvSpPr>
            <a:spLocks noChangeArrowheads="1"/>
          </p:cNvSpPr>
          <p:nvPr/>
        </p:nvSpPr>
        <p:spPr bwMode="auto">
          <a:xfrm>
            <a:off x="1600200" y="31242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14" name="Oval 14"/>
          <p:cNvSpPr>
            <a:spLocks noChangeArrowheads="1"/>
          </p:cNvSpPr>
          <p:nvPr/>
        </p:nvSpPr>
        <p:spPr bwMode="auto">
          <a:xfrm>
            <a:off x="990600" y="32004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15" name="Oval 15"/>
          <p:cNvSpPr>
            <a:spLocks noChangeArrowheads="1"/>
          </p:cNvSpPr>
          <p:nvPr/>
        </p:nvSpPr>
        <p:spPr bwMode="auto">
          <a:xfrm>
            <a:off x="1219200" y="38100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16" name="Oval 16"/>
          <p:cNvSpPr>
            <a:spLocks noChangeArrowheads="1"/>
          </p:cNvSpPr>
          <p:nvPr/>
        </p:nvSpPr>
        <p:spPr bwMode="auto">
          <a:xfrm>
            <a:off x="990600" y="45720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17" name="Oval 17"/>
          <p:cNvSpPr>
            <a:spLocks noChangeArrowheads="1"/>
          </p:cNvSpPr>
          <p:nvPr/>
        </p:nvSpPr>
        <p:spPr bwMode="auto">
          <a:xfrm>
            <a:off x="1143000" y="48768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18" name="Oval 18"/>
          <p:cNvSpPr>
            <a:spLocks noChangeArrowheads="1"/>
          </p:cNvSpPr>
          <p:nvPr/>
        </p:nvSpPr>
        <p:spPr bwMode="auto">
          <a:xfrm>
            <a:off x="1447800" y="45720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19" name="Oval 19"/>
          <p:cNvSpPr>
            <a:spLocks noChangeArrowheads="1"/>
          </p:cNvSpPr>
          <p:nvPr/>
        </p:nvSpPr>
        <p:spPr bwMode="auto">
          <a:xfrm>
            <a:off x="2362200" y="15240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20" name="Oval 20"/>
          <p:cNvSpPr>
            <a:spLocks noChangeArrowheads="1"/>
          </p:cNvSpPr>
          <p:nvPr/>
        </p:nvSpPr>
        <p:spPr bwMode="auto">
          <a:xfrm>
            <a:off x="2362200" y="30480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21" name="Oval 21"/>
          <p:cNvSpPr>
            <a:spLocks noChangeArrowheads="1"/>
          </p:cNvSpPr>
          <p:nvPr/>
        </p:nvSpPr>
        <p:spPr bwMode="auto">
          <a:xfrm>
            <a:off x="2286000" y="35052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22" name="Oval 22"/>
          <p:cNvSpPr>
            <a:spLocks noChangeArrowheads="1"/>
          </p:cNvSpPr>
          <p:nvPr/>
        </p:nvSpPr>
        <p:spPr bwMode="auto">
          <a:xfrm>
            <a:off x="2362200" y="41148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23" name="Oval 23"/>
          <p:cNvSpPr>
            <a:spLocks noChangeArrowheads="1"/>
          </p:cNvSpPr>
          <p:nvPr/>
        </p:nvSpPr>
        <p:spPr bwMode="auto">
          <a:xfrm>
            <a:off x="2057400" y="37338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24" name="Oval 24"/>
          <p:cNvSpPr>
            <a:spLocks noChangeArrowheads="1"/>
          </p:cNvSpPr>
          <p:nvPr/>
        </p:nvSpPr>
        <p:spPr bwMode="auto">
          <a:xfrm>
            <a:off x="2438400" y="47244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25" name="Oval 25"/>
          <p:cNvSpPr>
            <a:spLocks noChangeArrowheads="1"/>
          </p:cNvSpPr>
          <p:nvPr/>
        </p:nvSpPr>
        <p:spPr bwMode="auto">
          <a:xfrm>
            <a:off x="3581400" y="16764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26" name="Oval 26"/>
          <p:cNvSpPr>
            <a:spLocks noChangeArrowheads="1"/>
          </p:cNvSpPr>
          <p:nvPr/>
        </p:nvSpPr>
        <p:spPr bwMode="auto">
          <a:xfrm>
            <a:off x="2667000" y="38862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27" name="Oval 27"/>
          <p:cNvSpPr>
            <a:spLocks noChangeArrowheads="1"/>
          </p:cNvSpPr>
          <p:nvPr/>
        </p:nvSpPr>
        <p:spPr bwMode="auto">
          <a:xfrm>
            <a:off x="4114800" y="12192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28" name="Oval 28"/>
          <p:cNvSpPr>
            <a:spLocks noChangeArrowheads="1"/>
          </p:cNvSpPr>
          <p:nvPr/>
        </p:nvSpPr>
        <p:spPr bwMode="auto">
          <a:xfrm>
            <a:off x="4267200" y="20574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29" name="Oval 29"/>
          <p:cNvSpPr>
            <a:spLocks noChangeArrowheads="1"/>
          </p:cNvSpPr>
          <p:nvPr/>
        </p:nvSpPr>
        <p:spPr bwMode="auto">
          <a:xfrm>
            <a:off x="3581400" y="25146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30" name="Oval 30"/>
          <p:cNvSpPr>
            <a:spLocks noChangeArrowheads="1"/>
          </p:cNvSpPr>
          <p:nvPr/>
        </p:nvSpPr>
        <p:spPr bwMode="auto">
          <a:xfrm>
            <a:off x="3581400" y="32766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31" name="Oval 31"/>
          <p:cNvSpPr>
            <a:spLocks noChangeArrowheads="1"/>
          </p:cNvSpPr>
          <p:nvPr/>
        </p:nvSpPr>
        <p:spPr bwMode="auto">
          <a:xfrm>
            <a:off x="4191000" y="28194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32" name="Oval 32"/>
          <p:cNvSpPr>
            <a:spLocks noChangeArrowheads="1"/>
          </p:cNvSpPr>
          <p:nvPr/>
        </p:nvSpPr>
        <p:spPr bwMode="auto">
          <a:xfrm>
            <a:off x="3581400" y="41148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33" name="Oval 33"/>
          <p:cNvSpPr>
            <a:spLocks noChangeArrowheads="1"/>
          </p:cNvSpPr>
          <p:nvPr/>
        </p:nvSpPr>
        <p:spPr bwMode="auto">
          <a:xfrm>
            <a:off x="4191000" y="36576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34" name="Oval 34"/>
          <p:cNvSpPr>
            <a:spLocks noChangeArrowheads="1"/>
          </p:cNvSpPr>
          <p:nvPr/>
        </p:nvSpPr>
        <p:spPr bwMode="auto">
          <a:xfrm>
            <a:off x="4267200" y="45720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35" name="Oval 35"/>
          <p:cNvSpPr>
            <a:spLocks noChangeArrowheads="1"/>
          </p:cNvSpPr>
          <p:nvPr/>
        </p:nvSpPr>
        <p:spPr bwMode="auto">
          <a:xfrm>
            <a:off x="3581400" y="50292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36" name="Oval 36"/>
          <p:cNvSpPr>
            <a:spLocks noChangeArrowheads="1"/>
          </p:cNvSpPr>
          <p:nvPr/>
        </p:nvSpPr>
        <p:spPr bwMode="auto">
          <a:xfrm>
            <a:off x="4648200" y="16764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37" name="Oval 37"/>
          <p:cNvSpPr>
            <a:spLocks noChangeArrowheads="1"/>
          </p:cNvSpPr>
          <p:nvPr/>
        </p:nvSpPr>
        <p:spPr bwMode="auto">
          <a:xfrm>
            <a:off x="5181600" y="12192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38" name="Oval 38"/>
          <p:cNvSpPr>
            <a:spLocks noChangeArrowheads="1"/>
          </p:cNvSpPr>
          <p:nvPr/>
        </p:nvSpPr>
        <p:spPr bwMode="auto">
          <a:xfrm>
            <a:off x="5334000" y="20574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39" name="Oval 39"/>
          <p:cNvSpPr>
            <a:spLocks noChangeArrowheads="1"/>
          </p:cNvSpPr>
          <p:nvPr/>
        </p:nvSpPr>
        <p:spPr bwMode="auto">
          <a:xfrm>
            <a:off x="4648200" y="25146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40" name="Oval 40"/>
          <p:cNvSpPr>
            <a:spLocks noChangeArrowheads="1"/>
          </p:cNvSpPr>
          <p:nvPr/>
        </p:nvSpPr>
        <p:spPr bwMode="auto">
          <a:xfrm>
            <a:off x="4648200" y="32766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41" name="Oval 41"/>
          <p:cNvSpPr>
            <a:spLocks noChangeArrowheads="1"/>
          </p:cNvSpPr>
          <p:nvPr/>
        </p:nvSpPr>
        <p:spPr bwMode="auto">
          <a:xfrm>
            <a:off x="5257800" y="28194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42" name="Oval 42"/>
          <p:cNvSpPr>
            <a:spLocks noChangeArrowheads="1"/>
          </p:cNvSpPr>
          <p:nvPr/>
        </p:nvSpPr>
        <p:spPr bwMode="auto">
          <a:xfrm>
            <a:off x="4648200" y="41148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43" name="Oval 43"/>
          <p:cNvSpPr>
            <a:spLocks noChangeArrowheads="1"/>
          </p:cNvSpPr>
          <p:nvPr/>
        </p:nvSpPr>
        <p:spPr bwMode="auto">
          <a:xfrm>
            <a:off x="5257800" y="36576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44" name="Oval 44"/>
          <p:cNvSpPr>
            <a:spLocks noChangeArrowheads="1"/>
          </p:cNvSpPr>
          <p:nvPr/>
        </p:nvSpPr>
        <p:spPr bwMode="auto">
          <a:xfrm>
            <a:off x="5334000" y="45720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45" name="Oval 45"/>
          <p:cNvSpPr>
            <a:spLocks noChangeArrowheads="1"/>
          </p:cNvSpPr>
          <p:nvPr/>
        </p:nvSpPr>
        <p:spPr bwMode="auto">
          <a:xfrm>
            <a:off x="4648200" y="50292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46" name="Oval 46"/>
          <p:cNvSpPr>
            <a:spLocks noChangeArrowheads="1"/>
          </p:cNvSpPr>
          <p:nvPr/>
        </p:nvSpPr>
        <p:spPr bwMode="auto">
          <a:xfrm>
            <a:off x="7239000" y="28956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47" name="Oval 47"/>
          <p:cNvSpPr>
            <a:spLocks noChangeArrowheads="1"/>
          </p:cNvSpPr>
          <p:nvPr/>
        </p:nvSpPr>
        <p:spPr bwMode="auto">
          <a:xfrm>
            <a:off x="7391400" y="31242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48" name="Oval 48"/>
          <p:cNvSpPr>
            <a:spLocks noChangeArrowheads="1"/>
          </p:cNvSpPr>
          <p:nvPr/>
        </p:nvSpPr>
        <p:spPr bwMode="auto">
          <a:xfrm>
            <a:off x="7543800" y="28956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49" name="Oval 49"/>
          <p:cNvSpPr>
            <a:spLocks noChangeArrowheads="1"/>
          </p:cNvSpPr>
          <p:nvPr/>
        </p:nvSpPr>
        <p:spPr bwMode="auto">
          <a:xfrm>
            <a:off x="7162800" y="32766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50" name="Oval 50"/>
          <p:cNvSpPr>
            <a:spLocks noChangeArrowheads="1"/>
          </p:cNvSpPr>
          <p:nvPr/>
        </p:nvSpPr>
        <p:spPr bwMode="auto">
          <a:xfrm>
            <a:off x="7772400" y="30480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51" name="Oval 51"/>
          <p:cNvSpPr>
            <a:spLocks noChangeArrowheads="1"/>
          </p:cNvSpPr>
          <p:nvPr/>
        </p:nvSpPr>
        <p:spPr bwMode="auto">
          <a:xfrm>
            <a:off x="7391400" y="33528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52" name="Oval 52"/>
          <p:cNvSpPr>
            <a:spLocks noChangeArrowheads="1"/>
          </p:cNvSpPr>
          <p:nvPr/>
        </p:nvSpPr>
        <p:spPr bwMode="auto">
          <a:xfrm>
            <a:off x="7620000" y="32766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53" name="Oval 53"/>
          <p:cNvSpPr>
            <a:spLocks noChangeArrowheads="1"/>
          </p:cNvSpPr>
          <p:nvPr/>
        </p:nvSpPr>
        <p:spPr bwMode="auto">
          <a:xfrm>
            <a:off x="7848600" y="28194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54" name="Oval 54"/>
          <p:cNvSpPr>
            <a:spLocks noChangeArrowheads="1"/>
          </p:cNvSpPr>
          <p:nvPr/>
        </p:nvSpPr>
        <p:spPr bwMode="auto">
          <a:xfrm>
            <a:off x="7924800" y="33528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55" name="Oval 55"/>
          <p:cNvSpPr>
            <a:spLocks noChangeArrowheads="1"/>
          </p:cNvSpPr>
          <p:nvPr/>
        </p:nvSpPr>
        <p:spPr bwMode="auto">
          <a:xfrm>
            <a:off x="7391400" y="27432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56" name="Oval 56"/>
          <p:cNvSpPr>
            <a:spLocks noChangeArrowheads="1"/>
          </p:cNvSpPr>
          <p:nvPr/>
        </p:nvSpPr>
        <p:spPr bwMode="auto">
          <a:xfrm>
            <a:off x="6172200" y="28956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57" name="Oval 57"/>
          <p:cNvSpPr>
            <a:spLocks noChangeArrowheads="1"/>
          </p:cNvSpPr>
          <p:nvPr/>
        </p:nvSpPr>
        <p:spPr bwMode="auto">
          <a:xfrm>
            <a:off x="6324600" y="31242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58" name="Oval 58"/>
          <p:cNvSpPr>
            <a:spLocks noChangeArrowheads="1"/>
          </p:cNvSpPr>
          <p:nvPr/>
        </p:nvSpPr>
        <p:spPr bwMode="auto">
          <a:xfrm>
            <a:off x="6477000" y="28956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59" name="Oval 59"/>
          <p:cNvSpPr>
            <a:spLocks noChangeArrowheads="1"/>
          </p:cNvSpPr>
          <p:nvPr/>
        </p:nvSpPr>
        <p:spPr bwMode="auto">
          <a:xfrm>
            <a:off x="6096000" y="32766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60" name="Oval 60"/>
          <p:cNvSpPr>
            <a:spLocks noChangeArrowheads="1"/>
          </p:cNvSpPr>
          <p:nvPr/>
        </p:nvSpPr>
        <p:spPr bwMode="auto">
          <a:xfrm>
            <a:off x="6705600" y="30480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61" name="Oval 61"/>
          <p:cNvSpPr>
            <a:spLocks noChangeArrowheads="1"/>
          </p:cNvSpPr>
          <p:nvPr/>
        </p:nvSpPr>
        <p:spPr bwMode="auto">
          <a:xfrm>
            <a:off x="6324600" y="33528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62" name="Oval 62"/>
          <p:cNvSpPr>
            <a:spLocks noChangeArrowheads="1"/>
          </p:cNvSpPr>
          <p:nvPr/>
        </p:nvSpPr>
        <p:spPr bwMode="auto">
          <a:xfrm>
            <a:off x="6553200" y="32766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63" name="Oval 63"/>
          <p:cNvSpPr>
            <a:spLocks noChangeArrowheads="1"/>
          </p:cNvSpPr>
          <p:nvPr/>
        </p:nvSpPr>
        <p:spPr bwMode="auto">
          <a:xfrm>
            <a:off x="6781800" y="28194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64" name="Oval 64"/>
          <p:cNvSpPr>
            <a:spLocks noChangeArrowheads="1"/>
          </p:cNvSpPr>
          <p:nvPr/>
        </p:nvSpPr>
        <p:spPr bwMode="auto">
          <a:xfrm>
            <a:off x="6858000" y="33528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65" name="Oval 65"/>
          <p:cNvSpPr>
            <a:spLocks noChangeArrowheads="1"/>
          </p:cNvSpPr>
          <p:nvPr/>
        </p:nvSpPr>
        <p:spPr bwMode="auto">
          <a:xfrm>
            <a:off x="6324600" y="2743200"/>
            <a:ext cx="152400" cy="152400"/>
          </a:xfrm>
          <a:prstGeom prst="ellipse">
            <a:avLst/>
          </a:prstGeom>
          <a:solidFill>
            <a:schemeClr val="bg1"/>
          </a:solidFill>
          <a:ln w="9525">
            <a:solidFill>
              <a:schemeClr val="tx1"/>
            </a:solidFill>
            <a:round/>
            <a:headEnd/>
            <a:tailEnd/>
          </a:ln>
          <a:effectLst/>
        </p:spPr>
        <p:txBody>
          <a:bodyPr wrap="none" anchor="ctr"/>
          <a:lstStyle/>
          <a:p>
            <a:endParaRPr lang="en-US"/>
          </a:p>
        </p:txBody>
      </p:sp>
      <p:sp>
        <p:nvSpPr>
          <p:cNvPr id="25666" name="Text Box 66"/>
          <p:cNvSpPr txBox="1">
            <a:spLocks noChangeArrowheads="1"/>
          </p:cNvSpPr>
          <p:nvPr/>
        </p:nvSpPr>
        <p:spPr bwMode="auto">
          <a:xfrm>
            <a:off x="1021335" y="5337175"/>
            <a:ext cx="1326004" cy="400110"/>
          </a:xfrm>
          <a:prstGeom prst="rect">
            <a:avLst/>
          </a:prstGeom>
          <a:noFill/>
          <a:ln w="9525">
            <a:noFill/>
            <a:miter lim="800000"/>
            <a:headEnd/>
            <a:tailEnd/>
          </a:ln>
          <a:effectLst/>
        </p:spPr>
        <p:txBody>
          <a:bodyPr wrap="none">
            <a:spAutoFit/>
          </a:bodyPr>
          <a:lstStyle/>
          <a:p>
            <a:pPr algn="ctr"/>
            <a:r>
              <a:rPr lang="en-US" dirty="0">
                <a:solidFill>
                  <a:srgbClr val="080808"/>
                </a:solidFill>
                <a:latin typeface="Arial Unicode MS" pitchFamily="34" charset="-128"/>
              </a:rPr>
              <a:t>RANDOM</a:t>
            </a:r>
          </a:p>
        </p:txBody>
      </p:sp>
      <p:sp>
        <p:nvSpPr>
          <p:cNvPr id="25667" name="Text Box 67"/>
          <p:cNvSpPr txBox="1">
            <a:spLocks noChangeArrowheads="1"/>
          </p:cNvSpPr>
          <p:nvPr/>
        </p:nvSpPr>
        <p:spPr bwMode="auto">
          <a:xfrm>
            <a:off x="3723783" y="5334000"/>
            <a:ext cx="1382110" cy="400110"/>
          </a:xfrm>
          <a:prstGeom prst="rect">
            <a:avLst/>
          </a:prstGeom>
          <a:noFill/>
          <a:ln w="9525">
            <a:noFill/>
            <a:miter lim="800000"/>
            <a:headEnd/>
            <a:tailEnd/>
          </a:ln>
          <a:effectLst/>
        </p:spPr>
        <p:txBody>
          <a:bodyPr wrap="none">
            <a:spAutoFit/>
          </a:bodyPr>
          <a:lstStyle/>
          <a:p>
            <a:pPr algn="ctr"/>
            <a:r>
              <a:rPr lang="en-US" dirty="0">
                <a:solidFill>
                  <a:srgbClr val="080808"/>
                </a:solidFill>
                <a:latin typeface="Arial Unicode MS" pitchFamily="34" charset="-128"/>
              </a:rPr>
              <a:t>UNIFORM</a:t>
            </a:r>
          </a:p>
        </p:txBody>
      </p:sp>
      <p:sp>
        <p:nvSpPr>
          <p:cNvPr id="25668" name="Text Box 68"/>
          <p:cNvSpPr txBox="1">
            <a:spLocks noChangeArrowheads="1"/>
          </p:cNvSpPr>
          <p:nvPr/>
        </p:nvSpPr>
        <p:spPr bwMode="auto">
          <a:xfrm>
            <a:off x="6210445" y="5334000"/>
            <a:ext cx="1742785" cy="400110"/>
          </a:xfrm>
          <a:prstGeom prst="rect">
            <a:avLst/>
          </a:prstGeom>
          <a:noFill/>
          <a:ln w="9525">
            <a:noFill/>
            <a:miter lim="800000"/>
            <a:headEnd/>
            <a:tailEnd/>
          </a:ln>
          <a:effectLst/>
        </p:spPr>
        <p:txBody>
          <a:bodyPr wrap="none">
            <a:spAutoFit/>
          </a:bodyPr>
          <a:lstStyle/>
          <a:p>
            <a:pPr algn="ctr"/>
            <a:r>
              <a:rPr lang="en-US" dirty="0">
                <a:solidFill>
                  <a:srgbClr val="080808"/>
                </a:solidFill>
                <a:latin typeface="Arial Unicode MS" pitchFamily="34" charset="-128"/>
              </a:rPr>
              <a:t>CLUSTERED</a:t>
            </a:r>
          </a:p>
        </p:txBody>
      </p:sp>
      <p:sp>
        <p:nvSpPr>
          <p:cNvPr id="69" name="Title 68"/>
          <p:cNvSpPr>
            <a:spLocks noGrp="1"/>
          </p:cNvSpPr>
          <p:nvPr>
            <p:ph type="title"/>
          </p:nvPr>
        </p:nvSpPr>
        <p:spPr>
          <a:xfrm>
            <a:off x="0" y="0"/>
            <a:ext cx="8686800" cy="914400"/>
          </a:xfrm>
        </p:spPr>
        <p:txBody>
          <a:bodyPr>
            <a:normAutofit/>
          </a:bodyPr>
          <a:lstStyle/>
          <a:p>
            <a:r>
              <a:rPr lang="en-US" sz="3200" dirty="0" smtClean="0"/>
              <a:t>Nearest-Neighbor Analysis</a:t>
            </a:r>
            <a:endParaRPr lang="en-US" sz="3200" dirty="0"/>
          </a:p>
        </p:txBody>
      </p:sp>
      <p:sp>
        <p:nvSpPr>
          <p:cNvPr id="70" name="Content Placeholder 69"/>
          <p:cNvSpPr>
            <a:spLocks noGrp="1"/>
          </p:cNvSpPr>
          <p:nvPr>
            <p:ph idx="1"/>
          </p:nvPr>
        </p:nvSpPr>
        <p:spPr/>
        <p:txBody>
          <a:bodyPr/>
          <a:lstStyle/>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626" name="Object 2"/>
          <p:cNvGraphicFramePr>
            <a:graphicFrameLocks noChangeAspect="1"/>
          </p:cNvGraphicFramePr>
          <p:nvPr/>
        </p:nvGraphicFramePr>
        <p:xfrm>
          <a:off x="250825" y="1131889"/>
          <a:ext cx="2590800" cy="3897312"/>
        </p:xfrm>
        <a:graphic>
          <a:graphicData uri="http://schemas.openxmlformats.org/presentationml/2006/ole">
            <mc:AlternateContent xmlns:mc="http://schemas.openxmlformats.org/markup-compatibility/2006">
              <mc:Choice xmlns:v="urn:schemas-microsoft-com:vml" Requires="v">
                <p:oleObj spid="_x0000_s96358" name="Worksheet" r:id="rId4" imgW="1943105" imgH="3695711" progId="Excel.Sheet.8">
                  <p:embed/>
                </p:oleObj>
              </mc:Choice>
              <mc:Fallback>
                <p:oleObj name="Worksheet" r:id="rId4" imgW="1943105" imgH="3695711" progId="Excel.Sheet.8">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825" y="1131889"/>
                        <a:ext cx="2590800" cy="38973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26627" name="Object 3"/>
          <p:cNvGraphicFramePr>
            <a:graphicFrameLocks noChangeAspect="1"/>
          </p:cNvGraphicFramePr>
          <p:nvPr/>
        </p:nvGraphicFramePr>
        <p:xfrm>
          <a:off x="6011863" y="1208089"/>
          <a:ext cx="2590800" cy="3744912"/>
        </p:xfrm>
        <a:graphic>
          <a:graphicData uri="http://schemas.openxmlformats.org/presentationml/2006/ole">
            <mc:AlternateContent xmlns:mc="http://schemas.openxmlformats.org/markup-compatibility/2006">
              <mc:Choice xmlns:v="urn:schemas-microsoft-com:vml" Requires="v">
                <p:oleObj spid="_x0000_s96359" name="Worksheet" r:id="rId6" imgW="1943105" imgH="3695711" progId="Excel.Sheet.8">
                  <p:embed/>
                </p:oleObj>
              </mc:Choice>
              <mc:Fallback>
                <p:oleObj name="Worksheet" r:id="rId6" imgW="1943105" imgH="3695711" progId="Excel.Sheet.8">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11863" y="1208089"/>
                        <a:ext cx="2590800" cy="37449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26628" name="Object 4"/>
          <p:cNvGraphicFramePr>
            <a:graphicFrameLocks noChangeAspect="1"/>
          </p:cNvGraphicFramePr>
          <p:nvPr/>
        </p:nvGraphicFramePr>
        <p:xfrm>
          <a:off x="3132138" y="1208088"/>
          <a:ext cx="2590800" cy="3744912"/>
        </p:xfrm>
        <a:graphic>
          <a:graphicData uri="http://schemas.openxmlformats.org/presentationml/2006/ole">
            <mc:AlternateContent xmlns:mc="http://schemas.openxmlformats.org/markup-compatibility/2006">
              <mc:Choice xmlns:v="urn:schemas-microsoft-com:vml" Requires="v">
                <p:oleObj spid="_x0000_s96360" name="Worksheet" r:id="rId8" imgW="1943105" imgH="3695711" progId="Excel.Sheet.8">
                  <p:embed/>
                </p:oleObj>
              </mc:Choice>
              <mc:Fallback>
                <p:oleObj name="Worksheet" r:id="rId8" imgW="1943105" imgH="3695711" progId="Excel.Sheet.8">
                  <p:embed/>
                  <p:pic>
                    <p:nvPicPr>
                      <p:cNvPr id="0"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32138" y="1208088"/>
                        <a:ext cx="2590800" cy="37449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26629" name="Object 5"/>
          <p:cNvGraphicFramePr>
            <a:graphicFrameLocks noChangeAspect="1"/>
          </p:cNvGraphicFramePr>
          <p:nvPr/>
        </p:nvGraphicFramePr>
        <p:xfrm>
          <a:off x="3733800" y="5029200"/>
          <a:ext cx="1219200" cy="1828800"/>
        </p:xfrm>
        <a:graphic>
          <a:graphicData uri="http://schemas.openxmlformats.org/presentationml/2006/ole">
            <mc:AlternateContent xmlns:mc="http://schemas.openxmlformats.org/markup-compatibility/2006">
              <mc:Choice xmlns:v="urn:schemas-microsoft-com:vml" Requires="v">
                <p:oleObj spid="_x0000_s96361" name="Equation" r:id="rId10" imgW="685800" imgH="1269720" progId="Equation.3">
                  <p:embed/>
                </p:oleObj>
              </mc:Choice>
              <mc:Fallback>
                <p:oleObj name="Equation" r:id="rId10" imgW="685800" imgH="1269720" progId="Equation.3">
                  <p:embed/>
                  <p:pic>
                    <p:nvPicPr>
                      <p:cNvPr id="0" name="Picture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33800" y="5029200"/>
                        <a:ext cx="1219200" cy="1828800"/>
                      </a:xfrm>
                      <a:prstGeom prst="rect">
                        <a:avLst/>
                      </a:prstGeom>
                      <a:noFill/>
                      <a:extLst>
                        <a:ext uri="{909E8E84-426E-40DD-AFC4-6F175D3DCCD1}">
                          <a14:hiddenFill xmlns:a14="http://schemas.microsoft.com/office/drawing/2010/main">
                            <a:solidFill>
                              <a:schemeClr val="tx1"/>
                            </a:solidFill>
                          </a14:hiddenFill>
                        </a:ext>
                      </a:extLst>
                    </p:spPr>
                  </p:pic>
                </p:oleObj>
              </mc:Fallback>
            </mc:AlternateContent>
          </a:graphicData>
        </a:graphic>
      </p:graphicFrame>
      <p:graphicFrame>
        <p:nvGraphicFramePr>
          <p:cNvPr id="26630" name="Object 6"/>
          <p:cNvGraphicFramePr>
            <a:graphicFrameLocks noChangeAspect="1"/>
          </p:cNvGraphicFramePr>
          <p:nvPr/>
        </p:nvGraphicFramePr>
        <p:xfrm>
          <a:off x="5715000" y="5292725"/>
          <a:ext cx="1346200" cy="1200150"/>
        </p:xfrm>
        <a:graphic>
          <a:graphicData uri="http://schemas.openxmlformats.org/presentationml/2006/ole">
            <mc:AlternateContent xmlns:mc="http://schemas.openxmlformats.org/markup-compatibility/2006">
              <mc:Choice xmlns:v="urn:schemas-microsoft-com:vml" Requires="v">
                <p:oleObj spid="_x0000_s96362" name="Equation" r:id="rId12" imgW="583920" imgH="520560" progId="Equation.3">
                  <p:embed/>
                </p:oleObj>
              </mc:Choice>
              <mc:Fallback>
                <p:oleObj name="Equation" r:id="rId12" imgW="583920" imgH="520560" progId="Equation.3">
                  <p:embed/>
                  <p:pic>
                    <p:nvPicPr>
                      <p:cNvPr id="0" name="Picture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715000" y="5292725"/>
                        <a:ext cx="1346200" cy="1200150"/>
                      </a:xfrm>
                      <a:prstGeom prst="rect">
                        <a:avLst/>
                      </a:prstGeom>
                      <a:noFill/>
                      <a:extLst>
                        <a:ext uri="{909E8E84-426E-40DD-AFC4-6F175D3DCCD1}">
                          <a14:hiddenFill xmlns:a14="http://schemas.microsoft.com/office/drawing/2010/main">
                            <a:solidFill>
                              <a:schemeClr val="tx1"/>
                            </a:solidFill>
                          </a14:hiddenFill>
                        </a:ext>
                      </a:extLst>
                    </p:spPr>
                  </p:pic>
                </p:oleObj>
              </mc:Fallback>
            </mc:AlternateContent>
          </a:graphicData>
        </a:graphic>
      </p:graphicFrame>
      <p:sp>
        <p:nvSpPr>
          <p:cNvPr id="7" name="Title 6"/>
          <p:cNvSpPr>
            <a:spLocks noGrp="1"/>
          </p:cNvSpPr>
          <p:nvPr>
            <p:ph type="title"/>
          </p:nvPr>
        </p:nvSpPr>
        <p:spPr>
          <a:xfrm>
            <a:off x="0" y="0"/>
            <a:ext cx="8686800" cy="914400"/>
          </a:xfrm>
        </p:spPr>
        <p:txBody>
          <a:bodyPr>
            <a:normAutofit/>
          </a:bodyPr>
          <a:lstStyle/>
          <a:p>
            <a:r>
              <a:rPr lang="en-US" sz="3200" dirty="0" smtClean="0"/>
              <a:t>Nearest-Neighbor Calculation</a:t>
            </a:r>
            <a:endParaRPr lang="en-US" sz="3200" dirty="0"/>
          </a:p>
        </p:txBody>
      </p:sp>
      <p:sp>
        <p:nvSpPr>
          <p:cNvPr id="8" name="Content Placeholder 7"/>
          <p:cNvSpPr>
            <a:spLocks noGrp="1"/>
          </p:cNvSpPr>
          <p:nvPr>
            <p:ph idx="1"/>
          </p:nvPr>
        </p:nvSpPr>
        <p:spPr/>
        <p:txBody>
          <a:bodyPr/>
          <a:lstStyle/>
          <a:p>
            <a:pPr>
              <a:buNone/>
            </a:pPr>
            <a:r>
              <a:rPr lang="en-US" dirty="0" smtClean="0"/>
              <a:t> </a:t>
            </a:r>
            <a:endParaRPr lang="en-US" dirty="0"/>
          </a:p>
        </p:txBody>
      </p:sp>
      <p:sp>
        <p:nvSpPr>
          <p:cNvPr id="9" name="TextBox 8"/>
          <p:cNvSpPr txBox="1"/>
          <p:nvPr/>
        </p:nvSpPr>
        <p:spPr>
          <a:xfrm>
            <a:off x="7772400" y="5029200"/>
            <a:ext cx="1066800" cy="830997"/>
          </a:xfrm>
          <a:prstGeom prst="rect">
            <a:avLst/>
          </a:prstGeom>
          <a:noFill/>
        </p:spPr>
        <p:txBody>
          <a:bodyPr wrap="square" rtlCol="0">
            <a:spAutoFit/>
          </a:bodyPr>
          <a:lstStyle/>
          <a:p>
            <a:r>
              <a:rPr lang="en-US" sz="1200" dirty="0" smtClean="0">
                <a:latin typeface="+mn-lt"/>
              </a:rPr>
              <a:t>Clustered</a:t>
            </a:r>
          </a:p>
          <a:p>
            <a:r>
              <a:rPr lang="en-US" sz="1200" dirty="0" smtClean="0">
                <a:latin typeface="+mn-lt"/>
              </a:rPr>
              <a:t>Patterns are </a:t>
            </a:r>
          </a:p>
          <a:p>
            <a:r>
              <a:rPr lang="en-US" sz="1200" dirty="0" smtClean="0">
                <a:latin typeface="+mn-lt"/>
              </a:rPr>
              <a:t>Closer to 0 on </a:t>
            </a:r>
            <a:r>
              <a:rPr lang="en-US" sz="1200" i="1" dirty="0" smtClean="0">
                <a:latin typeface="+mn-lt"/>
              </a:rPr>
              <a:t>R</a:t>
            </a:r>
            <a:endParaRPr lang="en-US" sz="1200" i="1" dirty="0">
              <a:latin typeface="+mn-lt"/>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0" y="0"/>
            <a:ext cx="8686800" cy="1143000"/>
          </a:xfrm>
        </p:spPr>
        <p:txBody>
          <a:bodyPr>
            <a:normAutofit fontScale="90000"/>
          </a:bodyPr>
          <a:lstStyle/>
          <a:p>
            <a:r>
              <a:rPr lang="en-US" sz="3600" dirty="0"/>
              <a:t>Advantages of Nearest Neighbor over Quadrat Analysis</a:t>
            </a:r>
          </a:p>
        </p:txBody>
      </p:sp>
      <p:sp>
        <p:nvSpPr>
          <p:cNvPr id="28675" name="Rectangle 3"/>
          <p:cNvSpPr>
            <a:spLocks noGrp="1" noChangeArrowheads="1"/>
          </p:cNvSpPr>
          <p:nvPr>
            <p:ph type="body" idx="1"/>
          </p:nvPr>
        </p:nvSpPr>
        <p:spPr>
          <a:xfrm>
            <a:off x="457200" y="1143000"/>
            <a:ext cx="8229600" cy="4864291"/>
          </a:xfrm>
        </p:spPr>
        <p:txBody>
          <a:bodyPr/>
          <a:lstStyle/>
          <a:p>
            <a:r>
              <a:rPr lang="en-US" sz="2400" dirty="0" smtClean="0"/>
              <a:t>No </a:t>
            </a:r>
            <a:r>
              <a:rPr lang="en-US" sz="2400" dirty="0" err="1" smtClean="0"/>
              <a:t>quadrat</a:t>
            </a:r>
            <a:r>
              <a:rPr lang="en-US" sz="2400" dirty="0" smtClean="0"/>
              <a:t> size problem to be concerned with</a:t>
            </a:r>
          </a:p>
          <a:p>
            <a:r>
              <a:rPr lang="en-US" sz="2400" dirty="0" smtClean="0"/>
              <a:t>Takes distance into account</a:t>
            </a:r>
          </a:p>
          <a:p>
            <a:endParaRPr lang="en-US" sz="2400" dirty="0" smtClean="0"/>
          </a:p>
          <a:p>
            <a:r>
              <a:rPr lang="en-US" sz="2400" dirty="0" smtClean="0"/>
              <a:t>Problems:</a:t>
            </a:r>
          </a:p>
          <a:p>
            <a:endParaRPr lang="en-US" sz="2400" dirty="0" smtClean="0"/>
          </a:p>
          <a:p>
            <a:pPr lvl="1"/>
            <a:r>
              <a:rPr lang="en-US" sz="2200" dirty="0" smtClean="0"/>
              <a:t>Related to the entire boundary size</a:t>
            </a:r>
          </a:p>
          <a:p>
            <a:pPr lvl="1"/>
            <a:endParaRPr lang="en-US" sz="2200" dirty="0"/>
          </a:p>
          <a:p>
            <a:pPr lvl="1"/>
            <a:r>
              <a:rPr lang="en-US" sz="2200" dirty="0"/>
              <a:t>Must consider how to measure the boundary</a:t>
            </a:r>
          </a:p>
          <a:p>
            <a:pPr lvl="2">
              <a:buClr>
                <a:srgbClr val="00B0F0"/>
              </a:buClr>
              <a:buFont typeface="Arial" pitchFamily="34" charset="0"/>
              <a:buChar char="•"/>
            </a:pPr>
            <a:r>
              <a:rPr lang="en-US" sz="2000" dirty="0" smtClean="0"/>
              <a:t>	Arbitrary </a:t>
            </a:r>
            <a:r>
              <a:rPr lang="en-US" sz="2000" dirty="0"/>
              <a:t>or some natural </a:t>
            </a:r>
            <a:r>
              <a:rPr lang="en-US" sz="2000" dirty="0" smtClean="0"/>
              <a:t>boundary (need theory)</a:t>
            </a:r>
          </a:p>
          <a:p>
            <a:pPr lvl="2">
              <a:buNone/>
            </a:pPr>
            <a:endParaRPr lang="en-US" sz="2000" dirty="0"/>
          </a:p>
          <a:p>
            <a:pPr lvl="1"/>
            <a:r>
              <a:rPr lang="en-US" sz="2200" dirty="0"/>
              <a:t>May not consider a possible adjacent boundary</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10040BF0-8023-45DB-AFB0-81FB57F04FB9}" type="slidenum">
              <a:rPr lang="en-US" smtClean="0"/>
              <a:pPr>
                <a:defRPr/>
              </a:pPr>
              <a:t>15</a:t>
            </a:fld>
            <a:endParaRPr lang="en-US"/>
          </a:p>
        </p:txBody>
      </p:sp>
      <p:sp>
        <p:nvSpPr>
          <p:cNvPr id="5" name="Title 4"/>
          <p:cNvSpPr>
            <a:spLocks noGrp="1"/>
          </p:cNvSpPr>
          <p:nvPr>
            <p:ph type="title"/>
          </p:nvPr>
        </p:nvSpPr>
        <p:spPr>
          <a:xfrm>
            <a:off x="0" y="0"/>
            <a:ext cx="8686800" cy="1143000"/>
          </a:xfrm>
        </p:spPr>
        <p:txBody>
          <a:bodyPr>
            <a:normAutofit/>
          </a:bodyPr>
          <a:lstStyle/>
          <a:p>
            <a:r>
              <a:rPr lang="en-US" sz="3200" dirty="0" smtClean="0"/>
              <a:t>Is it clustered?</a:t>
            </a:r>
            <a:endParaRPr lang="en-US" sz="3200" dirty="0"/>
          </a:p>
        </p:txBody>
      </p:sp>
      <p:pic>
        <p:nvPicPr>
          <p:cNvPr id="6" name="Picture 3"/>
          <p:cNvPicPr>
            <a:picLocks noGrp="1" noChangeAspect="1" noChangeArrowheads="1"/>
          </p:cNvPicPr>
          <p:nvPr>
            <p:ph idx="1"/>
          </p:nvPr>
        </p:nvPicPr>
        <p:blipFill>
          <a:blip r:embed="rId2" cstate="print"/>
          <a:srcRect/>
          <a:stretch>
            <a:fillRect/>
          </a:stretch>
        </p:blipFill>
        <p:spPr bwMode="auto">
          <a:xfrm>
            <a:off x="2194993" y="1481138"/>
            <a:ext cx="4754014" cy="4525962"/>
          </a:xfrm>
          <a:prstGeom prst="rect">
            <a:avLst/>
          </a:prstGeom>
          <a:noFill/>
          <a:ln w="9525">
            <a:solidFill>
              <a:schemeClr val="tx1"/>
            </a:solid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EsriMapsInfo xmlns="ESRI.ArcGIS.Mapping.OfficeIntegration.PowerPointInfo">
  <Version>Version1</Version>
  <RequiresSignIn>False</RequiresSignIn>
</EsriMapsInfo>
</file>

<file path=customXml/itemProps1.xml><?xml version="1.0" encoding="utf-8"?>
<ds:datastoreItem xmlns:ds="http://schemas.openxmlformats.org/officeDocument/2006/customXml" ds:itemID="{55B4A695-4D60-4AFA-8D38-51C9C07F52B8}">
  <ds:schemaRefs>
    <ds:schemaRef ds:uri="ESRI.ArcGIS.Mapping.OfficeIntegration.PowerPointInfo"/>
  </ds:schemaRefs>
</ds:datastoreItem>
</file>

<file path=docProps/app.xml><?xml version="1.0" encoding="utf-8"?>
<Properties xmlns="http://schemas.openxmlformats.org/officeDocument/2006/extended-properties" xmlns:vt="http://schemas.openxmlformats.org/officeDocument/2006/docPropsVTypes">
  <Template>Concourse</Template>
  <TotalTime>27965</TotalTime>
  <Words>726</Words>
  <Application>Microsoft Office PowerPoint</Application>
  <PresentationFormat>On-screen Show (4:3)</PresentationFormat>
  <Paragraphs>102</Paragraphs>
  <Slides>15</Slides>
  <Notes>5</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2</vt:i4>
      </vt:variant>
      <vt:variant>
        <vt:lpstr>Slide Titles</vt:lpstr>
      </vt:variant>
      <vt:variant>
        <vt:i4>15</vt:i4>
      </vt:variant>
    </vt:vector>
  </HeadingPairs>
  <TitlesOfParts>
    <vt:vector size="25" baseType="lpstr">
      <vt:lpstr>Arial</vt:lpstr>
      <vt:lpstr>Arial Unicode MS</vt:lpstr>
      <vt:lpstr>Lucida Sans Unicode</vt:lpstr>
      <vt:lpstr>Times New Roman</vt:lpstr>
      <vt:lpstr>Verdana</vt:lpstr>
      <vt:lpstr>Wingdings 2</vt:lpstr>
      <vt:lpstr>Wingdings 3</vt:lpstr>
      <vt:lpstr>Concourse</vt:lpstr>
      <vt:lpstr>Worksheet</vt:lpstr>
      <vt:lpstr>Equation</vt:lpstr>
      <vt:lpstr>Point Pattern Analysis</vt:lpstr>
      <vt:lpstr>Density Kernel Estimation</vt:lpstr>
      <vt:lpstr>Density Kernel Estimation</vt:lpstr>
      <vt:lpstr>Density Kernel Estimation</vt:lpstr>
      <vt:lpstr>Types of Distribution</vt:lpstr>
      <vt:lpstr>Quadrat Analysis</vt:lpstr>
      <vt:lpstr>Quadrats</vt:lpstr>
      <vt:lpstr>Quadrat Calculation</vt:lpstr>
      <vt:lpstr>Quadrat Calculation Results</vt:lpstr>
      <vt:lpstr>Weakness of Quadrat Analysis</vt:lpstr>
      <vt:lpstr>Nearest-Neighbor Analysis</vt:lpstr>
      <vt:lpstr>Nearest-Neighbor Analysis</vt:lpstr>
      <vt:lpstr>Nearest-Neighbor Calculation</vt:lpstr>
      <vt:lpstr>Advantages of Nearest Neighbor over Quadrat Analysis</vt:lpstr>
      <vt:lpstr>Is it clustered?</vt:lpstr>
    </vt:vector>
  </TitlesOfParts>
  <Company>UT-Dallas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Spatial Statistics</dc:title>
  <dc:creator>briggs</dc:creator>
  <cp:lastModifiedBy>mikedparrott</cp:lastModifiedBy>
  <cp:revision>475</cp:revision>
  <dcterms:created xsi:type="dcterms:W3CDTF">2003-04-11T20:31:59Z</dcterms:created>
  <dcterms:modified xsi:type="dcterms:W3CDTF">2019-10-21T19:39:48Z</dcterms:modified>
</cp:coreProperties>
</file>