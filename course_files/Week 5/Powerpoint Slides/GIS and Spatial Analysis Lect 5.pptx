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24"/>
  </p:notesMasterIdLst>
  <p:sldIdLst>
    <p:sldId id="256" r:id="rId2"/>
    <p:sldId id="311" r:id="rId3"/>
    <p:sldId id="306" r:id="rId4"/>
    <p:sldId id="312" r:id="rId5"/>
    <p:sldId id="278" r:id="rId6"/>
    <p:sldId id="310" r:id="rId7"/>
    <p:sldId id="337" r:id="rId8"/>
    <p:sldId id="335" r:id="rId9"/>
    <p:sldId id="338" r:id="rId10"/>
    <p:sldId id="309" r:id="rId11"/>
    <p:sldId id="324" r:id="rId12"/>
    <p:sldId id="325" r:id="rId13"/>
    <p:sldId id="328" r:id="rId14"/>
    <p:sldId id="329" r:id="rId15"/>
    <p:sldId id="260" r:id="rId16"/>
    <p:sldId id="258" r:id="rId17"/>
    <p:sldId id="331" r:id="rId18"/>
    <p:sldId id="333" r:id="rId19"/>
    <p:sldId id="330" r:id="rId20"/>
    <p:sldId id="332" r:id="rId21"/>
    <p:sldId id="262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4"/>
    <p:restoredTop sz="94521"/>
  </p:normalViewPr>
  <p:slideViewPr>
    <p:cSldViewPr>
      <p:cViewPr varScale="1">
        <p:scale>
          <a:sx n="107" d="100"/>
          <a:sy n="107" d="100"/>
        </p:scale>
        <p:origin x="20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53FF9-58DC-4866-BA34-588FC57ECD05}" type="datetimeFigureOut">
              <a:rPr lang="en-US" smtClean="0"/>
              <a:t>9/30/24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89072-7365-4511-AB37-D013CF61E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81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3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3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3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6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24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11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3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6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36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7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81D416C-15FF-42A3-8E36-5C91A35E9801}" type="datetimeFigureOut">
              <a:rPr lang="en-US" smtClean="0"/>
              <a:t>9/30/24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F4645AA-C0DC-42CB-B806-075F3A6970A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191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doc/contrib/Torfs+Brauer-Short-R-Intro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6185" y="0"/>
            <a:ext cx="5471630" cy="3703320"/>
          </a:xfrm>
        </p:spPr>
        <p:txBody>
          <a:bodyPr anchor="ctr">
            <a:normAutofit/>
          </a:bodyPr>
          <a:lstStyle/>
          <a:p>
            <a:pPr algn="ctr"/>
            <a:r>
              <a:rPr lang="en-US" sz="4200" dirty="0"/>
              <a:t>GIS and Spatial Analytics</a:t>
            </a:r>
            <a:br>
              <a:rPr lang="en-US" sz="4200" dirty="0"/>
            </a:br>
            <a:endParaRPr lang="en-US" sz="4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2819400"/>
            <a:ext cx="3810000" cy="3703320"/>
          </a:xfrm>
          <a:ln w="57150">
            <a:noFill/>
          </a:ln>
        </p:spPr>
        <p:txBody>
          <a:bodyPr anchor="ctr">
            <a:norm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5</a:t>
            </a:r>
          </a:p>
          <a:p>
            <a:pPr algn="r"/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828800"/>
            <a:ext cx="80010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Spatially combine two layers to:</a:t>
            </a:r>
          </a:p>
          <a:p>
            <a:pPr>
              <a:buNone/>
            </a:pPr>
            <a:endParaRPr lang="en-US" sz="2400" dirty="0"/>
          </a:p>
          <a:p>
            <a:pPr lvl="1"/>
            <a:r>
              <a:rPr lang="en-US" sz="2400" dirty="0"/>
              <a:t>Generate a new output data layer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Assign attributes of one data layer to another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Usually one of the data layers will be polygons</a:t>
            </a:r>
          </a:p>
          <a:p>
            <a:pPr lvl="2"/>
            <a:r>
              <a:rPr lang="en-US" sz="2400" dirty="0"/>
              <a:t>A point-in-polygon overlay is typical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0600" y="30162"/>
            <a:ext cx="8686800" cy="1417638"/>
          </a:xfrm>
        </p:spPr>
        <p:txBody>
          <a:bodyPr>
            <a:normAutofit/>
          </a:bodyPr>
          <a:lstStyle/>
          <a:p>
            <a:r>
              <a:rPr lang="en-US" sz="3600" dirty="0"/>
              <a:t>Spatial Overlays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435" name="Picture 3" descr="buffer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905000"/>
            <a:ext cx="4495800" cy="4411663"/>
          </a:xfrm>
          <a:prstGeom prst="rect">
            <a:avLst/>
          </a:prstGeom>
          <a:noFill/>
        </p:spPr>
      </p:pic>
      <p:pic>
        <p:nvPicPr>
          <p:cNvPr id="274436" name="Picture 4" descr="buffer2_cnstr_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495800"/>
            <a:ext cx="3276600" cy="1681163"/>
          </a:xfrm>
          <a:prstGeom prst="rect">
            <a:avLst/>
          </a:prstGeom>
          <a:noFill/>
        </p:spPr>
      </p:pic>
      <p:sp>
        <p:nvSpPr>
          <p:cNvPr id="274437" name="Text Box 5"/>
          <p:cNvSpPr txBox="1">
            <a:spLocks noChangeArrowheads="1"/>
          </p:cNvSpPr>
          <p:nvPr/>
        </p:nvSpPr>
        <p:spPr bwMode="auto">
          <a:xfrm>
            <a:off x="533400" y="2286000"/>
            <a:ext cx="361509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>
                <a:solidFill>
                  <a:srgbClr val="0000FF"/>
                </a:solidFill>
                <a:latin typeface="Times New Roman" pitchFamily="18" charset="0"/>
                <a:ea typeface="SimSun" pitchFamily="2" charset="-122"/>
              </a:rPr>
              <a:t>Move circle of specified radius along line</a:t>
            </a:r>
          </a:p>
          <a:p>
            <a:pPr eaLnBrk="1" hangingPunct="1"/>
            <a:r>
              <a:rPr lang="en-US" altLang="zh-CN" sz="1600" dirty="0">
                <a:solidFill>
                  <a:srgbClr val="0000FF"/>
                </a:solidFill>
                <a:latin typeface="Times New Roman" pitchFamily="18" charset="0"/>
                <a:ea typeface="SimSun" pitchFamily="2" charset="-122"/>
              </a:rPr>
              <a:t>(or lines forming polygon)</a:t>
            </a:r>
          </a:p>
          <a:p>
            <a:pPr eaLnBrk="1" hangingPunct="1"/>
            <a:endParaRPr lang="en-US" altLang="zh-CN" sz="1600" dirty="0">
              <a:solidFill>
                <a:srgbClr val="0000FF"/>
              </a:solidFill>
              <a:latin typeface="Times New Roman" pitchFamily="18" charset="0"/>
              <a:ea typeface="SimSun" pitchFamily="2" charset="-122"/>
            </a:endParaRPr>
          </a:p>
          <a:p>
            <a:pPr eaLnBrk="1" hangingPunct="1"/>
            <a:endParaRPr lang="en-US" altLang="zh-CN" sz="1600" dirty="0">
              <a:solidFill>
                <a:srgbClr val="0000FF"/>
              </a:solidFill>
              <a:latin typeface="Times New Roman" pitchFamily="18" charset="0"/>
              <a:ea typeface="SimSun" pitchFamily="2" charset="-122"/>
            </a:endParaRPr>
          </a:p>
          <a:p>
            <a:pPr eaLnBrk="1" hangingPunct="1"/>
            <a:endParaRPr lang="en-US" altLang="zh-CN" sz="1600" dirty="0">
              <a:solidFill>
                <a:srgbClr val="0000FF"/>
              </a:solidFill>
              <a:latin typeface="Times New Roman" pitchFamily="18" charset="0"/>
              <a:ea typeface="SimSun" pitchFamily="2" charset="-122"/>
            </a:endParaRPr>
          </a:p>
          <a:p>
            <a:pPr eaLnBrk="1" hangingPunct="1"/>
            <a:endParaRPr lang="en-US" altLang="zh-CN" sz="1600" dirty="0">
              <a:solidFill>
                <a:srgbClr val="0000FF"/>
              </a:solidFill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52600" y="1481328"/>
            <a:ext cx="69342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Buffers for Lines and Polygons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which zip code are survey respondents located?  Campaign donors?</a:t>
            </a:r>
          </a:p>
          <a:p>
            <a:endParaRPr lang="en-US" sz="2400" dirty="0"/>
          </a:p>
          <a:p>
            <a:r>
              <a:rPr lang="en-US" sz="2400" dirty="0"/>
              <a:t>In which census tracts do we find </a:t>
            </a:r>
            <a:r>
              <a:rPr lang="en-US" sz="2400" dirty="0" err="1"/>
              <a:t>Walmart</a:t>
            </a:r>
            <a:r>
              <a:rPr lang="en-US" sz="2400" dirty="0"/>
              <a:t> stores?  Payday lenders?</a:t>
            </a:r>
          </a:p>
          <a:p>
            <a:endParaRPr lang="en-US" sz="2400" dirty="0"/>
          </a:p>
          <a:p>
            <a:r>
              <a:rPr lang="en-US" sz="2400" dirty="0"/>
              <a:t>How proximate to liquor stores and bars do most crimes occur?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52400"/>
            <a:ext cx="8686800" cy="1219200"/>
          </a:xfrm>
        </p:spPr>
        <p:txBody>
          <a:bodyPr>
            <a:normAutofit/>
          </a:bodyPr>
          <a:lstStyle/>
          <a:p>
            <a:r>
              <a:rPr lang="en-US" sz="3600" dirty="0"/>
              <a:t>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800" dirty="0"/>
              <a:t>Buffer</a:t>
            </a:r>
          </a:p>
          <a:p>
            <a:pPr eaLnBrk="1" hangingPunct="1"/>
            <a:r>
              <a:rPr lang="en-US" sz="2800" dirty="0"/>
              <a:t>Multiple Ring Buffer</a:t>
            </a:r>
          </a:p>
          <a:p>
            <a:pPr eaLnBrk="1" hangingPunct="1"/>
            <a:r>
              <a:rPr lang="en-US" sz="2800" dirty="0"/>
              <a:t>Near</a:t>
            </a:r>
          </a:p>
          <a:p>
            <a:pPr eaLnBrk="1" hangingPunct="1"/>
            <a:r>
              <a:rPr lang="en-US" sz="2800" dirty="0"/>
              <a:t>Point Distance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8610600" cy="8683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dirty="0"/>
              <a:t>Proximity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37C7D7-6F10-BED1-5C80-18036C9F2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0600" y="457200"/>
            <a:ext cx="10896600" cy="61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0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AEDCF-ABD5-4D13-7650-E5DA0B7D8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Centroids of Common Shapes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A74C6-AB82-1736-E892-CD0AD8DAE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Triangle</a:t>
            </a:r>
            <a:r>
              <a:rPr lang="en-US" sz="2400" dirty="0"/>
              <a:t>: The centroid is the point where the medians intersect.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Rectangle</a:t>
            </a:r>
            <a:r>
              <a:rPr lang="en-US" sz="2400" dirty="0"/>
              <a:t>: The centroid is at the intersection of the diagonals.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Circle</a:t>
            </a:r>
            <a:r>
              <a:rPr lang="en-US" sz="2400" dirty="0"/>
              <a:t>: The centroid is the center of the circle.</a:t>
            </a:r>
          </a:p>
          <a:p>
            <a:r>
              <a:rPr lang="en-US" sz="2400" b="1" dirty="0"/>
              <a:t>Visual</a:t>
            </a:r>
            <a:r>
              <a:rPr lang="en-US" sz="2400" dirty="0"/>
              <a:t>: Illustrations of a triangle, rectangle, and circle with centroids marked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10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9195-E7B1-A92F-636C-0841255D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Centroids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B37E8-22F1-A9A6-702D-D060A1A6D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centroid is the geometric center of a shape.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is the point where a shape balances evenly in all directions.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Also referred to as the “center of mass” or “center of gravity.”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Common in fields like geometry, physics, and data science.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499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C30B-AC33-9E0B-F684-E0448193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Centroids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6386A-E5FD-1C71-DAB2-A64B83DCE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Geography</a:t>
            </a:r>
            <a:r>
              <a:rPr lang="en-US" sz="2400" dirty="0"/>
              <a:t>: Centroids help in determining the geographical center of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Machine Learning</a:t>
            </a:r>
            <a:r>
              <a:rPr lang="en-US" sz="2400" dirty="0"/>
              <a:t>: K-means clustering uses centroids to group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Engineering</a:t>
            </a:r>
            <a:r>
              <a:rPr lang="en-US" sz="2400" dirty="0"/>
              <a:t>: Used to find the center of gravity in structures.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5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FCA49C99-0105-096A-859D-15AD09D87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5400" y="101654"/>
            <a:ext cx="11734800" cy="665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92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839200" cy="1066800"/>
          </a:xfrm>
        </p:spPr>
        <p:txBody>
          <a:bodyPr/>
          <a:lstStyle/>
          <a:p>
            <a:r>
              <a:rPr lang="en-US" sz="3600" dirty="0"/>
              <a:t>The Process of Geocoding: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752600"/>
            <a:ext cx="7848600" cy="3886200"/>
          </a:xfrm>
        </p:spPr>
        <p:txBody>
          <a:bodyPr/>
          <a:lstStyle/>
          <a:p>
            <a:r>
              <a:rPr lang="en-US" sz="2800" dirty="0"/>
              <a:t>Standardizing the address</a:t>
            </a:r>
          </a:p>
          <a:p>
            <a:r>
              <a:rPr lang="en-US" sz="2800" dirty="0"/>
              <a:t>Searching for potential candidates</a:t>
            </a:r>
          </a:p>
          <a:p>
            <a:r>
              <a:rPr lang="en-US" sz="2800" dirty="0"/>
              <a:t>Scoring each candidate</a:t>
            </a:r>
          </a:p>
          <a:p>
            <a:r>
              <a:rPr lang="en-US" sz="2800" dirty="0"/>
              <a:t>Matching address to best candidate</a:t>
            </a:r>
          </a:p>
        </p:txBody>
      </p:sp>
    </p:spTree>
    <p:extLst>
      <p:ext uri="{BB962C8B-B14F-4D97-AF65-F5344CB8AC3E}">
        <p14:creationId xmlns:p14="http://schemas.microsoft.com/office/powerpoint/2010/main" val="1886639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839200" cy="990600"/>
          </a:xfrm>
        </p:spPr>
        <p:txBody>
          <a:bodyPr/>
          <a:lstStyle/>
          <a:p>
            <a:r>
              <a:rPr lang="en-US" sz="3600" dirty="0"/>
              <a:t>Standardizing the Address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During this step the address is broken into components</a:t>
            </a:r>
          </a:p>
          <a:p>
            <a:r>
              <a:rPr lang="en-US" sz="2800" dirty="0"/>
              <a:t>For example: street number, street name, street type and street direction</a:t>
            </a:r>
          </a:p>
        </p:txBody>
      </p:sp>
    </p:spTree>
    <p:extLst>
      <p:ext uri="{BB962C8B-B14F-4D97-AF65-F5344CB8AC3E}">
        <p14:creationId xmlns:p14="http://schemas.microsoft.com/office/powerpoint/2010/main" val="2506183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8686800" cy="1219199"/>
          </a:xfrm>
        </p:spPr>
        <p:txBody>
          <a:bodyPr/>
          <a:lstStyle/>
          <a:p>
            <a:r>
              <a:rPr lang="en-US" sz="3600" dirty="0"/>
              <a:t>Matching Address to Best Candidate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geocoding service looks for the potential candidate with the highest score</a:t>
            </a:r>
          </a:p>
          <a:p>
            <a:endParaRPr lang="en-US" sz="2800" dirty="0"/>
          </a:p>
          <a:p>
            <a:r>
              <a:rPr lang="en-US" sz="2800" dirty="0"/>
              <a:t>If the score exceeds the minimum match score setting, then the service matches the address with that candidate</a:t>
            </a:r>
          </a:p>
        </p:txBody>
      </p:sp>
    </p:spTree>
    <p:extLst>
      <p:ext uri="{BB962C8B-B14F-4D97-AF65-F5344CB8AC3E}">
        <p14:creationId xmlns:p14="http://schemas.microsoft.com/office/powerpoint/2010/main" val="2028973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914400"/>
          </a:xfrm>
        </p:spPr>
        <p:txBody>
          <a:bodyPr/>
          <a:lstStyle/>
          <a:p>
            <a:r>
              <a:rPr lang="en-US" sz="3600" dirty="0"/>
              <a:t>Geocoding Process Settings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7848600" cy="4876800"/>
          </a:xfrm>
        </p:spPr>
        <p:txBody>
          <a:bodyPr/>
          <a:lstStyle/>
          <a:p>
            <a:r>
              <a:rPr lang="en-US" dirty="0"/>
              <a:t>Spelling Sensitivity</a:t>
            </a:r>
          </a:p>
          <a:p>
            <a:r>
              <a:rPr lang="en-US" dirty="0"/>
              <a:t>Minimum Candidate Score</a:t>
            </a:r>
          </a:p>
          <a:p>
            <a:r>
              <a:rPr lang="en-US" dirty="0"/>
              <a:t>Minimum Match Score</a:t>
            </a:r>
          </a:p>
        </p:txBody>
      </p:sp>
    </p:spTree>
    <p:extLst>
      <p:ext uri="{BB962C8B-B14F-4D97-AF65-F5344CB8AC3E}">
        <p14:creationId xmlns:p14="http://schemas.microsoft.com/office/powerpoint/2010/main" val="2687990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A30CC-29B1-64BB-B1A4-6CE9E621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MMQGIS PLUGIN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F50ADA-963F-27C1-9EF5-B0F9B5EC9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67" y="2057400"/>
            <a:ext cx="7659265" cy="4499818"/>
          </a:xfrm>
        </p:spPr>
      </p:pic>
    </p:spTree>
    <p:extLst>
      <p:ext uri="{BB962C8B-B14F-4D97-AF65-F5344CB8AC3E}">
        <p14:creationId xmlns:p14="http://schemas.microsoft.com/office/powerpoint/2010/main" val="4133331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C383-9AEF-28B5-C46E-F68AE2C1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7A4D49-2DCF-D5C5-BC3E-99F05D696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81200"/>
            <a:ext cx="7355425" cy="4719952"/>
          </a:xfrm>
        </p:spPr>
      </p:pic>
    </p:spTree>
    <p:extLst>
      <p:ext uri="{BB962C8B-B14F-4D97-AF65-F5344CB8AC3E}">
        <p14:creationId xmlns:p14="http://schemas.microsoft.com/office/powerpoint/2010/main" val="273633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7A1A25-64B5-1F79-7C6A-F8928ED7B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778336"/>
            <a:ext cx="9189832" cy="530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13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C33B391-CCFA-44E7-248F-BD4885788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62000"/>
            <a:ext cx="8534400" cy="557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61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1373-5072-CECC-D51F-67683478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0587EB99-85A1-1B4B-A98C-1EDE301CF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338" y="2227263"/>
            <a:ext cx="5731261" cy="3632200"/>
          </a:xfrm>
        </p:spPr>
      </p:pic>
    </p:spTree>
    <p:extLst>
      <p:ext uri="{BB962C8B-B14F-4D97-AF65-F5344CB8AC3E}">
        <p14:creationId xmlns:p14="http://schemas.microsoft.com/office/powerpoint/2010/main" val="2920586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8BCC054-9C58-080B-B50F-39DEA2525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17415"/>
            <a:ext cx="9144000" cy="542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28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0467DC42-0F6C-31E2-E830-B80535B34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26" y="1066800"/>
            <a:ext cx="8833147" cy="509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1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00F3C-167D-82C3-D0E9-D033A852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C23CA-D425-EBD2-8235-B97BEABF9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0803"/>
            <a:ext cx="8113744" cy="4087996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#Tutorial #3: Geocoding in 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with R refresher using </a:t>
            </a:r>
            <a:r>
              <a:rPr lang="en-US" sz="2400" b="1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https://cran.r-project.org/doc/contrib/Torfs+Brauer-Short-R-Intro.pdf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will return for Geocoding in R at the beginning of next week’s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07256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15079</TotalTime>
  <Words>398</Words>
  <Application>Microsoft Macintosh PowerPoint</Application>
  <PresentationFormat>On-screen Show (4:3)</PresentationFormat>
  <Paragraphs>64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Gill Sans MT</vt:lpstr>
      <vt:lpstr>Times New Roman</vt:lpstr>
      <vt:lpstr>Wingdings 2</vt:lpstr>
      <vt:lpstr>Dividend</vt:lpstr>
      <vt:lpstr>GIS and Spatial Analytics </vt:lpstr>
      <vt:lpstr>Spatial Overlays</vt:lpstr>
      <vt:lpstr>Buffers for Lines and Polygons</vt:lpstr>
      <vt:lpstr>Examples</vt:lpstr>
      <vt:lpstr>Proximity Tools</vt:lpstr>
      <vt:lpstr>PowerPoint Presentation</vt:lpstr>
      <vt:lpstr>Centroids of Common Shapes</vt:lpstr>
      <vt:lpstr>Introduction to Centroids </vt:lpstr>
      <vt:lpstr>Applications of Centroids</vt:lpstr>
      <vt:lpstr>PowerPoint Presentation</vt:lpstr>
      <vt:lpstr>The Process of Geocoding:</vt:lpstr>
      <vt:lpstr>Standardizing the Address</vt:lpstr>
      <vt:lpstr>Matching Address to Best Candidate</vt:lpstr>
      <vt:lpstr>Geocoding Process Settings</vt:lpstr>
      <vt:lpstr>MMQGIS PLUGIN</vt:lpstr>
      <vt:lpstr>ADDRESSES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Geocoding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James Gimpel</dc:creator>
  <cp:lastModifiedBy>Edwin Grimsley</cp:lastModifiedBy>
  <cp:revision>66</cp:revision>
  <dcterms:created xsi:type="dcterms:W3CDTF">2011-09-13T13:49:46Z</dcterms:created>
  <dcterms:modified xsi:type="dcterms:W3CDTF">2024-10-01T16:14:13Z</dcterms:modified>
</cp:coreProperties>
</file>