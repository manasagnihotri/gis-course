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8" r:id="rId1"/>
  </p:sldMasterIdLst>
  <p:notesMasterIdLst>
    <p:notesMasterId r:id="rId23"/>
  </p:notesMasterIdLst>
  <p:sldIdLst>
    <p:sldId id="256" r:id="rId2"/>
    <p:sldId id="290" r:id="rId3"/>
    <p:sldId id="288" r:id="rId4"/>
    <p:sldId id="283" r:id="rId5"/>
    <p:sldId id="282" r:id="rId6"/>
    <p:sldId id="284" r:id="rId7"/>
    <p:sldId id="285" r:id="rId8"/>
    <p:sldId id="287" r:id="rId9"/>
    <p:sldId id="291" r:id="rId10"/>
    <p:sldId id="292" r:id="rId11"/>
    <p:sldId id="293" r:id="rId12"/>
    <p:sldId id="294" r:id="rId13"/>
    <p:sldId id="296" r:id="rId14"/>
    <p:sldId id="297" r:id="rId15"/>
    <p:sldId id="295" r:id="rId16"/>
    <p:sldId id="298" r:id="rId17"/>
    <p:sldId id="299" r:id="rId18"/>
    <p:sldId id="300" r:id="rId19"/>
    <p:sldId id="301" r:id="rId20"/>
    <p:sldId id="289" r:id="rId21"/>
    <p:sldId id="28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8"/>
    <p:restoredTop sz="94673"/>
  </p:normalViewPr>
  <p:slideViewPr>
    <p:cSldViewPr>
      <p:cViewPr varScale="1">
        <p:scale>
          <a:sx n="107" d="100"/>
          <a:sy n="107" d="100"/>
        </p:scale>
        <p:origin x="187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53FF9-58DC-4866-BA34-588FC57ECD05}" type="datetimeFigureOut">
              <a:rPr lang="en-US" smtClean="0"/>
              <a:t>10/1/24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89072-7365-4511-AB37-D013CF61E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81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81D416C-15FF-42A3-8E36-5C91A35E9801}" type="datetimeFigureOut">
              <a:rPr lang="en-US" smtClean="0"/>
              <a:t>10/1/24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38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10/1/24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32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81D416C-15FF-42A3-8E36-5C91A35E9801}" type="datetimeFigureOut">
              <a:rPr lang="en-US" smtClean="0"/>
              <a:t>10/1/24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31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10/1/24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6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10/1/24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24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10/1/24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11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10/1/24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3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81D416C-15FF-42A3-8E36-5C91A35E9801}" type="datetimeFigureOut">
              <a:rPr lang="en-US" smtClean="0"/>
              <a:t>10/1/24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66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10/1/24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36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10/1/24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81D416C-15FF-42A3-8E36-5C91A35E9801}" type="datetimeFigureOut">
              <a:rPr lang="en-US" smtClean="0"/>
              <a:t>10/1/24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73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81D416C-15FF-42A3-8E36-5C91A35E9801}" type="datetimeFigureOut">
              <a:rPr lang="en-US" smtClean="0"/>
              <a:t>10/1/24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0191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6185" y="0"/>
            <a:ext cx="5471630" cy="3703320"/>
          </a:xfrm>
        </p:spPr>
        <p:txBody>
          <a:bodyPr anchor="ctr">
            <a:normAutofit/>
          </a:bodyPr>
          <a:lstStyle/>
          <a:p>
            <a:pPr algn="ctr"/>
            <a:r>
              <a:rPr lang="en-US" sz="4200" dirty="0"/>
              <a:t>GIS and Spatial Analytics</a:t>
            </a:r>
            <a:br>
              <a:rPr lang="en-US" sz="4200" dirty="0"/>
            </a:br>
            <a:r>
              <a:rPr lang="en-US" sz="4200" dirty="0"/>
              <a:t>QMSS 5070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1200" y="2819400"/>
            <a:ext cx="3810000" cy="3703320"/>
          </a:xfrm>
          <a:ln w="57150">
            <a:noFill/>
          </a:ln>
        </p:spPr>
        <p:txBody>
          <a:bodyPr anchor="ctr">
            <a:norm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 6</a:t>
            </a:r>
          </a:p>
          <a:p>
            <a:pPr algn="r"/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7248-AED3-F70F-E9A8-A1A58071E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38200"/>
            <a:ext cx="7989752" cy="108332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Introduction to Spatial Area and Descriptive Statistics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2BAC1-454F-8CF4-D031-B796A91DA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Spatial Area</a:t>
            </a:r>
            <a:r>
              <a:rPr lang="en-US" sz="2400" dirty="0"/>
              <a:t>: The physical size of a polygon (e.g., census tract, city boundary).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Descriptive Statistics</a:t>
            </a:r>
            <a:r>
              <a:rPr lang="en-US" sz="2400" dirty="0"/>
              <a:t>: Measures such as mean, median, standard deviation for variables associated with polygons (e.g., population, income).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817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06241-06B0-241D-16DF-A14C2A070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38200"/>
            <a:ext cx="7989752" cy="108332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Using Summary Statistics in Spatial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D7B00-EB38-F5D4-8085-175E9B558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Spatial Summary Applications</a:t>
            </a:r>
            <a:r>
              <a:rPr lang="en-U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Understand geographic distribution of income, population,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Identify clusters or areas with high/low attribute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Compare areas (e.g., rural vs. urban).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93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2800" dirty="0"/>
              <a:t>Produces a list of the unique code occurrences and their frequency in an output table for a specified set of fields from an input feature class or table. 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Optionally, summary items may be totaled for each unique code combination—for example, the total area for unique combinations of zoning and land use. 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Frequency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Frequency</a:t>
            </a:r>
          </a:p>
          <a:p>
            <a:pPr eaLnBrk="1" hangingPunct="1"/>
            <a:r>
              <a:rPr lang="en-US" sz="4000" dirty="0"/>
              <a:t>Summary Statistics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/>
              <a:t>Statistics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800" dirty="0"/>
              <a:t>Generates summary statistics for fields from an input table or feature class and saves them in an output table. 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This tool contains the following statistics types: sum, mean, minimum, maximum, standard deviation, range, first value, and last value.</a:t>
            </a:r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Summary Statistics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1AE6-0F1F-E695-9AB9-22B1ED9A7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D4EBB-1D59-E6DD-D80F-CA93162B4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Resources and Further Reading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Useful Resources</a:t>
            </a:r>
            <a:r>
              <a:rPr lang="en-U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R Spatial Cheat Sheet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sf Package Documentation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dplyr</a:t>
            </a:r>
            <a:r>
              <a:rPr lang="en-US" sz="2400" dirty="0"/>
              <a:t> Package Documentation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tmap</a:t>
            </a:r>
            <a:r>
              <a:rPr lang="en-US" sz="2400" dirty="0"/>
              <a:t> Package Documentation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628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0360-18AB-1D8A-1587-60AFB2120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Required R Packages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7B2CE-3E5B-8458-7F1B-9A3821FEC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Key Packages</a:t>
            </a:r>
            <a:r>
              <a:rPr lang="en-US" sz="2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sf: For handling and manipulating spatial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dplyr</a:t>
            </a:r>
            <a:r>
              <a:rPr lang="en-US" sz="2800" dirty="0"/>
              <a:t>: For data manipulation and summarization.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tmap</a:t>
            </a:r>
            <a:r>
              <a:rPr lang="en-US" sz="2800" dirty="0"/>
              <a:t>: For visualization.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898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B623-3E6B-C7D1-4956-D0F46C09D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38200"/>
            <a:ext cx="7989752" cy="108332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Loading Spatial Data in R</a:t>
            </a:r>
            <a:br>
              <a:rPr lang="en-US" b="1" dirty="0"/>
            </a:br>
            <a:r>
              <a:rPr lang="en-US" b="1" dirty="0"/>
              <a:t>Step 1</a:t>
            </a:r>
            <a:r>
              <a:rPr lang="en-US" dirty="0"/>
              <a:t>: Import Polygon Data (Shapefiles):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385BDD-215A-192E-0FA5-7B5DC1E54D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438400"/>
            <a:ext cx="6946900" cy="5080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D39C96-07A7-9F64-5277-A3EDC98A88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3" y="3075921"/>
            <a:ext cx="6781800" cy="7747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31BA0B7-91F4-F060-7B67-073346D2FE4B}"/>
              </a:ext>
            </a:extLst>
          </p:cNvPr>
          <p:cNvSpPr txBox="1"/>
          <p:nvPr/>
        </p:nvSpPr>
        <p:spPr>
          <a:xfrm>
            <a:off x="526472" y="4191000"/>
            <a:ext cx="71697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Load the CSV File</a:t>
            </a:r>
          </a:p>
          <a:p>
            <a:r>
              <a:rPr lang="en-US" dirty="0"/>
              <a:t>Load the CSV file using </a:t>
            </a:r>
            <a:r>
              <a:rPr lang="en-US" dirty="0" err="1"/>
              <a:t>read.csv</a:t>
            </a:r>
            <a:r>
              <a:rPr lang="en-US" dirty="0"/>
              <a:t>(). This file contains the attributes you want to join to the spatial data (e.g., population, income, etc.).</a:t>
            </a:r>
          </a:p>
        </p:txBody>
      </p:sp>
    </p:spTree>
    <p:extLst>
      <p:ext uri="{BB962C8B-B14F-4D97-AF65-F5344CB8AC3E}">
        <p14:creationId xmlns:p14="http://schemas.microsoft.com/office/powerpoint/2010/main" val="570986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62135-9563-00A4-CF1E-04B6F568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Spatial JOIN Between </a:t>
            </a:r>
            <a:r>
              <a:rPr lang="en-US" dirty="0" err="1"/>
              <a:t>ShapEFILe</a:t>
            </a:r>
            <a:r>
              <a:rPr lang="en-US" dirty="0"/>
              <a:t> and CSV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F8463-F0BE-B478-61DC-4BA4FF3C1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Here's how to </a:t>
            </a:r>
            <a:r>
              <a:rPr lang="en-US" b="1" dirty="0"/>
              <a:t>merge a spatial join between a shapefile and a CSV file</a:t>
            </a:r>
            <a:r>
              <a:rPr lang="en-US" dirty="0"/>
              <a:t> in R, typically done when you want to enrich your spatial data (e.g., polygons from a shapefile) with attribute data (e.g., demographic data from a CSV file).</a:t>
            </a:r>
          </a:p>
          <a:p>
            <a:r>
              <a:rPr lang="en-US" dirty="0"/>
              <a:t>To merge the data, both the shapefile and CSV must have a common key (e.g., a GEOID, FIPS code, or census tract ID). Make sure this column exists in both datasets and that they are named consistently.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Shapefile's key</a:t>
            </a:r>
            <a:r>
              <a:rPr lang="en-US" dirty="0"/>
              <a:t>: Typically a unique identifier for each spatial feature.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CSV file's key</a:t>
            </a:r>
            <a:r>
              <a:rPr lang="en-US" dirty="0"/>
              <a:t>: The corresponding identifier to join data 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6F43799-6FC0-8BEE-925E-727105F84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177947"/>
            <a:ext cx="72771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218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2038-E0E3-6F5C-D194-7F3B8A5B1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</a:t>
            </a:r>
            <a:r>
              <a:rPr lang="en-US" dirty="0" err="1"/>
              <a:t>JOiNs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1F266-B2BB-C0EB-1782-707B0F9AA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124" y="1949305"/>
            <a:ext cx="7989752" cy="3630795"/>
          </a:xfrm>
        </p:spPr>
        <p:txBody>
          <a:bodyPr/>
          <a:lstStyle/>
          <a:p>
            <a:r>
              <a:rPr lang="en-US" dirty="0"/>
              <a:t>Now, use the </a:t>
            </a:r>
            <a:r>
              <a:rPr lang="en-US" dirty="0" err="1"/>
              <a:t>left_join</a:t>
            </a:r>
            <a:r>
              <a:rPr lang="en-US" dirty="0"/>
              <a:t>() function from the </a:t>
            </a:r>
            <a:r>
              <a:rPr lang="en-US" dirty="0" err="1"/>
              <a:t>dplyr</a:t>
            </a:r>
            <a:r>
              <a:rPr lang="en-US" dirty="0"/>
              <a:t> package to merge the attribute data (CSV) with the spatial data (shapefile). </a:t>
            </a:r>
          </a:p>
          <a:p>
            <a:r>
              <a:rPr lang="en-US" dirty="0"/>
              <a:t>You need to specify the common key in both datasets.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E8E8B919-8168-C917-D9E9-3F4EFA5C7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47" y="3657600"/>
            <a:ext cx="7315200" cy="1536700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BD74123C-F5B9-2D4F-BB0F-669B4BF5C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0" y="5580100"/>
            <a:ext cx="68834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94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D0D8F-FF17-D4AB-0223-B3BE25C76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62000"/>
            <a:ext cx="7989752" cy="1083329"/>
          </a:xfrm>
        </p:spPr>
        <p:txBody>
          <a:bodyPr/>
          <a:lstStyle/>
          <a:p>
            <a:r>
              <a:rPr lang="en-US" b="1" dirty="0"/>
              <a:t>Visualize the Merged Data</a:t>
            </a:r>
            <a:br>
              <a:rPr lang="en-US" b="1" dirty="0"/>
            </a:b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120747-0EA4-45B4-C44C-D48726440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that the shapefile is enriched with the CSV data, you can visualize the data using </a:t>
            </a:r>
            <a:r>
              <a:rPr lang="en-US" dirty="0" err="1"/>
              <a:t>tmap</a:t>
            </a:r>
            <a:r>
              <a:rPr lang="en-US" dirty="0"/>
              <a:t> or ggplot2. For example, create a thematic map using a variable from the CSV</a:t>
            </a:r>
          </a:p>
          <a:p>
            <a:endParaRPr lang="en-US" dirty="0"/>
          </a:p>
          <a:p>
            <a:r>
              <a:rPr lang="en-US" dirty="0"/>
              <a:t>library(</a:t>
            </a:r>
            <a:r>
              <a:rPr lang="en-US" dirty="0" err="1"/>
              <a:t>tmap</a:t>
            </a:r>
            <a:r>
              <a:rPr lang="en-US" dirty="0"/>
              <a:t>) # Create a thematic map using a variable from the merged data </a:t>
            </a:r>
            <a:r>
              <a:rPr lang="en-US" dirty="0" err="1"/>
              <a:t>tm_shape</a:t>
            </a:r>
            <a:r>
              <a:rPr lang="en-US" dirty="0"/>
              <a:t>(</a:t>
            </a:r>
            <a:r>
              <a:rPr lang="en-US" dirty="0" err="1"/>
              <a:t>merged_data</a:t>
            </a:r>
            <a:r>
              <a:rPr lang="en-US" dirty="0"/>
              <a:t>) + </a:t>
            </a:r>
            <a:r>
              <a:rPr lang="en-US" dirty="0" err="1"/>
              <a:t>tm_polygons</a:t>
            </a:r>
            <a:r>
              <a:rPr lang="en-US" dirty="0"/>
              <a:t>("</a:t>
            </a:r>
            <a:r>
              <a:rPr lang="en-US" dirty="0" err="1"/>
              <a:t>population_density</a:t>
            </a:r>
            <a:r>
              <a:rPr lang="en-US" dirty="0"/>
              <a:t>", palette = "Blues", title = "Population Density")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15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32D88-F7DE-D8B6-A6AE-CF0858CA2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R </a:t>
            </a:r>
            <a:r>
              <a:rPr lang="en-US" dirty="0" err="1"/>
              <a:t>CODe</a:t>
            </a:r>
            <a:r>
              <a:rPr lang="en-US" dirty="0"/>
              <a:t> From IMPORT to MAPPING</a:t>
            </a:r>
          </a:p>
        </p:txBody>
      </p:sp>
      <p:pic>
        <p:nvPicPr>
          <p:cNvPr id="5" name="Content Placeholder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16E5EB90-2C2A-3663-3217-A26005CBD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577" y="2227263"/>
            <a:ext cx="5248784" cy="3632200"/>
          </a:xfrm>
        </p:spPr>
      </p:pic>
    </p:spTree>
    <p:extLst>
      <p:ext uri="{BB962C8B-B14F-4D97-AF65-F5344CB8AC3E}">
        <p14:creationId xmlns:p14="http://schemas.microsoft.com/office/powerpoint/2010/main" val="2561537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27389-D2F0-EC2C-3978-60067A10A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in TMAP</a:t>
            </a:r>
          </a:p>
        </p:txBody>
      </p:sp>
      <p:pic>
        <p:nvPicPr>
          <p:cNvPr id="5" name="Content Placeholder 4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2A8B99F8-3532-9872-5356-743372A64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209800"/>
            <a:ext cx="6336722" cy="4058599"/>
          </a:xfrm>
        </p:spPr>
      </p:pic>
    </p:spTree>
    <p:extLst>
      <p:ext uri="{BB962C8B-B14F-4D97-AF65-F5344CB8AC3E}">
        <p14:creationId xmlns:p14="http://schemas.microsoft.com/office/powerpoint/2010/main" val="2860363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F23B-D580-CFB2-DAFD-F3F88B73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 of Spatial Mapping in 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AD3E8-4161-15F7-DFAF-C2B9E82A9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/>
              <a:t>Load the spatial shapefile and CSV file.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Identify the common key (e.g., GEOID or FIPS code).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Merge the CSV data into the shapefile using </a:t>
            </a:r>
            <a:r>
              <a:rPr lang="en-US" sz="2400" dirty="0" err="1"/>
              <a:t>left_join</a:t>
            </a:r>
            <a:r>
              <a:rPr lang="en-US" sz="2400" dirty="0"/>
              <a:t>() from </a:t>
            </a:r>
            <a:r>
              <a:rPr lang="en-US" sz="2400" dirty="0" err="1"/>
              <a:t>dplyr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Visualize or analyze the merged spatial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099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43C4F-6332-7137-3F66-029FF21DF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GEOCODING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42FAA-3994-F1A8-3607-53BB6678F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Set Up Google Maps API Key</a:t>
            </a:r>
            <a:r>
              <a:rPr lang="en-US" dirty="0"/>
              <a:t> To geocode using </a:t>
            </a:r>
            <a:r>
              <a:rPr lang="en-US" dirty="0" err="1"/>
              <a:t>ggmap</a:t>
            </a:r>
            <a:r>
              <a:rPr lang="en-US" dirty="0"/>
              <a:t>, you need an </a:t>
            </a:r>
            <a:r>
              <a:rPr lang="en-US" b="1" dirty="0"/>
              <a:t>API key</a:t>
            </a:r>
            <a:r>
              <a:rPr lang="en-US" dirty="0"/>
              <a:t> from the Google Cloud Platform. Follow these steps to get a key: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 to the Google Cloud Console.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a project.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the </a:t>
            </a:r>
            <a:r>
              <a:rPr lang="en-US" b="1" dirty="0"/>
              <a:t>Geocoding API</a:t>
            </a:r>
            <a:r>
              <a:rPr lang="en-US" dirty="0"/>
              <a:t> and </a:t>
            </a:r>
            <a:r>
              <a:rPr lang="en-US" b="1" dirty="0"/>
              <a:t>Maps JavaScript API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credentials for an API key.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899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F1564-07E6-020C-C2BF-EEB77E339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4E14F-6040-2EB5-6728-C4892E015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</a:t>
            </a:r>
            <a:r>
              <a:rPr lang="en-US" b="1" dirty="0"/>
              <a:t>geocode in R</a:t>
            </a:r>
            <a:r>
              <a:rPr lang="en-US" dirty="0"/>
              <a:t>, you can use the </a:t>
            </a:r>
            <a:r>
              <a:rPr lang="en-US" dirty="0" err="1"/>
              <a:t>ggmap</a:t>
            </a:r>
            <a:r>
              <a:rPr lang="en-US" dirty="0"/>
              <a:t> package, which allows you to convert addresses into geographic coordinates (latitude and longitude) using the </a:t>
            </a:r>
            <a:r>
              <a:rPr lang="en-US" b="1" dirty="0"/>
              <a:t>Google Maps API</a:t>
            </a:r>
            <a:r>
              <a:rPr lang="en-US" dirty="0"/>
              <a:t>. Below is the step-by-step guide and code for geocoding addresses in R.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F33FE48B-E417-AEC6-B178-50E0020A4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4267200"/>
            <a:ext cx="6273800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23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F409A1-2253-0199-3253-F12992CD3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4952"/>
            <a:ext cx="7023100" cy="774700"/>
          </a:xfrm>
        </p:spPr>
      </p:pic>
      <p:pic>
        <p:nvPicPr>
          <p:cNvPr id="7" name="Picture 6" descr="A black screen with green text&#10;&#10;Description automatically generated">
            <a:extLst>
              <a:ext uri="{FF2B5EF4-FFF2-40B4-BE49-F238E27FC236}">
                <a16:creationId xmlns:a16="http://schemas.microsoft.com/office/drawing/2014/main" id="{40B5574B-EDD9-DB17-CAA4-762E9447E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717" y="2778059"/>
            <a:ext cx="5810992" cy="1528076"/>
          </a:xfrm>
          <a:prstGeom prst="rect">
            <a:avLst/>
          </a:prstGeom>
        </p:spPr>
      </p:pic>
      <p:pic>
        <p:nvPicPr>
          <p:cNvPr id="9" name="Picture 8" descr="A computer screen with white text and green text&#10;&#10;Description automatically generated">
            <a:extLst>
              <a:ext uri="{FF2B5EF4-FFF2-40B4-BE49-F238E27FC236}">
                <a16:creationId xmlns:a16="http://schemas.microsoft.com/office/drawing/2014/main" id="{6D936383-08DE-1BBA-E6A9-CEFC218AFF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008" y="4306135"/>
            <a:ext cx="5287323" cy="25884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827B19-674E-143E-9798-A1000BB819E7}"/>
              </a:ext>
            </a:extLst>
          </p:cNvPr>
          <p:cNvSpPr txBox="1"/>
          <p:nvPr/>
        </p:nvSpPr>
        <p:spPr>
          <a:xfrm>
            <a:off x="1189952" y="877787"/>
            <a:ext cx="6764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Singe Addresses and Multiple Addresses</a:t>
            </a:r>
          </a:p>
        </p:txBody>
      </p:sp>
    </p:spTree>
    <p:extLst>
      <p:ext uri="{BB962C8B-B14F-4D97-AF65-F5344CB8AC3E}">
        <p14:creationId xmlns:p14="http://schemas.microsoft.com/office/powerpoint/2010/main" val="2368098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FCD7C-E3C1-07FC-7A68-9C9655620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8BFF5-68D5-B52F-F5E5-B036D57DA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81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11BEA-AE35-5635-49EE-A4EBFD36C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36" y="982379"/>
            <a:ext cx="7989752" cy="108332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Calculating Mean and Median Values in 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CBDEB-5226-E5FD-94E7-7DE1FECD9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036" y="2438400"/>
            <a:ext cx="7989752" cy="363079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Calculating Mean and Median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Using </a:t>
            </a:r>
            <a:r>
              <a:rPr lang="en-US" b="1" dirty="0" err="1"/>
              <a:t>dplyr</a:t>
            </a:r>
            <a:r>
              <a:rPr lang="en-US" b="1" dirty="0"/>
              <a:t> to Calculate Summary Statistics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Result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Mean population, median income, and mean area of polygons.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2C2410-1DFD-E6DF-FAFA-D1092B475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971800"/>
            <a:ext cx="57658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75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1943D-163B-06F1-0B1F-81265E60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8573C-2AD4-AFA0-9521-6A7EA0F69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Key Takeaways</a:t>
            </a:r>
            <a:r>
              <a:rPr lang="en-U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Calculating polygon areas and descriptive statistics in R is straightforward with packages like sf and </a:t>
            </a:r>
            <a:r>
              <a:rPr lang="en-US" sz="2400" dirty="0" err="1"/>
              <a:t>dplyr</a:t>
            </a:r>
            <a:r>
              <a:rPr lang="en-US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Use thematic maps to visualize and communicate findings.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Next Steps</a:t>
            </a:r>
            <a:r>
              <a:rPr lang="en-US" sz="2400" dirty="0"/>
              <a:t>: Try applying these techniques to your own spatial datasets for deeper insights.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29860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24533</TotalTime>
  <Words>830</Words>
  <Application>Microsoft Macintosh PowerPoint</Application>
  <PresentationFormat>On-screen Show (4:3)</PresentationFormat>
  <Paragraphs>85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Gill Sans MT</vt:lpstr>
      <vt:lpstr>Wingdings 2</vt:lpstr>
      <vt:lpstr>Dividend</vt:lpstr>
      <vt:lpstr>GIS and Spatial Analytics QMSS 5070</vt:lpstr>
      <vt:lpstr>Introduction to Spatial Area and Descriptive Statistics </vt:lpstr>
      <vt:lpstr>Using Summary Statistics in Spatial Analysis </vt:lpstr>
      <vt:lpstr>Frequency</vt:lpstr>
      <vt:lpstr>Statistics Tools</vt:lpstr>
      <vt:lpstr>Summary Statistics</vt:lpstr>
      <vt:lpstr>R Resources</vt:lpstr>
      <vt:lpstr>Required R Packages </vt:lpstr>
      <vt:lpstr>Loading Spatial Data in R Step 1: Import Polygon Data (Shapefiles): </vt:lpstr>
      <vt:lpstr>Merging Spatial JOIN Between ShapEFILe and CSV</vt:lpstr>
      <vt:lpstr>Spatial JOiNs</vt:lpstr>
      <vt:lpstr>Visualize the Merged Data </vt:lpstr>
      <vt:lpstr>Full R CODe From IMPORT to MAPPING</vt:lpstr>
      <vt:lpstr>Mapping in TMAP</vt:lpstr>
      <vt:lpstr>Summary of Spatial Mapping in R </vt:lpstr>
      <vt:lpstr>GEOCODING in R</vt:lpstr>
      <vt:lpstr>PowerPoint Presentation</vt:lpstr>
      <vt:lpstr>PowerPoint Presentation</vt:lpstr>
      <vt:lpstr>PowerPoint Presentation</vt:lpstr>
      <vt:lpstr>Calculating Mean and Median Values in R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James Gimpel</dc:creator>
  <cp:lastModifiedBy>Edwin Grimsley</cp:lastModifiedBy>
  <cp:revision>65</cp:revision>
  <dcterms:created xsi:type="dcterms:W3CDTF">2011-09-13T13:49:46Z</dcterms:created>
  <dcterms:modified xsi:type="dcterms:W3CDTF">2024-10-08T21:19:43Z</dcterms:modified>
</cp:coreProperties>
</file>