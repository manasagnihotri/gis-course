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878" r:id="rId1"/>
  </p:sldMasterIdLst>
  <p:notesMasterIdLst>
    <p:notesMasterId r:id="rId18"/>
  </p:notesMasterIdLst>
  <p:sldIdLst>
    <p:sldId id="256" r:id="rId2"/>
    <p:sldId id="311" r:id="rId3"/>
    <p:sldId id="306" r:id="rId4"/>
    <p:sldId id="312" r:id="rId5"/>
    <p:sldId id="278" r:id="rId6"/>
    <p:sldId id="310" r:id="rId7"/>
    <p:sldId id="339" r:id="rId8"/>
    <p:sldId id="340" r:id="rId9"/>
    <p:sldId id="341" r:id="rId10"/>
    <p:sldId id="342" r:id="rId11"/>
    <p:sldId id="343" r:id="rId12"/>
    <p:sldId id="344" r:id="rId13"/>
    <p:sldId id="335" r:id="rId14"/>
    <p:sldId id="337" r:id="rId15"/>
    <p:sldId id="338" r:id="rId16"/>
    <p:sldId id="309" r:id="rId1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0345"/>
    <p:restoredTop sz="94521"/>
  </p:normalViewPr>
  <p:slideViewPr>
    <p:cSldViewPr>
      <p:cViewPr varScale="1">
        <p:scale>
          <a:sx n="120" d="100"/>
          <a:sy n="120" d="100"/>
        </p:scale>
        <p:origin x="2280" y="18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80" d="100"/>
        <a:sy n="80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5153FF9-58DC-4866-BA34-588FC57ECD05}" type="datetimeFigureOut">
              <a:rPr lang="en-US" smtClean="0"/>
              <a:t>2/17/25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4889072-7365-4511-AB37-D013CF61EF8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3268103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448091" y="3085765"/>
            <a:ext cx="8240108" cy="330480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81192" y="990600"/>
            <a:ext cx="7989752" cy="1504844"/>
          </a:xfrm>
          <a:effectLst/>
        </p:spPr>
        <p:txBody>
          <a:bodyPr anchor="b">
            <a:normAutofit/>
          </a:bodyPr>
          <a:lstStyle>
            <a:lvl1pPr>
              <a:defRPr sz="360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581192" y="2495444"/>
            <a:ext cx="7989752" cy="590321"/>
          </a:xfrm>
        </p:spPr>
        <p:txBody>
          <a:bodyPr anchor="t">
            <a:normAutofit/>
          </a:bodyPr>
          <a:lstStyle>
            <a:lvl1pPr marL="0" indent="0" algn="l">
              <a:buNone/>
              <a:defRPr sz="1600" cap="all">
                <a:solidFill>
                  <a:schemeClr val="accent2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E81D416C-15FF-42A3-8E36-5C91A35E9801}" type="datetimeFigureOut">
              <a:rPr lang="en-US" smtClean="0"/>
              <a:t>2/17/25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1F4645AA-C0DC-42CB-B806-075F3A6970A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0383811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>
            <a:spLocks noChangeAspect="1"/>
          </p:cNvSpPr>
          <p:nvPr/>
        </p:nvSpPr>
        <p:spPr>
          <a:xfrm>
            <a:off x="448092" y="599725"/>
            <a:ext cx="8238707" cy="125882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81192" y="2228003"/>
            <a:ext cx="7989752" cy="363079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1D416C-15FF-42A3-8E36-5C91A35E9801}" type="datetimeFigureOut">
              <a:rPr lang="en-US" smtClean="0"/>
              <a:t>2/17/25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4645AA-C0DC-42CB-B806-075F3A6970A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1523247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>
            <a:spLocks noChangeAspect="1"/>
          </p:cNvSpPr>
          <p:nvPr/>
        </p:nvSpPr>
        <p:spPr>
          <a:xfrm>
            <a:off x="452646" y="5141973"/>
            <a:ext cx="8238707" cy="125882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3" y="3036573"/>
            <a:ext cx="7989751" cy="1504844"/>
          </a:xfrm>
        </p:spPr>
        <p:txBody>
          <a:bodyPr anchor="b">
            <a:normAutofit/>
          </a:bodyPr>
          <a:lstStyle>
            <a:lvl1pPr algn="l">
              <a:defRPr sz="3600" b="0" cap="all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81193" y="4541417"/>
            <a:ext cx="7989751" cy="600556"/>
          </a:xfrm>
        </p:spPr>
        <p:txBody>
          <a:bodyPr anchor="t">
            <a:normAutofit/>
          </a:bodyPr>
          <a:lstStyle>
            <a:lvl1pPr marL="0" indent="0" algn="l">
              <a:buNone/>
              <a:defRPr sz="1800" cap="all">
                <a:solidFill>
                  <a:schemeClr val="accent2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E81D416C-15FF-42A3-8E36-5C91A35E9801}" type="datetimeFigureOut">
              <a:rPr lang="en-US" smtClean="0"/>
              <a:t>2/17/25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1F4645AA-C0DC-42CB-B806-075F3A6970A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6933143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>
            <a:spLocks noChangeAspect="1"/>
          </p:cNvSpPr>
          <p:nvPr/>
        </p:nvSpPr>
        <p:spPr>
          <a:xfrm>
            <a:off x="448092" y="599725"/>
            <a:ext cx="8238707" cy="125882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581192" y="2228002"/>
            <a:ext cx="3899527" cy="363304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63282" y="2228003"/>
            <a:ext cx="3907662" cy="363304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1D416C-15FF-42A3-8E36-5C91A35E9801}" type="datetimeFigureOut">
              <a:rPr lang="en-US" smtClean="0"/>
              <a:t>2/17/25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4645AA-C0DC-42CB-B806-075F3A6970A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3356484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/>
          <p:cNvSpPr>
            <a:spLocks noChangeAspect="1"/>
          </p:cNvSpPr>
          <p:nvPr/>
        </p:nvSpPr>
        <p:spPr>
          <a:xfrm>
            <a:off x="448092" y="599725"/>
            <a:ext cx="8238707" cy="125882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87219" y="2228003"/>
            <a:ext cx="3593500" cy="576262"/>
          </a:xfrm>
        </p:spPr>
        <p:txBody>
          <a:bodyPr anchor="b">
            <a:noAutofit/>
          </a:bodyPr>
          <a:lstStyle>
            <a:lvl1pPr marL="0" indent="0">
              <a:buNone/>
              <a:defRPr sz="2200" b="0">
                <a:solidFill>
                  <a:schemeClr val="accent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81192" y="2926051"/>
            <a:ext cx="3899527" cy="2934999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969308" y="2228003"/>
            <a:ext cx="3601635" cy="576262"/>
          </a:xfrm>
        </p:spPr>
        <p:txBody>
          <a:bodyPr anchor="b">
            <a:noAutofit/>
          </a:bodyPr>
          <a:lstStyle>
            <a:lvl1pPr marL="0" indent="0">
              <a:buNone/>
              <a:defRPr sz="2200" b="0">
                <a:solidFill>
                  <a:schemeClr val="accent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63282" y="2926051"/>
            <a:ext cx="3907662" cy="2934999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1D416C-15FF-42A3-8E36-5C91A35E9801}" type="datetimeFigureOut">
              <a:rPr lang="en-US" smtClean="0"/>
              <a:t>2/17/25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4645AA-C0DC-42CB-B806-075F3A6970A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3652408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/>
          <p:cNvSpPr>
            <a:spLocks noChangeAspect="1"/>
          </p:cNvSpPr>
          <p:nvPr/>
        </p:nvSpPr>
        <p:spPr>
          <a:xfrm>
            <a:off x="448092" y="599725"/>
            <a:ext cx="8238707" cy="125882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1D416C-15FF-42A3-8E36-5C91A35E9801}" type="datetimeFigureOut">
              <a:rPr lang="en-US" smtClean="0"/>
              <a:t>2/17/25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4645AA-C0DC-42CB-B806-075F3A6970A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6971141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1D416C-15FF-42A3-8E36-5C91A35E9801}" type="datetimeFigureOut">
              <a:rPr lang="en-US" smtClean="0"/>
              <a:t>2/17/25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4645AA-C0DC-42CB-B806-075F3A6970A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843855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>
            <a:spLocks noChangeAspect="1"/>
          </p:cNvSpPr>
          <p:nvPr/>
        </p:nvSpPr>
        <p:spPr>
          <a:xfrm>
            <a:off x="452646" y="5141973"/>
            <a:ext cx="8238707" cy="1274702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352" y="5262296"/>
            <a:ext cx="3536625" cy="689514"/>
          </a:xfrm>
        </p:spPr>
        <p:txBody>
          <a:bodyPr anchor="ctr"/>
          <a:lstStyle>
            <a:lvl1pPr algn="l">
              <a:defRPr sz="2000" b="0"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46399" y="601200"/>
            <a:ext cx="8240400" cy="4204800"/>
          </a:xfrm>
        </p:spPr>
        <p:txBody>
          <a:bodyPr anchor="ctr">
            <a:normAutofit/>
          </a:bodyPr>
          <a:lstStyle>
            <a:lvl1pPr>
              <a:defRPr sz="2000">
                <a:solidFill>
                  <a:schemeClr val="tx2"/>
                </a:solidFill>
              </a:defRPr>
            </a:lvl1pPr>
            <a:lvl2pPr>
              <a:defRPr sz="1800">
                <a:solidFill>
                  <a:schemeClr val="tx2"/>
                </a:solidFill>
              </a:defRPr>
            </a:lvl2pPr>
            <a:lvl3pPr>
              <a:defRPr sz="1600">
                <a:solidFill>
                  <a:schemeClr val="tx2"/>
                </a:solidFill>
              </a:defRPr>
            </a:lvl3pPr>
            <a:lvl4pPr>
              <a:defRPr sz="1400">
                <a:solidFill>
                  <a:schemeClr val="tx2"/>
                </a:solidFill>
              </a:defRPr>
            </a:lvl4pPr>
            <a:lvl5pPr>
              <a:defRPr sz="1400">
                <a:solidFill>
                  <a:schemeClr val="tx2"/>
                </a:solidFill>
              </a:defRPr>
            </a:lvl5pPr>
            <a:lvl6pPr>
              <a:defRPr sz="1400">
                <a:solidFill>
                  <a:schemeClr val="tx2"/>
                </a:solidFill>
              </a:defRPr>
            </a:lvl6pPr>
            <a:lvl7pPr>
              <a:defRPr sz="1400">
                <a:solidFill>
                  <a:schemeClr val="tx2"/>
                </a:solidFill>
              </a:defRPr>
            </a:lvl7pPr>
            <a:lvl8pPr>
              <a:defRPr sz="1400">
                <a:solidFill>
                  <a:schemeClr val="tx2"/>
                </a:solidFill>
              </a:defRPr>
            </a:lvl8pPr>
            <a:lvl9pPr>
              <a:defRPr sz="1400">
                <a:solidFill>
                  <a:schemeClr val="tx2"/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305617" y="5262295"/>
            <a:ext cx="4265327" cy="689515"/>
          </a:xfrm>
        </p:spPr>
        <p:txBody>
          <a:bodyPr anchor="ctr">
            <a:normAutofit/>
          </a:bodyPr>
          <a:lstStyle>
            <a:lvl1pPr marL="0" indent="0" algn="r">
              <a:buNone/>
              <a:defRPr sz="1100">
                <a:solidFill>
                  <a:schemeClr val="bg1"/>
                </a:solidFill>
              </a:defRPr>
            </a:lvl1pPr>
            <a:lvl2pPr marL="457200" indent="0">
              <a:buNone/>
              <a:defRPr sz="11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E81D416C-15FF-42A3-8E36-5C91A35E9801}" type="datetimeFigureOut">
              <a:rPr lang="en-US" smtClean="0"/>
              <a:t>2/17/25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1F4645AA-C0DC-42CB-B806-075F3A6970A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7616633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2" y="4693389"/>
            <a:ext cx="7989752" cy="566738"/>
          </a:xfrm>
        </p:spPr>
        <p:txBody>
          <a:bodyPr anchor="b">
            <a:normAutofit/>
          </a:bodyPr>
          <a:lstStyle>
            <a:lvl1pPr algn="l">
              <a:defRPr sz="2400" b="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448093" y="599725"/>
            <a:ext cx="8238706" cy="3557252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81192" y="5260126"/>
            <a:ext cx="7989752" cy="598671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1D416C-15FF-42A3-8E36-5C91A35E9801}" type="datetimeFigureOut">
              <a:rPr lang="en-US" smtClean="0"/>
              <a:t>2/17/25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4645AA-C0DC-42CB-B806-075F3A6970A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7293661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>
            <a:spLocks noChangeAspect="1"/>
          </p:cNvSpPr>
          <p:nvPr/>
        </p:nvSpPr>
        <p:spPr>
          <a:xfrm>
            <a:off x="448092" y="599725"/>
            <a:ext cx="8238707" cy="125882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>
            <a:lvl1pPr algn="l">
              <a:defRPr/>
            </a:lvl1pPr>
            <a:lvl2pPr algn="l">
              <a:defRPr/>
            </a:lvl2pPr>
            <a:lvl3pPr algn="l">
              <a:defRPr/>
            </a:lvl3pPr>
            <a:lvl4pPr algn="l">
              <a:defRPr/>
            </a:lvl4pPr>
            <a:lvl5pPr algn="l"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1D416C-15FF-42A3-8E36-5C91A35E9801}" type="datetimeFigureOut">
              <a:rPr lang="en-US" smtClean="0"/>
              <a:t>2/17/25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4645AA-C0DC-42CB-B806-075F3A6970A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796489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>
            <a:spLocks noChangeAspect="1"/>
          </p:cNvSpPr>
          <p:nvPr/>
        </p:nvSpPr>
        <p:spPr>
          <a:xfrm>
            <a:off x="6629400" y="599725"/>
            <a:ext cx="2057399" cy="581695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675725"/>
            <a:ext cx="1503123" cy="5183073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581192" y="675725"/>
            <a:ext cx="5922209" cy="5183073"/>
          </a:xfrm>
        </p:spPr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745255" y="5956136"/>
            <a:ext cx="947672" cy="365125"/>
          </a:xfrm>
        </p:spPr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E81D416C-15FF-42A3-8E36-5C91A35E9801}" type="datetimeFigureOut">
              <a:rPr lang="en-US" smtClean="0"/>
              <a:t>2/17/25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81192" y="5951810"/>
            <a:ext cx="5922209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1F4645AA-C0DC-42CB-B806-075F3A6970A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1207388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581192" y="687474"/>
            <a:ext cx="7989752" cy="1083329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81192" y="2228003"/>
            <a:ext cx="7989752" cy="363079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5559327" y="5956136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2"/>
                </a:solidFill>
              </a:defRPr>
            </a:lvl1pPr>
          </a:lstStyle>
          <a:p>
            <a:fld id="{E81D416C-15FF-42A3-8E36-5C91A35E9801}" type="datetimeFigureOut">
              <a:rPr lang="en-US" smtClean="0"/>
              <a:t>2/17/25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581192" y="5951810"/>
            <a:ext cx="487058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 cap="all">
                <a:solidFill>
                  <a:schemeClr val="accent2"/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7800476" y="5956136"/>
            <a:ext cx="77046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2"/>
                </a:solidFill>
              </a:defRPr>
            </a:lvl1pPr>
          </a:lstStyle>
          <a:p>
            <a:fld id="{1F4645AA-C0DC-42CB-B806-075F3A6970AF}" type="slidenum">
              <a:rPr lang="en-US" smtClean="0"/>
              <a:t>‹#›</a:t>
            </a:fld>
            <a:endParaRPr lang="en-US"/>
          </a:p>
        </p:txBody>
      </p:sp>
      <p:sp>
        <p:nvSpPr>
          <p:cNvPr id="9" name="Rectangle 8"/>
          <p:cNvSpPr/>
          <p:nvPr/>
        </p:nvSpPr>
        <p:spPr>
          <a:xfrm>
            <a:off x="448091" y="441325"/>
            <a:ext cx="2719909" cy="10800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0" name="Rectangle 9"/>
          <p:cNvSpPr/>
          <p:nvPr/>
        </p:nvSpPr>
        <p:spPr>
          <a:xfrm>
            <a:off x="5976001" y="441325"/>
            <a:ext cx="2710800" cy="108000"/>
          </a:xfrm>
          <a:prstGeom prst="rect">
            <a:avLst/>
          </a:prstGeom>
          <a:solidFill>
            <a:schemeClr val="accent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1" name="Rectangle 10"/>
          <p:cNvSpPr/>
          <p:nvPr/>
        </p:nvSpPr>
        <p:spPr>
          <a:xfrm>
            <a:off x="3216601" y="441325"/>
            <a:ext cx="2710800" cy="108000"/>
          </a:xfrm>
          <a:prstGeom prst="rect">
            <a:avLst/>
          </a:prstGeom>
          <a:solidFill>
            <a:schemeClr val="accent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</p:spTree>
    <p:extLst>
      <p:ext uri="{BB962C8B-B14F-4D97-AF65-F5344CB8AC3E}">
        <p14:creationId xmlns:p14="http://schemas.microsoft.com/office/powerpoint/2010/main" val="370191301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79" r:id="rId1"/>
    <p:sldLayoutId id="2147483880" r:id="rId2"/>
    <p:sldLayoutId id="2147483881" r:id="rId3"/>
    <p:sldLayoutId id="2147483882" r:id="rId4"/>
    <p:sldLayoutId id="2147483883" r:id="rId5"/>
    <p:sldLayoutId id="2147483884" r:id="rId6"/>
    <p:sldLayoutId id="2147483885" r:id="rId7"/>
    <p:sldLayoutId id="2147483886" r:id="rId8"/>
    <p:sldLayoutId id="2147483887" r:id="rId9"/>
    <p:sldLayoutId id="2147483888" r:id="rId10"/>
    <p:sldLayoutId id="2147483889" r:id="rId11"/>
  </p:sldLayoutIdLst>
  <p:txStyles>
    <p:titleStyle>
      <a:lvl1pPr algn="l" defTabSz="457200" rtl="0" eaLnBrk="1" latinLnBrk="0" hangingPunct="1">
        <a:spcBef>
          <a:spcPct val="0"/>
        </a:spcBef>
        <a:buNone/>
        <a:defRPr sz="2800" b="0" kern="1200" cap="all">
          <a:solidFill>
            <a:schemeClr val="bg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06000" indent="-306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800" kern="1200">
          <a:solidFill>
            <a:schemeClr val="tx2"/>
          </a:solidFill>
          <a:latin typeface="+mn-lt"/>
          <a:ea typeface="+mn-ea"/>
          <a:cs typeface="+mn-cs"/>
        </a:defRPr>
      </a:lvl1pPr>
      <a:lvl2pPr marL="630000" indent="-306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600" kern="1200">
          <a:solidFill>
            <a:schemeClr val="tx2"/>
          </a:solidFill>
          <a:latin typeface="+mn-lt"/>
          <a:ea typeface="+mn-ea"/>
          <a:cs typeface="+mn-cs"/>
        </a:defRPr>
      </a:lvl2pPr>
      <a:lvl3pPr marL="900000" indent="-270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400" kern="1200">
          <a:solidFill>
            <a:schemeClr val="tx2"/>
          </a:solidFill>
          <a:latin typeface="+mn-lt"/>
          <a:ea typeface="+mn-ea"/>
          <a:cs typeface="+mn-cs"/>
        </a:defRPr>
      </a:lvl3pPr>
      <a:lvl4pPr marL="1242000" indent="-234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4pPr>
      <a:lvl5pPr marL="1602000" indent="-234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5pPr>
      <a:lvl6pPr marL="19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6pPr>
      <a:lvl7pPr marL="22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7pPr>
      <a:lvl8pPr marL="25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8pPr>
      <a:lvl9pPr marL="28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836185" y="0"/>
            <a:ext cx="5471630" cy="3703320"/>
          </a:xfrm>
        </p:spPr>
        <p:txBody>
          <a:bodyPr anchor="ctr">
            <a:normAutofit/>
          </a:bodyPr>
          <a:lstStyle/>
          <a:p>
            <a:pPr algn="ctr"/>
            <a:r>
              <a:rPr lang="en-US" sz="4200" dirty="0"/>
              <a:t>GIS and Spatial Analytics</a:t>
            </a:r>
            <a:br>
              <a:rPr lang="en-US" sz="4200" dirty="0"/>
            </a:br>
            <a:endParaRPr lang="en-US" sz="4200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981200" y="2819400"/>
            <a:ext cx="3810000" cy="3703320"/>
          </a:xfrm>
          <a:ln w="57150">
            <a:noFill/>
          </a:ln>
        </p:spPr>
        <p:txBody>
          <a:bodyPr anchor="ctr">
            <a:normAutofit/>
          </a:bodyPr>
          <a:lstStyle/>
          <a:p>
            <a:pPr algn="r"/>
            <a:r>
              <a:rPr lang="en-US" sz="28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Lecture 5</a:t>
            </a:r>
          </a:p>
          <a:p>
            <a:pPr algn="r"/>
            <a:endParaRPr lang="en-US" sz="17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50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7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7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ontent Placeholder 4"/>
          <p:cNvSpPr>
            <a:spLocks noGrp="1"/>
          </p:cNvSpPr>
          <p:nvPr>
            <p:ph idx="1"/>
          </p:nvPr>
        </p:nvSpPr>
        <p:spPr>
          <a:xfrm>
            <a:off x="457200" y="1828800"/>
            <a:ext cx="8001000" cy="4525963"/>
          </a:xfrm>
        </p:spPr>
        <p:txBody>
          <a:bodyPr>
            <a:normAutofit/>
          </a:bodyPr>
          <a:lstStyle/>
          <a:p>
            <a:r>
              <a:rPr lang="en-US" sz="2400" dirty="0"/>
              <a:t>Spatially combine two layers to:</a:t>
            </a:r>
          </a:p>
          <a:p>
            <a:pPr>
              <a:buNone/>
            </a:pPr>
            <a:endParaRPr lang="en-US" sz="2400" dirty="0"/>
          </a:p>
          <a:p>
            <a:pPr lvl="1"/>
            <a:r>
              <a:rPr lang="en-US" sz="2400" dirty="0"/>
              <a:t>Generate a new output data layer</a:t>
            </a:r>
          </a:p>
          <a:p>
            <a:pPr lvl="1"/>
            <a:endParaRPr lang="en-US" sz="2400" dirty="0"/>
          </a:p>
          <a:p>
            <a:pPr lvl="1"/>
            <a:r>
              <a:rPr lang="en-US" sz="2400" dirty="0"/>
              <a:t>Assign attributes of one data layer to another</a:t>
            </a:r>
          </a:p>
          <a:p>
            <a:pPr lvl="1"/>
            <a:endParaRPr lang="en-US" sz="2400" dirty="0"/>
          </a:p>
          <a:p>
            <a:pPr lvl="1"/>
            <a:r>
              <a:rPr lang="en-US" sz="2400" dirty="0"/>
              <a:t>Usually one of the data layers will be polygons</a:t>
            </a:r>
          </a:p>
          <a:p>
            <a:pPr lvl="2"/>
            <a:r>
              <a:rPr lang="en-US" sz="2400" dirty="0"/>
              <a:t>A point-in-polygon overlay is typical 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990600" y="30162"/>
            <a:ext cx="8686800" cy="1417638"/>
          </a:xfrm>
        </p:spPr>
        <p:txBody>
          <a:bodyPr>
            <a:normAutofit/>
          </a:bodyPr>
          <a:lstStyle/>
          <a:p>
            <a:r>
              <a:rPr lang="en-US" sz="3600" dirty="0"/>
              <a:t>Spatial Overlays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74435" name="Picture 3" descr="buffer1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4419600" y="1905000"/>
            <a:ext cx="4495800" cy="4411663"/>
          </a:xfrm>
          <a:prstGeom prst="rect">
            <a:avLst/>
          </a:prstGeom>
          <a:noFill/>
        </p:spPr>
      </p:pic>
      <p:pic>
        <p:nvPicPr>
          <p:cNvPr id="274436" name="Picture 4" descr="buffer2_cnstr_line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762000" y="4495800"/>
            <a:ext cx="3276600" cy="1681163"/>
          </a:xfrm>
          <a:prstGeom prst="rect">
            <a:avLst/>
          </a:prstGeom>
          <a:noFill/>
        </p:spPr>
      </p:pic>
      <p:sp>
        <p:nvSpPr>
          <p:cNvPr id="274437" name="Text Box 5"/>
          <p:cNvSpPr txBox="1">
            <a:spLocks noChangeArrowheads="1"/>
          </p:cNvSpPr>
          <p:nvPr/>
        </p:nvSpPr>
        <p:spPr bwMode="auto">
          <a:xfrm>
            <a:off x="533400" y="2286000"/>
            <a:ext cx="3615092" cy="156966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 eaLnBrk="1" hangingPunct="1"/>
            <a:r>
              <a:rPr lang="en-US" altLang="zh-CN" sz="1600" dirty="0">
                <a:solidFill>
                  <a:srgbClr val="0000FF"/>
                </a:solidFill>
                <a:latin typeface="Times New Roman" pitchFamily="18" charset="0"/>
                <a:ea typeface="SimSun" pitchFamily="2" charset="-122"/>
              </a:rPr>
              <a:t>Move circle of specified radius along line</a:t>
            </a:r>
          </a:p>
          <a:p>
            <a:pPr eaLnBrk="1" hangingPunct="1"/>
            <a:r>
              <a:rPr lang="en-US" altLang="zh-CN" sz="1600" dirty="0">
                <a:solidFill>
                  <a:srgbClr val="0000FF"/>
                </a:solidFill>
                <a:latin typeface="Times New Roman" pitchFamily="18" charset="0"/>
                <a:ea typeface="SimSun" pitchFamily="2" charset="-122"/>
              </a:rPr>
              <a:t>(or lines forming polygon)</a:t>
            </a:r>
          </a:p>
          <a:p>
            <a:pPr eaLnBrk="1" hangingPunct="1"/>
            <a:endParaRPr lang="en-US" altLang="zh-CN" sz="1600" dirty="0">
              <a:solidFill>
                <a:srgbClr val="0000FF"/>
              </a:solidFill>
              <a:latin typeface="Times New Roman" pitchFamily="18" charset="0"/>
              <a:ea typeface="SimSun" pitchFamily="2" charset="-122"/>
            </a:endParaRPr>
          </a:p>
          <a:p>
            <a:pPr eaLnBrk="1" hangingPunct="1"/>
            <a:endParaRPr lang="en-US" altLang="zh-CN" sz="1600" dirty="0">
              <a:solidFill>
                <a:srgbClr val="0000FF"/>
              </a:solidFill>
              <a:latin typeface="Times New Roman" pitchFamily="18" charset="0"/>
              <a:ea typeface="SimSun" pitchFamily="2" charset="-122"/>
            </a:endParaRPr>
          </a:p>
          <a:p>
            <a:pPr eaLnBrk="1" hangingPunct="1"/>
            <a:endParaRPr lang="en-US" altLang="zh-CN" sz="1600" dirty="0">
              <a:solidFill>
                <a:srgbClr val="0000FF"/>
              </a:solidFill>
              <a:latin typeface="Times New Roman" pitchFamily="18" charset="0"/>
              <a:ea typeface="SimSun" pitchFamily="2" charset="-122"/>
            </a:endParaRPr>
          </a:p>
          <a:p>
            <a:pPr eaLnBrk="1" hangingPunct="1"/>
            <a:endParaRPr lang="en-US" altLang="zh-CN" sz="1600" dirty="0">
              <a:solidFill>
                <a:srgbClr val="0000FF"/>
              </a:solidFill>
              <a:latin typeface="Times New Roman" pitchFamily="18" charset="0"/>
              <a:ea typeface="SimSun" pitchFamily="2" charset="-122"/>
            </a:endParaRPr>
          </a:p>
        </p:txBody>
      </p:sp>
      <p:sp>
        <p:nvSpPr>
          <p:cNvPr id="7" name="Content Placeholder 6"/>
          <p:cNvSpPr>
            <a:spLocks noGrp="1"/>
          </p:cNvSpPr>
          <p:nvPr>
            <p:ph idx="1"/>
          </p:nvPr>
        </p:nvSpPr>
        <p:spPr>
          <a:xfrm>
            <a:off x="1752600" y="1481328"/>
            <a:ext cx="6934200" cy="4525963"/>
          </a:xfrm>
        </p:spPr>
        <p:txBody>
          <a:bodyPr/>
          <a:lstStyle/>
          <a:p>
            <a:pPr>
              <a:buNone/>
            </a:pPr>
            <a:r>
              <a:rPr lang="en-US" dirty="0"/>
              <a:t> </a:t>
            </a:r>
          </a:p>
        </p:txBody>
      </p:sp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Buffers for Lines and Polygons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400" dirty="0"/>
              <a:t>In which zip code are survey respondents located?  Campaign donors?</a:t>
            </a:r>
          </a:p>
          <a:p>
            <a:endParaRPr lang="en-US" sz="2400" dirty="0"/>
          </a:p>
          <a:p>
            <a:r>
              <a:rPr lang="en-US" sz="2400" dirty="0"/>
              <a:t>In which census tracts do we find </a:t>
            </a:r>
            <a:r>
              <a:rPr lang="en-US" sz="2400" dirty="0" err="1"/>
              <a:t>Walmart</a:t>
            </a:r>
            <a:r>
              <a:rPr lang="en-US" sz="2400" dirty="0"/>
              <a:t> stores?  Payday lenders?</a:t>
            </a:r>
          </a:p>
          <a:p>
            <a:endParaRPr lang="en-US" sz="2400" dirty="0"/>
          </a:p>
          <a:p>
            <a:r>
              <a:rPr lang="en-US" sz="2400" dirty="0"/>
              <a:t>How proximate to liquor stores and bars do most crimes occur?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>
          <a:xfrm>
            <a:off x="838200" y="152400"/>
            <a:ext cx="8686800" cy="1219200"/>
          </a:xfrm>
        </p:spPr>
        <p:txBody>
          <a:bodyPr>
            <a:normAutofit/>
          </a:bodyPr>
          <a:lstStyle/>
          <a:p>
            <a:r>
              <a:rPr lang="en-US" sz="3600" dirty="0"/>
              <a:t>Examples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1" name="Rectangle 3"/>
          <p:cNvSpPr>
            <a:spLocks noGrp="1" noChangeArrowheads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eaLnBrk="1" hangingPunct="1"/>
            <a:r>
              <a:rPr lang="en-US" sz="2800" dirty="0"/>
              <a:t>Buffer</a:t>
            </a:r>
          </a:p>
          <a:p>
            <a:pPr eaLnBrk="1" hangingPunct="1"/>
            <a:r>
              <a:rPr lang="en-US" sz="2800" dirty="0"/>
              <a:t>Multiple Ring Buffer</a:t>
            </a:r>
          </a:p>
          <a:p>
            <a:pPr eaLnBrk="1" hangingPunct="1"/>
            <a:r>
              <a:rPr lang="en-US" sz="2800" dirty="0"/>
              <a:t>Near</a:t>
            </a:r>
          </a:p>
          <a:p>
            <a:pPr eaLnBrk="1" hangingPunct="1"/>
            <a:r>
              <a:rPr lang="en-US" sz="2800" dirty="0"/>
              <a:t>Point Distance</a:t>
            </a:r>
          </a:p>
        </p:txBody>
      </p:sp>
      <p:sp>
        <p:nvSpPr>
          <p:cNvPr id="32770" name="Rectangle 2"/>
          <p:cNvSpPr>
            <a:spLocks noGrp="1" noChangeArrowheads="1"/>
          </p:cNvSpPr>
          <p:nvPr>
            <p:ph type="title"/>
          </p:nvPr>
        </p:nvSpPr>
        <p:spPr>
          <a:xfrm>
            <a:off x="1219200" y="457200"/>
            <a:ext cx="8610600" cy="868362"/>
          </a:xfrm>
        </p:spPr>
        <p:txBody>
          <a:bodyPr>
            <a:normAutofit/>
          </a:bodyPr>
          <a:lstStyle/>
          <a:p>
            <a:pPr eaLnBrk="1" hangingPunct="1">
              <a:defRPr/>
            </a:pPr>
            <a:r>
              <a:rPr lang="en-US" sz="3600" dirty="0"/>
              <a:t>Proximity Tools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2537C7D7-6F10-BED1-5C80-18036C9F211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990600" y="457200"/>
            <a:ext cx="10896600" cy="61812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5290538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FC2F06E-0A5B-5732-8391-8EDE0CB74ED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BUFFERS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B1DE0F3-F122-471E-2722-78F30B3553F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81192" y="1905001"/>
            <a:ext cx="7989752" cy="395379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400" dirty="0"/>
              <a:t>Buffer zone - an area within a given ‘distance’ from a map feature • Points, lines, or polygons can be buffered </a:t>
            </a:r>
          </a:p>
          <a:p>
            <a:pPr marL="0" indent="0">
              <a:buNone/>
            </a:pPr>
            <a:r>
              <a:rPr lang="en-US" sz="2400" dirty="0"/>
              <a:t>• Buffers are used to identify areas surrounding geographic features </a:t>
            </a:r>
          </a:p>
          <a:p>
            <a:pPr marL="0" indent="0">
              <a:buNone/>
            </a:pPr>
            <a:r>
              <a:rPr lang="en-US" sz="2400" dirty="0"/>
              <a:t>• E.g. to keep septic systems over 100 meters away from streams, locate housing within a quarter mile of existing roads, keep hiking trails away from seasonally flooded rivers, or make sure most of your city is within some maximum distance from a fire station or school</a:t>
            </a:r>
          </a:p>
        </p:txBody>
      </p:sp>
    </p:spTree>
    <p:extLst>
      <p:ext uri="{BB962C8B-B14F-4D97-AF65-F5344CB8AC3E}">
        <p14:creationId xmlns:p14="http://schemas.microsoft.com/office/powerpoint/2010/main" val="232251064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65960EF-3562-47F8-D87A-74D5D5C9745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Buffers - What is produced?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DA1006B-EC1C-580B-2FAE-6BBF09478C3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pPr marL="0" indent="0">
              <a:buNone/>
            </a:pPr>
            <a:r>
              <a:rPr lang="en-US" sz="2400" dirty="0"/>
              <a:t>• When you buffer on a set of features, the output is a set of polygons. </a:t>
            </a:r>
          </a:p>
          <a:p>
            <a:pPr marL="0" indent="0">
              <a:buNone/>
            </a:pPr>
            <a:r>
              <a:rPr lang="en-US" sz="2400" dirty="0"/>
              <a:t>• Buffering points or lines creates a new coverage that is a polygon coverage. </a:t>
            </a:r>
          </a:p>
          <a:p>
            <a:pPr marL="0" indent="0">
              <a:buNone/>
            </a:pPr>
            <a:r>
              <a:rPr lang="en-US" sz="2400" dirty="0"/>
              <a:t>• Polygons define an inside and outside region • Inside region = an area less than the specified buffer distance from the feature(s) of interest </a:t>
            </a:r>
          </a:p>
          <a:p>
            <a:pPr marL="0" indent="0">
              <a:buNone/>
            </a:pPr>
            <a:r>
              <a:rPr lang="en-US" sz="2400" dirty="0"/>
              <a:t>• Outside region = an area more than the specified buffer distance from the feature(s) of interest </a:t>
            </a:r>
          </a:p>
        </p:txBody>
      </p:sp>
    </p:spTree>
    <p:extLst>
      <p:ext uri="{BB962C8B-B14F-4D97-AF65-F5344CB8AC3E}">
        <p14:creationId xmlns:p14="http://schemas.microsoft.com/office/powerpoint/2010/main" val="111499181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9DD18E12-4BD6-5245-5F97-302DAB28326C}"/>
              </a:ext>
            </a:extLst>
          </p:cNvPr>
          <p:cNvPicPr>
            <a:picLocks noGrp="1" noChangeAspect="1"/>
          </p:cNvPicPr>
          <p:nvPr>
            <p:ph idx="4294967295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0600" y="914400"/>
            <a:ext cx="6876256" cy="5604872"/>
          </a:xfrm>
        </p:spPr>
      </p:pic>
    </p:spTree>
    <p:extLst>
      <p:ext uri="{BB962C8B-B14F-4D97-AF65-F5344CB8AC3E}">
        <p14:creationId xmlns:p14="http://schemas.microsoft.com/office/powerpoint/2010/main" val="349093434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86C7326E-88FF-BCBD-83B5-F3FE648C7FE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8477" y="1066800"/>
            <a:ext cx="8107046" cy="5181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2770535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2B518CB6-771D-617F-0C05-4B31C19A033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9600" y="609600"/>
            <a:ext cx="7772400" cy="60622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0588456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9F8C79D0-4C3E-0263-9A50-A71B87649D0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5800" y="838200"/>
            <a:ext cx="7772400" cy="54300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8613525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66A9195-E7B1-A92F-636C-0841255D5D0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Introduction to Centroids</a:t>
            </a:r>
            <a:br>
              <a:rPr lang="en-US" b="1" dirty="0"/>
            </a:b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A4B37E8-22F1-A9A6-702D-D060A1A6D5D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Font typeface="Arial" panose="020B0604020202020204" pitchFamily="34" charset="0"/>
              <a:buChar char="•"/>
            </a:pPr>
            <a:r>
              <a:rPr lang="en-US" sz="2400" dirty="0"/>
              <a:t>The centroid is the geometric center of a shape.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400" dirty="0"/>
              <a:t>It is the point where a shape balances evenly in all directions.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400" dirty="0"/>
              <a:t>Also referred to as the “center of mass” or “center of gravity.”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400" dirty="0"/>
              <a:t>Common in fields like geometry, physics, and data science.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7249949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0AEDCF-ABD5-4D13-7650-E5DA0B7D8C4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Centroids of Common Shapes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35A74C6-AB82-1736-E892-CD0AD8DAE4B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sz="2400" b="1" dirty="0"/>
              <a:t>Triangle</a:t>
            </a:r>
            <a:r>
              <a:rPr lang="en-US" sz="2400" dirty="0"/>
              <a:t>: The centroid is the point where the medians intersect.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400" b="1" dirty="0"/>
              <a:t>Rectangle</a:t>
            </a:r>
            <a:r>
              <a:rPr lang="en-US" sz="2400" dirty="0"/>
              <a:t>: The centroid is at the intersection of the diagonals.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400" b="1" dirty="0"/>
              <a:t>Circle</a:t>
            </a:r>
            <a:r>
              <a:rPr lang="en-US" sz="2400" dirty="0"/>
              <a:t>: The centroid is the center of the circle.</a:t>
            </a:r>
          </a:p>
          <a:p>
            <a:r>
              <a:rPr lang="en-US" sz="2400" b="1" dirty="0"/>
              <a:t>Visual</a:t>
            </a:r>
            <a:r>
              <a:rPr lang="en-US" sz="2400" dirty="0"/>
              <a:t>: Illustrations of a triangle, rectangle, and circle with centroids marked</a:t>
            </a:r>
            <a:r>
              <a:rPr lang="en-US" dirty="0"/>
              <a:t>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3110940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83DC30B-AC33-9E0B-F684-E044819302B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Applications of Centroids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6F6386A-E5FD-1C71-DAB2-A64B83DCE6F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Font typeface="Arial" panose="020B0604020202020204" pitchFamily="34" charset="0"/>
              <a:buChar char="•"/>
            </a:pPr>
            <a:r>
              <a:rPr lang="en-US" sz="2400" b="1" dirty="0"/>
              <a:t>Geography</a:t>
            </a:r>
            <a:r>
              <a:rPr lang="en-US" sz="2400" dirty="0"/>
              <a:t>: Centroids help in determining the geographical center of regions.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400" b="1" dirty="0"/>
              <a:t>Machine Learning</a:t>
            </a:r>
            <a:r>
              <a:rPr lang="en-US" sz="2400" dirty="0"/>
              <a:t>: K-means clustering uses centroids to group data.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400" b="1" dirty="0"/>
              <a:t>Engineering</a:t>
            </a:r>
            <a:r>
              <a:rPr lang="en-US" sz="2400" dirty="0"/>
              <a:t>: Used to find the center of gravity in structures.</a:t>
            </a:r>
          </a:p>
          <a:p>
            <a:pPr>
              <a:buFont typeface="Arial" panose="020B0604020202020204" pitchFamily="34" charset="0"/>
              <a:buChar char="•"/>
            </a:pPr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50574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A screenshot of a computer&#10;&#10;Description automatically generated">
            <a:extLst>
              <a:ext uri="{FF2B5EF4-FFF2-40B4-BE49-F238E27FC236}">
                <a16:creationId xmlns:a16="http://schemas.microsoft.com/office/drawing/2014/main" id="{FCA49C99-0105-096A-859D-15AD09D87EF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295400" y="101654"/>
            <a:ext cx="11734800" cy="66546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29792240"/>
      </p:ext>
    </p:extLst>
  </p:cSld>
  <p:clrMapOvr>
    <a:masterClrMapping/>
  </p:clrMapOvr>
</p:sld>
</file>

<file path=ppt/theme/theme1.xml><?xml version="1.0" encoding="utf-8"?>
<a:theme xmlns:a="http://schemas.openxmlformats.org/drawingml/2006/main" name="Dividend">
  <a:themeElements>
    <a:clrScheme name="Dividend">
      <a:dk1>
        <a:sysClr val="windowText" lastClr="000000"/>
      </a:dk1>
      <a:lt1>
        <a:sysClr val="window" lastClr="FFFFFF"/>
      </a:lt1>
      <a:dk2>
        <a:srgbClr val="3D3D3D"/>
      </a:dk2>
      <a:lt2>
        <a:srgbClr val="EBEBEB"/>
      </a:lt2>
      <a:accent1>
        <a:srgbClr val="1A3260"/>
      </a:accent1>
      <a:accent2>
        <a:srgbClr val="4590B8"/>
      </a:accent2>
      <a:accent3>
        <a:srgbClr val="45CBE8"/>
      </a:accent3>
      <a:accent4>
        <a:srgbClr val="969FA7"/>
      </a:accent4>
      <a:accent5>
        <a:srgbClr val="A2C777"/>
      </a:accent5>
      <a:accent6>
        <a:srgbClr val="42955F"/>
      </a:accent6>
      <a:hlink>
        <a:srgbClr val="828282"/>
      </a:hlink>
      <a:folHlink>
        <a:srgbClr val="A5A5A5"/>
      </a:folHlink>
    </a:clrScheme>
    <a:fontScheme name="Dividend">
      <a:majorFont>
        <a:latin typeface="Gill Sans MT" panose="020B0502020104020203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Gill Sans MT" panose="020B0502020104020203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Dividend">
      <a:fillStyleLst>
        <a:solidFill>
          <a:schemeClr val="phClr"/>
        </a:solidFill>
        <a:gradFill rotWithShape="1">
          <a:gsLst>
            <a:gs pos="0">
              <a:schemeClr val="phClr">
                <a:tint val="68000"/>
                <a:alpha val="90000"/>
                <a:lumMod val="100000"/>
              </a:schemeClr>
            </a:gs>
            <a:gs pos="100000">
              <a:schemeClr val="phClr">
                <a:tint val="90000"/>
                <a:lumMod val="95000"/>
              </a:schemeClr>
            </a:gs>
          </a:gsLst>
          <a:lin ang="5400000" scaled="1"/>
        </a:gradFill>
        <a:gradFill rotWithShape="1">
          <a:gsLst>
            <a:gs pos="0">
              <a:schemeClr val="phClr">
                <a:tint val="98000"/>
                <a:lumMod val="110000"/>
              </a:schemeClr>
            </a:gs>
            <a:gs pos="84000">
              <a:schemeClr val="phClr">
                <a:shade val="90000"/>
                <a:lumMod val="88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>
              <a:lumMod val="90000"/>
            </a:schemeClr>
          </a:solidFill>
          <a:prstDash val="solid"/>
        </a:ln>
        <a:ln w="22225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55000"/>
              </a:srgbClr>
            </a:outerShdw>
          </a:effectLst>
        </a:effectStyle>
        <a:effectStyle>
          <a:effectLst>
            <a:outerShdw blurRad="88900" dist="38100" dir="504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>
              <a:rot lat="0" lon="0" rev="1200000"/>
            </a:lightRig>
          </a:scene3d>
          <a:sp3d>
            <a:bevelT w="38100" h="508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88000">
              <a:schemeClr val="phClr">
                <a:shade val="94000"/>
                <a:satMod val="110000"/>
                <a:lumMod val="8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8000"/>
                <a:satMod val="110000"/>
                <a:lumMod val="8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Dividend" id="{9697A71B-4AB7-4A1A-BD5B-BB2D22835B57}" vid="{66F1C100-1D2B-4BEA-AD01-C4F230B3B965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Dividend</Template>
  <TotalTime>15731</TotalTime>
  <Words>432</Words>
  <Application>Microsoft Macintosh PowerPoint</Application>
  <PresentationFormat>On-screen Show (4:3)</PresentationFormat>
  <Paragraphs>51</Paragraphs>
  <Slides>16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22" baseType="lpstr">
      <vt:lpstr>Arial</vt:lpstr>
      <vt:lpstr>Calibri</vt:lpstr>
      <vt:lpstr>Gill Sans MT</vt:lpstr>
      <vt:lpstr>Times New Roman</vt:lpstr>
      <vt:lpstr>Wingdings 2</vt:lpstr>
      <vt:lpstr>Dividend</vt:lpstr>
      <vt:lpstr>GIS and Spatial Analytics </vt:lpstr>
      <vt:lpstr>Spatial Overlays</vt:lpstr>
      <vt:lpstr>Buffers for Lines and Polygons</vt:lpstr>
      <vt:lpstr>Examples</vt:lpstr>
      <vt:lpstr>Proximity Tools</vt:lpstr>
      <vt:lpstr>PowerPoint Presentation</vt:lpstr>
      <vt:lpstr>BUFFERS</vt:lpstr>
      <vt:lpstr>Buffers - What is produced?</vt:lpstr>
      <vt:lpstr>PowerPoint Presentation</vt:lpstr>
      <vt:lpstr>PowerPoint Presentation</vt:lpstr>
      <vt:lpstr>PowerPoint Presentation</vt:lpstr>
      <vt:lpstr>PowerPoint Presentation</vt:lpstr>
      <vt:lpstr>Introduction to Centroids </vt:lpstr>
      <vt:lpstr>Centroids of Common Shapes</vt:lpstr>
      <vt:lpstr>Applications of Centroids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James Gimpel</dc:creator>
  <cp:lastModifiedBy>Edwin Grimsley</cp:lastModifiedBy>
  <cp:revision>67</cp:revision>
  <dcterms:created xsi:type="dcterms:W3CDTF">2011-09-13T13:49:46Z</dcterms:created>
  <dcterms:modified xsi:type="dcterms:W3CDTF">2025-02-18T15:12:52Z</dcterms:modified>
</cp:coreProperties>
</file>