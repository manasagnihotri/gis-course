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2"/>
  </p:sldMasterIdLst>
  <p:notesMasterIdLst>
    <p:notesMasterId r:id="rId30"/>
  </p:notesMasterIdLst>
  <p:sldIdLst>
    <p:sldId id="256" r:id="rId3"/>
    <p:sldId id="335" r:id="rId4"/>
    <p:sldId id="336" r:id="rId5"/>
    <p:sldId id="301" r:id="rId6"/>
    <p:sldId id="303" r:id="rId7"/>
    <p:sldId id="288" r:id="rId8"/>
    <p:sldId id="258" r:id="rId9"/>
    <p:sldId id="308" r:id="rId10"/>
    <p:sldId id="310" r:id="rId11"/>
    <p:sldId id="309" r:id="rId12"/>
    <p:sldId id="259" r:id="rId13"/>
    <p:sldId id="312" r:id="rId14"/>
    <p:sldId id="260" r:id="rId15"/>
    <p:sldId id="261" r:id="rId16"/>
    <p:sldId id="262" r:id="rId17"/>
    <p:sldId id="264" r:id="rId18"/>
    <p:sldId id="265" r:id="rId19"/>
    <p:sldId id="268" r:id="rId20"/>
    <p:sldId id="270" r:id="rId21"/>
    <p:sldId id="274" r:id="rId22"/>
    <p:sldId id="275" r:id="rId23"/>
    <p:sldId id="281" r:id="rId24"/>
    <p:sldId id="290" r:id="rId25"/>
    <p:sldId id="338" r:id="rId26"/>
    <p:sldId id="291" r:id="rId27"/>
    <p:sldId id="292" r:id="rId28"/>
    <p:sldId id="296"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A38B3F-426A-4671-8D30-B17CF643C817}" type="datetimeFigureOut">
              <a:rPr lang="en-US" smtClean="0"/>
              <a:t>2/10/26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11005C-F78B-4CC2-81C8-DD37B35A20C8}" type="slidenum">
              <a:rPr lang="en-US" smtClean="0"/>
              <a:t>‹#›</a:t>
            </a:fld>
            <a:endParaRPr lang="en-US"/>
          </a:p>
        </p:txBody>
      </p:sp>
    </p:spTree>
    <p:extLst>
      <p:ext uri="{BB962C8B-B14F-4D97-AF65-F5344CB8AC3E}">
        <p14:creationId xmlns:p14="http://schemas.microsoft.com/office/powerpoint/2010/main" val="2907475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body" idx="1"/>
          </p:nvPr>
        </p:nvSpPr>
        <p:spPr>
          <a:noFill/>
          <a:ln/>
        </p:spPr>
        <p:txBody>
          <a:bodyPr/>
          <a:lstStyle/>
          <a:p>
            <a:r>
              <a:rPr lang="en-US" b="1">
                <a:solidFill>
                  <a:srgbClr val="008000"/>
                </a:solidFill>
              </a:rPr>
              <a:t> </a:t>
            </a:r>
            <a:r>
              <a:rPr lang="en-US" b="1" i="1"/>
              <a:t>Storage</a:t>
            </a:r>
            <a:r>
              <a:rPr lang="en-US" b="1">
                <a:solidFill>
                  <a:srgbClr val="008000"/>
                </a:solidFill>
              </a:rPr>
              <a:t>:</a:t>
            </a:r>
            <a:br>
              <a:rPr lang="en-US"/>
            </a:br>
            <a:r>
              <a:rPr lang="en-US"/>
              <a:t>For small GIS projects it may be sufficient to store geographic information as simple files. There comes a point, however, when data volumes become large and the number of data users becomes more than a few, that it is best to use a database There are many different designs of DBMSs, but in GIS the relational design has been the most useful. A DBMS is nothing more than computer software for managing a database--an integrated collection of data.  In the relational design, data are stored conceptually as a collection of tables. Common fields in different tables are used to link them together. This surprisingly simple design has been so widely used primarily because of its flexibility and very wide deployment in applications both within and without GIS.</a:t>
            </a:r>
            <a:br>
              <a:rPr lang="en-US"/>
            </a:br>
            <a:endParaRPr lang="en-US"/>
          </a:p>
        </p:txBody>
      </p:sp>
      <p:sp>
        <p:nvSpPr>
          <p:cNvPr id="5837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854481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idx="1"/>
          </p:nvPr>
        </p:nvSpPr>
        <p:spPr>
          <a:noFill/>
          <a:ln/>
        </p:spPr>
        <p:txBody>
          <a:bodyPr lIns="90512" tIns="44462" rIns="90512" bIns="44462"/>
          <a:lstStyle/>
          <a:p>
            <a:r>
              <a:rPr lang="en-US"/>
              <a:t>The overlay operation is one the most powerful functions in a GIS.  It gives the user the ability to place the cartographic representation of thematic data over one another.</a:t>
            </a:r>
          </a:p>
          <a:p>
            <a:endParaRPr lang="en-US"/>
          </a:p>
          <a:p>
            <a:r>
              <a:rPr lang="en-US"/>
              <a:t>However, this is hardly a new function developed by a GIS, but it has been revolutionized by the use of the computerized GIS.</a:t>
            </a:r>
          </a:p>
          <a:p>
            <a:endParaRPr lang="en-US"/>
          </a:p>
          <a:p>
            <a:endParaRPr lang="en-US"/>
          </a:p>
          <a:p>
            <a:endParaRPr lang="en-US"/>
          </a:p>
        </p:txBody>
      </p:sp>
      <p:sp>
        <p:nvSpPr>
          <p:cNvPr id="109571" name="Rectangle 3"/>
          <p:cNvSpPr>
            <a:spLocks noGrp="1" noRot="1" noChangeAspect="1" noChangeArrowheads="1" noTextEdit="1"/>
          </p:cNvSpPr>
          <p:nvPr>
            <p:ph type="sldImg"/>
          </p:nvPr>
        </p:nvSpPr>
        <p:spPr>
          <a:xfrm>
            <a:off x="1143000" y="685800"/>
            <a:ext cx="4570413" cy="3429000"/>
          </a:xfrm>
          <a:ln cap="flat"/>
        </p:spPr>
      </p:sp>
    </p:spTree>
    <p:extLst>
      <p:ext uri="{BB962C8B-B14F-4D97-AF65-F5344CB8AC3E}">
        <p14:creationId xmlns:p14="http://schemas.microsoft.com/office/powerpoint/2010/main" val="12629341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80D2AB-8836-4439-A9F8-9670D1644D21}"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126482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80D2AB-8836-4439-A9F8-9670D1644D21}"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1564898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80D2AB-8836-4439-A9F8-9670D1644D21}"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526227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80D2AB-8836-4439-A9F8-9670D1644D21}"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86534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80D2AB-8836-4439-A9F8-9670D1644D21}" type="datetimeFigureOut">
              <a:rPr lang="en-US" smtClean="0"/>
              <a:t>2/10/26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328056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80D2AB-8836-4439-A9F8-9670D1644D21}"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651245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0580D2AB-8836-4439-A9F8-9670D1644D21}" type="datetimeFigureOut">
              <a:rPr lang="en-US" smtClean="0"/>
              <a:t>2/10/26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1426424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0D2AB-8836-4439-A9F8-9670D1644D21}"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1950934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0D2AB-8836-4439-A9F8-9670D1644D21}"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1307780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0D2AB-8836-4439-A9F8-9670D1644D21}"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2008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0D2AB-8836-4439-A9F8-9670D1644D21}"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647382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0D2AB-8836-4439-A9F8-9670D1644D21}"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247B1-9F12-47FD-ADB4-93F20654E8A1}" type="slidenum">
              <a:rPr lang="en-US" smtClean="0"/>
              <a:t>‹#›</a:t>
            </a:fld>
            <a:endParaRPr 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7307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0D2AB-8836-4439-A9F8-9670D1644D21}"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385607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580D2AB-8836-4439-A9F8-9670D1644D21}"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1070715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580D2AB-8836-4439-A9F8-9670D1644D21}"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444461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80D2AB-8836-4439-A9F8-9670D1644D21}"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3214574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80D2AB-8836-4439-A9F8-9670D1644D21}"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23277705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80D2AB-8836-4439-A9F8-9670D1644D21}"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247B1-9F12-47FD-ADB4-93F20654E8A1}" type="slidenum">
              <a:rPr lang="en-US" smtClean="0"/>
              <a:t>‹#›</a:t>
            </a:fld>
            <a:endParaRPr lang="en-US"/>
          </a:p>
        </p:txBody>
      </p:sp>
    </p:spTree>
    <p:extLst>
      <p:ext uri="{BB962C8B-B14F-4D97-AF65-F5344CB8AC3E}">
        <p14:creationId xmlns:p14="http://schemas.microsoft.com/office/powerpoint/2010/main" val="2295573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0580D2AB-8836-4439-A9F8-9670D1644D21}" type="datetimeFigureOut">
              <a:rPr lang="en-US" smtClean="0"/>
              <a:t>2/10/26</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A44247B1-9F12-47FD-ADB4-93F20654E8A1}" type="slidenum">
              <a:rPr lang="en-US" smtClean="0"/>
              <a:t>‹#›</a:t>
            </a:fld>
            <a:endParaRPr lang="en-US"/>
          </a:p>
        </p:txBody>
      </p:sp>
    </p:spTree>
    <p:extLst>
      <p:ext uri="{BB962C8B-B14F-4D97-AF65-F5344CB8AC3E}">
        <p14:creationId xmlns:p14="http://schemas.microsoft.com/office/powerpoint/2010/main" val="188737641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hyperlink" Target="javascript:glossary_feature_layer30791.Click()" TargetMode="External"/><Relationship Id="rId2" Type="http://schemas.openxmlformats.org/officeDocument/2006/relationships/hyperlink" Target="javascript:glossary_feature_class30791.Click()" TargetMode="Externa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hyperlink" Target="javascript:glossary_feature_layer30793.Click()" TargetMode="External"/><Relationship Id="rId2" Type="http://schemas.openxmlformats.org/officeDocument/2006/relationships/hyperlink" Target="javascript:glossary_feature_class30793.Click()" TargetMode="Externa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2.bin"/><Relationship Id="rId1" Type="http://schemas.openxmlformats.org/officeDocument/2006/relationships/slideLayout" Target="../slideLayouts/slideLayout18.xml"/><Relationship Id="rId5" Type="http://schemas.openxmlformats.org/officeDocument/2006/relationships/image" Target="../media/image16.emf"/><Relationship Id="rId4"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GIS and spatial analytics</a:t>
            </a:r>
          </a:p>
        </p:txBody>
      </p:sp>
      <p:sp>
        <p:nvSpPr>
          <p:cNvPr id="3" name="Subtitle 2"/>
          <p:cNvSpPr>
            <a:spLocks noGrp="1"/>
          </p:cNvSpPr>
          <p:nvPr>
            <p:ph type="subTitle" idx="1"/>
          </p:nvPr>
        </p:nvSpPr>
        <p:spPr/>
        <p:txBody>
          <a:bodyPr/>
          <a:lstStyle/>
          <a:p>
            <a:r>
              <a:rPr lang="en-US" dirty="0"/>
              <a:t>Lecture 4</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Today:</a:t>
            </a:r>
          </a:p>
        </p:txBody>
      </p:sp>
      <p:sp>
        <p:nvSpPr>
          <p:cNvPr id="2" name="Content Placeholder 1"/>
          <p:cNvSpPr>
            <a:spLocks noGrp="1"/>
          </p:cNvSpPr>
          <p:nvPr>
            <p:ph idx="1"/>
          </p:nvPr>
        </p:nvSpPr>
        <p:spPr>
          <a:xfrm>
            <a:off x="685331" y="1905000"/>
            <a:ext cx="7773339" cy="4419600"/>
          </a:xfrm>
        </p:spPr>
        <p:txBody>
          <a:bodyPr>
            <a:normAutofit fontScale="92500" lnSpcReduction="10000"/>
          </a:bodyPr>
          <a:lstStyle/>
          <a:p>
            <a:r>
              <a:rPr lang="en-US" sz="2400" dirty="0"/>
              <a:t>MORE Census </a:t>
            </a:r>
          </a:p>
          <a:p>
            <a:r>
              <a:rPr lang="en-US" sz="2400" dirty="0"/>
              <a:t>Details about spatial data in GIS</a:t>
            </a:r>
          </a:p>
          <a:p>
            <a:r>
              <a:rPr lang="en-US" sz="2400" dirty="0"/>
              <a:t>Reshaping data in GIS</a:t>
            </a:r>
          </a:p>
          <a:p>
            <a:pPr lvl="1"/>
            <a:r>
              <a:rPr lang="en-US" sz="2400" dirty="0"/>
              <a:t>GIS magic</a:t>
            </a:r>
          </a:p>
          <a:p>
            <a:pPr lvl="1"/>
            <a:r>
              <a:rPr lang="en-US" sz="2400" dirty="0"/>
              <a:t>Can reshape spatial layers and related data in large number of ways</a:t>
            </a:r>
          </a:p>
          <a:p>
            <a:pPr lvl="1"/>
            <a:r>
              <a:rPr lang="en-US" sz="2400" dirty="0"/>
              <a:t>Will walk you through many ways to reshape your data</a:t>
            </a:r>
          </a:p>
          <a:p>
            <a:pPr lvl="1"/>
            <a:r>
              <a:rPr lang="en-US" sz="2400" dirty="0"/>
              <a:t>Types of Merges</a:t>
            </a:r>
          </a:p>
          <a:p>
            <a:pPr lvl="1"/>
            <a:r>
              <a:rPr lang="en-US" sz="2400" dirty="0"/>
              <a:t>Spatial Joins</a:t>
            </a:r>
          </a:p>
          <a:p>
            <a:pPr lvl="1"/>
            <a:endParaRPr lang="en-US" dirty="0"/>
          </a:p>
        </p:txBody>
      </p:sp>
    </p:spTree>
    <p:extLst>
      <p:ext uri="{BB962C8B-B14F-4D97-AF65-F5344CB8AC3E}">
        <p14:creationId xmlns:p14="http://schemas.microsoft.com/office/powerpoint/2010/main" val="1122593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CEA8E-0E28-A7F6-301B-0F2EF533AF49}"/>
              </a:ext>
            </a:extLst>
          </p:cNvPr>
          <p:cNvSpPr>
            <a:spLocks noGrp="1"/>
          </p:cNvSpPr>
          <p:nvPr>
            <p:ph type="title"/>
          </p:nvPr>
        </p:nvSpPr>
        <p:spPr/>
        <p:txBody>
          <a:bodyPr/>
          <a:lstStyle/>
          <a:p>
            <a:r>
              <a:rPr lang="en-US" b="1" dirty="0"/>
              <a:t>Overview of Census Shapefiles</a:t>
            </a:r>
            <a:br>
              <a:rPr lang="en-US" b="1" dirty="0"/>
            </a:br>
            <a:endParaRPr lang="en-US" dirty="0"/>
          </a:p>
        </p:txBody>
      </p:sp>
      <p:sp>
        <p:nvSpPr>
          <p:cNvPr id="3" name="Content Placeholder 2">
            <a:extLst>
              <a:ext uri="{FF2B5EF4-FFF2-40B4-BE49-F238E27FC236}">
                <a16:creationId xmlns:a16="http://schemas.microsoft.com/office/drawing/2014/main" id="{5CAECB1C-03C8-2831-12AF-31CF0285AB03}"/>
              </a:ext>
            </a:extLst>
          </p:cNvPr>
          <p:cNvSpPr>
            <a:spLocks noGrp="1"/>
          </p:cNvSpPr>
          <p:nvPr>
            <p:ph idx="1"/>
          </p:nvPr>
        </p:nvSpPr>
        <p:spPr>
          <a:xfrm>
            <a:off x="685331" y="1676400"/>
            <a:ext cx="7773339" cy="4724400"/>
          </a:xfrm>
        </p:spPr>
        <p:txBody>
          <a:bodyPr>
            <a:normAutofit fontScale="70000" lnSpcReduction="20000"/>
          </a:bodyPr>
          <a:lstStyle/>
          <a:p>
            <a:r>
              <a:rPr lang="en-US" sz="3400" b="1" dirty="0"/>
              <a:t>Overview of Census Shapefiles</a:t>
            </a:r>
          </a:p>
          <a:p>
            <a:pPr>
              <a:buFont typeface="Arial" panose="020B0604020202020204" pitchFamily="34" charset="0"/>
              <a:buChar char="•"/>
            </a:pPr>
            <a:r>
              <a:rPr lang="en-US" sz="3400" b="1" dirty="0"/>
              <a:t>Types of Shapefiles:</a:t>
            </a:r>
            <a:endParaRPr lang="en-US" sz="3400" dirty="0"/>
          </a:p>
          <a:p>
            <a:pPr marL="742950" lvl="1" indent="-285750">
              <a:buFont typeface="Arial" panose="020B0604020202020204" pitchFamily="34" charset="0"/>
              <a:buChar char="•"/>
            </a:pPr>
            <a:r>
              <a:rPr lang="en-US" sz="3400" b="1" dirty="0"/>
              <a:t>Counties, Tracts, Blocks:</a:t>
            </a:r>
            <a:endParaRPr lang="en-US" sz="3400" dirty="0"/>
          </a:p>
          <a:p>
            <a:pPr marL="1143000" lvl="2" indent="-228600">
              <a:buFont typeface="Arial" panose="020B0604020202020204" pitchFamily="34" charset="0"/>
              <a:buChar char="•"/>
            </a:pPr>
            <a:r>
              <a:rPr lang="en-US" sz="3400" dirty="0"/>
              <a:t>Each level offers varying detail.</a:t>
            </a:r>
          </a:p>
          <a:p>
            <a:pPr marL="742950" lvl="1" indent="-285750">
              <a:buFont typeface="Arial" panose="020B0604020202020204" pitchFamily="34" charset="0"/>
              <a:buChar char="•"/>
            </a:pPr>
            <a:r>
              <a:rPr lang="en-US" sz="3400" b="1" dirty="0"/>
              <a:t>Boundary Files:</a:t>
            </a:r>
            <a:endParaRPr lang="en-US" sz="3400" dirty="0"/>
          </a:p>
          <a:p>
            <a:pPr marL="1143000" lvl="2" indent="-228600">
              <a:buFont typeface="Arial" panose="020B0604020202020204" pitchFamily="34" charset="0"/>
              <a:buChar char="•"/>
            </a:pPr>
            <a:r>
              <a:rPr lang="en-US" sz="3400" dirty="0"/>
              <a:t>Define administrative and statistical areas.</a:t>
            </a:r>
          </a:p>
          <a:p>
            <a:pPr>
              <a:buFont typeface="Arial" panose="020B0604020202020204" pitchFamily="34" charset="0"/>
              <a:buChar char="•"/>
            </a:pPr>
            <a:r>
              <a:rPr lang="en-US" sz="3400" b="1" dirty="0"/>
              <a:t>Usage in GIS:</a:t>
            </a:r>
            <a:endParaRPr lang="en-US" sz="3400" dirty="0"/>
          </a:p>
          <a:p>
            <a:pPr marL="742950" lvl="1" indent="-285750">
              <a:buFont typeface="Arial" panose="020B0604020202020204" pitchFamily="34" charset="0"/>
              <a:buChar char="•"/>
            </a:pPr>
            <a:r>
              <a:rPr lang="en-US" sz="3400" dirty="0"/>
              <a:t>Base maps for demographic analysis.</a:t>
            </a:r>
          </a:p>
          <a:p>
            <a:pPr marL="742950" lvl="1" indent="-285750">
              <a:buFont typeface="Arial" panose="020B0604020202020204" pitchFamily="34" charset="0"/>
              <a:buChar char="•"/>
            </a:pPr>
            <a:r>
              <a:rPr lang="en-US" sz="3400" dirty="0"/>
              <a:t>Layers for spatial joins and overlays with other data.</a:t>
            </a:r>
          </a:p>
          <a:p>
            <a:endParaRPr lang="en-US" dirty="0"/>
          </a:p>
        </p:txBody>
      </p:sp>
    </p:spTree>
    <p:extLst>
      <p:ext uri="{BB962C8B-B14F-4D97-AF65-F5344CB8AC3E}">
        <p14:creationId xmlns:p14="http://schemas.microsoft.com/office/powerpoint/2010/main" val="1767289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reeform 2"/>
          <p:cNvSpPr>
            <a:spLocks/>
          </p:cNvSpPr>
          <p:nvPr/>
        </p:nvSpPr>
        <p:spPr bwMode="auto">
          <a:xfrm>
            <a:off x="3881438" y="2682875"/>
            <a:ext cx="733425" cy="258763"/>
          </a:xfrm>
          <a:custGeom>
            <a:avLst/>
            <a:gdLst/>
            <a:ahLst/>
            <a:cxnLst>
              <a:cxn ang="0">
                <a:pos x="461" y="39"/>
              </a:cxn>
              <a:cxn ang="0">
                <a:pos x="230" y="38"/>
              </a:cxn>
              <a:cxn ang="0">
                <a:pos x="230" y="0"/>
              </a:cxn>
              <a:cxn ang="0">
                <a:pos x="0" y="81"/>
              </a:cxn>
              <a:cxn ang="0">
                <a:pos x="230" y="162"/>
              </a:cxn>
              <a:cxn ang="0">
                <a:pos x="230" y="124"/>
              </a:cxn>
              <a:cxn ang="0">
                <a:pos x="461" y="125"/>
              </a:cxn>
              <a:cxn ang="0">
                <a:pos x="461" y="39"/>
              </a:cxn>
            </a:cxnLst>
            <a:rect l="0" t="0" r="r" b="b"/>
            <a:pathLst>
              <a:path w="462" h="163">
                <a:moveTo>
                  <a:pt x="461" y="39"/>
                </a:moveTo>
                <a:lnTo>
                  <a:pt x="230" y="38"/>
                </a:lnTo>
                <a:lnTo>
                  <a:pt x="230" y="0"/>
                </a:lnTo>
                <a:lnTo>
                  <a:pt x="0" y="81"/>
                </a:lnTo>
                <a:lnTo>
                  <a:pt x="230" y="162"/>
                </a:lnTo>
                <a:lnTo>
                  <a:pt x="230" y="124"/>
                </a:lnTo>
                <a:lnTo>
                  <a:pt x="461" y="125"/>
                </a:lnTo>
                <a:lnTo>
                  <a:pt x="461" y="39"/>
                </a:lnTo>
              </a:path>
            </a:pathLst>
          </a:custGeom>
          <a:solidFill>
            <a:srgbClr val="FFFF00"/>
          </a:solidFill>
          <a:ln w="12700" cap="rnd" cmpd="sng">
            <a:solidFill>
              <a:srgbClr val="000000"/>
            </a:solidFill>
            <a:prstDash val="solid"/>
            <a:round/>
            <a:headEnd type="none" w="med" len="med"/>
            <a:tailEnd type="none" w="med" len="med"/>
          </a:ln>
          <a:effectLst/>
        </p:spPr>
        <p:txBody>
          <a:bodyPr/>
          <a:lstStyle/>
          <a:p>
            <a:endParaRPr lang="en-US"/>
          </a:p>
        </p:txBody>
      </p:sp>
      <p:sp>
        <p:nvSpPr>
          <p:cNvPr id="57347" name="Rectangle 3"/>
          <p:cNvSpPr>
            <a:spLocks noChangeArrowheads="1"/>
          </p:cNvSpPr>
          <p:nvPr/>
        </p:nvSpPr>
        <p:spPr bwMode="auto">
          <a:xfrm>
            <a:off x="4579938" y="2486025"/>
            <a:ext cx="3082576" cy="705321"/>
          </a:xfrm>
          <a:prstGeom prst="rect">
            <a:avLst/>
          </a:prstGeom>
          <a:noFill/>
          <a:ln w="12700">
            <a:noFill/>
            <a:miter lim="800000"/>
            <a:headEnd/>
            <a:tailEnd/>
          </a:ln>
          <a:effectLst/>
        </p:spPr>
        <p:txBody>
          <a:bodyPr wrap="none" lIns="90488" tIns="44450" rIns="90488" bIns="44450">
            <a:spAutoFit/>
          </a:bodyPr>
          <a:lstStyle/>
          <a:p>
            <a:r>
              <a:rPr lang="en-US" sz="4000" i="1" dirty="0">
                <a:latin typeface="+mj-lt"/>
              </a:rPr>
              <a:t>Spatial data</a:t>
            </a:r>
            <a:endParaRPr lang="en-US" sz="4000" i="1" dirty="0">
              <a:solidFill>
                <a:srgbClr val="FFFF00"/>
              </a:solidFill>
              <a:latin typeface="+mj-lt"/>
            </a:endParaRPr>
          </a:p>
        </p:txBody>
      </p:sp>
      <p:sp>
        <p:nvSpPr>
          <p:cNvPr id="57349" name="Rectangle 5"/>
          <p:cNvSpPr>
            <a:spLocks noChangeArrowheads="1"/>
          </p:cNvSpPr>
          <p:nvPr/>
        </p:nvSpPr>
        <p:spPr bwMode="auto">
          <a:xfrm>
            <a:off x="4781550" y="3055938"/>
            <a:ext cx="2029403" cy="505267"/>
          </a:xfrm>
          <a:prstGeom prst="rect">
            <a:avLst/>
          </a:prstGeom>
          <a:noFill/>
          <a:ln w="12700">
            <a:noFill/>
            <a:miter lim="800000"/>
            <a:headEnd/>
            <a:tailEnd/>
          </a:ln>
          <a:effectLst/>
        </p:spPr>
        <p:txBody>
          <a:bodyPr wrap="none" lIns="90488" tIns="44450" rIns="90488" bIns="44450">
            <a:spAutoFit/>
          </a:bodyPr>
          <a:lstStyle/>
          <a:p>
            <a:r>
              <a:rPr lang="en-US" sz="2700" dirty="0">
                <a:solidFill>
                  <a:srgbClr val="000000"/>
                </a:solidFill>
                <a:latin typeface="Arial" pitchFamily="34" charset="0"/>
              </a:rPr>
              <a:t>(Shapefiles)</a:t>
            </a:r>
          </a:p>
        </p:txBody>
      </p:sp>
      <p:sp>
        <p:nvSpPr>
          <p:cNvPr id="57350" name="Rectangle 6"/>
          <p:cNvSpPr>
            <a:spLocks noChangeArrowheads="1"/>
          </p:cNvSpPr>
          <p:nvPr/>
        </p:nvSpPr>
        <p:spPr bwMode="auto">
          <a:xfrm>
            <a:off x="1722438" y="5183188"/>
            <a:ext cx="276225" cy="500062"/>
          </a:xfrm>
          <a:prstGeom prst="rect">
            <a:avLst/>
          </a:prstGeom>
          <a:noFill/>
          <a:ln w="12700">
            <a:noFill/>
            <a:miter lim="800000"/>
            <a:headEnd/>
            <a:tailEnd/>
          </a:ln>
          <a:effectLst/>
        </p:spPr>
        <p:txBody>
          <a:bodyPr wrap="none" lIns="90488" tIns="44450" rIns="90488" bIns="44450">
            <a:spAutoFit/>
          </a:bodyPr>
          <a:lstStyle/>
          <a:p>
            <a:r>
              <a:rPr lang="en-US" sz="2700">
                <a:solidFill>
                  <a:srgbClr val="FFFFFF"/>
                </a:solidFill>
                <a:latin typeface="Arial" pitchFamily="34" charset="0"/>
              </a:rPr>
              <a:t> </a:t>
            </a:r>
          </a:p>
        </p:txBody>
      </p:sp>
      <p:sp>
        <p:nvSpPr>
          <p:cNvPr id="57351" name="Rectangle 7"/>
          <p:cNvSpPr>
            <a:spLocks noChangeArrowheads="1"/>
          </p:cNvSpPr>
          <p:nvPr/>
        </p:nvSpPr>
        <p:spPr bwMode="auto">
          <a:xfrm>
            <a:off x="1587500" y="5273675"/>
            <a:ext cx="3203575" cy="698500"/>
          </a:xfrm>
          <a:prstGeom prst="rect">
            <a:avLst/>
          </a:prstGeom>
          <a:noFill/>
          <a:ln w="12700">
            <a:noFill/>
            <a:miter lim="800000"/>
            <a:headEnd/>
            <a:tailEnd/>
          </a:ln>
          <a:effectLst/>
        </p:spPr>
        <p:txBody>
          <a:bodyPr wrap="none" lIns="90488" tIns="44450" rIns="90488" bIns="44450">
            <a:spAutoFit/>
          </a:bodyPr>
          <a:lstStyle/>
          <a:p>
            <a:r>
              <a:rPr lang="en-US" sz="4000" i="1">
                <a:latin typeface="Arial" pitchFamily="34" charset="0"/>
              </a:rPr>
              <a:t>Attribute data</a:t>
            </a:r>
            <a:endParaRPr lang="en-US" sz="4000" i="1">
              <a:solidFill>
                <a:srgbClr val="FFFF00"/>
              </a:solidFill>
              <a:latin typeface="Arial" pitchFamily="34" charset="0"/>
            </a:endParaRPr>
          </a:p>
        </p:txBody>
      </p:sp>
      <p:sp>
        <p:nvSpPr>
          <p:cNvPr id="57352" name="Rectangle 8"/>
          <p:cNvSpPr>
            <a:spLocks noChangeArrowheads="1"/>
          </p:cNvSpPr>
          <p:nvPr/>
        </p:nvSpPr>
        <p:spPr bwMode="auto">
          <a:xfrm>
            <a:off x="2057400" y="5862638"/>
            <a:ext cx="3429000" cy="505267"/>
          </a:xfrm>
          <a:prstGeom prst="rect">
            <a:avLst/>
          </a:prstGeom>
          <a:noFill/>
          <a:ln w="12700">
            <a:noFill/>
            <a:miter lim="800000"/>
            <a:headEnd/>
            <a:tailEnd/>
          </a:ln>
          <a:effectLst/>
        </p:spPr>
        <p:txBody>
          <a:bodyPr wrap="square" lIns="90488" tIns="44450" rIns="90488" bIns="44450">
            <a:spAutoFit/>
          </a:bodyPr>
          <a:lstStyle/>
          <a:p>
            <a:r>
              <a:rPr lang="en-US" sz="2700" dirty="0">
                <a:solidFill>
                  <a:srgbClr val="000000"/>
                </a:solidFill>
                <a:latin typeface="Arial" pitchFamily="34" charset="0"/>
              </a:rPr>
              <a:t>(Tables functions)</a:t>
            </a:r>
          </a:p>
        </p:txBody>
      </p:sp>
      <p:sp>
        <p:nvSpPr>
          <p:cNvPr id="57353" name="Rectangle 9"/>
          <p:cNvSpPr>
            <a:spLocks noChangeArrowheads="1"/>
          </p:cNvSpPr>
          <p:nvPr/>
        </p:nvSpPr>
        <p:spPr bwMode="auto">
          <a:xfrm>
            <a:off x="1576388" y="1731963"/>
            <a:ext cx="2771594" cy="582211"/>
          </a:xfrm>
          <a:prstGeom prst="rect">
            <a:avLst/>
          </a:prstGeom>
          <a:noFill/>
          <a:ln w="12700">
            <a:noFill/>
            <a:miter lim="800000"/>
            <a:headEnd/>
            <a:tailEnd/>
          </a:ln>
          <a:effectLst/>
        </p:spPr>
        <p:txBody>
          <a:bodyPr wrap="none" lIns="90488" tIns="44450" rIns="90488" bIns="44450">
            <a:spAutoFit/>
          </a:bodyPr>
          <a:lstStyle/>
          <a:p>
            <a:r>
              <a:rPr lang="en-US" sz="3200" b="1" dirty="0">
                <a:solidFill>
                  <a:srgbClr val="000000"/>
                </a:solidFill>
                <a:latin typeface="Arial" pitchFamily="34" charset="0"/>
              </a:rPr>
              <a:t>1</a:t>
            </a:r>
            <a:r>
              <a:rPr lang="en-US" sz="2400" dirty="0">
                <a:solidFill>
                  <a:srgbClr val="000000"/>
                </a:solidFill>
                <a:latin typeface="Arial" pitchFamily="34" charset="0"/>
              </a:rPr>
              <a:t> (set of polygons)</a:t>
            </a:r>
          </a:p>
        </p:txBody>
      </p:sp>
      <p:sp>
        <p:nvSpPr>
          <p:cNvPr id="57354" name="Freeform 10"/>
          <p:cNvSpPr>
            <a:spLocks/>
          </p:cNvSpPr>
          <p:nvPr/>
        </p:nvSpPr>
        <p:spPr bwMode="auto">
          <a:xfrm>
            <a:off x="4794250" y="5497513"/>
            <a:ext cx="622300" cy="257175"/>
          </a:xfrm>
          <a:custGeom>
            <a:avLst/>
            <a:gdLst/>
            <a:ahLst/>
            <a:cxnLst>
              <a:cxn ang="0">
                <a:pos x="0" y="38"/>
              </a:cxn>
              <a:cxn ang="0">
                <a:pos x="196" y="38"/>
              </a:cxn>
              <a:cxn ang="0">
                <a:pos x="196" y="0"/>
              </a:cxn>
              <a:cxn ang="0">
                <a:pos x="391" y="81"/>
              </a:cxn>
              <a:cxn ang="0">
                <a:pos x="196" y="161"/>
              </a:cxn>
              <a:cxn ang="0">
                <a:pos x="196" y="123"/>
              </a:cxn>
              <a:cxn ang="0">
                <a:pos x="0" y="124"/>
              </a:cxn>
              <a:cxn ang="0">
                <a:pos x="0" y="38"/>
              </a:cxn>
            </a:cxnLst>
            <a:rect l="0" t="0" r="r" b="b"/>
            <a:pathLst>
              <a:path w="392" h="162">
                <a:moveTo>
                  <a:pt x="0" y="38"/>
                </a:moveTo>
                <a:lnTo>
                  <a:pt x="196" y="38"/>
                </a:lnTo>
                <a:lnTo>
                  <a:pt x="196" y="0"/>
                </a:lnTo>
                <a:lnTo>
                  <a:pt x="391" y="81"/>
                </a:lnTo>
                <a:lnTo>
                  <a:pt x="196" y="161"/>
                </a:lnTo>
                <a:lnTo>
                  <a:pt x="196" y="123"/>
                </a:lnTo>
                <a:lnTo>
                  <a:pt x="0" y="124"/>
                </a:lnTo>
                <a:lnTo>
                  <a:pt x="0" y="38"/>
                </a:lnTo>
              </a:path>
            </a:pathLst>
          </a:custGeom>
          <a:solidFill>
            <a:srgbClr val="FFFF00"/>
          </a:solidFill>
          <a:ln w="12700" cap="rnd" cmpd="sng">
            <a:solidFill>
              <a:srgbClr val="000000"/>
            </a:solidFill>
            <a:prstDash val="solid"/>
            <a:round/>
            <a:headEnd type="none" w="med" len="med"/>
            <a:tailEnd type="none" w="med" len="med"/>
          </a:ln>
          <a:effectLst/>
        </p:spPr>
        <p:txBody>
          <a:bodyPr/>
          <a:lstStyle/>
          <a:p>
            <a:endParaRPr lang="en-US"/>
          </a:p>
        </p:txBody>
      </p:sp>
      <p:sp>
        <p:nvSpPr>
          <p:cNvPr id="57375" name="Freeform 31"/>
          <p:cNvSpPr>
            <a:spLocks/>
          </p:cNvSpPr>
          <p:nvPr/>
        </p:nvSpPr>
        <p:spPr bwMode="auto">
          <a:xfrm>
            <a:off x="3281363" y="2794000"/>
            <a:ext cx="120650" cy="117475"/>
          </a:xfrm>
          <a:custGeom>
            <a:avLst/>
            <a:gdLst/>
            <a:ahLst/>
            <a:cxnLst>
              <a:cxn ang="0">
                <a:pos x="0" y="73"/>
              </a:cxn>
              <a:cxn ang="0">
                <a:pos x="1" y="0"/>
              </a:cxn>
              <a:cxn ang="0">
                <a:pos x="75" y="1"/>
              </a:cxn>
              <a:cxn ang="0">
                <a:pos x="25" y="24"/>
              </a:cxn>
              <a:cxn ang="0">
                <a:pos x="0" y="73"/>
              </a:cxn>
            </a:cxnLst>
            <a:rect l="0" t="0" r="r" b="b"/>
            <a:pathLst>
              <a:path w="76" h="74">
                <a:moveTo>
                  <a:pt x="0" y="73"/>
                </a:moveTo>
                <a:lnTo>
                  <a:pt x="1" y="0"/>
                </a:lnTo>
                <a:lnTo>
                  <a:pt x="75" y="1"/>
                </a:lnTo>
                <a:lnTo>
                  <a:pt x="25" y="24"/>
                </a:lnTo>
                <a:lnTo>
                  <a:pt x="0" y="73"/>
                </a:lnTo>
              </a:path>
            </a:pathLst>
          </a:custGeom>
          <a:solidFill>
            <a:srgbClr val="00FFFF"/>
          </a:solidFill>
          <a:ln w="12700" cap="rnd" cmpd="sng">
            <a:noFill/>
            <a:prstDash val="solid"/>
            <a:round/>
            <a:headEnd type="none" w="med" len="med"/>
            <a:tailEnd type="none" w="med" len="med"/>
          </a:ln>
          <a:effectLst/>
        </p:spPr>
        <p:txBody>
          <a:bodyPr/>
          <a:lstStyle/>
          <a:p>
            <a:endParaRPr lang="en-US"/>
          </a:p>
        </p:txBody>
      </p:sp>
      <p:sp>
        <p:nvSpPr>
          <p:cNvPr id="57376" name="Rectangle 32"/>
          <p:cNvSpPr>
            <a:spLocks noChangeArrowheads="1"/>
          </p:cNvSpPr>
          <p:nvPr/>
        </p:nvSpPr>
        <p:spPr bwMode="auto">
          <a:xfrm>
            <a:off x="1000125" y="2362200"/>
            <a:ext cx="2619375" cy="2090738"/>
          </a:xfrm>
          <a:prstGeom prst="rect">
            <a:avLst/>
          </a:prstGeom>
          <a:solidFill>
            <a:srgbClr val="A1FFFF"/>
          </a:solidFill>
          <a:ln w="12700">
            <a:noFill/>
            <a:miter lim="800000"/>
            <a:headEnd/>
            <a:tailEnd/>
          </a:ln>
          <a:effectLst/>
        </p:spPr>
        <p:txBody>
          <a:bodyPr wrap="none" anchor="ctr"/>
          <a:lstStyle/>
          <a:p>
            <a:endParaRPr lang="en-US"/>
          </a:p>
        </p:txBody>
      </p:sp>
      <p:sp>
        <p:nvSpPr>
          <p:cNvPr id="57377" name="Freeform 33"/>
          <p:cNvSpPr>
            <a:spLocks/>
          </p:cNvSpPr>
          <p:nvPr/>
        </p:nvSpPr>
        <p:spPr bwMode="auto">
          <a:xfrm>
            <a:off x="1000125" y="2362200"/>
            <a:ext cx="2630488" cy="2101850"/>
          </a:xfrm>
          <a:custGeom>
            <a:avLst/>
            <a:gdLst/>
            <a:ahLst/>
            <a:cxnLst>
              <a:cxn ang="0">
                <a:pos x="0" y="0"/>
              </a:cxn>
              <a:cxn ang="0">
                <a:pos x="1656" y="0"/>
              </a:cxn>
              <a:cxn ang="0">
                <a:pos x="1656" y="1323"/>
              </a:cxn>
              <a:cxn ang="0">
                <a:pos x="0" y="1323"/>
              </a:cxn>
              <a:cxn ang="0">
                <a:pos x="0" y="0"/>
              </a:cxn>
            </a:cxnLst>
            <a:rect l="0" t="0" r="r" b="b"/>
            <a:pathLst>
              <a:path w="1657" h="1324">
                <a:moveTo>
                  <a:pt x="0" y="0"/>
                </a:moveTo>
                <a:lnTo>
                  <a:pt x="1656" y="0"/>
                </a:lnTo>
                <a:lnTo>
                  <a:pt x="1656" y="1323"/>
                </a:lnTo>
                <a:lnTo>
                  <a:pt x="0" y="1323"/>
                </a:lnTo>
                <a:lnTo>
                  <a:pt x="0" y="0"/>
                </a:lnTo>
              </a:path>
            </a:pathLst>
          </a:custGeom>
          <a:noFill/>
          <a:ln w="25400" cap="rnd" cmpd="sng">
            <a:solidFill>
              <a:srgbClr val="000000"/>
            </a:solidFill>
            <a:prstDash val="solid"/>
            <a:round/>
            <a:headEnd type="none" w="med" len="med"/>
            <a:tailEnd type="none" w="med" len="med"/>
          </a:ln>
          <a:effectLst/>
        </p:spPr>
        <p:txBody>
          <a:bodyPr/>
          <a:lstStyle/>
          <a:p>
            <a:endParaRPr lang="en-US"/>
          </a:p>
        </p:txBody>
      </p:sp>
      <p:sp>
        <p:nvSpPr>
          <p:cNvPr id="57378" name="Freeform 34"/>
          <p:cNvSpPr>
            <a:spLocks/>
          </p:cNvSpPr>
          <p:nvPr/>
        </p:nvSpPr>
        <p:spPr bwMode="auto">
          <a:xfrm>
            <a:off x="1001713" y="2360613"/>
            <a:ext cx="1373187" cy="1373187"/>
          </a:xfrm>
          <a:custGeom>
            <a:avLst/>
            <a:gdLst/>
            <a:ahLst/>
            <a:cxnLst>
              <a:cxn ang="0">
                <a:pos x="0" y="864"/>
              </a:cxn>
              <a:cxn ang="0">
                <a:pos x="532" y="864"/>
              </a:cxn>
              <a:cxn ang="0">
                <a:pos x="864" y="332"/>
              </a:cxn>
              <a:cxn ang="0">
                <a:pos x="864" y="0"/>
              </a:cxn>
            </a:cxnLst>
            <a:rect l="0" t="0" r="r" b="b"/>
            <a:pathLst>
              <a:path w="865" h="865">
                <a:moveTo>
                  <a:pt x="0" y="864"/>
                </a:moveTo>
                <a:lnTo>
                  <a:pt x="532" y="864"/>
                </a:lnTo>
                <a:lnTo>
                  <a:pt x="864" y="332"/>
                </a:lnTo>
                <a:lnTo>
                  <a:pt x="864" y="0"/>
                </a:lnTo>
              </a:path>
            </a:pathLst>
          </a:custGeom>
          <a:noFill/>
          <a:ln w="25400" cap="rnd" cmpd="sng">
            <a:solidFill>
              <a:srgbClr val="000000"/>
            </a:solidFill>
            <a:prstDash val="solid"/>
            <a:round/>
            <a:headEnd type="none" w="med" len="med"/>
            <a:tailEnd type="none" w="med" len="med"/>
          </a:ln>
          <a:effectLst/>
        </p:spPr>
        <p:txBody>
          <a:bodyPr/>
          <a:lstStyle/>
          <a:p>
            <a:endParaRPr lang="en-US"/>
          </a:p>
        </p:txBody>
      </p:sp>
      <p:sp>
        <p:nvSpPr>
          <p:cNvPr id="57379" name="Freeform 35"/>
          <p:cNvSpPr>
            <a:spLocks/>
          </p:cNvSpPr>
          <p:nvPr/>
        </p:nvSpPr>
        <p:spPr bwMode="auto">
          <a:xfrm>
            <a:off x="2057400" y="3429000"/>
            <a:ext cx="317500" cy="1041400"/>
          </a:xfrm>
          <a:custGeom>
            <a:avLst/>
            <a:gdLst/>
            <a:ahLst/>
            <a:cxnLst>
              <a:cxn ang="0">
                <a:pos x="0" y="0"/>
              </a:cxn>
              <a:cxn ang="0">
                <a:pos x="199" y="0"/>
              </a:cxn>
              <a:cxn ang="0">
                <a:pos x="199" y="655"/>
              </a:cxn>
            </a:cxnLst>
            <a:rect l="0" t="0" r="r" b="b"/>
            <a:pathLst>
              <a:path w="200" h="656">
                <a:moveTo>
                  <a:pt x="0" y="0"/>
                </a:moveTo>
                <a:lnTo>
                  <a:pt x="199" y="0"/>
                </a:lnTo>
                <a:lnTo>
                  <a:pt x="199" y="655"/>
                </a:lnTo>
              </a:path>
            </a:pathLst>
          </a:custGeom>
          <a:noFill/>
          <a:ln w="25400" cap="rnd" cmpd="sng">
            <a:solidFill>
              <a:srgbClr val="000000"/>
            </a:solidFill>
            <a:prstDash val="solid"/>
            <a:round/>
            <a:headEnd type="none" w="med" len="med"/>
            <a:tailEnd type="none" w="med" len="med"/>
          </a:ln>
          <a:effectLst/>
        </p:spPr>
        <p:txBody>
          <a:bodyPr/>
          <a:lstStyle/>
          <a:p>
            <a:endParaRPr lang="en-US"/>
          </a:p>
        </p:txBody>
      </p:sp>
      <p:sp>
        <p:nvSpPr>
          <p:cNvPr id="57380" name="Freeform 36"/>
          <p:cNvSpPr>
            <a:spLocks/>
          </p:cNvSpPr>
          <p:nvPr/>
        </p:nvSpPr>
        <p:spPr bwMode="auto">
          <a:xfrm>
            <a:off x="2373313" y="3175000"/>
            <a:ext cx="1257300" cy="635000"/>
          </a:xfrm>
          <a:custGeom>
            <a:avLst/>
            <a:gdLst/>
            <a:ahLst/>
            <a:cxnLst>
              <a:cxn ang="0">
                <a:pos x="791" y="0"/>
              </a:cxn>
              <a:cxn ang="0">
                <a:pos x="791" y="67"/>
              </a:cxn>
              <a:cxn ang="0">
                <a:pos x="593" y="333"/>
              </a:cxn>
              <a:cxn ang="0">
                <a:pos x="462" y="399"/>
              </a:cxn>
              <a:cxn ang="0">
                <a:pos x="330" y="399"/>
              </a:cxn>
              <a:cxn ang="0">
                <a:pos x="264" y="333"/>
              </a:cxn>
              <a:cxn ang="0">
                <a:pos x="132" y="266"/>
              </a:cxn>
              <a:cxn ang="0">
                <a:pos x="0" y="200"/>
              </a:cxn>
            </a:cxnLst>
            <a:rect l="0" t="0" r="r" b="b"/>
            <a:pathLst>
              <a:path w="792" h="400">
                <a:moveTo>
                  <a:pt x="791" y="0"/>
                </a:moveTo>
                <a:lnTo>
                  <a:pt x="791" y="67"/>
                </a:lnTo>
                <a:lnTo>
                  <a:pt x="593" y="333"/>
                </a:lnTo>
                <a:lnTo>
                  <a:pt x="462" y="399"/>
                </a:lnTo>
                <a:lnTo>
                  <a:pt x="330" y="399"/>
                </a:lnTo>
                <a:lnTo>
                  <a:pt x="264" y="333"/>
                </a:lnTo>
                <a:lnTo>
                  <a:pt x="132" y="266"/>
                </a:lnTo>
                <a:lnTo>
                  <a:pt x="0" y="200"/>
                </a:lnTo>
              </a:path>
            </a:pathLst>
          </a:custGeom>
          <a:noFill/>
          <a:ln w="25400" cap="rnd" cmpd="sng">
            <a:solidFill>
              <a:srgbClr val="000000"/>
            </a:solidFill>
            <a:prstDash val="solid"/>
            <a:round/>
            <a:headEnd type="none" w="med" len="med"/>
            <a:tailEnd type="none" w="med" len="med"/>
          </a:ln>
          <a:effectLst/>
        </p:spPr>
        <p:txBody>
          <a:bodyPr/>
          <a:lstStyle/>
          <a:p>
            <a:endParaRPr lang="en-US"/>
          </a:p>
        </p:txBody>
      </p:sp>
      <p:sp>
        <p:nvSpPr>
          <p:cNvPr id="57381" name="Rectangle 37"/>
          <p:cNvSpPr>
            <a:spLocks noChangeArrowheads="1"/>
          </p:cNvSpPr>
          <p:nvPr/>
        </p:nvSpPr>
        <p:spPr bwMode="auto">
          <a:xfrm>
            <a:off x="1430338" y="2706688"/>
            <a:ext cx="406400" cy="576262"/>
          </a:xfrm>
          <a:prstGeom prst="rect">
            <a:avLst/>
          </a:prstGeom>
          <a:noFill/>
          <a:ln w="12700">
            <a:noFill/>
            <a:miter lim="800000"/>
            <a:headEnd/>
            <a:tailEnd/>
          </a:ln>
          <a:effectLst/>
        </p:spPr>
        <p:txBody>
          <a:bodyPr wrap="none" lIns="90488" tIns="44450" rIns="90488" bIns="44450">
            <a:spAutoFit/>
          </a:bodyPr>
          <a:lstStyle/>
          <a:p>
            <a:r>
              <a:rPr lang="en-US" sz="3200" b="1">
                <a:latin typeface="Arial" pitchFamily="34" charset="0"/>
              </a:rPr>
              <a:t>2</a:t>
            </a:r>
          </a:p>
        </p:txBody>
      </p:sp>
      <p:sp>
        <p:nvSpPr>
          <p:cNvPr id="57382" name="Rectangle 38"/>
          <p:cNvSpPr>
            <a:spLocks noChangeArrowheads="1"/>
          </p:cNvSpPr>
          <p:nvPr/>
        </p:nvSpPr>
        <p:spPr bwMode="auto">
          <a:xfrm>
            <a:off x="2790825" y="2706688"/>
            <a:ext cx="406400" cy="576262"/>
          </a:xfrm>
          <a:prstGeom prst="rect">
            <a:avLst/>
          </a:prstGeom>
          <a:noFill/>
          <a:ln w="12700">
            <a:noFill/>
            <a:miter lim="800000"/>
            <a:headEnd/>
            <a:tailEnd/>
          </a:ln>
          <a:effectLst/>
        </p:spPr>
        <p:txBody>
          <a:bodyPr wrap="none" lIns="90488" tIns="44450" rIns="90488" bIns="44450">
            <a:spAutoFit/>
          </a:bodyPr>
          <a:lstStyle/>
          <a:p>
            <a:r>
              <a:rPr lang="en-US" sz="3200" b="1">
                <a:latin typeface="Arial" pitchFamily="34" charset="0"/>
              </a:rPr>
              <a:t>3</a:t>
            </a:r>
          </a:p>
        </p:txBody>
      </p:sp>
      <p:sp>
        <p:nvSpPr>
          <p:cNvPr id="57383" name="Rectangle 39"/>
          <p:cNvSpPr>
            <a:spLocks noChangeArrowheads="1"/>
          </p:cNvSpPr>
          <p:nvPr/>
        </p:nvSpPr>
        <p:spPr bwMode="auto">
          <a:xfrm>
            <a:off x="1419225" y="3762375"/>
            <a:ext cx="406400" cy="576263"/>
          </a:xfrm>
          <a:prstGeom prst="rect">
            <a:avLst/>
          </a:prstGeom>
          <a:noFill/>
          <a:ln w="12700">
            <a:noFill/>
            <a:miter lim="800000"/>
            <a:headEnd/>
            <a:tailEnd/>
          </a:ln>
          <a:effectLst/>
        </p:spPr>
        <p:txBody>
          <a:bodyPr wrap="none" lIns="90488" tIns="44450" rIns="90488" bIns="44450">
            <a:spAutoFit/>
          </a:bodyPr>
          <a:lstStyle/>
          <a:p>
            <a:r>
              <a:rPr lang="en-US" sz="3200" b="1">
                <a:latin typeface="Arial" pitchFamily="34" charset="0"/>
              </a:rPr>
              <a:t>4</a:t>
            </a:r>
          </a:p>
        </p:txBody>
      </p:sp>
      <p:sp>
        <p:nvSpPr>
          <p:cNvPr id="57384" name="Rectangle 40"/>
          <p:cNvSpPr>
            <a:spLocks noChangeArrowheads="1"/>
          </p:cNvSpPr>
          <p:nvPr/>
        </p:nvSpPr>
        <p:spPr bwMode="auto">
          <a:xfrm>
            <a:off x="2790825" y="3762375"/>
            <a:ext cx="406400" cy="576263"/>
          </a:xfrm>
          <a:prstGeom prst="rect">
            <a:avLst/>
          </a:prstGeom>
          <a:noFill/>
          <a:ln w="12700">
            <a:noFill/>
            <a:miter lim="800000"/>
            <a:headEnd/>
            <a:tailEnd/>
          </a:ln>
          <a:effectLst/>
        </p:spPr>
        <p:txBody>
          <a:bodyPr wrap="none" lIns="90488" tIns="44450" rIns="90488" bIns="44450">
            <a:spAutoFit/>
          </a:bodyPr>
          <a:lstStyle/>
          <a:p>
            <a:r>
              <a:rPr lang="en-US" sz="3200" b="1">
                <a:latin typeface="Arial" pitchFamily="34" charset="0"/>
              </a:rPr>
              <a:t>5</a:t>
            </a:r>
          </a:p>
        </p:txBody>
      </p:sp>
      <p:sp>
        <p:nvSpPr>
          <p:cNvPr id="57388" name="Rectangle 44"/>
          <p:cNvSpPr>
            <a:spLocks noChangeArrowheads="1"/>
          </p:cNvSpPr>
          <p:nvPr/>
        </p:nvSpPr>
        <p:spPr bwMode="auto">
          <a:xfrm>
            <a:off x="2790825" y="2706688"/>
            <a:ext cx="406400" cy="576262"/>
          </a:xfrm>
          <a:prstGeom prst="rect">
            <a:avLst/>
          </a:prstGeom>
          <a:noFill/>
          <a:ln w="12700">
            <a:noFill/>
            <a:miter lim="800000"/>
            <a:headEnd/>
            <a:tailEnd/>
          </a:ln>
          <a:effectLst/>
        </p:spPr>
        <p:txBody>
          <a:bodyPr wrap="none" lIns="90488" tIns="44450" rIns="90488" bIns="44450">
            <a:spAutoFit/>
          </a:bodyPr>
          <a:lstStyle/>
          <a:p>
            <a:r>
              <a:rPr lang="en-US" sz="3200" b="1">
                <a:solidFill>
                  <a:schemeClr val="accent2"/>
                </a:solidFill>
                <a:latin typeface="Arial" pitchFamily="34" charset="0"/>
              </a:rPr>
              <a:t>3</a:t>
            </a:r>
            <a:endParaRPr lang="en-US" sz="3200" b="1">
              <a:latin typeface="Arial" pitchFamily="34" charset="0"/>
            </a:endParaRPr>
          </a:p>
        </p:txBody>
      </p:sp>
      <p:sp>
        <p:nvSpPr>
          <p:cNvPr id="57355" name="Rectangle 11"/>
          <p:cNvSpPr>
            <a:spLocks noChangeArrowheads="1"/>
          </p:cNvSpPr>
          <p:nvPr/>
        </p:nvSpPr>
        <p:spPr bwMode="auto">
          <a:xfrm>
            <a:off x="5465763" y="4303713"/>
            <a:ext cx="3022600" cy="2097087"/>
          </a:xfrm>
          <a:prstGeom prst="rect">
            <a:avLst/>
          </a:prstGeom>
          <a:solidFill>
            <a:srgbClr val="A1FFFF"/>
          </a:solidFill>
          <a:ln w="12700">
            <a:noFill/>
            <a:miter lim="800000"/>
            <a:headEnd/>
            <a:tailEnd/>
          </a:ln>
          <a:effectLst/>
        </p:spPr>
        <p:txBody>
          <a:bodyPr wrap="none" anchor="ctr"/>
          <a:lstStyle/>
          <a:p>
            <a:endParaRPr lang="en-US"/>
          </a:p>
        </p:txBody>
      </p:sp>
      <p:sp>
        <p:nvSpPr>
          <p:cNvPr id="57356" name="Freeform 12"/>
          <p:cNvSpPr>
            <a:spLocks/>
          </p:cNvSpPr>
          <p:nvPr/>
        </p:nvSpPr>
        <p:spPr bwMode="auto">
          <a:xfrm>
            <a:off x="5465763" y="4292600"/>
            <a:ext cx="3032125" cy="2108200"/>
          </a:xfrm>
          <a:custGeom>
            <a:avLst/>
            <a:gdLst/>
            <a:ahLst/>
            <a:cxnLst>
              <a:cxn ang="0">
                <a:pos x="0" y="0"/>
              </a:cxn>
              <a:cxn ang="0">
                <a:pos x="1909" y="0"/>
              </a:cxn>
              <a:cxn ang="0">
                <a:pos x="1909" y="1327"/>
              </a:cxn>
              <a:cxn ang="0">
                <a:pos x="0" y="1327"/>
              </a:cxn>
              <a:cxn ang="0">
                <a:pos x="0" y="0"/>
              </a:cxn>
            </a:cxnLst>
            <a:rect l="0" t="0" r="r" b="b"/>
            <a:pathLst>
              <a:path w="1910" h="1328">
                <a:moveTo>
                  <a:pt x="0" y="0"/>
                </a:moveTo>
                <a:lnTo>
                  <a:pt x="1909" y="0"/>
                </a:lnTo>
                <a:lnTo>
                  <a:pt x="1909" y="1327"/>
                </a:lnTo>
                <a:lnTo>
                  <a:pt x="0" y="1327"/>
                </a:lnTo>
                <a:lnTo>
                  <a:pt x="0" y="0"/>
                </a:lnTo>
              </a:path>
            </a:pathLst>
          </a:custGeom>
          <a:noFill/>
          <a:ln w="25400" cap="rnd" cmpd="sng">
            <a:solidFill>
              <a:srgbClr val="000000"/>
            </a:solidFill>
            <a:prstDash val="solid"/>
            <a:round/>
            <a:headEnd type="none" w="med" len="med"/>
            <a:tailEnd type="none" w="med" len="med"/>
          </a:ln>
          <a:effectLst/>
        </p:spPr>
        <p:txBody>
          <a:bodyPr/>
          <a:lstStyle/>
          <a:p>
            <a:endParaRPr lang="en-US"/>
          </a:p>
        </p:txBody>
      </p:sp>
      <p:sp>
        <p:nvSpPr>
          <p:cNvPr id="57357" name="Rectangle 13"/>
          <p:cNvSpPr>
            <a:spLocks noChangeArrowheads="1"/>
          </p:cNvSpPr>
          <p:nvPr/>
        </p:nvSpPr>
        <p:spPr bwMode="auto">
          <a:xfrm>
            <a:off x="5497513" y="4381500"/>
            <a:ext cx="2735262"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COV#   ZONE      ZIP</a:t>
            </a:r>
          </a:p>
        </p:txBody>
      </p:sp>
      <p:sp>
        <p:nvSpPr>
          <p:cNvPr id="57358" name="Rectangle 14"/>
          <p:cNvSpPr>
            <a:spLocks noChangeArrowheads="1"/>
          </p:cNvSpPr>
          <p:nvPr/>
        </p:nvSpPr>
        <p:spPr bwMode="auto">
          <a:xfrm>
            <a:off x="5497513" y="4703763"/>
            <a:ext cx="552450"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1</a:t>
            </a:r>
          </a:p>
        </p:txBody>
      </p:sp>
      <p:sp>
        <p:nvSpPr>
          <p:cNvPr id="57359" name="Rectangle 15"/>
          <p:cNvSpPr>
            <a:spLocks noChangeArrowheads="1"/>
          </p:cNvSpPr>
          <p:nvPr/>
        </p:nvSpPr>
        <p:spPr bwMode="auto">
          <a:xfrm>
            <a:off x="7118350" y="4703763"/>
            <a:ext cx="1223963"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0</a:t>
            </a:r>
          </a:p>
        </p:txBody>
      </p:sp>
      <p:sp>
        <p:nvSpPr>
          <p:cNvPr id="57360" name="Rectangle 16"/>
          <p:cNvSpPr>
            <a:spLocks noChangeArrowheads="1"/>
          </p:cNvSpPr>
          <p:nvPr/>
        </p:nvSpPr>
        <p:spPr bwMode="auto">
          <a:xfrm>
            <a:off x="5497513" y="5026025"/>
            <a:ext cx="1149350"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2        </a:t>
            </a:r>
          </a:p>
        </p:txBody>
      </p:sp>
      <p:sp>
        <p:nvSpPr>
          <p:cNvPr id="57361" name="Rectangle 17"/>
          <p:cNvSpPr>
            <a:spLocks noChangeArrowheads="1"/>
          </p:cNvSpPr>
          <p:nvPr/>
        </p:nvSpPr>
        <p:spPr bwMode="auto">
          <a:xfrm>
            <a:off x="6480175" y="5026025"/>
            <a:ext cx="757238"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C-19</a:t>
            </a:r>
          </a:p>
        </p:txBody>
      </p:sp>
      <p:sp>
        <p:nvSpPr>
          <p:cNvPr id="57362" name="Rectangle 18"/>
          <p:cNvSpPr>
            <a:spLocks noChangeArrowheads="1"/>
          </p:cNvSpPr>
          <p:nvPr/>
        </p:nvSpPr>
        <p:spPr bwMode="auto">
          <a:xfrm>
            <a:off x="7118350" y="5026025"/>
            <a:ext cx="1217613"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22060</a:t>
            </a:r>
          </a:p>
        </p:txBody>
      </p:sp>
      <p:sp>
        <p:nvSpPr>
          <p:cNvPr id="57363" name="Rectangle 19"/>
          <p:cNvSpPr>
            <a:spLocks noChangeArrowheads="1"/>
          </p:cNvSpPr>
          <p:nvPr/>
        </p:nvSpPr>
        <p:spPr bwMode="auto">
          <a:xfrm>
            <a:off x="5497513" y="5346700"/>
            <a:ext cx="1149350"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3        </a:t>
            </a:r>
          </a:p>
        </p:txBody>
      </p:sp>
      <p:sp>
        <p:nvSpPr>
          <p:cNvPr id="57364" name="Rectangle 20"/>
          <p:cNvSpPr>
            <a:spLocks noChangeArrowheads="1"/>
          </p:cNvSpPr>
          <p:nvPr/>
        </p:nvSpPr>
        <p:spPr bwMode="auto">
          <a:xfrm>
            <a:off x="6480175" y="5346700"/>
            <a:ext cx="609600"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A-4</a:t>
            </a:r>
          </a:p>
        </p:txBody>
      </p:sp>
      <p:sp>
        <p:nvSpPr>
          <p:cNvPr id="57365" name="Rectangle 21"/>
          <p:cNvSpPr>
            <a:spLocks noChangeArrowheads="1"/>
          </p:cNvSpPr>
          <p:nvPr/>
        </p:nvSpPr>
        <p:spPr bwMode="auto">
          <a:xfrm>
            <a:off x="7118350" y="5346700"/>
            <a:ext cx="1217613"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22061</a:t>
            </a:r>
          </a:p>
        </p:txBody>
      </p:sp>
      <p:sp>
        <p:nvSpPr>
          <p:cNvPr id="57366" name="Rectangle 22"/>
          <p:cNvSpPr>
            <a:spLocks noChangeArrowheads="1"/>
          </p:cNvSpPr>
          <p:nvPr/>
        </p:nvSpPr>
        <p:spPr bwMode="auto">
          <a:xfrm>
            <a:off x="5497513" y="5668963"/>
            <a:ext cx="1149350"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4        </a:t>
            </a:r>
          </a:p>
        </p:txBody>
      </p:sp>
      <p:sp>
        <p:nvSpPr>
          <p:cNvPr id="57367" name="Rectangle 23"/>
          <p:cNvSpPr>
            <a:spLocks noChangeArrowheads="1"/>
          </p:cNvSpPr>
          <p:nvPr/>
        </p:nvSpPr>
        <p:spPr bwMode="auto">
          <a:xfrm>
            <a:off x="6480175" y="5668963"/>
            <a:ext cx="757238"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C-22</a:t>
            </a:r>
          </a:p>
        </p:txBody>
      </p:sp>
      <p:sp>
        <p:nvSpPr>
          <p:cNvPr id="57368" name="Rectangle 24"/>
          <p:cNvSpPr>
            <a:spLocks noChangeArrowheads="1"/>
          </p:cNvSpPr>
          <p:nvPr/>
        </p:nvSpPr>
        <p:spPr bwMode="auto">
          <a:xfrm>
            <a:off x="7118350" y="5668963"/>
            <a:ext cx="1217613"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22060</a:t>
            </a:r>
          </a:p>
        </p:txBody>
      </p:sp>
      <p:sp>
        <p:nvSpPr>
          <p:cNvPr id="57369" name="Rectangle 25"/>
          <p:cNvSpPr>
            <a:spLocks noChangeArrowheads="1"/>
          </p:cNvSpPr>
          <p:nvPr/>
        </p:nvSpPr>
        <p:spPr bwMode="auto">
          <a:xfrm>
            <a:off x="5497513" y="5991225"/>
            <a:ext cx="1149350"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5        </a:t>
            </a:r>
          </a:p>
        </p:txBody>
      </p:sp>
      <p:sp>
        <p:nvSpPr>
          <p:cNvPr id="57370" name="Rectangle 26"/>
          <p:cNvSpPr>
            <a:spLocks noChangeArrowheads="1"/>
          </p:cNvSpPr>
          <p:nvPr/>
        </p:nvSpPr>
        <p:spPr bwMode="auto">
          <a:xfrm>
            <a:off x="6480175" y="5991225"/>
            <a:ext cx="609600"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A-5</a:t>
            </a:r>
          </a:p>
        </p:txBody>
      </p:sp>
      <p:sp>
        <p:nvSpPr>
          <p:cNvPr id="57371" name="Rectangle 27"/>
          <p:cNvSpPr>
            <a:spLocks noChangeArrowheads="1"/>
          </p:cNvSpPr>
          <p:nvPr/>
        </p:nvSpPr>
        <p:spPr bwMode="auto">
          <a:xfrm>
            <a:off x="7118350" y="5991225"/>
            <a:ext cx="1217613" cy="409575"/>
          </a:xfrm>
          <a:prstGeom prst="rect">
            <a:avLst/>
          </a:prstGeom>
          <a:noFill/>
          <a:ln w="12700">
            <a:noFill/>
            <a:miter lim="800000"/>
            <a:headEnd/>
            <a:tailEnd/>
          </a:ln>
          <a:effectLst/>
        </p:spPr>
        <p:txBody>
          <a:bodyPr wrap="none" lIns="90488" tIns="44450" rIns="90488" bIns="44450">
            <a:spAutoFit/>
          </a:bodyPr>
          <a:lstStyle/>
          <a:p>
            <a:r>
              <a:rPr lang="en-US" sz="2100" b="1">
                <a:latin typeface="Arial" pitchFamily="34" charset="0"/>
              </a:rPr>
              <a:t>    22057</a:t>
            </a:r>
          </a:p>
        </p:txBody>
      </p:sp>
      <p:sp>
        <p:nvSpPr>
          <p:cNvPr id="57372" name="Line 28"/>
          <p:cNvSpPr>
            <a:spLocks noChangeShapeType="1"/>
          </p:cNvSpPr>
          <p:nvPr/>
        </p:nvSpPr>
        <p:spPr bwMode="auto">
          <a:xfrm>
            <a:off x="5483225" y="4716463"/>
            <a:ext cx="2986088" cy="0"/>
          </a:xfrm>
          <a:prstGeom prst="line">
            <a:avLst/>
          </a:prstGeom>
          <a:noFill/>
          <a:ln w="25400">
            <a:solidFill>
              <a:srgbClr val="000000"/>
            </a:solidFill>
            <a:round/>
            <a:headEnd/>
            <a:tailEnd/>
          </a:ln>
          <a:effectLst/>
        </p:spPr>
        <p:txBody>
          <a:bodyPr wrap="none" anchor="ctr"/>
          <a:lstStyle/>
          <a:p>
            <a:endParaRPr lang="en-US"/>
          </a:p>
        </p:txBody>
      </p:sp>
      <p:sp>
        <p:nvSpPr>
          <p:cNvPr id="57373" name="Line 29"/>
          <p:cNvSpPr>
            <a:spLocks noChangeShapeType="1"/>
          </p:cNvSpPr>
          <p:nvPr/>
        </p:nvSpPr>
        <p:spPr bwMode="auto">
          <a:xfrm>
            <a:off x="6413500" y="4303713"/>
            <a:ext cx="0" cy="2065337"/>
          </a:xfrm>
          <a:prstGeom prst="line">
            <a:avLst/>
          </a:prstGeom>
          <a:noFill/>
          <a:ln w="25400">
            <a:solidFill>
              <a:srgbClr val="000000"/>
            </a:solidFill>
            <a:round/>
            <a:headEnd/>
            <a:tailEnd/>
          </a:ln>
          <a:effectLst/>
        </p:spPr>
        <p:txBody>
          <a:bodyPr wrap="none" anchor="ctr"/>
          <a:lstStyle/>
          <a:p>
            <a:endParaRPr lang="en-US"/>
          </a:p>
        </p:txBody>
      </p:sp>
      <p:sp>
        <p:nvSpPr>
          <p:cNvPr id="57374" name="Line 30"/>
          <p:cNvSpPr>
            <a:spLocks noChangeShapeType="1"/>
          </p:cNvSpPr>
          <p:nvPr/>
        </p:nvSpPr>
        <p:spPr bwMode="auto">
          <a:xfrm>
            <a:off x="7375525" y="4303713"/>
            <a:ext cx="0" cy="2055812"/>
          </a:xfrm>
          <a:prstGeom prst="line">
            <a:avLst/>
          </a:prstGeom>
          <a:noFill/>
          <a:ln w="25400">
            <a:solidFill>
              <a:srgbClr val="000000"/>
            </a:solidFill>
            <a:round/>
            <a:headEnd/>
            <a:tailEnd/>
          </a:ln>
          <a:effectLst/>
        </p:spPr>
        <p:txBody>
          <a:bodyPr wrap="none" anchor="ctr"/>
          <a:lstStyle/>
          <a:p>
            <a:endParaRPr lang="en-US"/>
          </a:p>
        </p:txBody>
      </p:sp>
      <p:sp>
        <p:nvSpPr>
          <p:cNvPr id="57386" name="Line 42"/>
          <p:cNvSpPr>
            <a:spLocks noChangeShapeType="1"/>
          </p:cNvSpPr>
          <p:nvPr/>
        </p:nvSpPr>
        <p:spPr bwMode="auto">
          <a:xfrm rot="181115" flipH="1" flipV="1">
            <a:off x="3162300" y="3308350"/>
            <a:ext cx="2265363" cy="2009775"/>
          </a:xfrm>
          <a:prstGeom prst="line">
            <a:avLst/>
          </a:prstGeom>
          <a:noFill/>
          <a:ln w="50800">
            <a:solidFill>
              <a:srgbClr val="339966"/>
            </a:solidFill>
            <a:round/>
            <a:headEnd type="triangle" w="med" len="med"/>
            <a:tailEnd type="triangle" w="med" len="med"/>
          </a:ln>
          <a:effectLst/>
        </p:spPr>
        <p:txBody>
          <a:bodyPr wrap="none" anchor="ctr"/>
          <a:lstStyle/>
          <a:p>
            <a:endParaRPr lang="en-US"/>
          </a:p>
        </p:txBody>
      </p:sp>
      <p:grpSp>
        <p:nvGrpSpPr>
          <p:cNvPr id="2" name="Group 89"/>
          <p:cNvGrpSpPr>
            <a:grpSpLocks/>
          </p:cNvGrpSpPr>
          <p:nvPr/>
        </p:nvGrpSpPr>
        <p:grpSpPr bwMode="auto">
          <a:xfrm>
            <a:off x="5473700" y="5334000"/>
            <a:ext cx="3032125" cy="422275"/>
            <a:chOff x="3448" y="3360"/>
            <a:chExt cx="1910" cy="266"/>
          </a:xfrm>
        </p:grpSpPr>
        <p:sp>
          <p:nvSpPr>
            <p:cNvPr id="57426" name="Freeform 82"/>
            <p:cNvSpPr>
              <a:spLocks/>
            </p:cNvSpPr>
            <p:nvPr/>
          </p:nvSpPr>
          <p:spPr bwMode="auto">
            <a:xfrm>
              <a:off x="3448" y="3360"/>
              <a:ext cx="1910" cy="264"/>
            </a:xfrm>
            <a:custGeom>
              <a:avLst/>
              <a:gdLst/>
              <a:ahLst/>
              <a:cxnLst>
                <a:cxn ang="0">
                  <a:pos x="0" y="0"/>
                </a:cxn>
                <a:cxn ang="0">
                  <a:pos x="1909" y="0"/>
                </a:cxn>
                <a:cxn ang="0">
                  <a:pos x="1909" y="1327"/>
                </a:cxn>
                <a:cxn ang="0">
                  <a:pos x="0" y="1327"/>
                </a:cxn>
                <a:cxn ang="0">
                  <a:pos x="0" y="0"/>
                </a:cxn>
              </a:cxnLst>
              <a:rect l="0" t="0" r="r" b="b"/>
              <a:pathLst>
                <a:path w="1910" h="1328">
                  <a:moveTo>
                    <a:pt x="0" y="0"/>
                  </a:moveTo>
                  <a:lnTo>
                    <a:pt x="1909" y="0"/>
                  </a:lnTo>
                  <a:lnTo>
                    <a:pt x="1909" y="1327"/>
                  </a:lnTo>
                  <a:lnTo>
                    <a:pt x="0" y="1327"/>
                  </a:lnTo>
                  <a:lnTo>
                    <a:pt x="0" y="0"/>
                  </a:lnTo>
                </a:path>
              </a:pathLst>
            </a:custGeom>
            <a:solidFill>
              <a:srgbClr val="99FF33"/>
            </a:solidFill>
            <a:ln w="25400" cap="rnd" cmpd="sng">
              <a:solidFill>
                <a:srgbClr val="000000"/>
              </a:solidFill>
              <a:prstDash val="solid"/>
              <a:round/>
              <a:headEnd type="none" w="med" len="med"/>
              <a:tailEnd type="none" w="med" len="med"/>
            </a:ln>
            <a:effectLst/>
          </p:spPr>
          <p:txBody>
            <a:bodyPr/>
            <a:lstStyle/>
            <a:p>
              <a:endParaRPr lang="en-US"/>
            </a:p>
          </p:txBody>
        </p:sp>
        <p:sp>
          <p:nvSpPr>
            <p:cNvPr id="57427" name="Rectangle 83"/>
            <p:cNvSpPr>
              <a:spLocks noChangeArrowheads="1"/>
            </p:cNvSpPr>
            <p:nvPr/>
          </p:nvSpPr>
          <p:spPr bwMode="auto">
            <a:xfrm>
              <a:off x="3460" y="3368"/>
              <a:ext cx="724" cy="258"/>
            </a:xfrm>
            <a:prstGeom prst="rect">
              <a:avLst/>
            </a:prstGeom>
            <a:solidFill>
              <a:srgbClr val="99FF33"/>
            </a:solidFill>
            <a:ln w="12700">
              <a:noFill/>
              <a:miter lim="800000"/>
              <a:headEnd/>
              <a:tailEnd/>
            </a:ln>
            <a:effectLst/>
          </p:spPr>
          <p:txBody>
            <a:bodyPr wrap="none" lIns="90488" tIns="44450" rIns="90488" bIns="44450">
              <a:spAutoFit/>
            </a:bodyPr>
            <a:lstStyle/>
            <a:p>
              <a:r>
                <a:rPr lang="en-US" sz="2100" b="1">
                  <a:latin typeface="Arial" pitchFamily="34" charset="0"/>
                </a:rPr>
                <a:t>   3        </a:t>
              </a:r>
            </a:p>
          </p:txBody>
        </p:sp>
        <p:sp>
          <p:nvSpPr>
            <p:cNvPr id="57428" name="Rectangle 84"/>
            <p:cNvSpPr>
              <a:spLocks noChangeArrowheads="1"/>
            </p:cNvSpPr>
            <p:nvPr/>
          </p:nvSpPr>
          <p:spPr bwMode="auto">
            <a:xfrm>
              <a:off x="4087" y="3368"/>
              <a:ext cx="384" cy="258"/>
            </a:xfrm>
            <a:prstGeom prst="rect">
              <a:avLst/>
            </a:prstGeom>
            <a:solidFill>
              <a:srgbClr val="99FF33"/>
            </a:solidFill>
            <a:ln w="12700">
              <a:noFill/>
              <a:miter lim="800000"/>
              <a:headEnd/>
              <a:tailEnd/>
            </a:ln>
            <a:effectLst/>
          </p:spPr>
          <p:txBody>
            <a:bodyPr wrap="none" lIns="90488" tIns="44450" rIns="90488" bIns="44450">
              <a:spAutoFit/>
            </a:bodyPr>
            <a:lstStyle/>
            <a:p>
              <a:r>
                <a:rPr lang="en-US" sz="2100" b="1">
                  <a:latin typeface="Arial" pitchFamily="34" charset="0"/>
                </a:rPr>
                <a:t>A-4</a:t>
              </a:r>
            </a:p>
          </p:txBody>
        </p:sp>
        <p:sp>
          <p:nvSpPr>
            <p:cNvPr id="57429" name="Rectangle 85"/>
            <p:cNvSpPr>
              <a:spLocks noChangeArrowheads="1"/>
            </p:cNvSpPr>
            <p:nvPr/>
          </p:nvSpPr>
          <p:spPr bwMode="auto">
            <a:xfrm>
              <a:off x="4489" y="3368"/>
              <a:ext cx="767" cy="258"/>
            </a:xfrm>
            <a:prstGeom prst="rect">
              <a:avLst/>
            </a:prstGeom>
            <a:solidFill>
              <a:srgbClr val="99FF33"/>
            </a:solidFill>
            <a:ln w="12700">
              <a:noFill/>
              <a:miter lim="800000"/>
              <a:headEnd/>
              <a:tailEnd/>
            </a:ln>
            <a:effectLst/>
          </p:spPr>
          <p:txBody>
            <a:bodyPr wrap="none" lIns="90488" tIns="44450" rIns="90488" bIns="44450">
              <a:spAutoFit/>
            </a:bodyPr>
            <a:lstStyle/>
            <a:p>
              <a:r>
                <a:rPr lang="en-US" sz="2100" b="1">
                  <a:latin typeface="Arial" pitchFamily="34" charset="0"/>
                </a:rPr>
                <a:t>    22061</a:t>
              </a:r>
            </a:p>
          </p:txBody>
        </p:sp>
      </p:grpSp>
      <p:sp>
        <p:nvSpPr>
          <p:cNvPr id="48" name="Title 47"/>
          <p:cNvSpPr>
            <a:spLocks noGrp="1"/>
          </p:cNvSpPr>
          <p:nvPr>
            <p:ph type="title"/>
          </p:nvPr>
        </p:nvSpPr>
        <p:spPr>
          <a:xfrm>
            <a:off x="0" y="0"/>
            <a:ext cx="8686800" cy="1066800"/>
          </a:xfrm>
        </p:spPr>
        <p:txBody>
          <a:bodyPr>
            <a:normAutofit/>
          </a:bodyPr>
          <a:lstStyle/>
          <a:p>
            <a:r>
              <a:rPr lang="en-US" sz="3600" dirty="0"/>
              <a:t>We Link Shapes with Attributes</a:t>
            </a:r>
          </a:p>
        </p:txBody>
      </p:sp>
      <p:sp>
        <p:nvSpPr>
          <p:cNvPr id="49" name="Content Placeholder 48"/>
          <p:cNvSpPr>
            <a:spLocks noGrp="1"/>
          </p:cNvSpPr>
          <p:nvPr>
            <p:ph idx="1"/>
          </p:nvPr>
        </p:nvSpPr>
        <p:spPr/>
        <p:txBody>
          <a:bodyPr/>
          <a:lstStyle/>
          <a:p>
            <a:pPr>
              <a:buNone/>
            </a:pPr>
            <a:r>
              <a:rPr lang="en-US"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388"/>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grpId="0" nodeType="afterEffect">
                                  <p:stCondLst>
                                    <p:cond delay="1000"/>
                                  </p:stCondLst>
                                  <p:childTnLst>
                                    <p:set>
                                      <p:cBhvr>
                                        <p:cTn id="9" dur="1" fill="hold">
                                          <p:stCondLst>
                                            <p:cond delay="0"/>
                                          </p:stCondLst>
                                        </p:cTn>
                                        <p:tgtEl>
                                          <p:spTgt spid="57386"/>
                                        </p:tgtEl>
                                        <p:attrNameLst>
                                          <p:attrName>style.visibility</p:attrName>
                                        </p:attrNameLst>
                                      </p:cBhvr>
                                      <p:to>
                                        <p:strVal val="visible"/>
                                      </p:to>
                                    </p:set>
                                    <p:animEffect transition="in" filter="wipe(up)">
                                      <p:cBhvr>
                                        <p:cTn id="10" dur="500"/>
                                        <p:tgtEl>
                                          <p:spTgt spid="57386"/>
                                        </p:tgtEl>
                                      </p:cBhvr>
                                    </p:animEffect>
                                  </p:childTnLst>
                                </p:cTn>
                              </p:par>
                            </p:childTnLst>
                          </p:cTn>
                        </p:par>
                        <p:par>
                          <p:cTn id="11" fill="hold">
                            <p:stCondLst>
                              <p:cond delay="20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88" grpId="0" autoUpdateAnimBg="0"/>
      <p:bldP spid="5738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3" name="Rectangle 5"/>
          <p:cNvSpPr>
            <a:spLocks noGrp="1" noChangeArrowheads="1"/>
          </p:cNvSpPr>
          <p:nvPr>
            <p:ph type="title"/>
          </p:nvPr>
        </p:nvSpPr>
        <p:spPr>
          <a:xfrm>
            <a:off x="152400" y="274638"/>
            <a:ext cx="8534400" cy="1143000"/>
          </a:xfrm>
        </p:spPr>
        <p:txBody>
          <a:bodyPr/>
          <a:lstStyle/>
          <a:p>
            <a:r>
              <a:rPr lang="en-US" dirty="0"/>
              <a:t>Example</a:t>
            </a:r>
          </a:p>
        </p:txBody>
      </p:sp>
      <p:graphicFrame>
        <p:nvGraphicFramePr>
          <p:cNvPr id="302080" name="Object 0"/>
          <p:cNvGraphicFramePr>
            <a:graphicFrameLocks noGrp="1" noChangeAspect="1"/>
          </p:cNvGraphicFramePr>
          <p:nvPr>
            <p:ph idx="1"/>
          </p:nvPr>
        </p:nvGraphicFramePr>
        <p:xfrm>
          <a:off x="1141413" y="1219200"/>
          <a:ext cx="6119812" cy="5386388"/>
        </p:xfrm>
        <a:graphic>
          <a:graphicData uri="http://schemas.openxmlformats.org/presentationml/2006/ole">
            <mc:AlternateContent xmlns:mc="http://schemas.openxmlformats.org/markup-compatibility/2006">
              <mc:Choice xmlns:v="urn:schemas-microsoft-com:vml" Requires="v">
                <p:oleObj name="Bitmap Image" r:id="rId2" imgW="6561389" imgH="5775238" progId="Paint.Picture">
                  <p:embed/>
                </p:oleObj>
              </mc:Choice>
              <mc:Fallback>
                <p:oleObj name="Bitmap Image" r:id="rId2" imgW="6561389" imgH="5775238" progId="Paint.Picture">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1219200"/>
                        <a:ext cx="6119812" cy="538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274638"/>
            <a:ext cx="8534400" cy="1143000"/>
          </a:xfrm>
        </p:spPr>
        <p:txBody>
          <a:bodyPr>
            <a:normAutofit/>
          </a:bodyPr>
          <a:lstStyle/>
          <a:p>
            <a:r>
              <a:rPr lang="en-US" dirty="0"/>
              <a:t>Spatial Data Description and Management</a:t>
            </a:r>
          </a:p>
        </p:txBody>
      </p:sp>
      <p:sp>
        <p:nvSpPr>
          <p:cNvPr id="2" name="Content Placeholder 1"/>
          <p:cNvSpPr>
            <a:spLocks noGrp="1"/>
          </p:cNvSpPr>
          <p:nvPr>
            <p:ph idx="1"/>
          </p:nvPr>
        </p:nvSpPr>
        <p:spPr>
          <a:xfrm>
            <a:off x="532930" y="1981200"/>
            <a:ext cx="7773339" cy="3424107"/>
          </a:xfrm>
        </p:spPr>
        <p:txBody>
          <a:bodyPr>
            <a:normAutofit fontScale="92500" lnSpcReduction="10000"/>
          </a:bodyPr>
          <a:lstStyle/>
          <a:p>
            <a:endParaRPr lang="en-US" sz="2800" dirty="0"/>
          </a:p>
          <a:p>
            <a:r>
              <a:rPr lang="en-US" sz="2800" dirty="0"/>
              <a:t>Relating and Joining Data</a:t>
            </a:r>
          </a:p>
          <a:p>
            <a:endParaRPr lang="en-US" sz="2800" dirty="0"/>
          </a:p>
          <a:p>
            <a:r>
              <a:rPr lang="en-US" sz="2800" dirty="0"/>
              <a:t>Spatial Queries and Measurement</a:t>
            </a:r>
          </a:p>
          <a:p>
            <a:endParaRPr lang="en-US" sz="2800" dirty="0"/>
          </a:p>
          <a:p>
            <a:r>
              <a:rPr lang="en-US" sz="2800" dirty="0"/>
              <a:t>Manipulating data at multiple levels</a:t>
            </a:r>
          </a:p>
          <a:p>
            <a:endParaRPr lang="en-US" dirty="0"/>
          </a:p>
          <a:p>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0"/>
            <a:ext cx="8686800" cy="1066800"/>
          </a:xfrm>
        </p:spPr>
        <p:txBody>
          <a:bodyPr>
            <a:normAutofit/>
          </a:bodyPr>
          <a:lstStyle/>
          <a:p>
            <a:pPr eaLnBrk="1" hangingPunct="1">
              <a:defRPr/>
            </a:pPr>
            <a:r>
              <a:rPr lang="en-US" sz="3600" dirty="0"/>
              <a:t>Common Spatial Analysis Tools</a:t>
            </a:r>
          </a:p>
        </p:txBody>
      </p:sp>
      <p:sp>
        <p:nvSpPr>
          <p:cNvPr id="9219" name="Rectangle 3"/>
          <p:cNvSpPr>
            <a:spLocks noGrp="1" noChangeArrowheads="1"/>
          </p:cNvSpPr>
          <p:nvPr>
            <p:ph idx="1"/>
          </p:nvPr>
        </p:nvSpPr>
        <p:spPr>
          <a:xfrm>
            <a:off x="457200" y="1447800"/>
            <a:ext cx="8534400" cy="5105400"/>
          </a:xfrm>
        </p:spPr>
        <p:txBody>
          <a:bodyPr>
            <a:normAutofit fontScale="92500" lnSpcReduction="10000"/>
          </a:bodyPr>
          <a:lstStyle/>
          <a:p>
            <a:pPr eaLnBrk="1" hangingPunct="1">
              <a:buFontTx/>
              <a:buNone/>
            </a:pPr>
            <a:endParaRPr lang="en-US" sz="2800" dirty="0"/>
          </a:p>
          <a:p>
            <a:pPr eaLnBrk="1" hangingPunct="1"/>
            <a:r>
              <a:rPr lang="en-US" sz="2800" dirty="0"/>
              <a:t>Map Overlay Tools</a:t>
            </a:r>
          </a:p>
          <a:p>
            <a:pPr lvl="1" eaLnBrk="1" hangingPunct="1"/>
            <a:r>
              <a:rPr lang="en-US" sz="2400" dirty="0"/>
              <a:t>Union, Intersect, Identity, Erase, Symmetrical Difference</a:t>
            </a:r>
          </a:p>
          <a:p>
            <a:pPr lvl="1" eaLnBrk="1" hangingPunct="1"/>
            <a:r>
              <a:rPr lang="en-US" sz="2400" dirty="0"/>
              <a:t>Point in Polygon, Line in Polygon, Polygon on Polygon</a:t>
            </a:r>
          </a:p>
          <a:p>
            <a:pPr lvl="1" eaLnBrk="1" hangingPunct="1"/>
            <a:r>
              <a:rPr lang="en-US" sz="2400" dirty="0"/>
              <a:t>Clip, Select, Split, Table Select</a:t>
            </a:r>
          </a:p>
          <a:p>
            <a:pPr eaLnBrk="1" hangingPunct="1"/>
            <a:r>
              <a:rPr lang="en-US" sz="2800" dirty="0"/>
              <a:t>Proximity Tools</a:t>
            </a:r>
          </a:p>
          <a:p>
            <a:pPr lvl="1" eaLnBrk="1" hangingPunct="1"/>
            <a:r>
              <a:rPr lang="en-US" sz="2400" dirty="0"/>
              <a:t>Buffer, Multiple Ring Buffer, Near, Point Distance</a:t>
            </a:r>
          </a:p>
          <a:p>
            <a:pPr eaLnBrk="1" hangingPunct="1"/>
            <a:r>
              <a:rPr lang="en-US" sz="2800" dirty="0"/>
              <a:t>Statistics</a:t>
            </a:r>
          </a:p>
          <a:p>
            <a:pPr lvl="1" eaLnBrk="1" hangingPunct="1"/>
            <a:r>
              <a:rPr lang="en-US" sz="2400" dirty="0"/>
              <a:t>Frequency, Summary Statistics</a:t>
            </a:r>
          </a:p>
          <a:p>
            <a:pPr eaLnBrk="1" hangingPunct="1"/>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80"/>
          <p:cNvGrpSpPr>
            <a:grpSpLocks/>
          </p:cNvGrpSpPr>
          <p:nvPr/>
        </p:nvGrpSpPr>
        <p:grpSpPr bwMode="auto">
          <a:xfrm>
            <a:off x="77788" y="5381625"/>
            <a:ext cx="3733800" cy="700088"/>
            <a:chOff x="49" y="3390"/>
            <a:chExt cx="2352" cy="441"/>
          </a:xfrm>
        </p:grpSpPr>
        <p:grpSp>
          <p:nvGrpSpPr>
            <p:cNvPr id="3" name="Group 379"/>
            <p:cNvGrpSpPr>
              <a:grpSpLocks/>
            </p:cNvGrpSpPr>
            <p:nvPr/>
          </p:nvGrpSpPr>
          <p:grpSpPr bwMode="auto">
            <a:xfrm>
              <a:off x="49" y="3390"/>
              <a:ext cx="2352" cy="441"/>
              <a:chOff x="49" y="3390"/>
              <a:chExt cx="2352" cy="441"/>
            </a:xfrm>
          </p:grpSpPr>
          <p:sp>
            <p:nvSpPr>
              <p:cNvPr id="108883" name="Freeform 339"/>
              <p:cNvSpPr>
                <a:spLocks/>
              </p:cNvSpPr>
              <p:nvPr/>
            </p:nvSpPr>
            <p:spPr bwMode="auto">
              <a:xfrm>
                <a:off x="49" y="3399"/>
                <a:ext cx="2344" cy="431"/>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FF00FF"/>
              </a:solidFill>
              <a:ln w="12700" cap="rnd" cmpd="sng">
                <a:noFill/>
                <a:prstDash val="solid"/>
                <a:round/>
                <a:headEnd type="none" w="med" len="med"/>
                <a:tailEnd type="none" w="med" len="med"/>
              </a:ln>
              <a:effectLst/>
            </p:spPr>
            <p:txBody>
              <a:bodyPr/>
              <a:lstStyle/>
              <a:p>
                <a:endParaRPr lang="en-US"/>
              </a:p>
            </p:txBody>
          </p:sp>
          <p:sp>
            <p:nvSpPr>
              <p:cNvPr id="108884" name="Freeform 340"/>
              <p:cNvSpPr>
                <a:spLocks/>
              </p:cNvSpPr>
              <p:nvPr/>
            </p:nvSpPr>
            <p:spPr bwMode="auto">
              <a:xfrm>
                <a:off x="49" y="3390"/>
                <a:ext cx="2352" cy="441"/>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85" name="Freeform 341"/>
              <p:cNvSpPr>
                <a:spLocks/>
              </p:cNvSpPr>
              <p:nvPr/>
            </p:nvSpPr>
            <p:spPr bwMode="auto">
              <a:xfrm>
                <a:off x="731" y="3464"/>
                <a:ext cx="1502" cy="366"/>
              </a:xfrm>
              <a:custGeom>
                <a:avLst/>
                <a:gdLst/>
                <a:ahLst/>
                <a:cxnLst>
                  <a:cxn ang="0">
                    <a:pos x="0" y="365"/>
                  </a:cxn>
                  <a:cxn ang="0">
                    <a:pos x="143" y="365"/>
                  </a:cxn>
                  <a:cxn ang="0">
                    <a:pos x="211" y="328"/>
                  </a:cxn>
                  <a:cxn ang="0">
                    <a:pos x="252" y="275"/>
                  </a:cxn>
                  <a:cxn ang="0">
                    <a:pos x="320" y="204"/>
                  </a:cxn>
                  <a:cxn ang="0">
                    <a:pos x="380" y="169"/>
                  </a:cxn>
                  <a:cxn ang="0">
                    <a:pos x="456" y="142"/>
                  </a:cxn>
                  <a:cxn ang="0">
                    <a:pos x="625" y="89"/>
                  </a:cxn>
                  <a:cxn ang="0">
                    <a:pos x="713" y="89"/>
                  </a:cxn>
                  <a:cxn ang="0">
                    <a:pos x="816" y="72"/>
                  </a:cxn>
                  <a:cxn ang="0">
                    <a:pos x="911" y="27"/>
                  </a:cxn>
                  <a:cxn ang="0">
                    <a:pos x="1012" y="18"/>
                  </a:cxn>
                  <a:cxn ang="0">
                    <a:pos x="1162" y="0"/>
                  </a:cxn>
                  <a:cxn ang="0">
                    <a:pos x="1311" y="0"/>
                  </a:cxn>
                  <a:cxn ang="0">
                    <a:pos x="1447" y="0"/>
                  </a:cxn>
                  <a:cxn ang="0">
                    <a:pos x="1501" y="27"/>
                  </a:cxn>
                </a:cxnLst>
                <a:rect l="0" t="0" r="r" b="b"/>
                <a:pathLst>
                  <a:path w="1502" h="366">
                    <a:moveTo>
                      <a:pt x="0" y="365"/>
                    </a:moveTo>
                    <a:lnTo>
                      <a:pt x="143" y="365"/>
                    </a:lnTo>
                    <a:lnTo>
                      <a:pt x="211" y="328"/>
                    </a:lnTo>
                    <a:lnTo>
                      <a:pt x="252" y="275"/>
                    </a:lnTo>
                    <a:lnTo>
                      <a:pt x="320" y="204"/>
                    </a:lnTo>
                    <a:lnTo>
                      <a:pt x="380" y="169"/>
                    </a:lnTo>
                    <a:lnTo>
                      <a:pt x="456" y="142"/>
                    </a:lnTo>
                    <a:lnTo>
                      <a:pt x="625" y="89"/>
                    </a:lnTo>
                    <a:lnTo>
                      <a:pt x="713" y="89"/>
                    </a:lnTo>
                    <a:lnTo>
                      <a:pt x="816" y="72"/>
                    </a:lnTo>
                    <a:lnTo>
                      <a:pt x="911" y="27"/>
                    </a:lnTo>
                    <a:lnTo>
                      <a:pt x="1012" y="18"/>
                    </a:lnTo>
                    <a:lnTo>
                      <a:pt x="1162" y="0"/>
                    </a:lnTo>
                    <a:lnTo>
                      <a:pt x="1311" y="0"/>
                    </a:lnTo>
                    <a:lnTo>
                      <a:pt x="1447" y="0"/>
                    </a:lnTo>
                    <a:lnTo>
                      <a:pt x="1501" y="27"/>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86" name="Freeform 342"/>
              <p:cNvSpPr>
                <a:spLocks/>
              </p:cNvSpPr>
              <p:nvPr/>
            </p:nvSpPr>
            <p:spPr bwMode="auto">
              <a:xfrm>
                <a:off x="351" y="3536"/>
                <a:ext cx="477" cy="294"/>
              </a:xfrm>
              <a:custGeom>
                <a:avLst/>
                <a:gdLst/>
                <a:ahLst/>
                <a:cxnLst>
                  <a:cxn ang="0">
                    <a:pos x="0" y="293"/>
                  </a:cxn>
                  <a:cxn ang="0">
                    <a:pos x="40" y="256"/>
                  </a:cxn>
                  <a:cxn ang="0">
                    <a:pos x="122" y="229"/>
                  </a:cxn>
                  <a:cxn ang="0">
                    <a:pos x="244" y="194"/>
                  </a:cxn>
                  <a:cxn ang="0">
                    <a:pos x="346" y="159"/>
                  </a:cxn>
                  <a:cxn ang="0">
                    <a:pos x="421" y="105"/>
                  </a:cxn>
                  <a:cxn ang="0">
                    <a:pos x="455" y="62"/>
                  </a:cxn>
                  <a:cxn ang="0">
                    <a:pos x="476" y="0"/>
                  </a:cxn>
                </a:cxnLst>
                <a:rect l="0" t="0" r="r" b="b"/>
                <a:pathLst>
                  <a:path w="477" h="294">
                    <a:moveTo>
                      <a:pt x="0" y="293"/>
                    </a:moveTo>
                    <a:lnTo>
                      <a:pt x="40" y="256"/>
                    </a:lnTo>
                    <a:lnTo>
                      <a:pt x="122" y="229"/>
                    </a:lnTo>
                    <a:lnTo>
                      <a:pt x="244" y="194"/>
                    </a:lnTo>
                    <a:lnTo>
                      <a:pt x="346" y="159"/>
                    </a:lnTo>
                    <a:lnTo>
                      <a:pt x="421" y="105"/>
                    </a:lnTo>
                    <a:lnTo>
                      <a:pt x="455" y="62"/>
                    </a:lnTo>
                    <a:lnTo>
                      <a:pt x="476"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87" name="Freeform 343"/>
              <p:cNvSpPr>
                <a:spLocks/>
              </p:cNvSpPr>
              <p:nvPr/>
            </p:nvSpPr>
            <p:spPr bwMode="auto">
              <a:xfrm>
                <a:off x="269" y="3660"/>
                <a:ext cx="240" cy="170"/>
              </a:xfrm>
              <a:custGeom>
                <a:avLst/>
                <a:gdLst/>
                <a:ahLst/>
                <a:cxnLst>
                  <a:cxn ang="0">
                    <a:pos x="0" y="169"/>
                  </a:cxn>
                  <a:cxn ang="0">
                    <a:pos x="33" y="115"/>
                  </a:cxn>
                  <a:cxn ang="0">
                    <a:pos x="95" y="105"/>
                  </a:cxn>
                  <a:cxn ang="0">
                    <a:pos x="211" y="44"/>
                  </a:cxn>
                  <a:cxn ang="0">
                    <a:pos x="239" y="27"/>
                  </a:cxn>
                  <a:cxn ang="0">
                    <a:pos x="239" y="0"/>
                  </a:cxn>
                </a:cxnLst>
                <a:rect l="0" t="0" r="r" b="b"/>
                <a:pathLst>
                  <a:path w="240" h="170">
                    <a:moveTo>
                      <a:pt x="0" y="169"/>
                    </a:moveTo>
                    <a:lnTo>
                      <a:pt x="33" y="115"/>
                    </a:lnTo>
                    <a:lnTo>
                      <a:pt x="95" y="105"/>
                    </a:lnTo>
                    <a:lnTo>
                      <a:pt x="211" y="44"/>
                    </a:lnTo>
                    <a:lnTo>
                      <a:pt x="239" y="27"/>
                    </a:lnTo>
                    <a:lnTo>
                      <a:pt x="239"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sp>
          <p:nvSpPr>
            <p:cNvPr id="108888" name="Freeform 344"/>
            <p:cNvSpPr>
              <a:spLocks/>
            </p:cNvSpPr>
            <p:nvPr/>
          </p:nvSpPr>
          <p:spPr bwMode="auto">
            <a:xfrm>
              <a:off x="500" y="3408"/>
              <a:ext cx="1774" cy="411"/>
            </a:xfrm>
            <a:custGeom>
              <a:avLst/>
              <a:gdLst/>
              <a:ahLst/>
              <a:cxnLst>
                <a:cxn ang="0">
                  <a:pos x="0" y="410"/>
                </a:cxn>
                <a:cxn ang="0">
                  <a:pos x="95" y="383"/>
                </a:cxn>
                <a:cxn ang="0">
                  <a:pos x="265" y="338"/>
                </a:cxn>
                <a:cxn ang="0">
                  <a:pos x="333" y="293"/>
                </a:cxn>
                <a:cxn ang="0">
                  <a:pos x="380" y="249"/>
                </a:cxn>
                <a:cxn ang="0">
                  <a:pos x="462" y="204"/>
                </a:cxn>
                <a:cxn ang="0">
                  <a:pos x="605" y="134"/>
                </a:cxn>
                <a:cxn ang="0">
                  <a:pos x="755" y="99"/>
                </a:cxn>
                <a:cxn ang="0">
                  <a:pos x="965" y="62"/>
                </a:cxn>
                <a:cxn ang="0">
                  <a:pos x="1209" y="27"/>
                </a:cxn>
                <a:cxn ang="0">
                  <a:pos x="1399" y="18"/>
                </a:cxn>
                <a:cxn ang="0">
                  <a:pos x="1590" y="0"/>
                </a:cxn>
                <a:cxn ang="0">
                  <a:pos x="1732" y="10"/>
                </a:cxn>
                <a:cxn ang="0">
                  <a:pos x="1773" y="45"/>
                </a:cxn>
              </a:cxnLst>
              <a:rect l="0" t="0" r="r" b="b"/>
              <a:pathLst>
                <a:path w="1774" h="411">
                  <a:moveTo>
                    <a:pt x="0" y="410"/>
                  </a:moveTo>
                  <a:lnTo>
                    <a:pt x="95" y="383"/>
                  </a:lnTo>
                  <a:lnTo>
                    <a:pt x="265" y="338"/>
                  </a:lnTo>
                  <a:lnTo>
                    <a:pt x="333" y="293"/>
                  </a:lnTo>
                  <a:lnTo>
                    <a:pt x="380" y="249"/>
                  </a:lnTo>
                  <a:lnTo>
                    <a:pt x="462" y="204"/>
                  </a:lnTo>
                  <a:lnTo>
                    <a:pt x="605" y="134"/>
                  </a:lnTo>
                  <a:lnTo>
                    <a:pt x="755" y="99"/>
                  </a:lnTo>
                  <a:lnTo>
                    <a:pt x="965" y="62"/>
                  </a:lnTo>
                  <a:lnTo>
                    <a:pt x="1209" y="27"/>
                  </a:lnTo>
                  <a:lnTo>
                    <a:pt x="1399" y="18"/>
                  </a:lnTo>
                  <a:lnTo>
                    <a:pt x="1590" y="0"/>
                  </a:lnTo>
                  <a:lnTo>
                    <a:pt x="1732" y="10"/>
                  </a:lnTo>
                  <a:lnTo>
                    <a:pt x="1773" y="45"/>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sp>
        <p:nvSpPr>
          <p:cNvPr id="108560" name="Rectangle 16"/>
          <p:cNvSpPr>
            <a:spLocks noGrp="1" noChangeArrowheads="1"/>
          </p:cNvSpPr>
          <p:nvPr>
            <p:ph type="title"/>
          </p:nvPr>
        </p:nvSpPr>
        <p:spPr>
          <a:xfrm>
            <a:off x="0" y="0"/>
            <a:ext cx="7861300" cy="966788"/>
          </a:xfrm>
          <a:noFill/>
          <a:ln/>
        </p:spPr>
        <p:txBody>
          <a:bodyPr lIns="88900" tIns="44450" rIns="88900" bIns="44450" anchor="ctr">
            <a:normAutofit/>
          </a:bodyPr>
          <a:lstStyle/>
          <a:p>
            <a:pPr>
              <a:lnSpc>
                <a:spcPct val="90000"/>
              </a:lnSpc>
            </a:pPr>
            <a:r>
              <a:rPr lang="en-US" sz="3600" dirty="0"/>
              <a:t>Adding Spatial Layers</a:t>
            </a:r>
          </a:p>
        </p:txBody>
      </p:sp>
      <p:sp>
        <p:nvSpPr>
          <p:cNvPr id="108561" name="Rectangle 17"/>
          <p:cNvSpPr>
            <a:spLocks noGrp="1" noChangeArrowheads="1"/>
          </p:cNvSpPr>
          <p:nvPr>
            <p:ph idx="1"/>
          </p:nvPr>
        </p:nvSpPr>
        <p:spPr>
          <a:xfrm>
            <a:off x="660400" y="1527175"/>
            <a:ext cx="7950200" cy="1292225"/>
          </a:xfrm>
          <a:noFill/>
          <a:ln/>
        </p:spPr>
        <p:txBody>
          <a:bodyPr lIns="88900" tIns="44450" rIns="88900" bIns="44450"/>
          <a:lstStyle/>
          <a:p>
            <a:pPr>
              <a:lnSpc>
                <a:spcPct val="90000"/>
              </a:lnSpc>
              <a:buClr>
                <a:schemeClr val="hlink"/>
              </a:buClr>
            </a:pPr>
            <a:r>
              <a:rPr lang="en-US" sz="3300"/>
              <a:t>Overlay function creates new “layers”  to solve spatial problems</a:t>
            </a:r>
          </a:p>
        </p:txBody>
      </p:sp>
      <p:grpSp>
        <p:nvGrpSpPr>
          <p:cNvPr id="4" name="Group 394"/>
          <p:cNvGrpSpPr>
            <a:grpSpLocks/>
          </p:cNvGrpSpPr>
          <p:nvPr/>
        </p:nvGrpSpPr>
        <p:grpSpPr bwMode="auto">
          <a:xfrm>
            <a:off x="4579938" y="3705225"/>
            <a:ext cx="2486025" cy="1411288"/>
            <a:chOff x="2885" y="2334"/>
            <a:chExt cx="1566" cy="889"/>
          </a:xfrm>
        </p:grpSpPr>
        <p:grpSp>
          <p:nvGrpSpPr>
            <p:cNvPr id="5" name="Group 393"/>
            <p:cNvGrpSpPr>
              <a:grpSpLocks/>
            </p:cNvGrpSpPr>
            <p:nvPr/>
          </p:nvGrpSpPr>
          <p:grpSpPr bwMode="auto">
            <a:xfrm>
              <a:off x="2885" y="2781"/>
              <a:ext cx="1566" cy="442"/>
              <a:chOff x="2885" y="2781"/>
              <a:chExt cx="1566" cy="442"/>
            </a:xfrm>
          </p:grpSpPr>
          <p:sp>
            <p:nvSpPr>
              <p:cNvPr id="108763" name="Line 219"/>
              <p:cNvSpPr>
                <a:spLocks noChangeShapeType="1"/>
              </p:cNvSpPr>
              <p:nvPr/>
            </p:nvSpPr>
            <p:spPr bwMode="auto">
              <a:xfrm>
                <a:off x="2984" y="3209"/>
                <a:ext cx="532" cy="0"/>
              </a:xfrm>
              <a:prstGeom prst="line">
                <a:avLst/>
              </a:prstGeom>
              <a:noFill/>
              <a:ln w="12700">
                <a:solidFill>
                  <a:schemeClr val="tx1"/>
                </a:solidFill>
                <a:round/>
                <a:headEnd/>
                <a:tailEnd/>
              </a:ln>
              <a:effectLst/>
            </p:spPr>
            <p:txBody>
              <a:bodyPr wrap="none" anchor="ctr"/>
              <a:lstStyle/>
              <a:p>
                <a:endParaRPr lang="en-US"/>
              </a:p>
            </p:txBody>
          </p:sp>
          <p:grpSp>
            <p:nvGrpSpPr>
              <p:cNvPr id="6" name="Group 392"/>
              <p:cNvGrpSpPr>
                <a:grpSpLocks/>
              </p:cNvGrpSpPr>
              <p:nvPr/>
            </p:nvGrpSpPr>
            <p:grpSpPr bwMode="auto">
              <a:xfrm>
                <a:off x="2885" y="2781"/>
                <a:ext cx="1566" cy="442"/>
                <a:chOff x="2885" y="2781"/>
                <a:chExt cx="1566" cy="442"/>
              </a:xfrm>
            </p:grpSpPr>
            <p:grpSp>
              <p:nvGrpSpPr>
                <p:cNvPr id="7" name="Group 391"/>
                <p:cNvGrpSpPr>
                  <a:grpSpLocks/>
                </p:cNvGrpSpPr>
                <p:nvPr/>
              </p:nvGrpSpPr>
              <p:grpSpPr bwMode="auto">
                <a:xfrm>
                  <a:off x="2885" y="2781"/>
                  <a:ext cx="1566" cy="442"/>
                  <a:chOff x="2885" y="2781"/>
                  <a:chExt cx="1566" cy="442"/>
                </a:xfrm>
              </p:grpSpPr>
              <p:grpSp>
                <p:nvGrpSpPr>
                  <p:cNvPr id="8" name="Group 390"/>
                  <p:cNvGrpSpPr>
                    <a:grpSpLocks/>
                  </p:cNvGrpSpPr>
                  <p:nvPr/>
                </p:nvGrpSpPr>
                <p:grpSpPr bwMode="auto">
                  <a:xfrm>
                    <a:off x="2885" y="2781"/>
                    <a:ext cx="1566" cy="442"/>
                    <a:chOff x="2885" y="2781"/>
                    <a:chExt cx="1566" cy="442"/>
                  </a:xfrm>
                </p:grpSpPr>
                <p:sp>
                  <p:nvSpPr>
                    <p:cNvPr id="108771" name="Freeform 227"/>
                    <p:cNvSpPr>
                      <a:spLocks/>
                    </p:cNvSpPr>
                    <p:nvPr/>
                  </p:nvSpPr>
                  <p:spPr bwMode="auto">
                    <a:xfrm>
                      <a:off x="2885" y="2790"/>
                      <a:ext cx="1561" cy="432"/>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FF00FF"/>
                    </a:solidFill>
                    <a:ln w="12700" cap="rnd" cmpd="sng">
                      <a:noFill/>
                      <a:prstDash val="solid"/>
                      <a:round/>
                      <a:headEnd type="none" w="med" len="med"/>
                      <a:tailEnd type="none" w="med" len="med"/>
                    </a:ln>
                    <a:effectLst/>
                  </p:spPr>
                  <p:txBody>
                    <a:bodyPr/>
                    <a:lstStyle/>
                    <a:p>
                      <a:endParaRPr lang="en-US"/>
                    </a:p>
                  </p:txBody>
                </p:sp>
                <p:sp>
                  <p:nvSpPr>
                    <p:cNvPr id="108772" name="Freeform 228"/>
                    <p:cNvSpPr>
                      <a:spLocks/>
                    </p:cNvSpPr>
                    <p:nvPr/>
                  </p:nvSpPr>
                  <p:spPr bwMode="auto">
                    <a:xfrm>
                      <a:off x="2885" y="2781"/>
                      <a:ext cx="1566" cy="442"/>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73" name="Freeform 229"/>
                    <p:cNvSpPr>
                      <a:spLocks/>
                    </p:cNvSpPr>
                    <p:nvPr/>
                  </p:nvSpPr>
                  <p:spPr bwMode="auto">
                    <a:xfrm>
                      <a:off x="3339" y="2855"/>
                      <a:ext cx="1000" cy="367"/>
                    </a:xfrm>
                    <a:custGeom>
                      <a:avLst/>
                      <a:gdLst/>
                      <a:ahLst/>
                      <a:cxnLst>
                        <a:cxn ang="0">
                          <a:pos x="0" y="365"/>
                        </a:cxn>
                        <a:cxn ang="0">
                          <a:pos x="143" y="365"/>
                        </a:cxn>
                        <a:cxn ang="0">
                          <a:pos x="211" y="328"/>
                        </a:cxn>
                        <a:cxn ang="0">
                          <a:pos x="252" y="275"/>
                        </a:cxn>
                        <a:cxn ang="0">
                          <a:pos x="320" y="204"/>
                        </a:cxn>
                        <a:cxn ang="0">
                          <a:pos x="380" y="169"/>
                        </a:cxn>
                        <a:cxn ang="0">
                          <a:pos x="456" y="142"/>
                        </a:cxn>
                        <a:cxn ang="0">
                          <a:pos x="625" y="89"/>
                        </a:cxn>
                        <a:cxn ang="0">
                          <a:pos x="713" y="89"/>
                        </a:cxn>
                        <a:cxn ang="0">
                          <a:pos x="816" y="72"/>
                        </a:cxn>
                        <a:cxn ang="0">
                          <a:pos x="911" y="27"/>
                        </a:cxn>
                        <a:cxn ang="0">
                          <a:pos x="1012" y="18"/>
                        </a:cxn>
                        <a:cxn ang="0">
                          <a:pos x="1162" y="0"/>
                        </a:cxn>
                        <a:cxn ang="0">
                          <a:pos x="1311" y="0"/>
                        </a:cxn>
                        <a:cxn ang="0">
                          <a:pos x="1447" y="0"/>
                        </a:cxn>
                        <a:cxn ang="0">
                          <a:pos x="1501" y="27"/>
                        </a:cxn>
                      </a:cxnLst>
                      <a:rect l="0" t="0" r="r" b="b"/>
                      <a:pathLst>
                        <a:path w="1502" h="366">
                          <a:moveTo>
                            <a:pt x="0" y="365"/>
                          </a:moveTo>
                          <a:lnTo>
                            <a:pt x="143" y="365"/>
                          </a:lnTo>
                          <a:lnTo>
                            <a:pt x="211" y="328"/>
                          </a:lnTo>
                          <a:lnTo>
                            <a:pt x="252" y="275"/>
                          </a:lnTo>
                          <a:lnTo>
                            <a:pt x="320" y="204"/>
                          </a:lnTo>
                          <a:lnTo>
                            <a:pt x="380" y="169"/>
                          </a:lnTo>
                          <a:lnTo>
                            <a:pt x="456" y="142"/>
                          </a:lnTo>
                          <a:lnTo>
                            <a:pt x="625" y="89"/>
                          </a:lnTo>
                          <a:lnTo>
                            <a:pt x="713" y="89"/>
                          </a:lnTo>
                          <a:lnTo>
                            <a:pt x="816" y="72"/>
                          </a:lnTo>
                          <a:lnTo>
                            <a:pt x="911" y="27"/>
                          </a:lnTo>
                          <a:lnTo>
                            <a:pt x="1012" y="18"/>
                          </a:lnTo>
                          <a:lnTo>
                            <a:pt x="1162" y="0"/>
                          </a:lnTo>
                          <a:lnTo>
                            <a:pt x="1311" y="0"/>
                          </a:lnTo>
                          <a:lnTo>
                            <a:pt x="1447" y="0"/>
                          </a:lnTo>
                          <a:lnTo>
                            <a:pt x="1501" y="27"/>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74" name="Freeform 230"/>
                    <p:cNvSpPr>
                      <a:spLocks/>
                    </p:cNvSpPr>
                    <p:nvPr/>
                  </p:nvSpPr>
                  <p:spPr bwMode="auto">
                    <a:xfrm>
                      <a:off x="3086" y="2927"/>
                      <a:ext cx="318" cy="295"/>
                    </a:xfrm>
                    <a:custGeom>
                      <a:avLst/>
                      <a:gdLst/>
                      <a:ahLst/>
                      <a:cxnLst>
                        <a:cxn ang="0">
                          <a:pos x="0" y="293"/>
                        </a:cxn>
                        <a:cxn ang="0">
                          <a:pos x="40" y="256"/>
                        </a:cxn>
                        <a:cxn ang="0">
                          <a:pos x="122" y="229"/>
                        </a:cxn>
                        <a:cxn ang="0">
                          <a:pos x="244" y="194"/>
                        </a:cxn>
                        <a:cxn ang="0">
                          <a:pos x="346" y="159"/>
                        </a:cxn>
                        <a:cxn ang="0">
                          <a:pos x="421" y="105"/>
                        </a:cxn>
                        <a:cxn ang="0">
                          <a:pos x="455" y="62"/>
                        </a:cxn>
                        <a:cxn ang="0">
                          <a:pos x="476" y="0"/>
                        </a:cxn>
                      </a:cxnLst>
                      <a:rect l="0" t="0" r="r" b="b"/>
                      <a:pathLst>
                        <a:path w="477" h="294">
                          <a:moveTo>
                            <a:pt x="0" y="293"/>
                          </a:moveTo>
                          <a:lnTo>
                            <a:pt x="40" y="256"/>
                          </a:lnTo>
                          <a:lnTo>
                            <a:pt x="122" y="229"/>
                          </a:lnTo>
                          <a:lnTo>
                            <a:pt x="244" y="194"/>
                          </a:lnTo>
                          <a:lnTo>
                            <a:pt x="346" y="159"/>
                          </a:lnTo>
                          <a:lnTo>
                            <a:pt x="421" y="105"/>
                          </a:lnTo>
                          <a:lnTo>
                            <a:pt x="455" y="62"/>
                          </a:lnTo>
                          <a:lnTo>
                            <a:pt x="476"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75" name="Freeform 231"/>
                    <p:cNvSpPr>
                      <a:spLocks/>
                    </p:cNvSpPr>
                    <p:nvPr/>
                  </p:nvSpPr>
                  <p:spPr bwMode="auto">
                    <a:xfrm>
                      <a:off x="3031" y="3052"/>
                      <a:ext cx="160" cy="170"/>
                    </a:xfrm>
                    <a:custGeom>
                      <a:avLst/>
                      <a:gdLst/>
                      <a:ahLst/>
                      <a:cxnLst>
                        <a:cxn ang="0">
                          <a:pos x="0" y="169"/>
                        </a:cxn>
                        <a:cxn ang="0">
                          <a:pos x="33" y="115"/>
                        </a:cxn>
                        <a:cxn ang="0">
                          <a:pos x="95" y="105"/>
                        </a:cxn>
                        <a:cxn ang="0">
                          <a:pos x="211" y="44"/>
                        </a:cxn>
                        <a:cxn ang="0">
                          <a:pos x="239" y="27"/>
                        </a:cxn>
                        <a:cxn ang="0">
                          <a:pos x="239" y="0"/>
                        </a:cxn>
                      </a:cxnLst>
                      <a:rect l="0" t="0" r="r" b="b"/>
                      <a:pathLst>
                        <a:path w="240" h="170">
                          <a:moveTo>
                            <a:pt x="0" y="169"/>
                          </a:moveTo>
                          <a:lnTo>
                            <a:pt x="33" y="115"/>
                          </a:lnTo>
                          <a:lnTo>
                            <a:pt x="95" y="105"/>
                          </a:lnTo>
                          <a:lnTo>
                            <a:pt x="211" y="44"/>
                          </a:lnTo>
                          <a:lnTo>
                            <a:pt x="239" y="27"/>
                          </a:lnTo>
                          <a:lnTo>
                            <a:pt x="239"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sp>
                <p:nvSpPr>
                  <p:cNvPr id="108766" name="Freeform 222"/>
                  <p:cNvSpPr>
                    <a:spLocks/>
                  </p:cNvSpPr>
                  <p:nvPr/>
                </p:nvSpPr>
                <p:spPr bwMode="auto">
                  <a:xfrm>
                    <a:off x="3723" y="3083"/>
                    <a:ext cx="363" cy="127"/>
                  </a:xfrm>
                  <a:custGeom>
                    <a:avLst/>
                    <a:gdLst/>
                    <a:ahLst/>
                    <a:cxnLst>
                      <a:cxn ang="0">
                        <a:pos x="0" y="126"/>
                      </a:cxn>
                      <a:cxn ang="0">
                        <a:pos x="89" y="126"/>
                      </a:cxn>
                      <a:cxn ang="0">
                        <a:pos x="210" y="108"/>
                      </a:cxn>
                      <a:cxn ang="0">
                        <a:pos x="340" y="89"/>
                      </a:cxn>
                      <a:cxn ang="0">
                        <a:pos x="422" y="54"/>
                      </a:cxn>
                      <a:cxn ang="0">
                        <a:pos x="531" y="8"/>
                      </a:cxn>
                      <a:cxn ang="0">
                        <a:pos x="544" y="0"/>
                      </a:cxn>
                    </a:cxnLst>
                    <a:rect l="0" t="0" r="r" b="b"/>
                    <a:pathLst>
                      <a:path w="545" h="127">
                        <a:moveTo>
                          <a:pt x="0" y="126"/>
                        </a:moveTo>
                        <a:lnTo>
                          <a:pt x="89" y="126"/>
                        </a:lnTo>
                        <a:lnTo>
                          <a:pt x="210" y="108"/>
                        </a:lnTo>
                        <a:lnTo>
                          <a:pt x="340" y="89"/>
                        </a:lnTo>
                        <a:lnTo>
                          <a:pt x="422" y="54"/>
                        </a:lnTo>
                        <a:lnTo>
                          <a:pt x="531" y="8"/>
                        </a:lnTo>
                        <a:lnTo>
                          <a:pt x="54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67" name="Freeform 223"/>
                  <p:cNvSpPr>
                    <a:spLocks/>
                  </p:cNvSpPr>
                  <p:nvPr/>
                </p:nvSpPr>
                <p:spPr bwMode="auto">
                  <a:xfrm>
                    <a:off x="3534" y="2932"/>
                    <a:ext cx="729" cy="278"/>
                  </a:xfrm>
                  <a:custGeom>
                    <a:avLst/>
                    <a:gdLst/>
                    <a:ahLst/>
                    <a:cxnLst>
                      <a:cxn ang="0">
                        <a:pos x="0" y="276"/>
                      </a:cxn>
                      <a:cxn ang="0">
                        <a:pos x="115" y="249"/>
                      </a:cxn>
                      <a:cxn ang="0">
                        <a:pos x="191" y="231"/>
                      </a:cxn>
                      <a:cxn ang="0">
                        <a:pos x="218" y="177"/>
                      </a:cxn>
                      <a:cxn ang="0">
                        <a:pos x="292" y="169"/>
                      </a:cxn>
                      <a:cxn ang="0">
                        <a:pos x="366" y="169"/>
                      </a:cxn>
                      <a:cxn ang="0">
                        <a:pos x="442" y="169"/>
                      </a:cxn>
                      <a:cxn ang="0">
                        <a:pos x="483" y="115"/>
                      </a:cxn>
                      <a:cxn ang="0">
                        <a:pos x="516" y="97"/>
                      </a:cxn>
                      <a:cxn ang="0">
                        <a:pos x="571" y="89"/>
                      </a:cxn>
                      <a:cxn ang="0">
                        <a:pos x="740" y="70"/>
                      </a:cxn>
                      <a:cxn ang="0">
                        <a:pos x="822" y="54"/>
                      </a:cxn>
                      <a:cxn ang="0">
                        <a:pos x="897" y="27"/>
                      </a:cxn>
                      <a:cxn ang="0">
                        <a:pos x="985" y="8"/>
                      </a:cxn>
                      <a:cxn ang="0">
                        <a:pos x="1094" y="0"/>
                      </a:cxn>
                    </a:cxnLst>
                    <a:rect l="0" t="0" r="r" b="b"/>
                    <a:pathLst>
                      <a:path w="1095" h="277">
                        <a:moveTo>
                          <a:pt x="0" y="276"/>
                        </a:moveTo>
                        <a:lnTo>
                          <a:pt x="115" y="249"/>
                        </a:lnTo>
                        <a:lnTo>
                          <a:pt x="191" y="231"/>
                        </a:lnTo>
                        <a:lnTo>
                          <a:pt x="218" y="177"/>
                        </a:lnTo>
                        <a:lnTo>
                          <a:pt x="292" y="169"/>
                        </a:lnTo>
                        <a:lnTo>
                          <a:pt x="366" y="169"/>
                        </a:lnTo>
                        <a:lnTo>
                          <a:pt x="442" y="169"/>
                        </a:lnTo>
                        <a:lnTo>
                          <a:pt x="483" y="115"/>
                        </a:lnTo>
                        <a:lnTo>
                          <a:pt x="516" y="97"/>
                        </a:lnTo>
                        <a:lnTo>
                          <a:pt x="571" y="89"/>
                        </a:lnTo>
                        <a:lnTo>
                          <a:pt x="740" y="70"/>
                        </a:lnTo>
                        <a:lnTo>
                          <a:pt x="822" y="54"/>
                        </a:lnTo>
                        <a:lnTo>
                          <a:pt x="897" y="27"/>
                        </a:lnTo>
                        <a:lnTo>
                          <a:pt x="985" y="8"/>
                        </a:lnTo>
                        <a:lnTo>
                          <a:pt x="109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68" name="Freeform 224"/>
                  <p:cNvSpPr>
                    <a:spLocks/>
                  </p:cNvSpPr>
                  <p:nvPr/>
                </p:nvSpPr>
                <p:spPr bwMode="auto">
                  <a:xfrm>
                    <a:off x="3185" y="2798"/>
                    <a:ext cx="1181" cy="412"/>
                  </a:xfrm>
                  <a:custGeom>
                    <a:avLst/>
                    <a:gdLst/>
                    <a:ahLst/>
                    <a:cxnLst>
                      <a:cxn ang="0">
                        <a:pos x="0" y="410"/>
                      </a:cxn>
                      <a:cxn ang="0">
                        <a:pos x="95" y="383"/>
                      </a:cxn>
                      <a:cxn ang="0">
                        <a:pos x="265" y="338"/>
                      </a:cxn>
                      <a:cxn ang="0">
                        <a:pos x="333" y="293"/>
                      </a:cxn>
                      <a:cxn ang="0">
                        <a:pos x="380" y="249"/>
                      </a:cxn>
                      <a:cxn ang="0">
                        <a:pos x="462" y="204"/>
                      </a:cxn>
                      <a:cxn ang="0">
                        <a:pos x="605" y="134"/>
                      </a:cxn>
                      <a:cxn ang="0">
                        <a:pos x="755" y="99"/>
                      </a:cxn>
                      <a:cxn ang="0">
                        <a:pos x="965" y="62"/>
                      </a:cxn>
                      <a:cxn ang="0">
                        <a:pos x="1209" y="27"/>
                      </a:cxn>
                      <a:cxn ang="0">
                        <a:pos x="1399" y="18"/>
                      </a:cxn>
                      <a:cxn ang="0">
                        <a:pos x="1590" y="0"/>
                      </a:cxn>
                      <a:cxn ang="0">
                        <a:pos x="1732" y="10"/>
                      </a:cxn>
                      <a:cxn ang="0">
                        <a:pos x="1773" y="45"/>
                      </a:cxn>
                    </a:cxnLst>
                    <a:rect l="0" t="0" r="r" b="b"/>
                    <a:pathLst>
                      <a:path w="1774" h="411">
                        <a:moveTo>
                          <a:pt x="0" y="410"/>
                        </a:moveTo>
                        <a:lnTo>
                          <a:pt x="95" y="383"/>
                        </a:lnTo>
                        <a:lnTo>
                          <a:pt x="265" y="338"/>
                        </a:lnTo>
                        <a:lnTo>
                          <a:pt x="333" y="293"/>
                        </a:lnTo>
                        <a:lnTo>
                          <a:pt x="380" y="249"/>
                        </a:lnTo>
                        <a:lnTo>
                          <a:pt x="462" y="204"/>
                        </a:lnTo>
                        <a:lnTo>
                          <a:pt x="605" y="134"/>
                        </a:lnTo>
                        <a:lnTo>
                          <a:pt x="755" y="99"/>
                        </a:lnTo>
                        <a:lnTo>
                          <a:pt x="965" y="62"/>
                        </a:lnTo>
                        <a:lnTo>
                          <a:pt x="1209" y="27"/>
                        </a:lnTo>
                        <a:lnTo>
                          <a:pt x="1399" y="18"/>
                        </a:lnTo>
                        <a:lnTo>
                          <a:pt x="1590" y="0"/>
                        </a:lnTo>
                        <a:lnTo>
                          <a:pt x="1732" y="10"/>
                        </a:lnTo>
                        <a:lnTo>
                          <a:pt x="1773" y="45"/>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69" name="Freeform 225"/>
                  <p:cNvSpPr>
                    <a:spLocks/>
                  </p:cNvSpPr>
                  <p:nvPr/>
                </p:nvSpPr>
                <p:spPr bwMode="auto">
                  <a:xfrm>
                    <a:off x="3136" y="2789"/>
                    <a:ext cx="548" cy="421"/>
                  </a:xfrm>
                  <a:custGeom>
                    <a:avLst/>
                    <a:gdLst/>
                    <a:ahLst/>
                    <a:cxnLst>
                      <a:cxn ang="0">
                        <a:pos x="0" y="419"/>
                      </a:cxn>
                      <a:cxn ang="0">
                        <a:pos x="115" y="374"/>
                      </a:cxn>
                      <a:cxn ang="0">
                        <a:pos x="245" y="347"/>
                      </a:cxn>
                      <a:cxn ang="0">
                        <a:pos x="346" y="302"/>
                      </a:cxn>
                      <a:cxn ang="0">
                        <a:pos x="393" y="258"/>
                      </a:cxn>
                      <a:cxn ang="0">
                        <a:pos x="455" y="223"/>
                      </a:cxn>
                      <a:cxn ang="0">
                        <a:pos x="496" y="169"/>
                      </a:cxn>
                      <a:cxn ang="0">
                        <a:pos x="563" y="126"/>
                      </a:cxn>
                      <a:cxn ang="0">
                        <a:pos x="699" y="72"/>
                      </a:cxn>
                      <a:cxn ang="0">
                        <a:pos x="781" y="8"/>
                      </a:cxn>
                      <a:cxn ang="0">
                        <a:pos x="822" y="0"/>
                      </a:cxn>
                    </a:cxnLst>
                    <a:rect l="0" t="0" r="r" b="b"/>
                    <a:pathLst>
                      <a:path w="823" h="420">
                        <a:moveTo>
                          <a:pt x="0" y="419"/>
                        </a:moveTo>
                        <a:lnTo>
                          <a:pt x="115" y="374"/>
                        </a:lnTo>
                        <a:lnTo>
                          <a:pt x="245" y="347"/>
                        </a:lnTo>
                        <a:lnTo>
                          <a:pt x="346" y="302"/>
                        </a:lnTo>
                        <a:lnTo>
                          <a:pt x="393" y="258"/>
                        </a:lnTo>
                        <a:lnTo>
                          <a:pt x="455" y="223"/>
                        </a:lnTo>
                        <a:lnTo>
                          <a:pt x="496" y="169"/>
                        </a:lnTo>
                        <a:lnTo>
                          <a:pt x="563" y="126"/>
                        </a:lnTo>
                        <a:lnTo>
                          <a:pt x="699" y="72"/>
                        </a:lnTo>
                        <a:lnTo>
                          <a:pt x="781" y="8"/>
                        </a:lnTo>
                        <a:lnTo>
                          <a:pt x="822"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sp>
              <p:nvSpPr>
                <p:cNvPr id="108776" name="Freeform 232"/>
                <p:cNvSpPr>
                  <a:spLocks/>
                </p:cNvSpPr>
                <p:nvPr/>
              </p:nvSpPr>
              <p:spPr bwMode="auto">
                <a:xfrm>
                  <a:off x="3185" y="2787"/>
                  <a:ext cx="1181" cy="412"/>
                </a:xfrm>
                <a:custGeom>
                  <a:avLst/>
                  <a:gdLst/>
                  <a:ahLst/>
                  <a:cxnLst>
                    <a:cxn ang="0">
                      <a:pos x="0" y="410"/>
                    </a:cxn>
                    <a:cxn ang="0">
                      <a:pos x="95" y="383"/>
                    </a:cxn>
                    <a:cxn ang="0">
                      <a:pos x="265" y="338"/>
                    </a:cxn>
                    <a:cxn ang="0">
                      <a:pos x="333" y="293"/>
                    </a:cxn>
                    <a:cxn ang="0">
                      <a:pos x="380" y="249"/>
                    </a:cxn>
                    <a:cxn ang="0">
                      <a:pos x="462" y="204"/>
                    </a:cxn>
                    <a:cxn ang="0">
                      <a:pos x="605" y="134"/>
                    </a:cxn>
                    <a:cxn ang="0">
                      <a:pos x="755" y="99"/>
                    </a:cxn>
                    <a:cxn ang="0">
                      <a:pos x="965" y="62"/>
                    </a:cxn>
                    <a:cxn ang="0">
                      <a:pos x="1209" y="27"/>
                    </a:cxn>
                    <a:cxn ang="0">
                      <a:pos x="1399" y="18"/>
                    </a:cxn>
                    <a:cxn ang="0">
                      <a:pos x="1590" y="0"/>
                    </a:cxn>
                    <a:cxn ang="0">
                      <a:pos x="1732" y="10"/>
                    </a:cxn>
                    <a:cxn ang="0">
                      <a:pos x="1773" y="45"/>
                    </a:cxn>
                  </a:cxnLst>
                  <a:rect l="0" t="0" r="r" b="b"/>
                  <a:pathLst>
                    <a:path w="1774" h="411">
                      <a:moveTo>
                        <a:pt x="0" y="410"/>
                      </a:moveTo>
                      <a:lnTo>
                        <a:pt x="95" y="383"/>
                      </a:lnTo>
                      <a:lnTo>
                        <a:pt x="265" y="338"/>
                      </a:lnTo>
                      <a:lnTo>
                        <a:pt x="333" y="293"/>
                      </a:lnTo>
                      <a:lnTo>
                        <a:pt x="380" y="249"/>
                      </a:lnTo>
                      <a:lnTo>
                        <a:pt x="462" y="204"/>
                      </a:lnTo>
                      <a:lnTo>
                        <a:pt x="605" y="134"/>
                      </a:lnTo>
                      <a:lnTo>
                        <a:pt x="755" y="99"/>
                      </a:lnTo>
                      <a:lnTo>
                        <a:pt x="965" y="62"/>
                      </a:lnTo>
                      <a:lnTo>
                        <a:pt x="1209" y="27"/>
                      </a:lnTo>
                      <a:lnTo>
                        <a:pt x="1399" y="18"/>
                      </a:lnTo>
                      <a:lnTo>
                        <a:pt x="1590" y="0"/>
                      </a:lnTo>
                      <a:lnTo>
                        <a:pt x="1732" y="10"/>
                      </a:lnTo>
                      <a:lnTo>
                        <a:pt x="1773" y="45"/>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77" name="Freeform 233"/>
                <p:cNvSpPr>
                  <a:spLocks/>
                </p:cNvSpPr>
                <p:nvPr/>
              </p:nvSpPr>
              <p:spPr bwMode="auto">
                <a:xfrm>
                  <a:off x="3534" y="2932"/>
                  <a:ext cx="729" cy="278"/>
                </a:xfrm>
                <a:custGeom>
                  <a:avLst/>
                  <a:gdLst/>
                  <a:ahLst/>
                  <a:cxnLst>
                    <a:cxn ang="0">
                      <a:pos x="0" y="276"/>
                    </a:cxn>
                    <a:cxn ang="0">
                      <a:pos x="115" y="249"/>
                    </a:cxn>
                    <a:cxn ang="0">
                      <a:pos x="191" y="231"/>
                    </a:cxn>
                    <a:cxn ang="0">
                      <a:pos x="218" y="177"/>
                    </a:cxn>
                    <a:cxn ang="0">
                      <a:pos x="292" y="169"/>
                    </a:cxn>
                    <a:cxn ang="0">
                      <a:pos x="366" y="169"/>
                    </a:cxn>
                    <a:cxn ang="0">
                      <a:pos x="442" y="169"/>
                    </a:cxn>
                    <a:cxn ang="0">
                      <a:pos x="483" y="115"/>
                    </a:cxn>
                    <a:cxn ang="0">
                      <a:pos x="516" y="97"/>
                    </a:cxn>
                    <a:cxn ang="0">
                      <a:pos x="571" y="89"/>
                    </a:cxn>
                    <a:cxn ang="0">
                      <a:pos x="740" y="70"/>
                    </a:cxn>
                    <a:cxn ang="0">
                      <a:pos x="822" y="54"/>
                    </a:cxn>
                    <a:cxn ang="0">
                      <a:pos x="897" y="27"/>
                    </a:cxn>
                    <a:cxn ang="0">
                      <a:pos x="985" y="8"/>
                    </a:cxn>
                    <a:cxn ang="0">
                      <a:pos x="1094" y="0"/>
                    </a:cxn>
                  </a:cxnLst>
                  <a:rect l="0" t="0" r="r" b="b"/>
                  <a:pathLst>
                    <a:path w="1095" h="277">
                      <a:moveTo>
                        <a:pt x="0" y="276"/>
                      </a:moveTo>
                      <a:lnTo>
                        <a:pt x="115" y="249"/>
                      </a:lnTo>
                      <a:lnTo>
                        <a:pt x="191" y="231"/>
                      </a:lnTo>
                      <a:lnTo>
                        <a:pt x="218" y="177"/>
                      </a:lnTo>
                      <a:lnTo>
                        <a:pt x="292" y="169"/>
                      </a:lnTo>
                      <a:lnTo>
                        <a:pt x="366" y="169"/>
                      </a:lnTo>
                      <a:lnTo>
                        <a:pt x="442" y="169"/>
                      </a:lnTo>
                      <a:lnTo>
                        <a:pt x="483" y="115"/>
                      </a:lnTo>
                      <a:lnTo>
                        <a:pt x="516" y="97"/>
                      </a:lnTo>
                      <a:lnTo>
                        <a:pt x="571" y="89"/>
                      </a:lnTo>
                      <a:lnTo>
                        <a:pt x="740" y="70"/>
                      </a:lnTo>
                      <a:lnTo>
                        <a:pt x="822" y="54"/>
                      </a:lnTo>
                      <a:lnTo>
                        <a:pt x="897" y="27"/>
                      </a:lnTo>
                      <a:lnTo>
                        <a:pt x="985" y="8"/>
                      </a:lnTo>
                      <a:lnTo>
                        <a:pt x="109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grpSp>
          <p:nvGrpSpPr>
            <p:cNvPr id="9" name="Group 234"/>
            <p:cNvGrpSpPr>
              <a:grpSpLocks/>
            </p:cNvGrpSpPr>
            <p:nvPr/>
          </p:nvGrpSpPr>
          <p:grpSpPr bwMode="auto">
            <a:xfrm>
              <a:off x="2885" y="2660"/>
              <a:ext cx="1566" cy="440"/>
              <a:chOff x="289" y="3069"/>
              <a:chExt cx="2352" cy="438"/>
            </a:xfrm>
          </p:grpSpPr>
          <p:grpSp>
            <p:nvGrpSpPr>
              <p:cNvPr id="10" name="Group 235"/>
              <p:cNvGrpSpPr>
                <a:grpSpLocks/>
              </p:cNvGrpSpPr>
              <p:nvPr/>
            </p:nvGrpSpPr>
            <p:grpSpPr bwMode="auto">
              <a:xfrm>
                <a:off x="289" y="3069"/>
                <a:ext cx="2352" cy="435"/>
                <a:chOff x="289" y="3069"/>
                <a:chExt cx="2352" cy="435"/>
              </a:xfrm>
            </p:grpSpPr>
            <p:sp>
              <p:nvSpPr>
                <p:cNvPr id="108780" name="Freeform 236"/>
                <p:cNvSpPr>
                  <a:spLocks/>
                </p:cNvSpPr>
                <p:nvPr/>
              </p:nvSpPr>
              <p:spPr bwMode="auto">
                <a:xfrm>
                  <a:off x="289" y="3069"/>
                  <a:ext cx="2344" cy="431"/>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008000"/>
                </a:solidFill>
                <a:ln w="12700" cap="rnd" cmpd="sng">
                  <a:noFill/>
                  <a:prstDash val="solid"/>
                  <a:round/>
                  <a:headEnd type="none" w="med" len="med"/>
                  <a:tailEnd type="none" w="med" len="med"/>
                </a:ln>
                <a:effectLst/>
              </p:spPr>
              <p:txBody>
                <a:bodyPr/>
                <a:lstStyle/>
                <a:p>
                  <a:endParaRPr lang="en-US"/>
                </a:p>
              </p:txBody>
            </p:sp>
            <p:sp>
              <p:nvSpPr>
                <p:cNvPr id="108781" name="Freeform 237"/>
                <p:cNvSpPr>
                  <a:spLocks/>
                </p:cNvSpPr>
                <p:nvPr/>
              </p:nvSpPr>
              <p:spPr bwMode="auto">
                <a:xfrm>
                  <a:off x="289" y="3069"/>
                  <a:ext cx="2352" cy="435"/>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82" name="Freeform 238"/>
                <p:cNvSpPr>
                  <a:spLocks/>
                </p:cNvSpPr>
                <p:nvPr/>
              </p:nvSpPr>
              <p:spPr bwMode="auto">
                <a:xfrm>
                  <a:off x="1655" y="3169"/>
                  <a:ext cx="768" cy="329"/>
                </a:xfrm>
                <a:custGeom>
                  <a:avLst/>
                  <a:gdLst/>
                  <a:ahLst/>
                  <a:cxnLst>
                    <a:cxn ang="0">
                      <a:pos x="767" y="17"/>
                    </a:cxn>
                    <a:cxn ang="0">
                      <a:pos x="652" y="17"/>
                    </a:cxn>
                    <a:cxn ang="0">
                      <a:pos x="543" y="0"/>
                    </a:cxn>
                    <a:cxn ang="0">
                      <a:pos x="502" y="17"/>
                    </a:cxn>
                    <a:cxn ang="0">
                      <a:pos x="483" y="79"/>
                    </a:cxn>
                    <a:cxn ang="0">
                      <a:pos x="428" y="151"/>
                    </a:cxn>
                    <a:cxn ang="0">
                      <a:pos x="278" y="159"/>
                    </a:cxn>
                    <a:cxn ang="0">
                      <a:pos x="156" y="141"/>
                    </a:cxn>
                    <a:cxn ang="0">
                      <a:pos x="95" y="177"/>
                    </a:cxn>
                    <a:cxn ang="0">
                      <a:pos x="14" y="213"/>
                    </a:cxn>
                    <a:cxn ang="0">
                      <a:pos x="0" y="231"/>
                    </a:cxn>
                    <a:cxn ang="0">
                      <a:pos x="0" y="293"/>
                    </a:cxn>
                    <a:cxn ang="0">
                      <a:pos x="0" y="328"/>
                    </a:cxn>
                  </a:cxnLst>
                  <a:rect l="0" t="0" r="r" b="b"/>
                  <a:pathLst>
                    <a:path w="768" h="329">
                      <a:moveTo>
                        <a:pt x="767" y="17"/>
                      </a:moveTo>
                      <a:lnTo>
                        <a:pt x="652" y="17"/>
                      </a:lnTo>
                      <a:lnTo>
                        <a:pt x="543" y="0"/>
                      </a:lnTo>
                      <a:lnTo>
                        <a:pt x="502" y="17"/>
                      </a:lnTo>
                      <a:lnTo>
                        <a:pt x="483" y="79"/>
                      </a:lnTo>
                      <a:lnTo>
                        <a:pt x="428" y="151"/>
                      </a:lnTo>
                      <a:lnTo>
                        <a:pt x="278" y="159"/>
                      </a:lnTo>
                      <a:lnTo>
                        <a:pt x="156" y="141"/>
                      </a:lnTo>
                      <a:lnTo>
                        <a:pt x="95" y="177"/>
                      </a:lnTo>
                      <a:lnTo>
                        <a:pt x="14" y="213"/>
                      </a:lnTo>
                      <a:lnTo>
                        <a:pt x="0" y="231"/>
                      </a:lnTo>
                      <a:lnTo>
                        <a:pt x="0" y="293"/>
                      </a:lnTo>
                      <a:lnTo>
                        <a:pt x="0" y="328"/>
                      </a:lnTo>
                    </a:path>
                  </a:pathLst>
                </a:custGeom>
                <a:noFill/>
                <a:ln w="12700" cap="rnd" cmpd="sng">
                  <a:solidFill>
                    <a:srgbClr val="FF0000"/>
                  </a:solidFill>
                  <a:prstDash val="solid"/>
                  <a:round/>
                  <a:headEnd type="none" w="med" len="med"/>
                  <a:tailEnd type="none" w="med" len="med"/>
                </a:ln>
                <a:effectLst/>
              </p:spPr>
              <p:txBody>
                <a:bodyPr/>
                <a:lstStyle/>
                <a:p>
                  <a:endParaRPr lang="en-US"/>
                </a:p>
              </p:txBody>
            </p:sp>
            <p:sp>
              <p:nvSpPr>
                <p:cNvPr id="108783" name="Freeform 239"/>
                <p:cNvSpPr>
                  <a:spLocks/>
                </p:cNvSpPr>
                <p:nvPr/>
              </p:nvSpPr>
              <p:spPr bwMode="auto">
                <a:xfrm>
                  <a:off x="567" y="3355"/>
                  <a:ext cx="1089" cy="71"/>
                </a:xfrm>
                <a:custGeom>
                  <a:avLst/>
                  <a:gdLst/>
                  <a:ahLst/>
                  <a:cxnLst>
                    <a:cxn ang="0">
                      <a:pos x="1088" y="62"/>
                    </a:cxn>
                    <a:cxn ang="0">
                      <a:pos x="1026" y="27"/>
                    </a:cxn>
                    <a:cxn ang="0">
                      <a:pos x="918" y="27"/>
                    </a:cxn>
                    <a:cxn ang="0">
                      <a:pos x="714" y="27"/>
                    </a:cxn>
                    <a:cxn ang="0">
                      <a:pos x="654" y="43"/>
                    </a:cxn>
                    <a:cxn ang="0">
                      <a:pos x="613" y="62"/>
                    </a:cxn>
                    <a:cxn ang="0">
                      <a:pos x="477" y="43"/>
                    </a:cxn>
                    <a:cxn ang="0">
                      <a:pos x="422" y="0"/>
                    </a:cxn>
                    <a:cxn ang="0">
                      <a:pos x="333" y="0"/>
                    </a:cxn>
                    <a:cxn ang="0">
                      <a:pos x="232" y="0"/>
                    </a:cxn>
                    <a:cxn ang="0">
                      <a:pos x="178" y="43"/>
                    </a:cxn>
                    <a:cxn ang="0">
                      <a:pos x="88" y="70"/>
                    </a:cxn>
                    <a:cxn ang="0">
                      <a:pos x="0" y="43"/>
                    </a:cxn>
                  </a:cxnLst>
                  <a:rect l="0" t="0" r="r" b="b"/>
                  <a:pathLst>
                    <a:path w="1089" h="71">
                      <a:moveTo>
                        <a:pt x="1088" y="62"/>
                      </a:moveTo>
                      <a:lnTo>
                        <a:pt x="1026" y="27"/>
                      </a:lnTo>
                      <a:lnTo>
                        <a:pt x="918" y="27"/>
                      </a:lnTo>
                      <a:lnTo>
                        <a:pt x="714" y="27"/>
                      </a:lnTo>
                      <a:lnTo>
                        <a:pt x="654" y="43"/>
                      </a:lnTo>
                      <a:lnTo>
                        <a:pt x="613" y="62"/>
                      </a:lnTo>
                      <a:lnTo>
                        <a:pt x="477" y="43"/>
                      </a:lnTo>
                      <a:lnTo>
                        <a:pt x="422" y="0"/>
                      </a:lnTo>
                      <a:lnTo>
                        <a:pt x="333" y="0"/>
                      </a:lnTo>
                      <a:lnTo>
                        <a:pt x="232" y="0"/>
                      </a:lnTo>
                      <a:lnTo>
                        <a:pt x="178" y="43"/>
                      </a:lnTo>
                      <a:lnTo>
                        <a:pt x="88" y="70"/>
                      </a:lnTo>
                      <a:lnTo>
                        <a:pt x="0" y="43"/>
                      </a:lnTo>
                    </a:path>
                  </a:pathLst>
                </a:custGeom>
                <a:noFill/>
                <a:ln w="12700" cap="rnd" cmpd="sng">
                  <a:solidFill>
                    <a:srgbClr val="FF0000"/>
                  </a:solidFill>
                  <a:prstDash val="solid"/>
                  <a:round/>
                  <a:headEnd type="none" w="med" len="med"/>
                  <a:tailEnd type="none" w="med" len="med"/>
                </a:ln>
                <a:effectLst/>
              </p:spPr>
              <p:txBody>
                <a:bodyPr/>
                <a:lstStyle/>
                <a:p>
                  <a:endParaRPr lang="en-US"/>
                </a:p>
              </p:txBody>
            </p:sp>
          </p:grpSp>
          <p:sp>
            <p:nvSpPr>
              <p:cNvPr id="108784" name="Freeform 240"/>
              <p:cNvSpPr>
                <a:spLocks/>
              </p:cNvSpPr>
              <p:nvPr/>
            </p:nvSpPr>
            <p:spPr bwMode="auto">
              <a:xfrm>
                <a:off x="1206" y="3116"/>
                <a:ext cx="90" cy="275"/>
              </a:xfrm>
              <a:custGeom>
                <a:avLst/>
                <a:gdLst/>
                <a:ahLst/>
                <a:cxnLst>
                  <a:cxn ang="0">
                    <a:pos x="41" y="274"/>
                  </a:cxn>
                  <a:cxn ang="0">
                    <a:pos x="0" y="212"/>
                  </a:cxn>
                  <a:cxn ang="0">
                    <a:pos x="0" y="142"/>
                  </a:cxn>
                  <a:cxn ang="0">
                    <a:pos x="14" y="142"/>
                  </a:cxn>
                  <a:cxn ang="0">
                    <a:pos x="75" y="70"/>
                  </a:cxn>
                  <a:cxn ang="0">
                    <a:pos x="89" y="17"/>
                  </a:cxn>
                  <a:cxn ang="0">
                    <a:pos x="89" y="0"/>
                  </a:cxn>
                </a:cxnLst>
                <a:rect l="0" t="0" r="r" b="b"/>
                <a:pathLst>
                  <a:path w="90" h="275">
                    <a:moveTo>
                      <a:pt x="41" y="274"/>
                    </a:moveTo>
                    <a:lnTo>
                      <a:pt x="0" y="212"/>
                    </a:lnTo>
                    <a:lnTo>
                      <a:pt x="0" y="142"/>
                    </a:lnTo>
                    <a:lnTo>
                      <a:pt x="14" y="142"/>
                    </a:lnTo>
                    <a:lnTo>
                      <a:pt x="75" y="70"/>
                    </a:lnTo>
                    <a:lnTo>
                      <a:pt x="89" y="17"/>
                    </a:lnTo>
                    <a:lnTo>
                      <a:pt x="89"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85" name="Freeform 241"/>
              <p:cNvSpPr>
                <a:spLocks/>
              </p:cNvSpPr>
              <p:nvPr/>
            </p:nvSpPr>
            <p:spPr bwMode="auto">
              <a:xfrm>
                <a:off x="1349" y="3382"/>
                <a:ext cx="103" cy="125"/>
              </a:xfrm>
              <a:custGeom>
                <a:avLst/>
                <a:gdLst/>
                <a:ahLst/>
                <a:cxnLst>
                  <a:cxn ang="0">
                    <a:pos x="0" y="0"/>
                  </a:cxn>
                  <a:cxn ang="0">
                    <a:pos x="8" y="35"/>
                  </a:cxn>
                  <a:cxn ang="0">
                    <a:pos x="41" y="44"/>
                  </a:cxn>
                  <a:cxn ang="0">
                    <a:pos x="82" y="70"/>
                  </a:cxn>
                  <a:cxn ang="0">
                    <a:pos x="88" y="97"/>
                  </a:cxn>
                  <a:cxn ang="0">
                    <a:pos x="102" y="124"/>
                  </a:cxn>
                </a:cxnLst>
                <a:rect l="0" t="0" r="r" b="b"/>
                <a:pathLst>
                  <a:path w="103" h="125">
                    <a:moveTo>
                      <a:pt x="0" y="0"/>
                    </a:moveTo>
                    <a:lnTo>
                      <a:pt x="8" y="35"/>
                    </a:lnTo>
                    <a:lnTo>
                      <a:pt x="41" y="44"/>
                    </a:lnTo>
                    <a:lnTo>
                      <a:pt x="82" y="70"/>
                    </a:lnTo>
                    <a:lnTo>
                      <a:pt x="88" y="97"/>
                    </a:lnTo>
                    <a:lnTo>
                      <a:pt x="102" y="124"/>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86" name="Freeform 242"/>
              <p:cNvSpPr>
                <a:spLocks/>
              </p:cNvSpPr>
              <p:nvPr/>
            </p:nvSpPr>
            <p:spPr bwMode="auto">
              <a:xfrm>
                <a:off x="540" y="3417"/>
                <a:ext cx="151" cy="81"/>
              </a:xfrm>
              <a:custGeom>
                <a:avLst/>
                <a:gdLst/>
                <a:ahLst/>
                <a:cxnLst>
                  <a:cxn ang="0">
                    <a:pos x="150" y="0"/>
                  </a:cxn>
                  <a:cxn ang="0">
                    <a:pos x="117" y="27"/>
                  </a:cxn>
                  <a:cxn ang="0">
                    <a:pos x="49" y="27"/>
                  </a:cxn>
                  <a:cxn ang="0">
                    <a:pos x="8" y="45"/>
                  </a:cxn>
                  <a:cxn ang="0">
                    <a:pos x="0" y="80"/>
                  </a:cxn>
                </a:cxnLst>
                <a:rect l="0" t="0" r="r" b="b"/>
                <a:pathLst>
                  <a:path w="151" h="81">
                    <a:moveTo>
                      <a:pt x="150" y="0"/>
                    </a:moveTo>
                    <a:lnTo>
                      <a:pt x="117" y="27"/>
                    </a:lnTo>
                    <a:lnTo>
                      <a:pt x="49" y="27"/>
                    </a:lnTo>
                    <a:lnTo>
                      <a:pt x="8" y="45"/>
                    </a:lnTo>
                    <a:lnTo>
                      <a:pt x="0" y="8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87" name="Freeform 243"/>
              <p:cNvSpPr>
                <a:spLocks/>
              </p:cNvSpPr>
              <p:nvPr/>
            </p:nvSpPr>
            <p:spPr bwMode="auto">
              <a:xfrm>
                <a:off x="1709" y="3221"/>
                <a:ext cx="564" cy="170"/>
              </a:xfrm>
              <a:custGeom>
                <a:avLst/>
                <a:gdLst/>
                <a:ahLst/>
                <a:cxnLst>
                  <a:cxn ang="0">
                    <a:pos x="563" y="54"/>
                  </a:cxn>
                  <a:cxn ang="0">
                    <a:pos x="476" y="27"/>
                  </a:cxn>
                  <a:cxn ang="0">
                    <a:pos x="435" y="0"/>
                  </a:cxn>
                  <a:cxn ang="0">
                    <a:pos x="347" y="0"/>
                  </a:cxn>
                  <a:cxn ang="0">
                    <a:pos x="197" y="18"/>
                  </a:cxn>
                  <a:cxn ang="0">
                    <a:pos x="170" y="80"/>
                  </a:cxn>
                  <a:cxn ang="0">
                    <a:pos x="170" y="99"/>
                  </a:cxn>
                  <a:cxn ang="0">
                    <a:pos x="150" y="169"/>
                  </a:cxn>
                  <a:cxn ang="0">
                    <a:pos x="102" y="169"/>
                  </a:cxn>
                  <a:cxn ang="0">
                    <a:pos x="28" y="169"/>
                  </a:cxn>
                  <a:cxn ang="0">
                    <a:pos x="0" y="142"/>
                  </a:cxn>
                </a:cxnLst>
                <a:rect l="0" t="0" r="r" b="b"/>
                <a:pathLst>
                  <a:path w="564" h="170">
                    <a:moveTo>
                      <a:pt x="563" y="54"/>
                    </a:moveTo>
                    <a:lnTo>
                      <a:pt x="476" y="27"/>
                    </a:lnTo>
                    <a:lnTo>
                      <a:pt x="435" y="0"/>
                    </a:lnTo>
                    <a:lnTo>
                      <a:pt x="347" y="0"/>
                    </a:lnTo>
                    <a:lnTo>
                      <a:pt x="197" y="18"/>
                    </a:lnTo>
                    <a:lnTo>
                      <a:pt x="170" y="80"/>
                    </a:lnTo>
                    <a:lnTo>
                      <a:pt x="170" y="99"/>
                    </a:lnTo>
                    <a:lnTo>
                      <a:pt x="150" y="169"/>
                    </a:lnTo>
                    <a:lnTo>
                      <a:pt x="102" y="169"/>
                    </a:lnTo>
                    <a:lnTo>
                      <a:pt x="28" y="169"/>
                    </a:lnTo>
                    <a:lnTo>
                      <a:pt x="0" y="142"/>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nvGrpSpPr>
            <p:cNvPr id="11" name="Group 244"/>
            <p:cNvGrpSpPr>
              <a:grpSpLocks/>
            </p:cNvGrpSpPr>
            <p:nvPr/>
          </p:nvGrpSpPr>
          <p:grpSpPr bwMode="auto">
            <a:xfrm>
              <a:off x="2886" y="2558"/>
              <a:ext cx="1564" cy="432"/>
              <a:chOff x="288" y="2739"/>
              <a:chExt cx="2353" cy="431"/>
            </a:xfrm>
          </p:grpSpPr>
          <p:sp>
            <p:nvSpPr>
              <p:cNvPr id="108789" name="Freeform 245"/>
              <p:cNvSpPr>
                <a:spLocks/>
              </p:cNvSpPr>
              <p:nvPr/>
            </p:nvSpPr>
            <p:spPr bwMode="auto">
              <a:xfrm>
                <a:off x="288" y="2739"/>
                <a:ext cx="2353" cy="429"/>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790" name="Freeform 246"/>
              <p:cNvSpPr>
                <a:spLocks/>
              </p:cNvSpPr>
              <p:nvPr/>
            </p:nvSpPr>
            <p:spPr bwMode="auto">
              <a:xfrm>
                <a:off x="678" y="2893"/>
                <a:ext cx="1503" cy="277"/>
              </a:xfrm>
              <a:custGeom>
                <a:avLst/>
                <a:gdLst/>
                <a:ahLst/>
                <a:cxnLst>
                  <a:cxn ang="0">
                    <a:pos x="0" y="276"/>
                  </a:cxn>
                  <a:cxn ang="0">
                    <a:pos x="55" y="222"/>
                  </a:cxn>
                  <a:cxn ang="0">
                    <a:pos x="129" y="204"/>
                  </a:cxn>
                  <a:cxn ang="0">
                    <a:pos x="265" y="204"/>
                  </a:cxn>
                  <a:cxn ang="0">
                    <a:pos x="327" y="222"/>
                  </a:cxn>
                  <a:cxn ang="0">
                    <a:pos x="428" y="249"/>
                  </a:cxn>
                  <a:cxn ang="0">
                    <a:pos x="537" y="249"/>
                  </a:cxn>
                  <a:cxn ang="0">
                    <a:pos x="619" y="214"/>
                  </a:cxn>
                  <a:cxn ang="0">
                    <a:pos x="707" y="196"/>
                  </a:cxn>
                  <a:cxn ang="0">
                    <a:pos x="815" y="187"/>
                  </a:cxn>
                  <a:cxn ang="0">
                    <a:pos x="932" y="187"/>
                  </a:cxn>
                  <a:cxn ang="0">
                    <a:pos x="1019" y="214"/>
                  </a:cxn>
                  <a:cxn ang="0">
                    <a:pos x="1107" y="214"/>
                  </a:cxn>
                  <a:cxn ang="0">
                    <a:pos x="1202" y="204"/>
                  </a:cxn>
                  <a:cxn ang="0">
                    <a:pos x="1251" y="134"/>
                  </a:cxn>
                  <a:cxn ang="0">
                    <a:pos x="1271" y="62"/>
                  </a:cxn>
                  <a:cxn ang="0">
                    <a:pos x="1399" y="0"/>
                  </a:cxn>
                  <a:cxn ang="0">
                    <a:pos x="1461" y="18"/>
                  </a:cxn>
                  <a:cxn ang="0">
                    <a:pos x="1502" y="99"/>
                  </a:cxn>
                </a:cxnLst>
                <a:rect l="0" t="0" r="r" b="b"/>
                <a:pathLst>
                  <a:path w="1503" h="277">
                    <a:moveTo>
                      <a:pt x="0" y="276"/>
                    </a:moveTo>
                    <a:lnTo>
                      <a:pt x="55" y="222"/>
                    </a:lnTo>
                    <a:lnTo>
                      <a:pt x="129" y="204"/>
                    </a:lnTo>
                    <a:lnTo>
                      <a:pt x="265" y="204"/>
                    </a:lnTo>
                    <a:lnTo>
                      <a:pt x="327" y="222"/>
                    </a:lnTo>
                    <a:lnTo>
                      <a:pt x="428" y="249"/>
                    </a:lnTo>
                    <a:lnTo>
                      <a:pt x="537" y="249"/>
                    </a:lnTo>
                    <a:lnTo>
                      <a:pt x="619" y="214"/>
                    </a:lnTo>
                    <a:lnTo>
                      <a:pt x="707" y="196"/>
                    </a:lnTo>
                    <a:lnTo>
                      <a:pt x="815" y="187"/>
                    </a:lnTo>
                    <a:lnTo>
                      <a:pt x="932" y="187"/>
                    </a:lnTo>
                    <a:lnTo>
                      <a:pt x="1019" y="214"/>
                    </a:lnTo>
                    <a:lnTo>
                      <a:pt x="1107" y="214"/>
                    </a:lnTo>
                    <a:lnTo>
                      <a:pt x="1202" y="204"/>
                    </a:lnTo>
                    <a:lnTo>
                      <a:pt x="1251" y="134"/>
                    </a:lnTo>
                    <a:lnTo>
                      <a:pt x="1271" y="62"/>
                    </a:lnTo>
                    <a:lnTo>
                      <a:pt x="1399" y="0"/>
                    </a:lnTo>
                    <a:lnTo>
                      <a:pt x="1461" y="18"/>
                    </a:lnTo>
                    <a:lnTo>
                      <a:pt x="1502" y="99"/>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nvGrpSpPr>
              <p:cNvPr id="12" name="Group 247"/>
              <p:cNvGrpSpPr>
                <a:grpSpLocks/>
              </p:cNvGrpSpPr>
              <p:nvPr/>
            </p:nvGrpSpPr>
            <p:grpSpPr bwMode="auto">
              <a:xfrm>
                <a:off x="289" y="2739"/>
                <a:ext cx="2344" cy="431"/>
                <a:chOff x="289" y="2739"/>
                <a:chExt cx="2344" cy="431"/>
              </a:xfrm>
            </p:grpSpPr>
            <p:sp>
              <p:nvSpPr>
                <p:cNvPr id="108792" name="Freeform 248"/>
                <p:cNvSpPr>
                  <a:spLocks/>
                </p:cNvSpPr>
                <p:nvPr/>
              </p:nvSpPr>
              <p:spPr bwMode="auto">
                <a:xfrm>
                  <a:off x="289" y="2739"/>
                  <a:ext cx="2344" cy="431"/>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FFD386"/>
                </a:solidFill>
                <a:ln w="12700" cap="rnd" cmpd="sng">
                  <a:noFill/>
                  <a:prstDash val="solid"/>
                  <a:round/>
                  <a:headEnd type="none" w="med" len="med"/>
                  <a:tailEnd type="none" w="med" len="med"/>
                </a:ln>
                <a:effectLst/>
              </p:spPr>
              <p:txBody>
                <a:bodyPr/>
                <a:lstStyle/>
                <a:p>
                  <a:endParaRPr lang="en-US"/>
                </a:p>
              </p:txBody>
            </p:sp>
            <p:sp>
              <p:nvSpPr>
                <p:cNvPr id="108793" name="Freeform 249"/>
                <p:cNvSpPr>
                  <a:spLocks/>
                </p:cNvSpPr>
                <p:nvPr/>
              </p:nvSpPr>
              <p:spPr bwMode="auto">
                <a:xfrm>
                  <a:off x="570" y="3054"/>
                  <a:ext cx="245" cy="44"/>
                </a:xfrm>
                <a:custGeom>
                  <a:avLst/>
                  <a:gdLst/>
                  <a:ahLst/>
                  <a:cxnLst>
                    <a:cxn ang="0">
                      <a:pos x="244" y="43"/>
                    </a:cxn>
                    <a:cxn ang="0">
                      <a:pos x="231" y="0"/>
                    </a:cxn>
                    <a:cxn ang="0">
                      <a:pos x="184" y="0"/>
                    </a:cxn>
                    <a:cxn ang="0">
                      <a:pos x="109" y="17"/>
                    </a:cxn>
                    <a:cxn ang="0">
                      <a:pos x="47" y="43"/>
                    </a:cxn>
                    <a:cxn ang="0">
                      <a:pos x="0" y="17"/>
                    </a:cxn>
                  </a:cxnLst>
                  <a:rect l="0" t="0" r="r" b="b"/>
                  <a:pathLst>
                    <a:path w="245" h="44">
                      <a:moveTo>
                        <a:pt x="244" y="43"/>
                      </a:moveTo>
                      <a:lnTo>
                        <a:pt x="231" y="0"/>
                      </a:lnTo>
                      <a:lnTo>
                        <a:pt x="184" y="0"/>
                      </a:lnTo>
                      <a:lnTo>
                        <a:pt x="109" y="17"/>
                      </a:lnTo>
                      <a:lnTo>
                        <a:pt x="47" y="43"/>
                      </a:lnTo>
                      <a:lnTo>
                        <a:pt x="0" y="17"/>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sp>
            <p:nvSpPr>
              <p:cNvPr id="108794" name="Freeform 250"/>
              <p:cNvSpPr>
                <a:spLocks/>
              </p:cNvSpPr>
              <p:nvPr/>
            </p:nvSpPr>
            <p:spPr bwMode="auto">
              <a:xfrm>
                <a:off x="1065" y="2874"/>
                <a:ext cx="151" cy="259"/>
              </a:xfrm>
              <a:custGeom>
                <a:avLst/>
                <a:gdLst/>
                <a:ahLst/>
                <a:cxnLst>
                  <a:cxn ang="0">
                    <a:pos x="0" y="0"/>
                  </a:cxn>
                  <a:cxn ang="0">
                    <a:pos x="55" y="45"/>
                  </a:cxn>
                  <a:cxn ang="0">
                    <a:pos x="88" y="99"/>
                  </a:cxn>
                  <a:cxn ang="0">
                    <a:pos x="82" y="134"/>
                  </a:cxn>
                  <a:cxn ang="0">
                    <a:pos x="76" y="169"/>
                  </a:cxn>
                  <a:cxn ang="0">
                    <a:pos x="76" y="204"/>
                  </a:cxn>
                  <a:cxn ang="0">
                    <a:pos x="95" y="214"/>
                  </a:cxn>
                  <a:cxn ang="0">
                    <a:pos x="136" y="250"/>
                  </a:cxn>
                  <a:cxn ang="0">
                    <a:pos x="150" y="258"/>
                  </a:cxn>
                </a:cxnLst>
                <a:rect l="0" t="0" r="r" b="b"/>
                <a:pathLst>
                  <a:path w="151" h="259">
                    <a:moveTo>
                      <a:pt x="0" y="0"/>
                    </a:moveTo>
                    <a:lnTo>
                      <a:pt x="55" y="45"/>
                    </a:lnTo>
                    <a:lnTo>
                      <a:pt x="88" y="99"/>
                    </a:lnTo>
                    <a:lnTo>
                      <a:pt x="82" y="134"/>
                    </a:lnTo>
                    <a:lnTo>
                      <a:pt x="76" y="169"/>
                    </a:lnTo>
                    <a:lnTo>
                      <a:pt x="76" y="204"/>
                    </a:lnTo>
                    <a:lnTo>
                      <a:pt x="95" y="214"/>
                    </a:lnTo>
                    <a:lnTo>
                      <a:pt x="136" y="250"/>
                    </a:lnTo>
                    <a:lnTo>
                      <a:pt x="150" y="258"/>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sp>
            <p:nvSpPr>
              <p:cNvPr id="108795" name="Freeform 251"/>
              <p:cNvSpPr>
                <a:spLocks/>
              </p:cNvSpPr>
              <p:nvPr/>
            </p:nvSpPr>
            <p:spPr bwMode="auto">
              <a:xfrm>
                <a:off x="1447" y="3080"/>
                <a:ext cx="143" cy="90"/>
              </a:xfrm>
              <a:custGeom>
                <a:avLst/>
                <a:gdLst/>
                <a:ahLst/>
                <a:cxnLst>
                  <a:cxn ang="0">
                    <a:pos x="0" y="89"/>
                  </a:cxn>
                  <a:cxn ang="0">
                    <a:pos x="0" y="62"/>
                  </a:cxn>
                  <a:cxn ang="0">
                    <a:pos x="13" y="52"/>
                  </a:cxn>
                  <a:cxn ang="0">
                    <a:pos x="87" y="52"/>
                  </a:cxn>
                  <a:cxn ang="0">
                    <a:pos x="142" y="17"/>
                  </a:cxn>
                  <a:cxn ang="0">
                    <a:pos x="142" y="0"/>
                  </a:cxn>
                </a:cxnLst>
                <a:rect l="0" t="0" r="r" b="b"/>
                <a:pathLst>
                  <a:path w="143" h="90">
                    <a:moveTo>
                      <a:pt x="0" y="89"/>
                    </a:moveTo>
                    <a:lnTo>
                      <a:pt x="0" y="62"/>
                    </a:lnTo>
                    <a:lnTo>
                      <a:pt x="13" y="52"/>
                    </a:lnTo>
                    <a:lnTo>
                      <a:pt x="87" y="52"/>
                    </a:lnTo>
                    <a:lnTo>
                      <a:pt x="142" y="17"/>
                    </a:lnTo>
                    <a:lnTo>
                      <a:pt x="142" y="0"/>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sp>
            <p:nvSpPr>
              <p:cNvPr id="108796" name="Freeform 252"/>
              <p:cNvSpPr>
                <a:spLocks/>
              </p:cNvSpPr>
              <p:nvPr/>
            </p:nvSpPr>
            <p:spPr bwMode="auto">
              <a:xfrm>
                <a:off x="2003" y="2903"/>
                <a:ext cx="36" cy="187"/>
              </a:xfrm>
              <a:custGeom>
                <a:avLst/>
                <a:gdLst/>
                <a:ahLst/>
                <a:cxnLst>
                  <a:cxn ang="0">
                    <a:pos x="0" y="186"/>
                  </a:cxn>
                  <a:cxn ang="0">
                    <a:pos x="0" y="132"/>
                  </a:cxn>
                  <a:cxn ang="0">
                    <a:pos x="14" y="97"/>
                  </a:cxn>
                  <a:cxn ang="0">
                    <a:pos x="35" y="62"/>
                  </a:cxn>
                  <a:cxn ang="0">
                    <a:pos x="35" y="17"/>
                  </a:cxn>
                  <a:cxn ang="0">
                    <a:pos x="35" y="0"/>
                  </a:cxn>
                </a:cxnLst>
                <a:rect l="0" t="0" r="r" b="b"/>
                <a:pathLst>
                  <a:path w="36" h="187">
                    <a:moveTo>
                      <a:pt x="0" y="186"/>
                    </a:moveTo>
                    <a:lnTo>
                      <a:pt x="0" y="132"/>
                    </a:lnTo>
                    <a:lnTo>
                      <a:pt x="14" y="97"/>
                    </a:lnTo>
                    <a:lnTo>
                      <a:pt x="35" y="62"/>
                    </a:lnTo>
                    <a:lnTo>
                      <a:pt x="35" y="17"/>
                    </a:lnTo>
                    <a:lnTo>
                      <a:pt x="35" y="0"/>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grpSp>
          <p:nvGrpSpPr>
            <p:cNvPr id="13" name="Group 253"/>
            <p:cNvGrpSpPr>
              <a:grpSpLocks/>
            </p:cNvGrpSpPr>
            <p:nvPr/>
          </p:nvGrpSpPr>
          <p:grpSpPr bwMode="auto">
            <a:xfrm>
              <a:off x="2886" y="2469"/>
              <a:ext cx="1558" cy="432"/>
              <a:chOff x="289" y="2409"/>
              <a:chExt cx="2344" cy="431"/>
            </a:xfrm>
          </p:grpSpPr>
          <p:sp>
            <p:nvSpPr>
              <p:cNvPr id="108798" name="Freeform 254"/>
              <p:cNvSpPr>
                <a:spLocks/>
              </p:cNvSpPr>
              <p:nvPr/>
            </p:nvSpPr>
            <p:spPr bwMode="auto">
              <a:xfrm>
                <a:off x="289" y="2409"/>
                <a:ext cx="2344" cy="431"/>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00006F"/>
              </a:solidFill>
              <a:ln w="12700" cap="rnd" cmpd="sng">
                <a:noFill/>
                <a:prstDash val="solid"/>
                <a:round/>
                <a:headEnd type="none" w="med" len="med"/>
                <a:tailEnd type="none" w="med" len="med"/>
              </a:ln>
              <a:effectLst/>
            </p:spPr>
            <p:txBody>
              <a:bodyPr/>
              <a:lstStyle/>
              <a:p>
                <a:endParaRPr lang="en-US"/>
              </a:p>
            </p:txBody>
          </p:sp>
          <p:grpSp>
            <p:nvGrpSpPr>
              <p:cNvPr id="14" name="Group 255"/>
              <p:cNvGrpSpPr>
                <a:grpSpLocks/>
              </p:cNvGrpSpPr>
              <p:nvPr/>
            </p:nvGrpSpPr>
            <p:grpSpPr bwMode="auto">
              <a:xfrm>
                <a:off x="317" y="2419"/>
                <a:ext cx="2302" cy="418"/>
                <a:chOff x="317" y="2419"/>
                <a:chExt cx="2302" cy="418"/>
              </a:xfrm>
            </p:grpSpPr>
            <p:sp>
              <p:nvSpPr>
                <p:cNvPr id="108800" name="Freeform 256"/>
                <p:cNvSpPr>
                  <a:spLocks/>
                </p:cNvSpPr>
                <p:nvPr/>
              </p:nvSpPr>
              <p:spPr bwMode="auto">
                <a:xfrm>
                  <a:off x="317" y="2526"/>
                  <a:ext cx="1296" cy="311"/>
                </a:xfrm>
                <a:custGeom>
                  <a:avLst/>
                  <a:gdLst/>
                  <a:ahLst/>
                  <a:cxnLst>
                    <a:cxn ang="0">
                      <a:pos x="0" y="310"/>
                    </a:cxn>
                    <a:cxn ang="0">
                      <a:pos x="317" y="310"/>
                    </a:cxn>
                    <a:cxn ang="0">
                      <a:pos x="499" y="268"/>
                    </a:cxn>
                    <a:cxn ang="0">
                      <a:pos x="581" y="242"/>
                    </a:cxn>
                    <a:cxn ang="0">
                      <a:pos x="661" y="268"/>
                    </a:cxn>
                    <a:cxn ang="0">
                      <a:pos x="763" y="268"/>
                    </a:cxn>
                    <a:cxn ang="0">
                      <a:pos x="816" y="250"/>
                    </a:cxn>
                    <a:cxn ang="0">
                      <a:pos x="870" y="180"/>
                    </a:cxn>
                    <a:cxn ang="0">
                      <a:pos x="910" y="164"/>
                    </a:cxn>
                    <a:cxn ang="0">
                      <a:pos x="1073" y="156"/>
                    </a:cxn>
                    <a:cxn ang="0">
                      <a:pos x="1141" y="206"/>
                    </a:cxn>
                    <a:cxn ang="0">
                      <a:pos x="1262" y="250"/>
                    </a:cxn>
                    <a:cxn ang="0">
                      <a:pos x="1295" y="206"/>
                    </a:cxn>
                    <a:cxn ang="0">
                      <a:pos x="1262" y="42"/>
                    </a:cxn>
                    <a:cxn ang="0">
                      <a:pos x="1147" y="26"/>
                    </a:cxn>
                    <a:cxn ang="0">
                      <a:pos x="1012" y="52"/>
                    </a:cxn>
                    <a:cxn ang="0">
                      <a:pos x="958" y="52"/>
                    </a:cxn>
                    <a:cxn ang="0">
                      <a:pos x="958" y="0"/>
                    </a:cxn>
                    <a:cxn ang="0">
                      <a:pos x="857" y="0"/>
                    </a:cxn>
                    <a:cxn ang="0">
                      <a:pos x="775" y="0"/>
                    </a:cxn>
                    <a:cxn ang="0">
                      <a:pos x="0" y="310"/>
                    </a:cxn>
                  </a:cxnLst>
                  <a:rect l="0" t="0" r="r" b="b"/>
                  <a:pathLst>
                    <a:path w="1296" h="311">
                      <a:moveTo>
                        <a:pt x="0" y="310"/>
                      </a:moveTo>
                      <a:lnTo>
                        <a:pt x="317" y="310"/>
                      </a:lnTo>
                      <a:lnTo>
                        <a:pt x="499" y="268"/>
                      </a:lnTo>
                      <a:lnTo>
                        <a:pt x="581" y="242"/>
                      </a:lnTo>
                      <a:lnTo>
                        <a:pt x="661" y="268"/>
                      </a:lnTo>
                      <a:lnTo>
                        <a:pt x="763" y="268"/>
                      </a:lnTo>
                      <a:lnTo>
                        <a:pt x="816" y="250"/>
                      </a:lnTo>
                      <a:lnTo>
                        <a:pt x="870" y="180"/>
                      </a:lnTo>
                      <a:lnTo>
                        <a:pt x="910" y="164"/>
                      </a:lnTo>
                      <a:lnTo>
                        <a:pt x="1073" y="156"/>
                      </a:lnTo>
                      <a:lnTo>
                        <a:pt x="1141" y="206"/>
                      </a:lnTo>
                      <a:lnTo>
                        <a:pt x="1262" y="250"/>
                      </a:lnTo>
                      <a:lnTo>
                        <a:pt x="1295" y="206"/>
                      </a:lnTo>
                      <a:lnTo>
                        <a:pt x="1262" y="42"/>
                      </a:lnTo>
                      <a:lnTo>
                        <a:pt x="1147" y="26"/>
                      </a:lnTo>
                      <a:lnTo>
                        <a:pt x="1012" y="52"/>
                      </a:lnTo>
                      <a:lnTo>
                        <a:pt x="958" y="52"/>
                      </a:lnTo>
                      <a:lnTo>
                        <a:pt x="958" y="0"/>
                      </a:lnTo>
                      <a:lnTo>
                        <a:pt x="857" y="0"/>
                      </a:lnTo>
                      <a:lnTo>
                        <a:pt x="775" y="0"/>
                      </a:lnTo>
                      <a:lnTo>
                        <a:pt x="0" y="310"/>
                      </a:lnTo>
                    </a:path>
                  </a:pathLst>
                </a:custGeom>
                <a:solidFill>
                  <a:srgbClr val="CFAF80"/>
                </a:solidFill>
                <a:ln w="12700" cap="rnd" cmpd="sng">
                  <a:noFill/>
                  <a:prstDash val="solid"/>
                  <a:round/>
                  <a:headEnd type="none" w="med" len="med"/>
                  <a:tailEnd type="none" w="med" len="med"/>
                </a:ln>
                <a:effectLst/>
              </p:spPr>
              <p:txBody>
                <a:bodyPr/>
                <a:lstStyle/>
                <a:p>
                  <a:endParaRPr lang="en-US"/>
                </a:p>
              </p:txBody>
            </p:sp>
            <p:sp>
              <p:nvSpPr>
                <p:cNvPr id="108801" name="Freeform 257"/>
                <p:cNvSpPr>
                  <a:spLocks/>
                </p:cNvSpPr>
                <p:nvPr/>
              </p:nvSpPr>
              <p:spPr bwMode="auto">
                <a:xfrm>
                  <a:off x="663" y="2660"/>
                  <a:ext cx="1474" cy="177"/>
                </a:xfrm>
                <a:custGeom>
                  <a:avLst/>
                  <a:gdLst/>
                  <a:ahLst/>
                  <a:cxnLst>
                    <a:cxn ang="0">
                      <a:pos x="0" y="176"/>
                    </a:cxn>
                    <a:cxn ang="0">
                      <a:pos x="236" y="108"/>
                    </a:cxn>
                    <a:cxn ang="0">
                      <a:pos x="317" y="133"/>
                    </a:cxn>
                    <a:cxn ang="0">
                      <a:pos x="418" y="133"/>
                    </a:cxn>
                    <a:cxn ang="0">
                      <a:pos x="473" y="117"/>
                    </a:cxn>
                    <a:cxn ang="0">
                      <a:pos x="534" y="41"/>
                    </a:cxn>
                    <a:cxn ang="0">
                      <a:pos x="729" y="24"/>
                    </a:cxn>
                    <a:cxn ang="0">
                      <a:pos x="804" y="84"/>
                    </a:cxn>
                    <a:cxn ang="0">
                      <a:pos x="911" y="117"/>
                    </a:cxn>
                    <a:cxn ang="0">
                      <a:pos x="958" y="75"/>
                    </a:cxn>
                    <a:cxn ang="0">
                      <a:pos x="1007" y="24"/>
                    </a:cxn>
                    <a:cxn ang="0">
                      <a:pos x="1087" y="24"/>
                    </a:cxn>
                    <a:cxn ang="0">
                      <a:pos x="1168" y="41"/>
                    </a:cxn>
                    <a:cxn ang="0">
                      <a:pos x="1256" y="67"/>
                    </a:cxn>
                    <a:cxn ang="0">
                      <a:pos x="1344" y="33"/>
                    </a:cxn>
                    <a:cxn ang="0">
                      <a:pos x="1459" y="0"/>
                    </a:cxn>
                    <a:cxn ang="0">
                      <a:pos x="1473" y="33"/>
                    </a:cxn>
                    <a:cxn ang="0">
                      <a:pos x="1222" y="176"/>
                    </a:cxn>
                    <a:cxn ang="0">
                      <a:pos x="0" y="176"/>
                    </a:cxn>
                  </a:cxnLst>
                  <a:rect l="0" t="0" r="r" b="b"/>
                  <a:pathLst>
                    <a:path w="1474" h="177">
                      <a:moveTo>
                        <a:pt x="0" y="176"/>
                      </a:moveTo>
                      <a:lnTo>
                        <a:pt x="236" y="108"/>
                      </a:lnTo>
                      <a:lnTo>
                        <a:pt x="317" y="133"/>
                      </a:lnTo>
                      <a:lnTo>
                        <a:pt x="418" y="133"/>
                      </a:lnTo>
                      <a:lnTo>
                        <a:pt x="473" y="117"/>
                      </a:lnTo>
                      <a:lnTo>
                        <a:pt x="534" y="41"/>
                      </a:lnTo>
                      <a:lnTo>
                        <a:pt x="729" y="24"/>
                      </a:lnTo>
                      <a:lnTo>
                        <a:pt x="804" y="84"/>
                      </a:lnTo>
                      <a:lnTo>
                        <a:pt x="911" y="117"/>
                      </a:lnTo>
                      <a:lnTo>
                        <a:pt x="958" y="75"/>
                      </a:lnTo>
                      <a:lnTo>
                        <a:pt x="1007" y="24"/>
                      </a:lnTo>
                      <a:lnTo>
                        <a:pt x="1087" y="24"/>
                      </a:lnTo>
                      <a:lnTo>
                        <a:pt x="1168" y="41"/>
                      </a:lnTo>
                      <a:lnTo>
                        <a:pt x="1256" y="67"/>
                      </a:lnTo>
                      <a:lnTo>
                        <a:pt x="1344" y="33"/>
                      </a:lnTo>
                      <a:lnTo>
                        <a:pt x="1459" y="0"/>
                      </a:lnTo>
                      <a:lnTo>
                        <a:pt x="1473" y="33"/>
                      </a:lnTo>
                      <a:lnTo>
                        <a:pt x="1222" y="176"/>
                      </a:lnTo>
                      <a:lnTo>
                        <a:pt x="0" y="176"/>
                      </a:lnTo>
                    </a:path>
                  </a:pathLst>
                </a:custGeom>
                <a:solidFill>
                  <a:srgbClr val="802000"/>
                </a:solidFill>
                <a:ln w="12700" cap="rnd" cmpd="sng">
                  <a:noFill/>
                  <a:prstDash val="solid"/>
                  <a:round/>
                  <a:headEnd type="none" w="med" len="med"/>
                  <a:tailEnd type="none" w="med" len="med"/>
                </a:ln>
                <a:effectLst/>
              </p:spPr>
              <p:txBody>
                <a:bodyPr/>
                <a:lstStyle/>
                <a:p>
                  <a:endParaRPr lang="en-US"/>
                </a:p>
              </p:txBody>
            </p:sp>
            <p:sp>
              <p:nvSpPr>
                <p:cNvPr id="108802" name="Freeform 258"/>
                <p:cNvSpPr>
                  <a:spLocks/>
                </p:cNvSpPr>
                <p:nvPr/>
              </p:nvSpPr>
              <p:spPr bwMode="auto">
                <a:xfrm>
                  <a:off x="1097" y="2419"/>
                  <a:ext cx="1522" cy="302"/>
                </a:xfrm>
                <a:custGeom>
                  <a:avLst/>
                  <a:gdLst/>
                  <a:ahLst/>
                  <a:cxnLst>
                    <a:cxn ang="0">
                      <a:pos x="0" y="104"/>
                    </a:cxn>
                    <a:cxn ang="0">
                      <a:pos x="182" y="104"/>
                    </a:cxn>
                    <a:cxn ang="0">
                      <a:pos x="176" y="163"/>
                    </a:cxn>
                    <a:cxn ang="0">
                      <a:pos x="237" y="163"/>
                    </a:cxn>
                    <a:cxn ang="0">
                      <a:pos x="372" y="129"/>
                    </a:cxn>
                    <a:cxn ang="0">
                      <a:pos x="487" y="155"/>
                    </a:cxn>
                    <a:cxn ang="0">
                      <a:pos x="534" y="301"/>
                    </a:cxn>
                    <a:cxn ang="0">
                      <a:pos x="575" y="259"/>
                    </a:cxn>
                    <a:cxn ang="0">
                      <a:pos x="669" y="259"/>
                    </a:cxn>
                    <a:cxn ang="0">
                      <a:pos x="812" y="301"/>
                    </a:cxn>
                    <a:cxn ang="0">
                      <a:pos x="1028" y="233"/>
                    </a:cxn>
                    <a:cxn ang="0">
                      <a:pos x="1035" y="267"/>
                    </a:cxn>
                    <a:cxn ang="0">
                      <a:pos x="1521" y="0"/>
                    </a:cxn>
                    <a:cxn ang="0">
                      <a:pos x="278" y="0"/>
                    </a:cxn>
                    <a:cxn ang="0">
                      <a:pos x="0" y="104"/>
                    </a:cxn>
                  </a:cxnLst>
                  <a:rect l="0" t="0" r="r" b="b"/>
                  <a:pathLst>
                    <a:path w="1522" h="302">
                      <a:moveTo>
                        <a:pt x="0" y="104"/>
                      </a:moveTo>
                      <a:lnTo>
                        <a:pt x="182" y="104"/>
                      </a:lnTo>
                      <a:lnTo>
                        <a:pt x="176" y="163"/>
                      </a:lnTo>
                      <a:lnTo>
                        <a:pt x="237" y="163"/>
                      </a:lnTo>
                      <a:lnTo>
                        <a:pt x="372" y="129"/>
                      </a:lnTo>
                      <a:lnTo>
                        <a:pt x="487" y="155"/>
                      </a:lnTo>
                      <a:lnTo>
                        <a:pt x="534" y="301"/>
                      </a:lnTo>
                      <a:lnTo>
                        <a:pt x="575" y="259"/>
                      </a:lnTo>
                      <a:lnTo>
                        <a:pt x="669" y="259"/>
                      </a:lnTo>
                      <a:lnTo>
                        <a:pt x="812" y="301"/>
                      </a:lnTo>
                      <a:lnTo>
                        <a:pt x="1028" y="233"/>
                      </a:lnTo>
                      <a:lnTo>
                        <a:pt x="1035" y="267"/>
                      </a:lnTo>
                      <a:lnTo>
                        <a:pt x="1521" y="0"/>
                      </a:lnTo>
                      <a:lnTo>
                        <a:pt x="278" y="0"/>
                      </a:lnTo>
                      <a:lnTo>
                        <a:pt x="0" y="104"/>
                      </a:lnTo>
                    </a:path>
                  </a:pathLst>
                </a:custGeom>
                <a:solidFill>
                  <a:srgbClr val="FF8000"/>
                </a:solidFill>
                <a:ln w="12700" cap="rnd" cmpd="sng">
                  <a:noFill/>
                  <a:prstDash val="solid"/>
                  <a:round/>
                  <a:headEnd type="none" w="med" len="med"/>
                  <a:tailEnd type="none" w="med" len="med"/>
                </a:ln>
                <a:effectLst/>
              </p:spPr>
              <p:txBody>
                <a:bodyPr/>
                <a:lstStyle/>
                <a:p>
                  <a:endParaRPr lang="en-US"/>
                </a:p>
              </p:txBody>
            </p:sp>
          </p:grpSp>
        </p:grpSp>
        <p:grpSp>
          <p:nvGrpSpPr>
            <p:cNvPr id="15" name="Group 259"/>
            <p:cNvGrpSpPr>
              <a:grpSpLocks/>
            </p:cNvGrpSpPr>
            <p:nvPr/>
          </p:nvGrpSpPr>
          <p:grpSpPr bwMode="auto">
            <a:xfrm>
              <a:off x="2885" y="2334"/>
              <a:ext cx="1564" cy="432"/>
              <a:chOff x="288" y="2064"/>
              <a:chExt cx="2352" cy="432"/>
            </a:xfrm>
          </p:grpSpPr>
          <p:sp>
            <p:nvSpPr>
              <p:cNvPr id="108804" name="Freeform 260"/>
              <p:cNvSpPr>
                <a:spLocks/>
              </p:cNvSpPr>
              <p:nvPr/>
            </p:nvSpPr>
            <p:spPr bwMode="auto">
              <a:xfrm>
                <a:off x="288" y="2064"/>
                <a:ext cx="2344" cy="430"/>
              </a:xfrm>
              <a:custGeom>
                <a:avLst/>
                <a:gdLst/>
                <a:ahLst/>
                <a:cxnLst>
                  <a:cxn ang="0">
                    <a:pos x="0" y="429"/>
                  </a:cxn>
                  <a:cxn ang="0">
                    <a:pos x="1590" y="429"/>
                  </a:cxn>
                  <a:cxn ang="0">
                    <a:pos x="2343" y="0"/>
                  </a:cxn>
                  <a:cxn ang="0">
                    <a:pos x="1088" y="0"/>
                  </a:cxn>
                  <a:cxn ang="0">
                    <a:pos x="0" y="429"/>
                  </a:cxn>
                </a:cxnLst>
                <a:rect l="0" t="0" r="r" b="b"/>
                <a:pathLst>
                  <a:path w="2344" h="430">
                    <a:moveTo>
                      <a:pt x="0" y="429"/>
                    </a:moveTo>
                    <a:lnTo>
                      <a:pt x="1590" y="429"/>
                    </a:lnTo>
                    <a:lnTo>
                      <a:pt x="2343" y="0"/>
                    </a:lnTo>
                    <a:lnTo>
                      <a:pt x="1088" y="0"/>
                    </a:lnTo>
                    <a:lnTo>
                      <a:pt x="0" y="429"/>
                    </a:lnTo>
                  </a:path>
                </a:pathLst>
              </a:custGeom>
              <a:solidFill>
                <a:srgbClr val="00006F"/>
              </a:solidFill>
              <a:ln w="12700" cap="rnd" cmpd="sng">
                <a:noFill/>
                <a:prstDash val="solid"/>
                <a:round/>
                <a:headEnd type="none" w="med" len="med"/>
                <a:tailEnd type="none" w="med" len="med"/>
              </a:ln>
              <a:effectLst/>
            </p:spPr>
            <p:txBody>
              <a:bodyPr/>
              <a:lstStyle/>
              <a:p>
                <a:endParaRPr lang="en-US"/>
              </a:p>
            </p:txBody>
          </p:sp>
          <p:grpSp>
            <p:nvGrpSpPr>
              <p:cNvPr id="16" name="Group 261"/>
              <p:cNvGrpSpPr>
                <a:grpSpLocks/>
              </p:cNvGrpSpPr>
              <p:nvPr/>
            </p:nvGrpSpPr>
            <p:grpSpPr bwMode="auto">
              <a:xfrm>
                <a:off x="288" y="2064"/>
                <a:ext cx="2352" cy="432"/>
                <a:chOff x="288" y="2064"/>
                <a:chExt cx="2352" cy="432"/>
              </a:xfrm>
            </p:grpSpPr>
            <p:sp>
              <p:nvSpPr>
                <p:cNvPr id="108806" name="Freeform 262"/>
                <p:cNvSpPr>
                  <a:spLocks/>
                </p:cNvSpPr>
                <p:nvPr/>
              </p:nvSpPr>
              <p:spPr bwMode="auto">
                <a:xfrm>
                  <a:off x="288" y="2064"/>
                  <a:ext cx="2352" cy="432"/>
                </a:xfrm>
                <a:custGeom>
                  <a:avLst/>
                  <a:gdLst/>
                  <a:ahLst/>
                  <a:cxnLst>
                    <a:cxn ang="0">
                      <a:pos x="0" y="439"/>
                    </a:cxn>
                    <a:cxn ang="0">
                      <a:pos x="1595" y="439"/>
                    </a:cxn>
                    <a:cxn ang="0">
                      <a:pos x="2351" y="0"/>
                    </a:cxn>
                    <a:cxn ang="0">
                      <a:pos x="1092" y="0"/>
                    </a:cxn>
                    <a:cxn ang="0">
                      <a:pos x="0" y="439"/>
                    </a:cxn>
                  </a:cxnLst>
                  <a:rect l="0" t="0" r="r" b="b"/>
                  <a:pathLst>
                    <a:path w="2352" h="440">
                      <a:moveTo>
                        <a:pt x="0" y="439"/>
                      </a:moveTo>
                      <a:lnTo>
                        <a:pt x="1595" y="439"/>
                      </a:lnTo>
                      <a:lnTo>
                        <a:pt x="2351" y="0"/>
                      </a:lnTo>
                      <a:lnTo>
                        <a:pt x="1092" y="0"/>
                      </a:lnTo>
                      <a:lnTo>
                        <a:pt x="0" y="439"/>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nvGrpSpPr>
                <p:cNvPr id="17" name="Group 263"/>
                <p:cNvGrpSpPr>
                  <a:grpSpLocks/>
                </p:cNvGrpSpPr>
                <p:nvPr/>
              </p:nvGrpSpPr>
              <p:grpSpPr bwMode="auto">
                <a:xfrm>
                  <a:off x="288" y="2064"/>
                  <a:ext cx="2352" cy="432"/>
                  <a:chOff x="288" y="2064"/>
                  <a:chExt cx="2352" cy="432"/>
                </a:xfrm>
              </p:grpSpPr>
              <p:sp>
                <p:nvSpPr>
                  <p:cNvPr id="108808" name="Freeform 264"/>
                  <p:cNvSpPr>
                    <a:spLocks/>
                  </p:cNvSpPr>
                  <p:nvPr/>
                </p:nvSpPr>
                <p:spPr bwMode="auto">
                  <a:xfrm>
                    <a:off x="288" y="2256"/>
                    <a:ext cx="720" cy="240"/>
                  </a:xfrm>
                  <a:custGeom>
                    <a:avLst/>
                    <a:gdLst/>
                    <a:ahLst/>
                    <a:cxnLst>
                      <a:cxn ang="0">
                        <a:pos x="529" y="0"/>
                      </a:cxn>
                      <a:cxn ang="0">
                        <a:pos x="583" y="18"/>
                      </a:cxn>
                      <a:cxn ang="0">
                        <a:pos x="597" y="77"/>
                      </a:cxn>
                      <a:cxn ang="0">
                        <a:pos x="597" y="154"/>
                      </a:cxn>
                      <a:cxn ang="0">
                        <a:pos x="623" y="195"/>
                      </a:cxn>
                      <a:cxn ang="0">
                        <a:pos x="636" y="213"/>
                      </a:cxn>
                      <a:cxn ang="0">
                        <a:pos x="0" y="213"/>
                      </a:cxn>
                      <a:cxn ang="0">
                        <a:pos x="529" y="0"/>
                      </a:cxn>
                    </a:cxnLst>
                    <a:rect l="0" t="0" r="r" b="b"/>
                    <a:pathLst>
                      <a:path w="637" h="214">
                        <a:moveTo>
                          <a:pt x="529" y="0"/>
                        </a:moveTo>
                        <a:lnTo>
                          <a:pt x="583" y="18"/>
                        </a:lnTo>
                        <a:lnTo>
                          <a:pt x="597" y="77"/>
                        </a:lnTo>
                        <a:lnTo>
                          <a:pt x="597" y="154"/>
                        </a:lnTo>
                        <a:lnTo>
                          <a:pt x="623" y="195"/>
                        </a:lnTo>
                        <a:lnTo>
                          <a:pt x="636" y="213"/>
                        </a:lnTo>
                        <a:lnTo>
                          <a:pt x="0" y="213"/>
                        </a:lnTo>
                        <a:lnTo>
                          <a:pt x="529" y="0"/>
                        </a:lnTo>
                      </a:path>
                    </a:pathLst>
                  </a:custGeom>
                  <a:solidFill>
                    <a:srgbClr val="008000"/>
                  </a:solidFill>
                  <a:ln w="12700" cap="rnd" cmpd="sng">
                    <a:noFill/>
                    <a:prstDash val="solid"/>
                    <a:round/>
                    <a:headEnd type="none" w="med" len="med"/>
                    <a:tailEnd type="none" w="med" len="med"/>
                  </a:ln>
                  <a:effectLst/>
                </p:spPr>
                <p:txBody>
                  <a:bodyPr/>
                  <a:lstStyle/>
                  <a:p>
                    <a:endParaRPr lang="en-US"/>
                  </a:p>
                </p:txBody>
              </p:sp>
              <p:sp>
                <p:nvSpPr>
                  <p:cNvPr id="108809" name="Freeform 265"/>
                  <p:cNvSpPr>
                    <a:spLocks/>
                  </p:cNvSpPr>
                  <p:nvPr/>
                </p:nvSpPr>
                <p:spPr bwMode="auto">
                  <a:xfrm>
                    <a:off x="864" y="2064"/>
                    <a:ext cx="864" cy="432"/>
                  </a:xfrm>
                  <a:custGeom>
                    <a:avLst/>
                    <a:gdLst/>
                    <a:ahLst/>
                    <a:cxnLst>
                      <a:cxn ang="0">
                        <a:pos x="94" y="417"/>
                      </a:cxn>
                      <a:cxn ang="0">
                        <a:pos x="61" y="373"/>
                      </a:cxn>
                      <a:cxn ang="0">
                        <a:pos x="41" y="347"/>
                      </a:cxn>
                      <a:cxn ang="0">
                        <a:pos x="41" y="268"/>
                      </a:cxn>
                      <a:cxn ang="0">
                        <a:pos x="34" y="216"/>
                      </a:cxn>
                      <a:cxn ang="0">
                        <a:pos x="0" y="200"/>
                      </a:cxn>
                      <a:cxn ang="0">
                        <a:pos x="505" y="0"/>
                      </a:cxn>
                      <a:cxn ang="0">
                        <a:pos x="566" y="52"/>
                      </a:cxn>
                      <a:cxn ang="0">
                        <a:pos x="532" y="173"/>
                      </a:cxn>
                      <a:cxn ang="0">
                        <a:pos x="693" y="200"/>
                      </a:cxn>
                      <a:cxn ang="0">
                        <a:pos x="835" y="242"/>
                      </a:cxn>
                      <a:cxn ang="0">
                        <a:pos x="807" y="312"/>
                      </a:cxn>
                      <a:cxn ang="0">
                        <a:pos x="713" y="356"/>
                      </a:cxn>
                      <a:cxn ang="0">
                        <a:pos x="727" y="417"/>
                      </a:cxn>
                      <a:cxn ang="0">
                        <a:pos x="94" y="417"/>
                      </a:cxn>
                    </a:cxnLst>
                    <a:rect l="0" t="0" r="r" b="b"/>
                    <a:pathLst>
                      <a:path w="836" h="418">
                        <a:moveTo>
                          <a:pt x="94" y="417"/>
                        </a:moveTo>
                        <a:lnTo>
                          <a:pt x="61" y="373"/>
                        </a:lnTo>
                        <a:lnTo>
                          <a:pt x="41" y="347"/>
                        </a:lnTo>
                        <a:lnTo>
                          <a:pt x="41" y="268"/>
                        </a:lnTo>
                        <a:lnTo>
                          <a:pt x="34" y="216"/>
                        </a:lnTo>
                        <a:lnTo>
                          <a:pt x="0" y="200"/>
                        </a:lnTo>
                        <a:lnTo>
                          <a:pt x="505" y="0"/>
                        </a:lnTo>
                        <a:lnTo>
                          <a:pt x="566" y="52"/>
                        </a:lnTo>
                        <a:lnTo>
                          <a:pt x="532" y="173"/>
                        </a:lnTo>
                        <a:lnTo>
                          <a:pt x="693" y="200"/>
                        </a:lnTo>
                        <a:lnTo>
                          <a:pt x="835" y="242"/>
                        </a:lnTo>
                        <a:lnTo>
                          <a:pt x="807" y="312"/>
                        </a:lnTo>
                        <a:lnTo>
                          <a:pt x="713" y="356"/>
                        </a:lnTo>
                        <a:lnTo>
                          <a:pt x="727" y="417"/>
                        </a:lnTo>
                        <a:lnTo>
                          <a:pt x="94" y="417"/>
                        </a:lnTo>
                      </a:path>
                    </a:pathLst>
                  </a:custGeom>
                  <a:solidFill>
                    <a:srgbClr val="00FF00"/>
                  </a:solidFill>
                  <a:ln w="12700" cap="rnd" cmpd="sng">
                    <a:noFill/>
                    <a:prstDash val="solid"/>
                    <a:round/>
                    <a:headEnd type="none" w="med" len="med"/>
                    <a:tailEnd type="none" w="med" len="med"/>
                  </a:ln>
                  <a:effectLst/>
                </p:spPr>
                <p:txBody>
                  <a:bodyPr/>
                  <a:lstStyle/>
                  <a:p>
                    <a:endParaRPr lang="en-US"/>
                  </a:p>
                </p:txBody>
              </p:sp>
              <p:sp>
                <p:nvSpPr>
                  <p:cNvPr id="108810" name="Freeform 266"/>
                  <p:cNvSpPr>
                    <a:spLocks/>
                  </p:cNvSpPr>
                  <p:nvPr/>
                </p:nvSpPr>
                <p:spPr bwMode="auto">
                  <a:xfrm>
                    <a:off x="1393" y="2064"/>
                    <a:ext cx="1247" cy="428"/>
                  </a:xfrm>
                  <a:custGeom>
                    <a:avLst/>
                    <a:gdLst/>
                    <a:ahLst/>
                    <a:cxnLst>
                      <a:cxn ang="0">
                        <a:pos x="0" y="5"/>
                      </a:cxn>
                      <a:cxn ang="0">
                        <a:pos x="65" y="65"/>
                      </a:cxn>
                      <a:cxn ang="0">
                        <a:pos x="31" y="188"/>
                      </a:cxn>
                      <a:cxn ang="0">
                        <a:pos x="176" y="209"/>
                      </a:cxn>
                      <a:cxn ang="0">
                        <a:pos x="331" y="252"/>
                      </a:cxn>
                      <a:cxn ang="0">
                        <a:pos x="308" y="327"/>
                      </a:cxn>
                      <a:cxn ang="0">
                        <a:pos x="216" y="365"/>
                      </a:cxn>
                      <a:cxn ang="0">
                        <a:pos x="229" y="427"/>
                      </a:cxn>
                      <a:cxn ang="0">
                        <a:pos x="509" y="427"/>
                      </a:cxn>
                      <a:cxn ang="0">
                        <a:pos x="1246" y="0"/>
                      </a:cxn>
                      <a:cxn ang="0">
                        <a:pos x="0" y="5"/>
                      </a:cxn>
                    </a:cxnLst>
                    <a:rect l="0" t="0" r="r" b="b"/>
                    <a:pathLst>
                      <a:path w="1247" h="428">
                        <a:moveTo>
                          <a:pt x="0" y="5"/>
                        </a:moveTo>
                        <a:lnTo>
                          <a:pt x="65" y="65"/>
                        </a:lnTo>
                        <a:lnTo>
                          <a:pt x="31" y="188"/>
                        </a:lnTo>
                        <a:lnTo>
                          <a:pt x="176" y="209"/>
                        </a:lnTo>
                        <a:lnTo>
                          <a:pt x="331" y="252"/>
                        </a:lnTo>
                        <a:lnTo>
                          <a:pt x="308" y="327"/>
                        </a:lnTo>
                        <a:lnTo>
                          <a:pt x="216" y="365"/>
                        </a:lnTo>
                        <a:lnTo>
                          <a:pt x="229" y="427"/>
                        </a:lnTo>
                        <a:lnTo>
                          <a:pt x="509" y="427"/>
                        </a:lnTo>
                        <a:lnTo>
                          <a:pt x="1246" y="0"/>
                        </a:lnTo>
                        <a:lnTo>
                          <a:pt x="0" y="5"/>
                        </a:lnTo>
                      </a:path>
                    </a:pathLst>
                  </a:custGeom>
                  <a:solidFill>
                    <a:srgbClr val="004000"/>
                  </a:solidFill>
                  <a:ln w="12700" cap="rnd" cmpd="sng">
                    <a:noFill/>
                    <a:prstDash val="solid"/>
                    <a:round/>
                    <a:headEnd type="none" w="med" len="med"/>
                    <a:tailEnd type="none" w="med" len="med"/>
                  </a:ln>
                  <a:effectLst/>
                </p:spPr>
                <p:txBody>
                  <a:bodyPr/>
                  <a:lstStyle/>
                  <a:p>
                    <a:endParaRPr lang="en-US"/>
                  </a:p>
                </p:txBody>
              </p:sp>
            </p:grpSp>
          </p:grpSp>
        </p:grpSp>
      </p:grpSp>
      <p:grpSp>
        <p:nvGrpSpPr>
          <p:cNvPr id="18" name="Group 267"/>
          <p:cNvGrpSpPr>
            <a:grpSpLocks/>
          </p:cNvGrpSpPr>
          <p:nvPr/>
        </p:nvGrpSpPr>
        <p:grpSpPr bwMode="auto">
          <a:xfrm>
            <a:off x="6026150" y="3810000"/>
            <a:ext cx="3117850" cy="577850"/>
            <a:chOff x="3796" y="2400"/>
            <a:chExt cx="1964" cy="364"/>
          </a:xfrm>
        </p:grpSpPr>
        <p:grpSp>
          <p:nvGrpSpPr>
            <p:cNvPr id="19" name="Group 268"/>
            <p:cNvGrpSpPr>
              <a:grpSpLocks/>
            </p:cNvGrpSpPr>
            <p:nvPr/>
          </p:nvGrpSpPr>
          <p:grpSpPr bwMode="auto">
            <a:xfrm>
              <a:off x="3796" y="2400"/>
              <a:ext cx="1964" cy="364"/>
              <a:chOff x="3775" y="2424"/>
              <a:chExt cx="1964" cy="364"/>
            </a:xfrm>
          </p:grpSpPr>
          <p:grpSp>
            <p:nvGrpSpPr>
              <p:cNvPr id="20" name="Group 269"/>
              <p:cNvGrpSpPr>
                <a:grpSpLocks/>
              </p:cNvGrpSpPr>
              <p:nvPr/>
            </p:nvGrpSpPr>
            <p:grpSpPr bwMode="auto">
              <a:xfrm>
                <a:off x="3775" y="2424"/>
                <a:ext cx="1964" cy="364"/>
                <a:chOff x="3775" y="2424"/>
                <a:chExt cx="1964" cy="364"/>
              </a:xfrm>
            </p:grpSpPr>
            <p:sp>
              <p:nvSpPr>
                <p:cNvPr id="108814" name="Freeform 270"/>
                <p:cNvSpPr>
                  <a:spLocks/>
                </p:cNvSpPr>
                <p:nvPr/>
              </p:nvSpPr>
              <p:spPr bwMode="auto">
                <a:xfrm>
                  <a:off x="3775" y="2515"/>
                  <a:ext cx="1102" cy="264"/>
                </a:xfrm>
                <a:custGeom>
                  <a:avLst/>
                  <a:gdLst/>
                  <a:ahLst/>
                  <a:cxnLst>
                    <a:cxn ang="0">
                      <a:pos x="0" y="310"/>
                    </a:cxn>
                    <a:cxn ang="0">
                      <a:pos x="317" y="310"/>
                    </a:cxn>
                    <a:cxn ang="0">
                      <a:pos x="499" y="268"/>
                    </a:cxn>
                    <a:cxn ang="0">
                      <a:pos x="581" y="242"/>
                    </a:cxn>
                    <a:cxn ang="0">
                      <a:pos x="661" y="268"/>
                    </a:cxn>
                    <a:cxn ang="0">
                      <a:pos x="763" y="268"/>
                    </a:cxn>
                    <a:cxn ang="0">
                      <a:pos x="816" y="250"/>
                    </a:cxn>
                    <a:cxn ang="0">
                      <a:pos x="870" y="180"/>
                    </a:cxn>
                    <a:cxn ang="0">
                      <a:pos x="910" y="164"/>
                    </a:cxn>
                    <a:cxn ang="0">
                      <a:pos x="1073" y="156"/>
                    </a:cxn>
                    <a:cxn ang="0">
                      <a:pos x="1141" y="206"/>
                    </a:cxn>
                    <a:cxn ang="0">
                      <a:pos x="1262" y="250"/>
                    </a:cxn>
                    <a:cxn ang="0">
                      <a:pos x="1295" y="206"/>
                    </a:cxn>
                    <a:cxn ang="0">
                      <a:pos x="1262" y="42"/>
                    </a:cxn>
                    <a:cxn ang="0">
                      <a:pos x="1147" y="26"/>
                    </a:cxn>
                    <a:cxn ang="0">
                      <a:pos x="1012" y="52"/>
                    </a:cxn>
                    <a:cxn ang="0">
                      <a:pos x="958" y="52"/>
                    </a:cxn>
                    <a:cxn ang="0">
                      <a:pos x="958" y="0"/>
                    </a:cxn>
                    <a:cxn ang="0">
                      <a:pos x="857" y="0"/>
                    </a:cxn>
                    <a:cxn ang="0">
                      <a:pos x="775" y="0"/>
                    </a:cxn>
                    <a:cxn ang="0">
                      <a:pos x="0" y="310"/>
                    </a:cxn>
                  </a:cxnLst>
                  <a:rect l="0" t="0" r="r" b="b"/>
                  <a:pathLst>
                    <a:path w="1296" h="311">
                      <a:moveTo>
                        <a:pt x="0" y="310"/>
                      </a:moveTo>
                      <a:lnTo>
                        <a:pt x="317" y="310"/>
                      </a:lnTo>
                      <a:lnTo>
                        <a:pt x="499" y="268"/>
                      </a:lnTo>
                      <a:lnTo>
                        <a:pt x="581" y="242"/>
                      </a:lnTo>
                      <a:lnTo>
                        <a:pt x="661" y="268"/>
                      </a:lnTo>
                      <a:lnTo>
                        <a:pt x="763" y="268"/>
                      </a:lnTo>
                      <a:lnTo>
                        <a:pt x="816" y="250"/>
                      </a:lnTo>
                      <a:lnTo>
                        <a:pt x="870" y="180"/>
                      </a:lnTo>
                      <a:lnTo>
                        <a:pt x="910" y="164"/>
                      </a:lnTo>
                      <a:lnTo>
                        <a:pt x="1073" y="156"/>
                      </a:lnTo>
                      <a:lnTo>
                        <a:pt x="1141" y="206"/>
                      </a:lnTo>
                      <a:lnTo>
                        <a:pt x="1262" y="250"/>
                      </a:lnTo>
                      <a:lnTo>
                        <a:pt x="1295" y="206"/>
                      </a:lnTo>
                      <a:lnTo>
                        <a:pt x="1262" y="42"/>
                      </a:lnTo>
                      <a:lnTo>
                        <a:pt x="1147" y="26"/>
                      </a:lnTo>
                      <a:lnTo>
                        <a:pt x="1012" y="52"/>
                      </a:lnTo>
                      <a:lnTo>
                        <a:pt x="958" y="52"/>
                      </a:lnTo>
                      <a:lnTo>
                        <a:pt x="958" y="0"/>
                      </a:lnTo>
                      <a:lnTo>
                        <a:pt x="857" y="0"/>
                      </a:lnTo>
                      <a:lnTo>
                        <a:pt x="775" y="0"/>
                      </a:lnTo>
                      <a:lnTo>
                        <a:pt x="0" y="310"/>
                      </a:lnTo>
                    </a:path>
                  </a:pathLst>
                </a:custGeom>
                <a:gradFill rotWithShape="0">
                  <a:gsLst>
                    <a:gs pos="0">
                      <a:srgbClr val="CFAF80">
                        <a:gamma/>
                        <a:shade val="46275"/>
                        <a:invGamma/>
                      </a:srgbClr>
                    </a:gs>
                    <a:gs pos="50000">
                      <a:srgbClr val="CFAF80"/>
                    </a:gs>
                    <a:gs pos="100000">
                      <a:srgbClr val="CFAF80">
                        <a:gamma/>
                        <a:shade val="46275"/>
                        <a:invGamma/>
                      </a:srgbClr>
                    </a:gs>
                  </a:gsLst>
                  <a:lin ang="0" scaled="1"/>
                </a:gradFill>
                <a:ln w="12700" cap="rnd" cmpd="sng">
                  <a:prstDash val="solid"/>
                  <a:round/>
                  <a:headEnd type="none" w="med" len="med"/>
                  <a:tailEnd type="none" w="med" len="med"/>
                </a:ln>
                <a:effectLst/>
                <a:scene3d>
                  <a:camera prst="legacyPerspectiveBottom"/>
                  <a:lightRig rig="legacyFlat3" dir="t"/>
                </a:scene3d>
                <a:sp3d extrusionH="430200" prstMaterial="legacyMatte">
                  <a:bevelT w="13500" h="13500" prst="angle"/>
                  <a:bevelB w="13500" h="13500" prst="angle"/>
                  <a:extrusionClr>
                    <a:srgbClr val="CFAF80"/>
                  </a:extrusionClr>
                </a:sp3d>
              </p:spPr>
              <p:txBody>
                <a:bodyPr>
                  <a:flatTx/>
                </a:bodyPr>
                <a:lstStyle/>
                <a:p>
                  <a:endParaRPr lang="en-US"/>
                </a:p>
              </p:txBody>
            </p:sp>
            <p:grpSp>
              <p:nvGrpSpPr>
                <p:cNvPr id="21" name="Group 271"/>
                <p:cNvGrpSpPr>
                  <a:grpSpLocks/>
                </p:cNvGrpSpPr>
                <p:nvPr/>
              </p:nvGrpSpPr>
              <p:grpSpPr bwMode="auto">
                <a:xfrm>
                  <a:off x="3775" y="2424"/>
                  <a:ext cx="1957" cy="364"/>
                  <a:chOff x="3775" y="2424"/>
                  <a:chExt cx="1957" cy="364"/>
                </a:xfrm>
              </p:grpSpPr>
              <p:sp>
                <p:nvSpPr>
                  <p:cNvPr id="108816" name="Freeform 272"/>
                  <p:cNvSpPr>
                    <a:spLocks/>
                  </p:cNvSpPr>
                  <p:nvPr/>
                </p:nvSpPr>
                <p:spPr bwMode="auto">
                  <a:xfrm>
                    <a:off x="3775" y="2515"/>
                    <a:ext cx="1109" cy="273"/>
                  </a:xfrm>
                  <a:custGeom>
                    <a:avLst/>
                    <a:gdLst/>
                    <a:ahLst/>
                    <a:cxnLst>
                      <a:cxn ang="0">
                        <a:pos x="0" y="320"/>
                      </a:cxn>
                      <a:cxn ang="0">
                        <a:pos x="319" y="320"/>
                      </a:cxn>
                      <a:cxn ang="0">
                        <a:pos x="502" y="276"/>
                      </a:cxn>
                      <a:cxn ang="0">
                        <a:pos x="584" y="250"/>
                      </a:cxn>
                      <a:cxn ang="0">
                        <a:pos x="665" y="276"/>
                      </a:cxn>
                      <a:cxn ang="0">
                        <a:pos x="767" y="276"/>
                      </a:cxn>
                      <a:cxn ang="0">
                        <a:pos x="821" y="258"/>
                      </a:cxn>
                      <a:cxn ang="0">
                        <a:pos x="875" y="186"/>
                      </a:cxn>
                      <a:cxn ang="0">
                        <a:pos x="916" y="169"/>
                      </a:cxn>
                      <a:cxn ang="0">
                        <a:pos x="1080" y="161"/>
                      </a:cxn>
                      <a:cxn ang="0">
                        <a:pos x="1148" y="213"/>
                      </a:cxn>
                      <a:cxn ang="0">
                        <a:pos x="1270" y="258"/>
                      </a:cxn>
                      <a:cxn ang="0">
                        <a:pos x="1303" y="213"/>
                      </a:cxn>
                      <a:cxn ang="0">
                        <a:pos x="1270" y="44"/>
                      </a:cxn>
                      <a:cxn ang="0">
                        <a:pos x="1154" y="27"/>
                      </a:cxn>
                      <a:cxn ang="0">
                        <a:pos x="1019" y="54"/>
                      </a:cxn>
                      <a:cxn ang="0">
                        <a:pos x="963" y="54"/>
                      </a:cxn>
                      <a:cxn ang="0">
                        <a:pos x="963" y="0"/>
                      </a:cxn>
                      <a:cxn ang="0">
                        <a:pos x="862" y="0"/>
                      </a:cxn>
                      <a:cxn ang="0">
                        <a:pos x="780" y="0"/>
                      </a:cxn>
                      <a:cxn ang="0">
                        <a:pos x="0" y="320"/>
                      </a:cxn>
                    </a:cxnLst>
                    <a:rect l="0" t="0" r="r" b="b"/>
                    <a:pathLst>
                      <a:path w="1304" h="321">
                        <a:moveTo>
                          <a:pt x="0" y="320"/>
                        </a:moveTo>
                        <a:lnTo>
                          <a:pt x="319" y="320"/>
                        </a:lnTo>
                        <a:lnTo>
                          <a:pt x="502" y="276"/>
                        </a:lnTo>
                        <a:lnTo>
                          <a:pt x="584" y="250"/>
                        </a:lnTo>
                        <a:lnTo>
                          <a:pt x="665" y="276"/>
                        </a:lnTo>
                        <a:lnTo>
                          <a:pt x="767" y="276"/>
                        </a:lnTo>
                        <a:lnTo>
                          <a:pt x="821" y="258"/>
                        </a:lnTo>
                        <a:lnTo>
                          <a:pt x="875" y="186"/>
                        </a:lnTo>
                        <a:lnTo>
                          <a:pt x="916" y="169"/>
                        </a:lnTo>
                        <a:lnTo>
                          <a:pt x="1080" y="161"/>
                        </a:lnTo>
                        <a:lnTo>
                          <a:pt x="1148" y="213"/>
                        </a:lnTo>
                        <a:lnTo>
                          <a:pt x="1270" y="258"/>
                        </a:lnTo>
                        <a:lnTo>
                          <a:pt x="1303" y="213"/>
                        </a:lnTo>
                        <a:lnTo>
                          <a:pt x="1270" y="44"/>
                        </a:lnTo>
                        <a:lnTo>
                          <a:pt x="1154" y="27"/>
                        </a:lnTo>
                        <a:lnTo>
                          <a:pt x="1019" y="54"/>
                        </a:lnTo>
                        <a:lnTo>
                          <a:pt x="963" y="54"/>
                        </a:lnTo>
                        <a:lnTo>
                          <a:pt x="963" y="0"/>
                        </a:lnTo>
                        <a:lnTo>
                          <a:pt x="862" y="0"/>
                        </a:lnTo>
                        <a:lnTo>
                          <a:pt x="780" y="0"/>
                        </a:lnTo>
                        <a:lnTo>
                          <a:pt x="0" y="32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17" name="Freeform 273"/>
                  <p:cNvSpPr>
                    <a:spLocks/>
                  </p:cNvSpPr>
                  <p:nvPr/>
                </p:nvSpPr>
                <p:spPr bwMode="auto">
                  <a:xfrm>
                    <a:off x="4069" y="2629"/>
                    <a:ext cx="1253" cy="150"/>
                  </a:xfrm>
                  <a:custGeom>
                    <a:avLst/>
                    <a:gdLst/>
                    <a:ahLst/>
                    <a:cxnLst>
                      <a:cxn ang="0">
                        <a:pos x="0" y="176"/>
                      </a:cxn>
                      <a:cxn ang="0">
                        <a:pos x="236" y="108"/>
                      </a:cxn>
                      <a:cxn ang="0">
                        <a:pos x="317" y="133"/>
                      </a:cxn>
                      <a:cxn ang="0">
                        <a:pos x="418" y="133"/>
                      </a:cxn>
                      <a:cxn ang="0">
                        <a:pos x="473" y="117"/>
                      </a:cxn>
                      <a:cxn ang="0">
                        <a:pos x="534" y="41"/>
                      </a:cxn>
                      <a:cxn ang="0">
                        <a:pos x="729" y="24"/>
                      </a:cxn>
                      <a:cxn ang="0">
                        <a:pos x="804" y="84"/>
                      </a:cxn>
                      <a:cxn ang="0">
                        <a:pos x="911" y="117"/>
                      </a:cxn>
                      <a:cxn ang="0">
                        <a:pos x="958" y="75"/>
                      </a:cxn>
                      <a:cxn ang="0">
                        <a:pos x="1007" y="24"/>
                      </a:cxn>
                      <a:cxn ang="0">
                        <a:pos x="1087" y="24"/>
                      </a:cxn>
                      <a:cxn ang="0">
                        <a:pos x="1168" y="41"/>
                      </a:cxn>
                      <a:cxn ang="0">
                        <a:pos x="1256" y="67"/>
                      </a:cxn>
                      <a:cxn ang="0">
                        <a:pos x="1344" y="33"/>
                      </a:cxn>
                      <a:cxn ang="0">
                        <a:pos x="1459" y="0"/>
                      </a:cxn>
                      <a:cxn ang="0">
                        <a:pos x="1473" y="33"/>
                      </a:cxn>
                      <a:cxn ang="0">
                        <a:pos x="1222" y="176"/>
                      </a:cxn>
                      <a:cxn ang="0">
                        <a:pos x="0" y="176"/>
                      </a:cxn>
                    </a:cxnLst>
                    <a:rect l="0" t="0" r="r" b="b"/>
                    <a:pathLst>
                      <a:path w="1474" h="177">
                        <a:moveTo>
                          <a:pt x="0" y="176"/>
                        </a:moveTo>
                        <a:lnTo>
                          <a:pt x="236" y="108"/>
                        </a:lnTo>
                        <a:lnTo>
                          <a:pt x="317" y="133"/>
                        </a:lnTo>
                        <a:lnTo>
                          <a:pt x="418" y="133"/>
                        </a:lnTo>
                        <a:lnTo>
                          <a:pt x="473" y="117"/>
                        </a:lnTo>
                        <a:lnTo>
                          <a:pt x="534" y="41"/>
                        </a:lnTo>
                        <a:lnTo>
                          <a:pt x="729" y="24"/>
                        </a:lnTo>
                        <a:lnTo>
                          <a:pt x="804" y="84"/>
                        </a:lnTo>
                        <a:lnTo>
                          <a:pt x="911" y="117"/>
                        </a:lnTo>
                        <a:lnTo>
                          <a:pt x="958" y="75"/>
                        </a:lnTo>
                        <a:lnTo>
                          <a:pt x="1007" y="24"/>
                        </a:lnTo>
                        <a:lnTo>
                          <a:pt x="1087" y="24"/>
                        </a:lnTo>
                        <a:lnTo>
                          <a:pt x="1168" y="41"/>
                        </a:lnTo>
                        <a:lnTo>
                          <a:pt x="1256" y="67"/>
                        </a:lnTo>
                        <a:lnTo>
                          <a:pt x="1344" y="33"/>
                        </a:lnTo>
                        <a:lnTo>
                          <a:pt x="1459" y="0"/>
                        </a:lnTo>
                        <a:lnTo>
                          <a:pt x="1473" y="33"/>
                        </a:lnTo>
                        <a:lnTo>
                          <a:pt x="1222" y="176"/>
                        </a:lnTo>
                        <a:lnTo>
                          <a:pt x="0" y="176"/>
                        </a:lnTo>
                      </a:path>
                    </a:pathLst>
                  </a:custGeom>
                  <a:gradFill rotWithShape="0">
                    <a:gsLst>
                      <a:gs pos="0">
                        <a:srgbClr val="802000">
                          <a:gamma/>
                          <a:shade val="76078"/>
                          <a:invGamma/>
                        </a:srgbClr>
                      </a:gs>
                      <a:gs pos="50000">
                        <a:srgbClr val="802000"/>
                      </a:gs>
                      <a:gs pos="100000">
                        <a:srgbClr val="802000">
                          <a:gamma/>
                          <a:shade val="76078"/>
                          <a:invGamma/>
                        </a:srgbClr>
                      </a:gs>
                    </a:gsLst>
                    <a:lin ang="0" scaled="1"/>
                  </a:gradFill>
                  <a:ln w="12700" cap="rnd" cmpd="sng">
                    <a:prstDash val="solid"/>
                    <a:round/>
                    <a:headEnd type="none" w="med" len="med"/>
                    <a:tailEnd type="none" w="med" len="med"/>
                  </a:ln>
                  <a:effectLst/>
                  <a:scene3d>
                    <a:camera prst="legacyPerspectiveBottom"/>
                    <a:lightRig rig="legacyFlat3" dir="t"/>
                  </a:scene3d>
                  <a:sp3d extrusionH="430200" prstMaterial="legacyMatte">
                    <a:bevelT w="13500" h="13500" prst="angle"/>
                    <a:bevelB w="13500" h="13500" prst="angle"/>
                    <a:extrusionClr>
                      <a:srgbClr val="802000"/>
                    </a:extrusionClr>
                  </a:sp3d>
                </p:spPr>
                <p:txBody>
                  <a:bodyPr>
                    <a:flatTx/>
                  </a:bodyPr>
                  <a:lstStyle/>
                  <a:p>
                    <a:endParaRPr lang="en-US"/>
                  </a:p>
                </p:txBody>
              </p:sp>
              <p:sp>
                <p:nvSpPr>
                  <p:cNvPr id="108818" name="Freeform 274"/>
                  <p:cNvSpPr>
                    <a:spLocks/>
                  </p:cNvSpPr>
                  <p:nvPr/>
                </p:nvSpPr>
                <p:spPr bwMode="auto">
                  <a:xfrm>
                    <a:off x="4069" y="2629"/>
                    <a:ext cx="1260" cy="159"/>
                  </a:xfrm>
                  <a:custGeom>
                    <a:avLst/>
                    <a:gdLst/>
                    <a:ahLst/>
                    <a:cxnLst>
                      <a:cxn ang="0">
                        <a:pos x="0" y="186"/>
                      </a:cxn>
                      <a:cxn ang="0">
                        <a:pos x="237" y="114"/>
                      </a:cxn>
                      <a:cxn ang="0">
                        <a:pos x="319" y="141"/>
                      </a:cxn>
                      <a:cxn ang="0">
                        <a:pos x="420" y="141"/>
                      </a:cxn>
                      <a:cxn ang="0">
                        <a:pos x="475" y="124"/>
                      </a:cxn>
                      <a:cxn ang="0">
                        <a:pos x="537" y="44"/>
                      </a:cxn>
                      <a:cxn ang="0">
                        <a:pos x="733" y="25"/>
                      </a:cxn>
                      <a:cxn ang="0">
                        <a:pos x="808" y="89"/>
                      </a:cxn>
                      <a:cxn ang="0">
                        <a:pos x="916" y="124"/>
                      </a:cxn>
                      <a:cxn ang="0">
                        <a:pos x="963" y="79"/>
                      </a:cxn>
                      <a:cxn ang="0">
                        <a:pos x="1012" y="25"/>
                      </a:cxn>
                      <a:cxn ang="0">
                        <a:pos x="1093" y="25"/>
                      </a:cxn>
                      <a:cxn ang="0">
                        <a:pos x="1175" y="44"/>
                      </a:cxn>
                      <a:cxn ang="0">
                        <a:pos x="1263" y="70"/>
                      </a:cxn>
                      <a:cxn ang="0">
                        <a:pos x="1352" y="35"/>
                      </a:cxn>
                      <a:cxn ang="0">
                        <a:pos x="1467" y="0"/>
                      </a:cxn>
                      <a:cxn ang="0">
                        <a:pos x="1481" y="35"/>
                      </a:cxn>
                      <a:cxn ang="0">
                        <a:pos x="1229" y="186"/>
                      </a:cxn>
                      <a:cxn ang="0">
                        <a:pos x="0" y="186"/>
                      </a:cxn>
                    </a:cxnLst>
                    <a:rect l="0" t="0" r="r" b="b"/>
                    <a:pathLst>
                      <a:path w="1482" h="187">
                        <a:moveTo>
                          <a:pt x="0" y="186"/>
                        </a:moveTo>
                        <a:lnTo>
                          <a:pt x="237" y="114"/>
                        </a:lnTo>
                        <a:lnTo>
                          <a:pt x="319" y="141"/>
                        </a:lnTo>
                        <a:lnTo>
                          <a:pt x="420" y="141"/>
                        </a:lnTo>
                        <a:lnTo>
                          <a:pt x="475" y="124"/>
                        </a:lnTo>
                        <a:lnTo>
                          <a:pt x="537" y="44"/>
                        </a:lnTo>
                        <a:lnTo>
                          <a:pt x="733" y="25"/>
                        </a:lnTo>
                        <a:lnTo>
                          <a:pt x="808" y="89"/>
                        </a:lnTo>
                        <a:lnTo>
                          <a:pt x="916" y="124"/>
                        </a:lnTo>
                        <a:lnTo>
                          <a:pt x="963" y="79"/>
                        </a:lnTo>
                        <a:lnTo>
                          <a:pt x="1012" y="25"/>
                        </a:lnTo>
                        <a:lnTo>
                          <a:pt x="1093" y="25"/>
                        </a:lnTo>
                        <a:lnTo>
                          <a:pt x="1175" y="44"/>
                        </a:lnTo>
                        <a:lnTo>
                          <a:pt x="1263" y="70"/>
                        </a:lnTo>
                        <a:lnTo>
                          <a:pt x="1352" y="35"/>
                        </a:lnTo>
                        <a:lnTo>
                          <a:pt x="1467" y="0"/>
                        </a:lnTo>
                        <a:lnTo>
                          <a:pt x="1481" y="35"/>
                        </a:lnTo>
                        <a:lnTo>
                          <a:pt x="1229" y="186"/>
                        </a:lnTo>
                        <a:lnTo>
                          <a:pt x="0" y="186"/>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19" name="Freeform 275"/>
                  <p:cNvSpPr>
                    <a:spLocks/>
                  </p:cNvSpPr>
                  <p:nvPr/>
                </p:nvSpPr>
                <p:spPr bwMode="auto">
                  <a:xfrm>
                    <a:off x="4438" y="2424"/>
                    <a:ext cx="1294" cy="257"/>
                  </a:xfrm>
                  <a:custGeom>
                    <a:avLst/>
                    <a:gdLst/>
                    <a:ahLst/>
                    <a:cxnLst>
                      <a:cxn ang="0">
                        <a:pos x="0" y="104"/>
                      </a:cxn>
                      <a:cxn ang="0">
                        <a:pos x="182" y="104"/>
                      </a:cxn>
                      <a:cxn ang="0">
                        <a:pos x="176" y="163"/>
                      </a:cxn>
                      <a:cxn ang="0">
                        <a:pos x="237" y="163"/>
                      </a:cxn>
                      <a:cxn ang="0">
                        <a:pos x="372" y="129"/>
                      </a:cxn>
                      <a:cxn ang="0">
                        <a:pos x="487" y="155"/>
                      </a:cxn>
                      <a:cxn ang="0">
                        <a:pos x="534" y="301"/>
                      </a:cxn>
                      <a:cxn ang="0">
                        <a:pos x="575" y="259"/>
                      </a:cxn>
                      <a:cxn ang="0">
                        <a:pos x="669" y="259"/>
                      </a:cxn>
                      <a:cxn ang="0">
                        <a:pos x="812" y="301"/>
                      </a:cxn>
                      <a:cxn ang="0">
                        <a:pos x="1028" y="233"/>
                      </a:cxn>
                      <a:cxn ang="0">
                        <a:pos x="1035" y="267"/>
                      </a:cxn>
                      <a:cxn ang="0">
                        <a:pos x="1521" y="0"/>
                      </a:cxn>
                      <a:cxn ang="0">
                        <a:pos x="278" y="0"/>
                      </a:cxn>
                      <a:cxn ang="0">
                        <a:pos x="0" y="104"/>
                      </a:cxn>
                    </a:cxnLst>
                    <a:rect l="0" t="0" r="r" b="b"/>
                    <a:pathLst>
                      <a:path w="1522" h="302">
                        <a:moveTo>
                          <a:pt x="0" y="104"/>
                        </a:moveTo>
                        <a:lnTo>
                          <a:pt x="182" y="104"/>
                        </a:lnTo>
                        <a:lnTo>
                          <a:pt x="176" y="163"/>
                        </a:lnTo>
                        <a:lnTo>
                          <a:pt x="237" y="163"/>
                        </a:lnTo>
                        <a:lnTo>
                          <a:pt x="372" y="129"/>
                        </a:lnTo>
                        <a:lnTo>
                          <a:pt x="487" y="155"/>
                        </a:lnTo>
                        <a:lnTo>
                          <a:pt x="534" y="301"/>
                        </a:lnTo>
                        <a:lnTo>
                          <a:pt x="575" y="259"/>
                        </a:lnTo>
                        <a:lnTo>
                          <a:pt x="669" y="259"/>
                        </a:lnTo>
                        <a:lnTo>
                          <a:pt x="812" y="301"/>
                        </a:lnTo>
                        <a:lnTo>
                          <a:pt x="1028" y="233"/>
                        </a:lnTo>
                        <a:lnTo>
                          <a:pt x="1035" y="267"/>
                        </a:lnTo>
                        <a:lnTo>
                          <a:pt x="1521" y="0"/>
                        </a:lnTo>
                        <a:lnTo>
                          <a:pt x="278" y="0"/>
                        </a:lnTo>
                        <a:lnTo>
                          <a:pt x="0" y="104"/>
                        </a:lnTo>
                      </a:path>
                    </a:pathLst>
                  </a:custGeom>
                  <a:gradFill rotWithShape="0">
                    <a:gsLst>
                      <a:gs pos="0">
                        <a:srgbClr val="FF8000">
                          <a:gamma/>
                          <a:shade val="76078"/>
                          <a:invGamma/>
                        </a:srgbClr>
                      </a:gs>
                      <a:gs pos="50000">
                        <a:srgbClr val="FF8000"/>
                      </a:gs>
                      <a:gs pos="100000">
                        <a:srgbClr val="FF8000">
                          <a:gamma/>
                          <a:shade val="76078"/>
                          <a:invGamma/>
                        </a:srgbClr>
                      </a:gs>
                    </a:gsLst>
                    <a:lin ang="0" scaled="1"/>
                  </a:gradFill>
                  <a:ln w="12700" cap="rnd" cmpd="sng">
                    <a:prstDash val="solid"/>
                    <a:round/>
                    <a:headEnd type="none" w="med" len="med"/>
                    <a:tailEnd type="none" w="med" len="med"/>
                  </a:ln>
                  <a:effectLst/>
                  <a:scene3d>
                    <a:camera prst="legacyPerspectiveBottom"/>
                    <a:lightRig rig="legacyFlat3" dir="t"/>
                  </a:scene3d>
                  <a:sp3d extrusionH="430200" prstMaterial="legacyMatte">
                    <a:bevelT w="13500" h="13500" prst="angle"/>
                    <a:bevelB w="13500" h="13500" prst="angle"/>
                    <a:extrusionClr>
                      <a:srgbClr val="FF8000"/>
                    </a:extrusionClr>
                  </a:sp3d>
                </p:spPr>
                <p:txBody>
                  <a:bodyPr>
                    <a:flatTx/>
                  </a:bodyPr>
                  <a:lstStyle/>
                  <a:p>
                    <a:endParaRPr lang="en-US"/>
                  </a:p>
                </p:txBody>
              </p:sp>
            </p:grpSp>
            <p:sp>
              <p:nvSpPr>
                <p:cNvPr id="108820" name="Freeform 276"/>
                <p:cNvSpPr>
                  <a:spLocks/>
                </p:cNvSpPr>
                <p:nvPr/>
              </p:nvSpPr>
              <p:spPr bwMode="auto">
                <a:xfrm>
                  <a:off x="4438" y="2424"/>
                  <a:ext cx="1301" cy="265"/>
                </a:xfrm>
                <a:custGeom>
                  <a:avLst/>
                  <a:gdLst/>
                  <a:ahLst/>
                  <a:cxnLst>
                    <a:cxn ang="0">
                      <a:pos x="0" y="107"/>
                    </a:cxn>
                    <a:cxn ang="0">
                      <a:pos x="183" y="107"/>
                    </a:cxn>
                    <a:cxn ang="0">
                      <a:pos x="177" y="169"/>
                    </a:cxn>
                    <a:cxn ang="0">
                      <a:pos x="238" y="169"/>
                    </a:cxn>
                    <a:cxn ang="0">
                      <a:pos x="374" y="134"/>
                    </a:cxn>
                    <a:cxn ang="0">
                      <a:pos x="490" y="161"/>
                    </a:cxn>
                    <a:cxn ang="0">
                      <a:pos x="537" y="311"/>
                    </a:cxn>
                    <a:cxn ang="0">
                      <a:pos x="578" y="268"/>
                    </a:cxn>
                    <a:cxn ang="0">
                      <a:pos x="673" y="268"/>
                    </a:cxn>
                    <a:cxn ang="0">
                      <a:pos x="816" y="311"/>
                    </a:cxn>
                    <a:cxn ang="0">
                      <a:pos x="1033" y="241"/>
                    </a:cxn>
                    <a:cxn ang="0">
                      <a:pos x="1041" y="276"/>
                    </a:cxn>
                    <a:cxn ang="0">
                      <a:pos x="1529" y="0"/>
                    </a:cxn>
                    <a:cxn ang="0">
                      <a:pos x="279" y="0"/>
                    </a:cxn>
                    <a:cxn ang="0">
                      <a:pos x="0" y="107"/>
                    </a:cxn>
                  </a:cxnLst>
                  <a:rect l="0" t="0" r="r" b="b"/>
                  <a:pathLst>
                    <a:path w="1530" h="312">
                      <a:moveTo>
                        <a:pt x="0" y="107"/>
                      </a:moveTo>
                      <a:lnTo>
                        <a:pt x="183" y="107"/>
                      </a:lnTo>
                      <a:lnTo>
                        <a:pt x="177" y="169"/>
                      </a:lnTo>
                      <a:lnTo>
                        <a:pt x="238" y="169"/>
                      </a:lnTo>
                      <a:lnTo>
                        <a:pt x="374" y="134"/>
                      </a:lnTo>
                      <a:lnTo>
                        <a:pt x="490" y="161"/>
                      </a:lnTo>
                      <a:lnTo>
                        <a:pt x="537" y="311"/>
                      </a:lnTo>
                      <a:lnTo>
                        <a:pt x="578" y="268"/>
                      </a:lnTo>
                      <a:lnTo>
                        <a:pt x="673" y="268"/>
                      </a:lnTo>
                      <a:lnTo>
                        <a:pt x="816" y="311"/>
                      </a:lnTo>
                      <a:lnTo>
                        <a:pt x="1033" y="241"/>
                      </a:lnTo>
                      <a:lnTo>
                        <a:pt x="1041" y="276"/>
                      </a:lnTo>
                      <a:lnTo>
                        <a:pt x="1529" y="0"/>
                      </a:lnTo>
                      <a:lnTo>
                        <a:pt x="279" y="0"/>
                      </a:lnTo>
                      <a:lnTo>
                        <a:pt x="0" y="107"/>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nvGrpSpPr>
              <p:cNvPr id="22" name="Group 277"/>
              <p:cNvGrpSpPr>
                <a:grpSpLocks/>
              </p:cNvGrpSpPr>
              <p:nvPr/>
            </p:nvGrpSpPr>
            <p:grpSpPr bwMode="auto">
              <a:xfrm>
                <a:off x="4265" y="2424"/>
                <a:ext cx="1170" cy="355"/>
                <a:chOff x="4265" y="2424"/>
                <a:chExt cx="1170" cy="355"/>
              </a:xfrm>
            </p:grpSpPr>
            <p:sp>
              <p:nvSpPr>
                <p:cNvPr id="108822" name="Freeform 278"/>
                <p:cNvSpPr>
                  <a:spLocks/>
                </p:cNvSpPr>
                <p:nvPr/>
              </p:nvSpPr>
              <p:spPr bwMode="auto">
                <a:xfrm>
                  <a:off x="4265" y="2424"/>
                  <a:ext cx="710" cy="355"/>
                </a:xfrm>
                <a:custGeom>
                  <a:avLst/>
                  <a:gdLst/>
                  <a:ahLst/>
                  <a:cxnLst>
                    <a:cxn ang="0">
                      <a:pos x="94" y="417"/>
                    </a:cxn>
                    <a:cxn ang="0">
                      <a:pos x="61" y="373"/>
                    </a:cxn>
                    <a:cxn ang="0">
                      <a:pos x="41" y="347"/>
                    </a:cxn>
                    <a:cxn ang="0">
                      <a:pos x="41" y="268"/>
                    </a:cxn>
                    <a:cxn ang="0">
                      <a:pos x="34" y="216"/>
                    </a:cxn>
                    <a:cxn ang="0">
                      <a:pos x="0" y="200"/>
                    </a:cxn>
                    <a:cxn ang="0">
                      <a:pos x="505" y="0"/>
                    </a:cxn>
                    <a:cxn ang="0">
                      <a:pos x="566" y="52"/>
                    </a:cxn>
                    <a:cxn ang="0">
                      <a:pos x="532" y="173"/>
                    </a:cxn>
                    <a:cxn ang="0">
                      <a:pos x="693" y="200"/>
                    </a:cxn>
                    <a:cxn ang="0">
                      <a:pos x="835" y="242"/>
                    </a:cxn>
                    <a:cxn ang="0">
                      <a:pos x="807" y="312"/>
                    </a:cxn>
                    <a:cxn ang="0">
                      <a:pos x="713" y="356"/>
                    </a:cxn>
                    <a:cxn ang="0">
                      <a:pos x="727" y="417"/>
                    </a:cxn>
                    <a:cxn ang="0">
                      <a:pos x="94" y="417"/>
                    </a:cxn>
                  </a:cxnLst>
                  <a:rect l="0" t="0" r="r" b="b"/>
                  <a:pathLst>
                    <a:path w="836" h="418">
                      <a:moveTo>
                        <a:pt x="94" y="417"/>
                      </a:moveTo>
                      <a:lnTo>
                        <a:pt x="61" y="373"/>
                      </a:lnTo>
                      <a:lnTo>
                        <a:pt x="41" y="347"/>
                      </a:lnTo>
                      <a:lnTo>
                        <a:pt x="41" y="268"/>
                      </a:lnTo>
                      <a:lnTo>
                        <a:pt x="34" y="216"/>
                      </a:lnTo>
                      <a:lnTo>
                        <a:pt x="0" y="200"/>
                      </a:lnTo>
                      <a:lnTo>
                        <a:pt x="505" y="0"/>
                      </a:lnTo>
                      <a:lnTo>
                        <a:pt x="566" y="52"/>
                      </a:lnTo>
                      <a:lnTo>
                        <a:pt x="532" y="173"/>
                      </a:lnTo>
                      <a:lnTo>
                        <a:pt x="693" y="200"/>
                      </a:lnTo>
                      <a:lnTo>
                        <a:pt x="835" y="242"/>
                      </a:lnTo>
                      <a:lnTo>
                        <a:pt x="807" y="312"/>
                      </a:lnTo>
                      <a:lnTo>
                        <a:pt x="713" y="356"/>
                      </a:lnTo>
                      <a:lnTo>
                        <a:pt x="727" y="417"/>
                      </a:lnTo>
                      <a:lnTo>
                        <a:pt x="94" y="417"/>
                      </a:lnTo>
                    </a:path>
                  </a:pathLst>
                </a:custGeom>
                <a:gradFill rotWithShape="0">
                  <a:gsLst>
                    <a:gs pos="0">
                      <a:srgbClr val="00FF00">
                        <a:gamma/>
                        <a:shade val="46275"/>
                        <a:invGamma/>
                      </a:srgbClr>
                    </a:gs>
                    <a:gs pos="50000">
                      <a:srgbClr val="00FF00"/>
                    </a:gs>
                    <a:gs pos="100000">
                      <a:srgbClr val="00FF00">
                        <a:gamma/>
                        <a:shade val="46275"/>
                        <a:invGamma/>
                      </a:srgbClr>
                    </a:gs>
                  </a:gsLst>
                  <a:lin ang="0" scaled="1"/>
                </a:gradFill>
                <a:ln w="12700" cap="rnd" cmpd="sng">
                  <a:prstDash val="solid"/>
                  <a:round/>
                  <a:headEnd type="none" w="med" len="med"/>
                  <a:tailEnd type="none" w="med" len="med"/>
                </a:ln>
                <a:effectLst/>
                <a:scene3d>
                  <a:camera prst="legacyPerspectiveBottom"/>
                  <a:lightRig rig="legacyFlat3" dir="t"/>
                </a:scene3d>
                <a:sp3d extrusionH="430200" prstMaterial="legacyMatte">
                  <a:bevelT w="13500" h="13500" prst="angle"/>
                  <a:bevelB w="13500" h="13500" prst="angle"/>
                  <a:extrusionClr>
                    <a:srgbClr val="00FF00"/>
                  </a:extrusionClr>
                </a:sp3d>
              </p:spPr>
              <p:txBody>
                <a:bodyPr>
                  <a:flatTx/>
                </a:bodyPr>
                <a:lstStyle/>
                <a:p>
                  <a:endParaRPr lang="en-US"/>
                </a:p>
              </p:txBody>
            </p:sp>
            <p:sp>
              <p:nvSpPr>
                <p:cNvPr id="108823" name="Freeform 279"/>
                <p:cNvSpPr>
                  <a:spLocks/>
                </p:cNvSpPr>
                <p:nvPr/>
              </p:nvSpPr>
              <p:spPr bwMode="auto">
                <a:xfrm>
                  <a:off x="4510" y="2546"/>
                  <a:ext cx="925" cy="61"/>
                </a:xfrm>
                <a:custGeom>
                  <a:avLst/>
                  <a:gdLst/>
                  <a:ahLst/>
                  <a:cxnLst>
                    <a:cxn ang="0">
                      <a:pos x="1088" y="62"/>
                    </a:cxn>
                    <a:cxn ang="0">
                      <a:pos x="1026" y="27"/>
                    </a:cxn>
                    <a:cxn ang="0">
                      <a:pos x="918" y="27"/>
                    </a:cxn>
                    <a:cxn ang="0">
                      <a:pos x="714" y="27"/>
                    </a:cxn>
                    <a:cxn ang="0">
                      <a:pos x="654" y="43"/>
                    </a:cxn>
                    <a:cxn ang="0">
                      <a:pos x="613" y="62"/>
                    </a:cxn>
                    <a:cxn ang="0">
                      <a:pos x="477" y="43"/>
                    </a:cxn>
                    <a:cxn ang="0">
                      <a:pos x="422" y="0"/>
                    </a:cxn>
                    <a:cxn ang="0">
                      <a:pos x="333" y="0"/>
                    </a:cxn>
                    <a:cxn ang="0">
                      <a:pos x="232" y="0"/>
                    </a:cxn>
                    <a:cxn ang="0">
                      <a:pos x="178" y="43"/>
                    </a:cxn>
                    <a:cxn ang="0">
                      <a:pos x="88" y="70"/>
                    </a:cxn>
                    <a:cxn ang="0">
                      <a:pos x="0" y="43"/>
                    </a:cxn>
                  </a:cxnLst>
                  <a:rect l="0" t="0" r="r" b="b"/>
                  <a:pathLst>
                    <a:path w="1089" h="71">
                      <a:moveTo>
                        <a:pt x="1088" y="62"/>
                      </a:moveTo>
                      <a:lnTo>
                        <a:pt x="1026" y="27"/>
                      </a:lnTo>
                      <a:lnTo>
                        <a:pt x="918" y="27"/>
                      </a:lnTo>
                      <a:lnTo>
                        <a:pt x="714" y="27"/>
                      </a:lnTo>
                      <a:lnTo>
                        <a:pt x="654" y="43"/>
                      </a:lnTo>
                      <a:lnTo>
                        <a:pt x="613" y="62"/>
                      </a:lnTo>
                      <a:lnTo>
                        <a:pt x="477" y="43"/>
                      </a:lnTo>
                      <a:lnTo>
                        <a:pt x="422" y="0"/>
                      </a:lnTo>
                      <a:lnTo>
                        <a:pt x="333" y="0"/>
                      </a:lnTo>
                      <a:lnTo>
                        <a:pt x="232" y="0"/>
                      </a:lnTo>
                      <a:lnTo>
                        <a:pt x="178" y="43"/>
                      </a:lnTo>
                      <a:lnTo>
                        <a:pt x="88" y="70"/>
                      </a:lnTo>
                      <a:lnTo>
                        <a:pt x="0" y="43"/>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sp>
          <p:nvSpPr>
            <p:cNvPr id="108824" name="Freeform 280"/>
            <p:cNvSpPr>
              <a:spLocks/>
            </p:cNvSpPr>
            <p:nvPr/>
          </p:nvSpPr>
          <p:spPr bwMode="auto">
            <a:xfrm>
              <a:off x="4416" y="2448"/>
              <a:ext cx="1056" cy="240"/>
            </a:xfrm>
            <a:custGeom>
              <a:avLst/>
              <a:gdLst/>
              <a:ahLst/>
              <a:cxnLst>
                <a:cxn ang="0">
                  <a:pos x="0" y="276"/>
                </a:cxn>
                <a:cxn ang="0">
                  <a:pos x="55" y="222"/>
                </a:cxn>
                <a:cxn ang="0">
                  <a:pos x="129" y="204"/>
                </a:cxn>
                <a:cxn ang="0">
                  <a:pos x="265" y="204"/>
                </a:cxn>
                <a:cxn ang="0">
                  <a:pos x="327" y="222"/>
                </a:cxn>
                <a:cxn ang="0">
                  <a:pos x="428" y="249"/>
                </a:cxn>
                <a:cxn ang="0">
                  <a:pos x="537" y="249"/>
                </a:cxn>
                <a:cxn ang="0">
                  <a:pos x="619" y="214"/>
                </a:cxn>
                <a:cxn ang="0">
                  <a:pos x="707" y="196"/>
                </a:cxn>
                <a:cxn ang="0">
                  <a:pos x="815" y="187"/>
                </a:cxn>
                <a:cxn ang="0">
                  <a:pos x="932" y="187"/>
                </a:cxn>
                <a:cxn ang="0">
                  <a:pos x="1019" y="214"/>
                </a:cxn>
                <a:cxn ang="0">
                  <a:pos x="1107" y="214"/>
                </a:cxn>
                <a:cxn ang="0">
                  <a:pos x="1202" y="204"/>
                </a:cxn>
                <a:cxn ang="0">
                  <a:pos x="1251" y="134"/>
                </a:cxn>
                <a:cxn ang="0">
                  <a:pos x="1271" y="62"/>
                </a:cxn>
                <a:cxn ang="0">
                  <a:pos x="1399" y="0"/>
                </a:cxn>
                <a:cxn ang="0">
                  <a:pos x="1461" y="18"/>
                </a:cxn>
                <a:cxn ang="0">
                  <a:pos x="1502" y="99"/>
                </a:cxn>
              </a:cxnLst>
              <a:rect l="0" t="0" r="r" b="b"/>
              <a:pathLst>
                <a:path w="1503" h="277">
                  <a:moveTo>
                    <a:pt x="0" y="276"/>
                  </a:moveTo>
                  <a:lnTo>
                    <a:pt x="55" y="222"/>
                  </a:lnTo>
                  <a:lnTo>
                    <a:pt x="129" y="204"/>
                  </a:lnTo>
                  <a:lnTo>
                    <a:pt x="265" y="204"/>
                  </a:lnTo>
                  <a:lnTo>
                    <a:pt x="327" y="222"/>
                  </a:lnTo>
                  <a:lnTo>
                    <a:pt x="428" y="249"/>
                  </a:lnTo>
                  <a:lnTo>
                    <a:pt x="537" y="249"/>
                  </a:lnTo>
                  <a:lnTo>
                    <a:pt x="619" y="214"/>
                  </a:lnTo>
                  <a:lnTo>
                    <a:pt x="707" y="196"/>
                  </a:lnTo>
                  <a:lnTo>
                    <a:pt x="815" y="187"/>
                  </a:lnTo>
                  <a:lnTo>
                    <a:pt x="932" y="187"/>
                  </a:lnTo>
                  <a:lnTo>
                    <a:pt x="1019" y="214"/>
                  </a:lnTo>
                  <a:lnTo>
                    <a:pt x="1107" y="214"/>
                  </a:lnTo>
                  <a:lnTo>
                    <a:pt x="1202" y="204"/>
                  </a:lnTo>
                  <a:lnTo>
                    <a:pt x="1251" y="134"/>
                  </a:lnTo>
                  <a:lnTo>
                    <a:pt x="1271" y="62"/>
                  </a:lnTo>
                  <a:lnTo>
                    <a:pt x="1399" y="0"/>
                  </a:lnTo>
                  <a:lnTo>
                    <a:pt x="1461" y="18"/>
                  </a:lnTo>
                  <a:lnTo>
                    <a:pt x="1502" y="99"/>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nvGrpSpPr>
          <p:cNvPr id="23" name="Group 408"/>
          <p:cNvGrpSpPr>
            <a:grpSpLocks/>
          </p:cNvGrpSpPr>
          <p:nvPr/>
        </p:nvGrpSpPr>
        <p:grpSpPr bwMode="auto">
          <a:xfrm>
            <a:off x="2522538" y="3422650"/>
            <a:ext cx="3073400" cy="2198688"/>
            <a:chOff x="1589" y="2156"/>
            <a:chExt cx="1936" cy="1385"/>
          </a:xfrm>
        </p:grpSpPr>
        <p:grpSp>
          <p:nvGrpSpPr>
            <p:cNvPr id="24" name="Group 398"/>
            <p:cNvGrpSpPr>
              <a:grpSpLocks/>
            </p:cNvGrpSpPr>
            <p:nvPr/>
          </p:nvGrpSpPr>
          <p:grpSpPr bwMode="auto">
            <a:xfrm>
              <a:off x="1589" y="3007"/>
              <a:ext cx="1873" cy="534"/>
              <a:chOff x="1589" y="3007"/>
              <a:chExt cx="1873" cy="534"/>
            </a:xfrm>
          </p:grpSpPr>
          <p:sp>
            <p:nvSpPr>
              <p:cNvPr id="108827" name="Line 283"/>
              <p:cNvSpPr>
                <a:spLocks noChangeShapeType="1"/>
              </p:cNvSpPr>
              <p:nvPr/>
            </p:nvSpPr>
            <p:spPr bwMode="auto">
              <a:xfrm>
                <a:off x="1708" y="3419"/>
                <a:ext cx="636" cy="0"/>
              </a:xfrm>
              <a:prstGeom prst="line">
                <a:avLst/>
              </a:prstGeom>
              <a:noFill/>
              <a:ln w="12700">
                <a:solidFill>
                  <a:schemeClr val="tx1"/>
                </a:solidFill>
                <a:round/>
                <a:headEnd/>
                <a:tailEnd/>
              </a:ln>
              <a:effectLst/>
            </p:spPr>
            <p:txBody>
              <a:bodyPr wrap="none" anchor="ctr"/>
              <a:lstStyle/>
              <a:p>
                <a:endParaRPr lang="en-US"/>
              </a:p>
            </p:txBody>
          </p:sp>
          <p:grpSp>
            <p:nvGrpSpPr>
              <p:cNvPr id="25" name="Group 397"/>
              <p:cNvGrpSpPr>
                <a:grpSpLocks/>
              </p:cNvGrpSpPr>
              <p:nvPr/>
            </p:nvGrpSpPr>
            <p:grpSpPr bwMode="auto">
              <a:xfrm>
                <a:off x="1589" y="3007"/>
                <a:ext cx="1873" cy="534"/>
                <a:chOff x="1589" y="3007"/>
                <a:chExt cx="1873" cy="534"/>
              </a:xfrm>
            </p:grpSpPr>
            <p:grpSp>
              <p:nvGrpSpPr>
                <p:cNvPr id="26" name="Group 396"/>
                <p:cNvGrpSpPr>
                  <a:grpSpLocks/>
                </p:cNvGrpSpPr>
                <p:nvPr/>
              </p:nvGrpSpPr>
              <p:grpSpPr bwMode="auto">
                <a:xfrm>
                  <a:off x="1589" y="3007"/>
                  <a:ext cx="1873" cy="534"/>
                  <a:chOff x="1589" y="3007"/>
                  <a:chExt cx="1873" cy="534"/>
                </a:xfrm>
              </p:grpSpPr>
              <p:sp>
                <p:nvSpPr>
                  <p:cNvPr id="108830" name="Freeform 286"/>
                  <p:cNvSpPr>
                    <a:spLocks/>
                  </p:cNvSpPr>
                  <p:nvPr/>
                </p:nvSpPr>
                <p:spPr bwMode="auto">
                  <a:xfrm>
                    <a:off x="2589" y="3379"/>
                    <a:ext cx="434" cy="152"/>
                  </a:xfrm>
                  <a:custGeom>
                    <a:avLst/>
                    <a:gdLst/>
                    <a:ahLst/>
                    <a:cxnLst>
                      <a:cxn ang="0">
                        <a:pos x="0" y="126"/>
                      </a:cxn>
                      <a:cxn ang="0">
                        <a:pos x="89" y="126"/>
                      </a:cxn>
                      <a:cxn ang="0">
                        <a:pos x="210" y="108"/>
                      </a:cxn>
                      <a:cxn ang="0">
                        <a:pos x="340" y="89"/>
                      </a:cxn>
                      <a:cxn ang="0">
                        <a:pos x="422" y="54"/>
                      </a:cxn>
                      <a:cxn ang="0">
                        <a:pos x="531" y="8"/>
                      </a:cxn>
                      <a:cxn ang="0">
                        <a:pos x="544" y="0"/>
                      </a:cxn>
                    </a:cxnLst>
                    <a:rect l="0" t="0" r="r" b="b"/>
                    <a:pathLst>
                      <a:path w="545" h="127">
                        <a:moveTo>
                          <a:pt x="0" y="126"/>
                        </a:moveTo>
                        <a:lnTo>
                          <a:pt x="89" y="126"/>
                        </a:lnTo>
                        <a:lnTo>
                          <a:pt x="210" y="108"/>
                        </a:lnTo>
                        <a:lnTo>
                          <a:pt x="340" y="89"/>
                        </a:lnTo>
                        <a:lnTo>
                          <a:pt x="422" y="54"/>
                        </a:lnTo>
                        <a:lnTo>
                          <a:pt x="531" y="8"/>
                        </a:lnTo>
                        <a:lnTo>
                          <a:pt x="54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31" name="Freeform 287"/>
                  <p:cNvSpPr>
                    <a:spLocks/>
                  </p:cNvSpPr>
                  <p:nvPr/>
                </p:nvSpPr>
                <p:spPr bwMode="auto">
                  <a:xfrm>
                    <a:off x="2362" y="3199"/>
                    <a:ext cx="872" cy="332"/>
                  </a:xfrm>
                  <a:custGeom>
                    <a:avLst/>
                    <a:gdLst/>
                    <a:ahLst/>
                    <a:cxnLst>
                      <a:cxn ang="0">
                        <a:pos x="0" y="276"/>
                      </a:cxn>
                      <a:cxn ang="0">
                        <a:pos x="115" y="249"/>
                      </a:cxn>
                      <a:cxn ang="0">
                        <a:pos x="191" y="231"/>
                      </a:cxn>
                      <a:cxn ang="0">
                        <a:pos x="218" y="177"/>
                      </a:cxn>
                      <a:cxn ang="0">
                        <a:pos x="292" y="169"/>
                      </a:cxn>
                      <a:cxn ang="0">
                        <a:pos x="366" y="169"/>
                      </a:cxn>
                      <a:cxn ang="0">
                        <a:pos x="442" y="169"/>
                      </a:cxn>
                      <a:cxn ang="0">
                        <a:pos x="483" y="115"/>
                      </a:cxn>
                      <a:cxn ang="0">
                        <a:pos x="516" y="97"/>
                      </a:cxn>
                      <a:cxn ang="0">
                        <a:pos x="571" y="89"/>
                      </a:cxn>
                      <a:cxn ang="0">
                        <a:pos x="740" y="70"/>
                      </a:cxn>
                      <a:cxn ang="0">
                        <a:pos x="822" y="54"/>
                      </a:cxn>
                      <a:cxn ang="0">
                        <a:pos x="897" y="27"/>
                      </a:cxn>
                      <a:cxn ang="0">
                        <a:pos x="985" y="8"/>
                      </a:cxn>
                      <a:cxn ang="0">
                        <a:pos x="1094" y="0"/>
                      </a:cxn>
                    </a:cxnLst>
                    <a:rect l="0" t="0" r="r" b="b"/>
                    <a:pathLst>
                      <a:path w="1095" h="277">
                        <a:moveTo>
                          <a:pt x="0" y="276"/>
                        </a:moveTo>
                        <a:lnTo>
                          <a:pt x="115" y="249"/>
                        </a:lnTo>
                        <a:lnTo>
                          <a:pt x="191" y="231"/>
                        </a:lnTo>
                        <a:lnTo>
                          <a:pt x="218" y="177"/>
                        </a:lnTo>
                        <a:lnTo>
                          <a:pt x="292" y="169"/>
                        </a:lnTo>
                        <a:lnTo>
                          <a:pt x="366" y="169"/>
                        </a:lnTo>
                        <a:lnTo>
                          <a:pt x="442" y="169"/>
                        </a:lnTo>
                        <a:lnTo>
                          <a:pt x="483" y="115"/>
                        </a:lnTo>
                        <a:lnTo>
                          <a:pt x="516" y="97"/>
                        </a:lnTo>
                        <a:lnTo>
                          <a:pt x="571" y="89"/>
                        </a:lnTo>
                        <a:lnTo>
                          <a:pt x="740" y="70"/>
                        </a:lnTo>
                        <a:lnTo>
                          <a:pt x="822" y="54"/>
                        </a:lnTo>
                        <a:lnTo>
                          <a:pt x="897" y="27"/>
                        </a:lnTo>
                        <a:lnTo>
                          <a:pt x="985" y="8"/>
                        </a:lnTo>
                        <a:lnTo>
                          <a:pt x="109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32" name="Freeform 288"/>
                  <p:cNvSpPr>
                    <a:spLocks/>
                  </p:cNvSpPr>
                  <p:nvPr/>
                </p:nvSpPr>
                <p:spPr bwMode="auto">
                  <a:xfrm>
                    <a:off x="1945" y="3038"/>
                    <a:ext cx="1413" cy="493"/>
                  </a:xfrm>
                  <a:custGeom>
                    <a:avLst/>
                    <a:gdLst/>
                    <a:ahLst/>
                    <a:cxnLst>
                      <a:cxn ang="0">
                        <a:pos x="0" y="410"/>
                      </a:cxn>
                      <a:cxn ang="0">
                        <a:pos x="95" y="383"/>
                      </a:cxn>
                      <a:cxn ang="0">
                        <a:pos x="265" y="338"/>
                      </a:cxn>
                      <a:cxn ang="0">
                        <a:pos x="333" y="293"/>
                      </a:cxn>
                      <a:cxn ang="0">
                        <a:pos x="380" y="249"/>
                      </a:cxn>
                      <a:cxn ang="0">
                        <a:pos x="462" y="204"/>
                      </a:cxn>
                      <a:cxn ang="0">
                        <a:pos x="605" y="134"/>
                      </a:cxn>
                      <a:cxn ang="0">
                        <a:pos x="755" y="99"/>
                      </a:cxn>
                      <a:cxn ang="0">
                        <a:pos x="965" y="62"/>
                      </a:cxn>
                      <a:cxn ang="0">
                        <a:pos x="1209" y="27"/>
                      </a:cxn>
                      <a:cxn ang="0">
                        <a:pos x="1399" y="18"/>
                      </a:cxn>
                      <a:cxn ang="0">
                        <a:pos x="1590" y="0"/>
                      </a:cxn>
                      <a:cxn ang="0">
                        <a:pos x="1732" y="10"/>
                      </a:cxn>
                      <a:cxn ang="0">
                        <a:pos x="1773" y="45"/>
                      </a:cxn>
                    </a:cxnLst>
                    <a:rect l="0" t="0" r="r" b="b"/>
                    <a:pathLst>
                      <a:path w="1774" h="411">
                        <a:moveTo>
                          <a:pt x="0" y="410"/>
                        </a:moveTo>
                        <a:lnTo>
                          <a:pt x="95" y="383"/>
                        </a:lnTo>
                        <a:lnTo>
                          <a:pt x="265" y="338"/>
                        </a:lnTo>
                        <a:lnTo>
                          <a:pt x="333" y="293"/>
                        </a:lnTo>
                        <a:lnTo>
                          <a:pt x="380" y="249"/>
                        </a:lnTo>
                        <a:lnTo>
                          <a:pt x="462" y="204"/>
                        </a:lnTo>
                        <a:lnTo>
                          <a:pt x="605" y="134"/>
                        </a:lnTo>
                        <a:lnTo>
                          <a:pt x="755" y="99"/>
                        </a:lnTo>
                        <a:lnTo>
                          <a:pt x="965" y="62"/>
                        </a:lnTo>
                        <a:lnTo>
                          <a:pt x="1209" y="27"/>
                        </a:lnTo>
                        <a:lnTo>
                          <a:pt x="1399" y="18"/>
                        </a:lnTo>
                        <a:lnTo>
                          <a:pt x="1590" y="0"/>
                        </a:lnTo>
                        <a:lnTo>
                          <a:pt x="1732" y="10"/>
                        </a:lnTo>
                        <a:lnTo>
                          <a:pt x="1773" y="45"/>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33" name="Freeform 289"/>
                  <p:cNvSpPr>
                    <a:spLocks/>
                  </p:cNvSpPr>
                  <p:nvPr/>
                </p:nvSpPr>
                <p:spPr bwMode="auto">
                  <a:xfrm>
                    <a:off x="1886" y="3027"/>
                    <a:ext cx="656" cy="504"/>
                  </a:xfrm>
                  <a:custGeom>
                    <a:avLst/>
                    <a:gdLst/>
                    <a:ahLst/>
                    <a:cxnLst>
                      <a:cxn ang="0">
                        <a:pos x="0" y="419"/>
                      </a:cxn>
                      <a:cxn ang="0">
                        <a:pos x="115" y="374"/>
                      </a:cxn>
                      <a:cxn ang="0">
                        <a:pos x="245" y="347"/>
                      </a:cxn>
                      <a:cxn ang="0">
                        <a:pos x="346" y="302"/>
                      </a:cxn>
                      <a:cxn ang="0">
                        <a:pos x="393" y="258"/>
                      </a:cxn>
                      <a:cxn ang="0">
                        <a:pos x="455" y="223"/>
                      </a:cxn>
                      <a:cxn ang="0">
                        <a:pos x="496" y="169"/>
                      </a:cxn>
                      <a:cxn ang="0">
                        <a:pos x="563" y="126"/>
                      </a:cxn>
                      <a:cxn ang="0">
                        <a:pos x="699" y="72"/>
                      </a:cxn>
                      <a:cxn ang="0">
                        <a:pos x="781" y="8"/>
                      </a:cxn>
                      <a:cxn ang="0">
                        <a:pos x="822" y="0"/>
                      </a:cxn>
                    </a:cxnLst>
                    <a:rect l="0" t="0" r="r" b="b"/>
                    <a:pathLst>
                      <a:path w="823" h="420">
                        <a:moveTo>
                          <a:pt x="0" y="419"/>
                        </a:moveTo>
                        <a:lnTo>
                          <a:pt x="115" y="374"/>
                        </a:lnTo>
                        <a:lnTo>
                          <a:pt x="245" y="347"/>
                        </a:lnTo>
                        <a:lnTo>
                          <a:pt x="346" y="302"/>
                        </a:lnTo>
                        <a:lnTo>
                          <a:pt x="393" y="258"/>
                        </a:lnTo>
                        <a:lnTo>
                          <a:pt x="455" y="223"/>
                        </a:lnTo>
                        <a:lnTo>
                          <a:pt x="496" y="169"/>
                        </a:lnTo>
                        <a:lnTo>
                          <a:pt x="563" y="126"/>
                        </a:lnTo>
                        <a:lnTo>
                          <a:pt x="699" y="72"/>
                        </a:lnTo>
                        <a:lnTo>
                          <a:pt x="781" y="8"/>
                        </a:lnTo>
                        <a:lnTo>
                          <a:pt x="822"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nvGrpSpPr>
                  <p:cNvPr id="27" name="Group 395"/>
                  <p:cNvGrpSpPr>
                    <a:grpSpLocks/>
                  </p:cNvGrpSpPr>
                  <p:nvPr/>
                </p:nvGrpSpPr>
                <p:grpSpPr bwMode="auto">
                  <a:xfrm>
                    <a:off x="1589" y="3007"/>
                    <a:ext cx="1873" cy="534"/>
                    <a:chOff x="1589" y="3007"/>
                    <a:chExt cx="1873" cy="534"/>
                  </a:xfrm>
                </p:grpSpPr>
                <p:sp>
                  <p:nvSpPr>
                    <p:cNvPr id="108835" name="Freeform 291"/>
                    <p:cNvSpPr>
                      <a:spLocks/>
                    </p:cNvSpPr>
                    <p:nvPr/>
                  </p:nvSpPr>
                  <p:spPr bwMode="auto">
                    <a:xfrm>
                      <a:off x="1589" y="3024"/>
                      <a:ext cx="1867" cy="517"/>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FF00FF"/>
                    </a:solidFill>
                    <a:ln w="12700" cap="rnd" cmpd="sng">
                      <a:noFill/>
                      <a:prstDash val="solid"/>
                      <a:round/>
                      <a:headEnd type="none" w="med" len="med"/>
                      <a:tailEnd type="none" w="med" len="med"/>
                    </a:ln>
                    <a:effectLst/>
                  </p:spPr>
                  <p:txBody>
                    <a:bodyPr/>
                    <a:lstStyle/>
                    <a:p>
                      <a:endParaRPr lang="en-US"/>
                    </a:p>
                  </p:txBody>
                </p:sp>
                <p:sp>
                  <p:nvSpPr>
                    <p:cNvPr id="108836" name="Freeform 292"/>
                    <p:cNvSpPr>
                      <a:spLocks/>
                    </p:cNvSpPr>
                    <p:nvPr/>
                  </p:nvSpPr>
                  <p:spPr bwMode="auto">
                    <a:xfrm>
                      <a:off x="1589" y="3007"/>
                      <a:ext cx="1873" cy="529"/>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37" name="Freeform 293"/>
                    <p:cNvSpPr>
                      <a:spLocks/>
                    </p:cNvSpPr>
                    <p:nvPr/>
                  </p:nvSpPr>
                  <p:spPr bwMode="auto">
                    <a:xfrm>
                      <a:off x="2132" y="3102"/>
                      <a:ext cx="1196" cy="439"/>
                    </a:xfrm>
                    <a:custGeom>
                      <a:avLst/>
                      <a:gdLst/>
                      <a:ahLst/>
                      <a:cxnLst>
                        <a:cxn ang="0">
                          <a:pos x="0" y="365"/>
                        </a:cxn>
                        <a:cxn ang="0">
                          <a:pos x="143" y="365"/>
                        </a:cxn>
                        <a:cxn ang="0">
                          <a:pos x="211" y="328"/>
                        </a:cxn>
                        <a:cxn ang="0">
                          <a:pos x="252" y="275"/>
                        </a:cxn>
                        <a:cxn ang="0">
                          <a:pos x="320" y="204"/>
                        </a:cxn>
                        <a:cxn ang="0">
                          <a:pos x="380" y="169"/>
                        </a:cxn>
                        <a:cxn ang="0">
                          <a:pos x="456" y="142"/>
                        </a:cxn>
                        <a:cxn ang="0">
                          <a:pos x="625" y="89"/>
                        </a:cxn>
                        <a:cxn ang="0">
                          <a:pos x="713" y="89"/>
                        </a:cxn>
                        <a:cxn ang="0">
                          <a:pos x="816" y="72"/>
                        </a:cxn>
                        <a:cxn ang="0">
                          <a:pos x="911" y="27"/>
                        </a:cxn>
                        <a:cxn ang="0">
                          <a:pos x="1012" y="18"/>
                        </a:cxn>
                        <a:cxn ang="0">
                          <a:pos x="1162" y="0"/>
                        </a:cxn>
                        <a:cxn ang="0">
                          <a:pos x="1311" y="0"/>
                        </a:cxn>
                        <a:cxn ang="0">
                          <a:pos x="1447" y="0"/>
                        </a:cxn>
                        <a:cxn ang="0">
                          <a:pos x="1501" y="27"/>
                        </a:cxn>
                      </a:cxnLst>
                      <a:rect l="0" t="0" r="r" b="b"/>
                      <a:pathLst>
                        <a:path w="1502" h="366">
                          <a:moveTo>
                            <a:pt x="0" y="365"/>
                          </a:moveTo>
                          <a:lnTo>
                            <a:pt x="143" y="365"/>
                          </a:lnTo>
                          <a:lnTo>
                            <a:pt x="211" y="328"/>
                          </a:lnTo>
                          <a:lnTo>
                            <a:pt x="252" y="275"/>
                          </a:lnTo>
                          <a:lnTo>
                            <a:pt x="320" y="204"/>
                          </a:lnTo>
                          <a:lnTo>
                            <a:pt x="380" y="169"/>
                          </a:lnTo>
                          <a:lnTo>
                            <a:pt x="456" y="142"/>
                          </a:lnTo>
                          <a:lnTo>
                            <a:pt x="625" y="89"/>
                          </a:lnTo>
                          <a:lnTo>
                            <a:pt x="713" y="89"/>
                          </a:lnTo>
                          <a:lnTo>
                            <a:pt x="816" y="72"/>
                          </a:lnTo>
                          <a:lnTo>
                            <a:pt x="911" y="27"/>
                          </a:lnTo>
                          <a:lnTo>
                            <a:pt x="1012" y="18"/>
                          </a:lnTo>
                          <a:lnTo>
                            <a:pt x="1162" y="0"/>
                          </a:lnTo>
                          <a:lnTo>
                            <a:pt x="1311" y="0"/>
                          </a:lnTo>
                          <a:lnTo>
                            <a:pt x="1447" y="0"/>
                          </a:lnTo>
                          <a:lnTo>
                            <a:pt x="1501" y="27"/>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38" name="Freeform 294"/>
                    <p:cNvSpPr>
                      <a:spLocks/>
                    </p:cNvSpPr>
                    <p:nvPr/>
                  </p:nvSpPr>
                  <p:spPr bwMode="auto">
                    <a:xfrm>
                      <a:off x="1829" y="3188"/>
                      <a:ext cx="380" cy="353"/>
                    </a:xfrm>
                    <a:custGeom>
                      <a:avLst/>
                      <a:gdLst/>
                      <a:ahLst/>
                      <a:cxnLst>
                        <a:cxn ang="0">
                          <a:pos x="0" y="293"/>
                        </a:cxn>
                        <a:cxn ang="0">
                          <a:pos x="40" y="256"/>
                        </a:cxn>
                        <a:cxn ang="0">
                          <a:pos x="122" y="229"/>
                        </a:cxn>
                        <a:cxn ang="0">
                          <a:pos x="244" y="194"/>
                        </a:cxn>
                        <a:cxn ang="0">
                          <a:pos x="346" y="159"/>
                        </a:cxn>
                        <a:cxn ang="0">
                          <a:pos x="421" y="105"/>
                        </a:cxn>
                        <a:cxn ang="0">
                          <a:pos x="455" y="62"/>
                        </a:cxn>
                        <a:cxn ang="0">
                          <a:pos x="476" y="0"/>
                        </a:cxn>
                      </a:cxnLst>
                      <a:rect l="0" t="0" r="r" b="b"/>
                      <a:pathLst>
                        <a:path w="477" h="294">
                          <a:moveTo>
                            <a:pt x="0" y="293"/>
                          </a:moveTo>
                          <a:lnTo>
                            <a:pt x="40" y="256"/>
                          </a:lnTo>
                          <a:lnTo>
                            <a:pt x="122" y="229"/>
                          </a:lnTo>
                          <a:lnTo>
                            <a:pt x="244" y="194"/>
                          </a:lnTo>
                          <a:lnTo>
                            <a:pt x="346" y="159"/>
                          </a:lnTo>
                          <a:lnTo>
                            <a:pt x="421" y="105"/>
                          </a:lnTo>
                          <a:lnTo>
                            <a:pt x="455" y="62"/>
                          </a:lnTo>
                          <a:lnTo>
                            <a:pt x="476"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39" name="Freeform 295"/>
                    <p:cNvSpPr>
                      <a:spLocks/>
                    </p:cNvSpPr>
                    <p:nvPr/>
                  </p:nvSpPr>
                  <p:spPr bwMode="auto">
                    <a:xfrm>
                      <a:off x="1764" y="3337"/>
                      <a:ext cx="191" cy="204"/>
                    </a:xfrm>
                    <a:custGeom>
                      <a:avLst/>
                      <a:gdLst/>
                      <a:ahLst/>
                      <a:cxnLst>
                        <a:cxn ang="0">
                          <a:pos x="0" y="169"/>
                        </a:cxn>
                        <a:cxn ang="0">
                          <a:pos x="33" y="115"/>
                        </a:cxn>
                        <a:cxn ang="0">
                          <a:pos x="95" y="105"/>
                        </a:cxn>
                        <a:cxn ang="0">
                          <a:pos x="211" y="44"/>
                        </a:cxn>
                        <a:cxn ang="0">
                          <a:pos x="239" y="27"/>
                        </a:cxn>
                        <a:cxn ang="0">
                          <a:pos x="239" y="0"/>
                        </a:cxn>
                      </a:cxnLst>
                      <a:rect l="0" t="0" r="r" b="b"/>
                      <a:pathLst>
                        <a:path w="240" h="170">
                          <a:moveTo>
                            <a:pt x="0" y="169"/>
                          </a:moveTo>
                          <a:lnTo>
                            <a:pt x="33" y="115"/>
                          </a:lnTo>
                          <a:lnTo>
                            <a:pt x="95" y="105"/>
                          </a:lnTo>
                          <a:lnTo>
                            <a:pt x="211" y="44"/>
                          </a:lnTo>
                          <a:lnTo>
                            <a:pt x="239" y="27"/>
                          </a:lnTo>
                          <a:lnTo>
                            <a:pt x="239"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sp>
              <p:nvSpPr>
                <p:cNvPr id="108840" name="Freeform 296"/>
                <p:cNvSpPr>
                  <a:spLocks/>
                </p:cNvSpPr>
                <p:nvPr/>
              </p:nvSpPr>
              <p:spPr bwMode="auto">
                <a:xfrm>
                  <a:off x="1945" y="3034"/>
                  <a:ext cx="1413" cy="493"/>
                </a:xfrm>
                <a:custGeom>
                  <a:avLst/>
                  <a:gdLst/>
                  <a:ahLst/>
                  <a:cxnLst>
                    <a:cxn ang="0">
                      <a:pos x="0" y="410"/>
                    </a:cxn>
                    <a:cxn ang="0">
                      <a:pos x="95" y="383"/>
                    </a:cxn>
                    <a:cxn ang="0">
                      <a:pos x="265" y="338"/>
                    </a:cxn>
                    <a:cxn ang="0">
                      <a:pos x="333" y="293"/>
                    </a:cxn>
                    <a:cxn ang="0">
                      <a:pos x="380" y="249"/>
                    </a:cxn>
                    <a:cxn ang="0">
                      <a:pos x="462" y="204"/>
                    </a:cxn>
                    <a:cxn ang="0">
                      <a:pos x="605" y="134"/>
                    </a:cxn>
                    <a:cxn ang="0">
                      <a:pos x="755" y="99"/>
                    </a:cxn>
                    <a:cxn ang="0">
                      <a:pos x="965" y="62"/>
                    </a:cxn>
                    <a:cxn ang="0">
                      <a:pos x="1209" y="27"/>
                    </a:cxn>
                    <a:cxn ang="0">
                      <a:pos x="1399" y="18"/>
                    </a:cxn>
                    <a:cxn ang="0">
                      <a:pos x="1590" y="0"/>
                    </a:cxn>
                    <a:cxn ang="0">
                      <a:pos x="1732" y="10"/>
                    </a:cxn>
                    <a:cxn ang="0">
                      <a:pos x="1773" y="45"/>
                    </a:cxn>
                  </a:cxnLst>
                  <a:rect l="0" t="0" r="r" b="b"/>
                  <a:pathLst>
                    <a:path w="1774" h="411">
                      <a:moveTo>
                        <a:pt x="0" y="410"/>
                      </a:moveTo>
                      <a:lnTo>
                        <a:pt x="95" y="383"/>
                      </a:lnTo>
                      <a:lnTo>
                        <a:pt x="265" y="338"/>
                      </a:lnTo>
                      <a:lnTo>
                        <a:pt x="333" y="293"/>
                      </a:lnTo>
                      <a:lnTo>
                        <a:pt x="380" y="249"/>
                      </a:lnTo>
                      <a:lnTo>
                        <a:pt x="462" y="204"/>
                      </a:lnTo>
                      <a:lnTo>
                        <a:pt x="605" y="134"/>
                      </a:lnTo>
                      <a:lnTo>
                        <a:pt x="755" y="99"/>
                      </a:lnTo>
                      <a:lnTo>
                        <a:pt x="965" y="62"/>
                      </a:lnTo>
                      <a:lnTo>
                        <a:pt x="1209" y="27"/>
                      </a:lnTo>
                      <a:lnTo>
                        <a:pt x="1399" y="18"/>
                      </a:lnTo>
                      <a:lnTo>
                        <a:pt x="1590" y="0"/>
                      </a:lnTo>
                      <a:lnTo>
                        <a:pt x="1732" y="10"/>
                      </a:lnTo>
                      <a:lnTo>
                        <a:pt x="1773" y="45"/>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41" name="Freeform 297"/>
                <p:cNvSpPr>
                  <a:spLocks/>
                </p:cNvSpPr>
                <p:nvPr/>
              </p:nvSpPr>
              <p:spPr bwMode="auto">
                <a:xfrm>
                  <a:off x="2362" y="3193"/>
                  <a:ext cx="872" cy="332"/>
                </a:xfrm>
                <a:custGeom>
                  <a:avLst/>
                  <a:gdLst/>
                  <a:ahLst/>
                  <a:cxnLst>
                    <a:cxn ang="0">
                      <a:pos x="0" y="276"/>
                    </a:cxn>
                    <a:cxn ang="0">
                      <a:pos x="115" y="249"/>
                    </a:cxn>
                    <a:cxn ang="0">
                      <a:pos x="191" y="231"/>
                    </a:cxn>
                    <a:cxn ang="0">
                      <a:pos x="218" y="177"/>
                    </a:cxn>
                    <a:cxn ang="0">
                      <a:pos x="292" y="169"/>
                    </a:cxn>
                    <a:cxn ang="0">
                      <a:pos x="366" y="169"/>
                    </a:cxn>
                    <a:cxn ang="0">
                      <a:pos x="442" y="169"/>
                    </a:cxn>
                    <a:cxn ang="0">
                      <a:pos x="483" y="115"/>
                    </a:cxn>
                    <a:cxn ang="0">
                      <a:pos x="516" y="97"/>
                    </a:cxn>
                    <a:cxn ang="0">
                      <a:pos x="571" y="89"/>
                    </a:cxn>
                    <a:cxn ang="0">
                      <a:pos x="740" y="70"/>
                    </a:cxn>
                    <a:cxn ang="0">
                      <a:pos x="822" y="54"/>
                    </a:cxn>
                    <a:cxn ang="0">
                      <a:pos x="897" y="27"/>
                    </a:cxn>
                    <a:cxn ang="0">
                      <a:pos x="985" y="8"/>
                    </a:cxn>
                    <a:cxn ang="0">
                      <a:pos x="1094" y="0"/>
                    </a:cxn>
                  </a:cxnLst>
                  <a:rect l="0" t="0" r="r" b="b"/>
                  <a:pathLst>
                    <a:path w="1095" h="277">
                      <a:moveTo>
                        <a:pt x="0" y="276"/>
                      </a:moveTo>
                      <a:lnTo>
                        <a:pt x="115" y="249"/>
                      </a:lnTo>
                      <a:lnTo>
                        <a:pt x="191" y="231"/>
                      </a:lnTo>
                      <a:lnTo>
                        <a:pt x="218" y="177"/>
                      </a:lnTo>
                      <a:lnTo>
                        <a:pt x="292" y="169"/>
                      </a:lnTo>
                      <a:lnTo>
                        <a:pt x="366" y="169"/>
                      </a:lnTo>
                      <a:lnTo>
                        <a:pt x="442" y="169"/>
                      </a:lnTo>
                      <a:lnTo>
                        <a:pt x="483" y="115"/>
                      </a:lnTo>
                      <a:lnTo>
                        <a:pt x="516" y="97"/>
                      </a:lnTo>
                      <a:lnTo>
                        <a:pt x="571" y="89"/>
                      </a:lnTo>
                      <a:lnTo>
                        <a:pt x="740" y="70"/>
                      </a:lnTo>
                      <a:lnTo>
                        <a:pt x="822" y="54"/>
                      </a:lnTo>
                      <a:lnTo>
                        <a:pt x="897" y="27"/>
                      </a:lnTo>
                      <a:lnTo>
                        <a:pt x="985" y="8"/>
                      </a:lnTo>
                      <a:lnTo>
                        <a:pt x="109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grpSp>
          <p:nvGrpSpPr>
            <p:cNvPr id="28" name="Group 407"/>
            <p:cNvGrpSpPr>
              <a:grpSpLocks/>
            </p:cNvGrpSpPr>
            <p:nvPr/>
          </p:nvGrpSpPr>
          <p:grpSpPr bwMode="auto">
            <a:xfrm>
              <a:off x="1652" y="2730"/>
              <a:ext cx="1873" cy="525"/>
              <a:chOff x="1652" y="2730"/>
              <a:chExt cx="1873" cy="525"/>
            </a:xfrm>
          </p:grpSpPr>
          <p:grpSp>
            <p:nvGrpSpPr>
              <p:cNvPr id="29" name="Group 406"/>
              <p:cNvGrpSpPr>
                <a:grpSpLocks/>
              </p:cNvGrpSpPr>
              <p:nvPr/>
            </p:nvGrpSpPr>
            <p:grpSpPr bwMode="auto">
              <a:xfrm>
                <a:off x="1652" y="2730"/>
                <a:ext cx="1873" cy="521"/>
                <a:chOff x="1652" y="2730"/>
                <a:chExt cx="1873" cy="521"/>
              </a:xfrm>
            </p:grpSpPr>
            <p:sp>
              <p:nvSpPr>
                <p:cNvPr id="108844" name="Freeform 300"/>
                <p:cNvSpPr>
                  <a:spLocks/>
                </p:cNvSpPr>
                <p:nvPr/>
              </p:nvSpPr>
              <p:spPr bwMode="auto">
                <a:xfrm>
                  <a:off x="1652" y="2730"/>
                  <a:ext cx="1867" cy="516"/>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008000"/>
                </a:solidFill>
                <a:ln w="12700" cap="rnd" cmpd="sng">
                  <a:noFill/>
                  <a:prstDash val="solid"/>
                  <a:round/>
                  <a:headEnd type="none" w="med" len="med"/>
                  <a:tailEnd type="none" w="med" len="med"/>
                </a:ln>
                <a:effectLst/>
              </p:spPr>
              <p:txBody>
                <a:bodyPr/>
                <a:lstStyle/>
                <a:p>
                  <a:endParaRPr lang="en-US"/>
                </a:p>
              </p:txBody>
            </p:sp>
            <p:sp>
              <p:nvSpPr>
                <p:cNvPr id="108845" name="Freeform 301"/>
                <p:cNvSpPr>
                  <a:spLocks/>
                </p:cNvSpPr>
                <p:nvPr/>
              </p:nvSpPr>
              <p:spPr bwMode="auto">
                <a:xfrm>
                  <a:off x="1652" y="2730"/>
                  <a:ext cx="1873" cy="521"/>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46" name="Freeform 302"/>
                <p:cNvSpPr>
                  <a:spLocks/>
                </p:cNvSpPr>
                <p:nvPr/>
              </p:nvSpPr>
              <p:spPr bwMode="auto">
                <a:xfrm>
                  <a:off x="2740" y="2850"/>
                  <a:ext cx="611" cy="394"/>
                </a:xfrm>
                <a:custGeom>
                  <a:avLst/>
                  <a:gdLst/>
                  <a:ahLst/>
                  <a:cxnLst>
                    <a:cxn ang="0">
                      <a:pos x="767" y="17"/>
                    </a:cxn>
                    <a:cxn ang="0">
                      <a:pos x="652" y="17"/>
                    </a:cxn>
                    <a:cxn ang="0">
                      <a:pos x="543" y="0"/>
                    </a:cxn>
                    <a:cxn ang="0">
                      <a:pos x="502" y="17"/>
                    </a:cxn>
                    <a:cxn ang="0">
                      <a:pos x="483" y="79"/>
                    </a:cxn>
                    <a:cxn ang="0">
                      <a:pos x="428" y="151"/>
                    </a:cxn>
                    <a:cxn ang="0">
                      <a:pos x="278" y="159"/>
                    </a:cxn>
                    <a:cxn ang="0">
                      <a:pos x="156" y="141"/>
                    </a:cxn>
                    <a:cxn ang="0">
                      <a:pos x="95" y="177"/>
                    </a:cxn>
                    <a:cxn ang="0">
                      <a:pos x="14" y="213"/>
                    </a:cxn>
                    <a:cxn ang="0">
                      <a:pos x="0" y="231"/>
                    </a:cxn>
                    <a:cxn ang="0">
                      <a:pos x="0" y="293"/>
                    </a:cxn>
                    <a:cxn ang="0">
                      <a:pos x="0" y="328"/>
                    </a:cxn>
                  </a:cxnLst>
                  <a:rect l="0" t="0" r="r" b="b"/>
                  <a:pathLst>
                    <a:path w="768" h="329">
                      <a:moveTo>
                        <a:pt x="767" y="17"/>
                      </a:moveTo>
                      <a:lnTo>
                        <a:pt x="652" y="17"/>
                      </a:lnTo>
                      <a:lnTo>
                        <a:pt x="543" y="0"/>
                      </a:lnTo>
                      <a:lnTo>
                        <a:pt x="502" y="17"/>
                      </a:lnTo>
                      <a:lnTo>
                        <a:pt x="483" y="79"/>
                      </a:lnTo>
                      <a:lnTo>
                        <a:pt x="428" y="151"/>
                      </a:lnTo>
                      <a:lnTo>
                        <a:pt x="278" y="159"/>
                      </a:lnTo>
                      <a:lnTo>
                        <a:pt x="156" y="141"/>
                      </a:lnTo>
                      <a:lnTo>
                        <a:pt x="95" y="177"/>
                      </a:lnTo>
                      <a:lnTo>
                        <a:pt x="14" y="213"/>
                      </a:lnTo>
                      <a:lnTo>
                        <a:pt x="0" y="231"/>
                      </a:lnTo>
                      <a:lnTo>
                        <a:pt x="0" y="293"/>
                      </a:lnTo>
                      <a:lnTo>
                        <a:pt x="0" y="328"/>
                      </a:lnTo>
                    </a:path>
                  </a:pathLst>
                </a:custGeom>
                <a:noFill/>
                <a:ln w="12700" cap="rnd" cmpd="sng">
                  <a:solidFill>
                    <a:srgbClr val="FF0000"/>
                  </a:solidFill>
                  <a:prstDash val="solid"/>
                  <a:round/>
                  <a:headEnd type="none" w="med" len="med"/>
                  <a:tailEnd type="none" w="med" len="med"/>
                </a:ln>
                <a:effectLst/>
              </p:spPr>
              <p:txBody>
                <a:bodyPr/>
                <a:lstStyle/>
                <a:p>
                  <a:endParaRPr lang="en-US"/>
                </a:p>
              </p:txBody>
            </p:sp>
            <p:sp>
              <p:nvSpPr>
                <p:cNvPr id="108847" name="Freeform 303"/>
                <p:cNvSpPr>
                  <a:spLocks/>
                </p:cNvSpPr>
                <p:nvPr/>
              </p:nvSpPr>
              <p:spPr bwMode="auto">
                <a:xfrm>
                  <a:off x="1873" y="3073"/>
                  <a:ext cx="868" cy="85"/>
                </a:xfrm>
                <a:custGeom>
                  <a:avLst/>
                  <a:gdLst/>
                  <a:ahLst/>
                  <a:cxnLst>
                    <a:cxn ang="0">
                      <a:pos x="1088" y="62"/>
                    </a:cxn>
                    <a:cxn ang="0">
                      <a:pos x="1026" y="27"/>
                    </a:cxn>
                    <a:cxn ang="0">
                      <a:pos x="918" y="27"/>
                    </a:cxn>
                    <a:cxn ang="0">
                      <a:pos x="714" y="27"/>
                    </a:cxn>
                    <a:cxn ang="0">
                      <a:pos x="654" y="43"/>
                    </a:cxn>
                    <a:cxn ang="0">
                      <a:pos x="613" y="62"/>
                    </a:cxn>
                    <a:cxn ang="0">
                      <a:pos x="477" y="43"/>
                    </a:cxn>
                    <a:cxn ang="0">
                      <a:pos x="422" y="0"/>
                    </a:cxn>
                    <a:cxn ang="0">
                      <a:pos x="333" y="0"/>
                    </a:cxn>
                    <a:cxn ang="0">
                      <a:pos x="232" y="0"/>
                    </a:cxn>
                    <a:cxn ang="0">
                      <a:pos x="178" y="43"/>
                    </a:cxn>
                    <a:cxn ang="0">
                      <a:pos x="88" y="70"/>
                    </a:cxn>
                    <a:cxn ang="0">
                      <a:pos x="0" y="43"/>
                    </a:cxn>
                  </a:cxnLst>
                  <a:rect l="0" t="0" r="r" b="b"/>
                  <a:pathLst>
                    <a:path w="1089" h="71">
                      <a:moveTo>
                        <a:pt x="1088" y="62"/>
                      </a:moveTo>
                      <a:lnTo>
                        <a:pt x="1026" y="27"/>
                      </a:lnTo>
                      <a:lnTo>
                        <a:pt x="918" y="27"/>
                      </a:lnTo>
                      <a:lnTo>
                        <a:pt x="714" y="27"/>
                      </a:lnTo>
                      <a:lnTo>
                        <a:pt x="654" y="43"/>
                      </a:lnTo>
                      <a:lnTo>
                        <a:pt x="613" y="62"/>
                      </a:lnTo>
                      <a:lnTo>
                        <a:pt x="477" y="43"/>
                      </a:lnTo>
                      <a:lnTo>
                        <a:pt x="422" y="0"/>
                      </a:lnTo>
                      <a:lnTo>
                        <a:pt x="333" y="0"/>
                      </a:lnTo>
                      <a:lnTo>
                        <a:pt x="232" y="0"/>
                      </a:lnTo>
                      <a:lnTo>
                        <a:pt x="178" y="43"/>
                      </a:lnTo>
                      <a:lnTo>
                        <a:pt x="88" y="70"/>
                      </a:lnTo>
                      <a:lnTo>
                        <a:pt x="0" y="43"/>
                      </a:lnTo>
                    </a:path>
                  </a:pathLst>
                </a:custGeom>
                <a:noFill/>
                <a:ln w="12700" cap="rnd" cmpd="sng">
                  <a:solidFill>
                    <a:srgbClr val="FF0000"/>
                  </a:solidFill>
                  <a:prstDash val="solid"/>
                  <a:round/>
                  <a:headEnd type="none" w="med" len="med"/>
                  <a:tailEnd type="none" w="med" len="med"/>
                </a:ln>
                <a:effectLst/>
              </p:spPr>
              <p:txBody>
                <a:bodyPr/>
                <a:lstStyle/>
                <a:p>
                  <a:endParaRPr lang="en-US"/>
                </a:p>
              </p:txBody>
            </p:sp>
          </p:grpSp>
          <p:sp>
            <p:nvSpPr>
              <p:cNvPr id="108848" name="Freeform 304"/>
              <p:cNvSpPr>
                <a:spLocks/>
              </p:cNvSpPr>
              <p:nvPr/>
            </p:nvSpPr>
            <p:spPr bwMode="auto">
              <a:xfrm>
                <a:off x="2382" y="2786"/>
                <a:ext cx="72" cy="330"/>
              </a:xfrm>
              <a:custGeom>
                <a:avLst/>
                <a:gdLst/>
                <a:ahLst/>
                <a:cxnLst>
                  <a:cxn ang="0">
                    <a:pos x="41" y="274"/>
                  </a:cxn>
                  <a:cxn ang="0">
                    <a:pos x="0" y="212"/>
                  </a:cxn>
                  <a:cxn ang="0">
                    <a:pos x="0" y="142"/>
                  </a:cxn>
                  <a:cxn ang="0">
                    <a:pos x="14" y="142"/>
                  </a:cxn>
                  <a:cxn ang="0">
                    <a:pos x="75" y="70"/>
                  </a:cxn>
                  <a:cxn ang="0">
                    <a:pos x="89" y="17"/>
                  </a:cxn>
                  <a:cxn ang="0">
                    <a:pos x="89" y="0"/>
                  </a:cxn>
                </a:cxnLst>
                <a:rect l="0" t="0" r="r" b="b"/>
                <a:pathLst>
                  <a:path w="90" h="275">
                    <a:moveTo>
                      <a:pt x="41" y="274"/>
                    </a:moveTo>
                    <a:lnTo>
                      <a:pt x="0" y="212"/>
                    </a:lnTo>
                    <a:lnTo>
                      <a:pt x="0" y="142"/>
                    </a:lnTo>
                    <a:lnTo>
                      <a:pt x="14" y="142"/>
                    </a:lnTo>
                    <a:lnTo>
                      <a:pt x="75" y="70"/>
                    </a:lnTo>
                    <a:lnTo>
                      <a:pt x="89" y="17"/>
                    </a:lnTo>
                    <a:lnTo>
                      <a:pt x="89"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49" name="Freeform 305"/>
              <p:cNvSpPr>
                <a:spLocks/>
              </p:cNvSpPr>
              <p:nvPr/>
            </p:nvSpPr>
            <p:spPr bwMode="auto">
              <a:xfrm>
                <a:off x="2496" y="3105"/>
                <a:ext cx="82" cy="150"/>
              </a:xfrm>
              <a:custGeom>
                <a:avLst/>
                <a:gdLst/>
                <a:ahLst/>
                <a:cxnLst>
                  <a:cxn ang="0">
                    <a:pos x="0" y="0"/>
                  </a:cxn>
                  <a:cxn ang="0">
                    <a:pos x="8" y="35"/>
                  </a:cxn>
                  <a:cxn ang="0">
                    <a:pos x="41" y="44"/>
                  </a:cxn>
                  <a:cxn ang="0">
                    <a:pos x="82" y="70"/>
                  </a:cxn>
                  <a:cxn ang="0">
                    <a:pos x="88" y="97"/>
                  </a:cxn>
                  <a:cxn ang="0">
                    <a:pos x="102" y="124"/>
                  </a:cxn>
                </a:cxnLst>
                <a:rect l="0" t="0" r="r" b="b"/>
                <a:pathLst>
                  <a:path w="103" h="125">
                    <a:moveTo>
                      <a:pt x="0" y="0"/>
                    </a:moveTo>
                    <a:lnTo>
                      <a:pt x="8" y="35"/>
                    </a:lnTo>
                    <a:lnTo>
                      <a:pt x="41" y="44"/>
                    </a:lnTo>
                    <a:lnTo>
                      <a:pt x="82" y="70"/>
                    </a:lnTo>
                    <a:lnTo>
                      <a:pt x="88" y="97"/>
                    </a:lnTo>
                    <a:lnTo>
                      <a:pt x="102" y="124"/>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50" name="Freeform 306"/>
              <p:cNvSpPr>
                <a:spLocks/>
              </p:cNvSpPr>
              <p:nvPr/>
            </p:nvSpPr>
            <p:spPr bwMode="auto">
              <a:xfrm>
                <a:off x="1852" y="3147"/>
                <a:ext cx="120" cy="97"/>
              </a:xfrm>
              <a:custGeom>
                <a:avLst/>
                <a:gdLst/>
                <a:ahLst/>
                <a:cxnLst>
                  <a:cxn ang="0">
                    <a:pos x="150" y="0"/>
                  </a:cxn>
                  <a:cxn ang="0">
                    <a:pos x="117" y="27"/>
                  </a:cxn>
                  <a:cxn ang="0">
                    <a:pos x="49" y="27"/>
                  </a:cxn>
                  <a:cxn ang="0">
                    <a:pos x="8" y="45"/>
                  </a:cxn>
                  <a:cxn ang="0">
                    <a:pos x="0" y="80"/>
                  </a:cxn>
                </a:cxnLst>
                <a:rect l="0" t="0" r="r" b="b"/>
                <a:pathLst>
                  <a:path w="151" h="81">
                    <a:moveTo>
                      <a:pt x="150" y="0"/>
                    </a:moveTo>
                    <a:lnTo>
                      <a:pt x="117" y="27"/>
                    </a:lnTo>
                    <a:lnTo>
                      <a:pt x="49" y="27"/>
                    </a:lnTo>
                    <a:lnTo>
                      <a:pt x="8" y="45"/>
                    </a:lnTo>
                    <a:lnTo>
                      <a:pt x="0" y="8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51" name="Freeform 307"/>
              <p:cNvSpPr>
                <a:spLocks/>
              </p:cNvSpPr>
              <p:nvPr/>
            </p:nvSpPr>
            <p:spPr bwMode="auto">
              <a:xfrm>
                <a:off x="2783" y="2912"/>
                <a:ext cx="449" cy="204"/>
              </a:xfrm>
              <a:custGeom>
                <a:avLst/>
                <a:gdLst/>
                <a:ahLst/>
                <a:cxnLst>
                  <a:cxn ang="0">
                    <a:pos x="563" y="54"/>
                  </a:cxn>
                  <a:cxn ang="0">
                    <a:pos x="476" y="27"/>
                  </a:cxn>
                  <a:cxn ang="0">
                    <a:pos x="435" y="0"/>
                  </a:cxn>
                  <a:cxn ang="0">
                    <a:pos x="347" y="0"/>
                  </a:cxn>
                  <a:cxn ang="0">
                    <a:pos x="197" y="18"/>
                  </a:cxn>
                  <a:cxn ang="0">
                    <a:pos x="170" y="80"/>
                  </a:cxn>
                  <a:cxn ang="0">
                    <a:pos x="170" y="99"/>
                  </a:cxn>
                  <a:cxn ang="0">
                    <a:pos x="150" y="169"/>
                  </a:cxn>
                  <a:cxn ang="0">
                    <a:pos x="102" y="169"/>
                  </a:cxn>
                  <a:cxn ang="0">
                    <a:pos x="28" y="169"/>
                  </a:cxn>
                  <a:cxn ang="0">
                    <a:pos x="0" y="142"/>
                  </a:cxn>
                </a:cxnLst>
                <a:rect l="0" t="0" r="r" b="b"/>
                <a:pathLst>
                  <a:path w="564" h="170">
                    <a:moveTo>
                      <a:pt x="563" y="54"/>
                    </a:moveTo>
                    <a:lnTo>
                      <a:pt x="476" y="27"/>
                    </a:lnTo>
                    <a:lnTo>
                      <a:pt x="435" y="0"/>
                    </a:lnTo>
                    <a:lnTo>
                      <a:pt x="347" y="0"/>
                    </a:lnTo>
                    <a:lnTo>
                      <a:pt x="197" y="18"/>
                    </a:lnTo>
                    <a:lnTo>
                      <a:pt x="170" y="80"/>
                    </a:lnTo>
                    <a:lnTo>
                      <a:pt x="170" y="99"/>
                    </a:lnTo>
                    <a:lnTo>
                      <a:pt x="150" y="169"/>
                    </a:lnTo>
                    <a:lnTo>
                      <a:pt x="102" y="169"/>
                    </a:lnTo>
                    <a:lnTo>
                      <a:pt x="28" y="169"/>
                    </a:lnTo>
                    <a:lnTo>
                      <a:pt x="0" y="142"/>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nvGrpSpPr>
            <p:cNvPr id="30" name="Group 405"/>
            <p:cNvGrpSpPr>
              <a:grpSpLocks/>
            </p:cNvGrpSpPr>
            <p:nvPr/>
          </p:nvGrpSpPr>
          <p:grpSpPr bwMode="auto">
            <a:xfrm>
              <a:off x="1651" y="2525"/>
              <a:ext cx="1874" cy="515"/>
              <a:chOff x="1651" y="2525"/>
              <a:chExt cx="1874" cy="515"/>
            </a:xfrm>
          </p:grpSpPr>
          <p:sp>
            <p:nvSpPr>
              <p:cNvPr id="108853" name="Freeform 309"/>
              <p:cNvSpPr>
                <a:spLocks/>
              </p:cNvSpPr>
              <p:nvPr/>
            </p:nvSpPr>
            <p:spPr bwMode="auto">
              <a:xfrm>
                <a:off x="1651" y="2525"/>
                <a:ext cx="1874" cy="513"/>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54" name="Freeform 310"/>
              <p:cNvSpPr>
                <a:spLocks/>
              </p:cNvSpPr>
              <p:nvPr/>
            </p:nvSpPr>
            <p:spPr bwMode="auto">
              <a:xfrm>
                <a:off x="1962" y="2709"/>
                <a:ext cx="1197" cy="331"/>
              </a:xfrm>
              <a:custGeom>
                <a:avLst/>
                <a:gdLst/>
                <a:ahLst/>
                <a:cxnLst>
                  <a:cxn ang="0">
                    <a:pos x="0" y="276"/>
                  </a:cxn>
                  <a:cxn ang="0">
                    <a:pos x="55" y="222"/>
                  </a:cxn>
                  <a:cxn ang="0">
                    <a:pos x="129" y="204"/>
                  </a:cxn>
                  <a:cxn ang="0">
                    <a:pos x="265" y="204"/>
                  </a:cxn>
                  <a:cxn ang="0">
                    <a:pos x="327" y="222"/>
                  </a:cxn>
                  <a:cxn ang="0">
                    <a:pos x="428" y="249"/>
                  </a:cxn>
                  <a:cxn ang="0">
                    <a:pos x="537" y="249"/>
                  </a:cxn>
                  <a:cxn ang="0">
                    <a:pos x="619" y="214"/>
                  </a:cxn>
                  <a:cxn ang="0">
                    <a:pos x="707" y="196"/>
                  </a:cxn>
                  <a:cxn ang="0">
                    <a:pos x="815" y="187"/>
                  </a:cxn>
                  <a:cxn ang="0">
                    <a:pos x="932" y="187"/>
                  </a:cxn>
                  <a:cxn ang="0">
                    <a:pos x="1019" y="214"/>
                  </a:cxn>
                  <a:cxn ang="0">
                    <a:pos x="1107" y="214"/>
                  </a:cxn>
                  <a:cxn ang="0">
                    <a:pos x="1202" y="204"/>
                  </a:cxn>
                  <a:cxn ang="0">
                    <a:pos x="1251" y="134"/>
                  </a:cxn>
                  <a:cxn ang="0">
                    <a:pos x="1271" y="62"/>
                  </a:cxn>
                  <a:cxn ang="0">
                    <a:pos x="1399" y="0"/>
                  </a:cxn>
                  <a:cxn ang="0">
                    <a:pos x="1461" y="18"/>
                  </a:cxn>
                  <a:cxn ang="0">
                    <a:pos x="1502" y="99"/>
                  </a:cxn>
                </a:cxnLst>
                <a:rect l="0" t="0" r="r" b="b"/>
                <a:pathLst>
                  <a:path w="1503" h="277">
                    <a:moveTo>
                      <a:pt x="0" y="276"/>
                    </a:moveTo>
                    <a:lnTo>
                      <a:pt x="55" y="222"/>
                    </a:lnTo>
                    <a:lnTo>
                      <a:pt x="129" y="204"/>
                    </a:lnTo>
                    <a:lnTo>
                      <a:pt x="265" y="204"/>
                    </a:lnTo>
                    <a:lnTo>
                      <a:pt x="327" y="222"/>
                    </a:lnTo>
                    <a:lnTo>
                      <a:pt x="428" y="249"/>
                    </a:lnTo>
                    <a:lnTo>
                      <a:pt x="537" y="249"/>
                    </a:lnTo>
                    <a:lnTo>
                      <a:pt x="619" y="214"/>
                    </a:lnTo>
                    <a:lnTo>
                      <a:pt x="707" y="196"/>
                    </a:lnTo>
                    <a:lnTo>
                      <a:pt x="815" y="187"/>
                    </a:lnTo>
                    <a:lnTo>
                      <a:pt x="932" y="187"/>
                    </a:lnTo>
                    <a:lnTo>
                      <a:pt x="1019" y="214"/>
                    </a:lnTo>
                    <a:lnTo>
                      <a:pt x="1107" y="214"/>
                    </a:lnTo>
                    <a:lnTo>
                      <a:pt x="1202" y="204"/>
                    </a:lnTo>
                    <a:lnTo>
                      <a:pt x="1251" y="134"/>
                    </a:lnTo>
                    <a:lnTo>
                      <a:pt x="1271" y="62"/>
                    </a:lnTo>
                    <a:lnTo>
                      <a:pt x="1399" y="0"/>
                    </a:lnTo>
                    <a:lnTo>
                      <a:pt x="1461" y="18"/>
                    </a:lnTo>
                    <a:lnTo>
                      <a:pt x="1502" y="99"/>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nvGrpSpPr>
              <p:cNvPr id="31" name="Group 404"/>
              <p:cNvGrpSpPr>
                <a:grpSpLocks/>
              </p:cNvGrpSpPr>
              <p:nvPr/>
            </p:nvGrpSpPr>
            <p:grpSpPr bwMode="auto">
              <a:xfrm>
                <a:off x="1652" y="2525"/>
                <a:ext cx="1867" cy="515"/>
                <a:chOff x="1652" y="2525"/>
                <a:chExt cx="1867" cy="515"/>
              </a:xfrm>
            </p:grpSpPr>
            <p:sp>
              <p:nvSpPr>
                <p:cNvPr id="108856" name="Freeform 312"/>
                <p:cNvSpPr>
                  <a:spLocks/>
                </p:cNvSpPr>
                <p:nvPr/>
              </p:nvSpPr>
              <p:spPr bwMode="auto">
                <a:xfrm>
                  <a:off x="1652" y="2525"/>
                  <a:ext cx="1867" cy="515"/>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FFD386"/>
                </a:solidFill>
                <a:ln w="12700" cap="rnd" cmpd="sng">
                  <a:noFill/>
                  <a:prstDash val="solid"/>
                  <a:round/>
                  <a:headEnd type="none" w="med" len="med"/>
                  <a:tailEnd type="none" w="med" len="med"/>
                </a:ln>
                <a:effectLst/>
              </p:spPr>
              <p:txBody>
                <a:bodyPr/>
                <a:lstStyle/>
                <a:p>
                  <a:endParaRPr lang="en-US"/>
                </a:p>
              </p:txBody>
            </p:sp>
            <p:sp>
              <p:nvSpPr>
                <p:cNvPr id="108857" name="Freeform 313"/>
                <p:cNvSpPr>
                  <a:spLocks/>
                </p:cNvSpPr>
                <p:nvPr/>
              </p:nvSpPr>
              <p:spPr bwMode="auto">
                <a:xfrm>
                  <a:off x="1876" y="2901"/>
                  <a:ext cx="195" cy="53"/>
                </a:xfrm>
                <a:custGeom>
                  <a:avLst/>
                  <a:gdLst/>
                  <a:ahLst/>
                  <a:cxnLst>
                    <a:cxn ang="0">
                      <a:pos x="244" y="43"/>
                    </a:cxn>
                    <a:cxn ang="0">
                      <a:pos x="231" y="0"/>
                    </a:cxn>
                    <a:cxn ang="0">
                      <a:pos x="184" y="0"/>
                    </a:cxn>
                    <a:cxn ang="0">
                      <a:pos x="109" y="17"/>
                    </a:cxn>
                    <a:cxn ang="0">
                      <a:pos x="47" y="43"/>
                    </a:cxn>
                    <a:cxn ang="0">
                      <a:pos x="0" y="17"/>
                    </a:cxn>
                  </a:cxnLst>
                  <a:rect l="0" t="0" r="r" b="b"/>
                  <a:pathLst>
                    <a:path w="245" h="44">
                      <a:moveTo>
                        <a:pt x="244" y="43"/>
                      </a:moveTo>
                      <a:lnTo>
                        <a:pt x="231" y="0"/>
                      </a:lnTo>
                      <a:lnTo>
                        <a:pt x="184" y="0"/>
                      </a:lnTo>
                      <a:lnTo>
                        <a:pt x="109" y="17"/>
                      </a:lnTo>
                      <a:lnTo>
                        <a:pt x="47" y="43"/>
                      </a:lnTo>
                      <a:lnTo>
                        <a:pt x="0" y="17"/>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sp>
            <p:nvSpPr>
              <p:cNvPr id="108858" name="Freeform 314"/>
              <p:cNvSpPr>
                <a:spLocks/>
              </p:cNvSpPr>
              <p:nvPr/>
            </p:nvSpPr>
            <p:spPr bwMode="auto">
              <a:xfrm>
                <a:off x="2270" y="2686"/>
                <a:ext cx="120" cy="310"/>
              </a:xfrm>
              <a:custGeom>
                <a:avLst/>
                <a:gdLst/>
                <a:ahLst/>
                <a:cxnLst>
                  <a:cxn ang="0">
                    <a:pos x="0" y="0"/>
                  </a:cxn>
                  <a:cxn ang="0">
                    <a:pos x="55" y="45"/>
                  </a:cxn>
                  <a:cxn ang="0">
                    <a:pos x="88" y="99"/>
                  </a:cxn>
                  <a:cxn ang="0">
                    <a:pos x="82" y="134"/>
                  </a:cxn>
                  <a:cxn ang="0">
                    <a:pos x="76" y="169"/>
                  </a:cxn>
                  <a:cxn ang="0">
                    <a:pos x="76" y="204"/>
                  </a:cxn>
                  <a:cxn ang="0">
                    <a:pos x="95" y="214"/>
                  </a:cxn>
                  <a:cxn ang="0">
                    <a:pos x="136" y="250"/>
                  </a:cxn>
                  <a:cxn ang="0">
                    <a:pos x="150" y="258"/>
                  </a:cxn>
                </a:cxnLst>
                <a:rect l="0" t="0" r="r" b="b"/>
                <a:pathLst>
                  <a:path w="151" h="259">
                    <a:moveTo>
                      <a:pt x="0" y="0"/>
                    </a:moveTo>
                    <a:lnTo>
                      <a:pt x="55" y="45"/>
                    </a:lnTo>
                    <a:lnTo>
                      <a:pt x="88" y="99"/>
                    </a:lnTo>
                    <a:lnTo>
                      <a:pt x="82" y="134"/>
                    </a:lnTo>
                    <a:lnTo>
                      <a:pt x="76" y="169"/>
                    </a:lnTo>
                    <a:lnTo>
                      <a:pt x="76" y="204"/>
                    </a:lnTo>
                    <a:lnTo>
                      <a:pt x="95" y="214"/>
                    </a:lnTo>
                    <a:lnTo>
                      <a:pt x="136" y="250"/>
                    </a:lnTo>
                    <a:lnTo>
                      <a:pt x="150" y="258"/>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sp>
            <p:nvSpPr>
              <p:cNvPr id="108859" name="Freeform 315"/>
              <p:cNvSpPr>
                <a:spLocks/>
              </p:cNvSpPr>
              <p:nvPr/>
            </p:nvSpPr>
            <p:spPr bwMode="auto">
              <a:xfrm>
                <a:off x="2574" y="2932"/>
                <a:ext cx="114" cy="108"/>
              </a:xfrm>
              <a:custGeom>
                <a:avLst/>
                <a:gdLst/>
                <a:ahLst/>
                <a:cxnLst>
                  <a:cxn ang="0">
                    <a:pos x="0" y="89"/>
                  </a:cxn>
                  <a:cxn ang="0">
                    <a:pos x="0" y="62"/>
                  </a:cxn>
                  <a:cxn ang="0">
                    <a:pos x="13" y="52"/>
                  </a:cxn>
                  <a:cxn ang="0">
                    <a:pos x="87" y="52"/>
                  </a:cxn>
                  <a:cxn ang="0">
                    <a:pos x="142" y="17"/>
                  </a:cxn>
                  <a:cxn ang="0">
                    <a:pos x="142" y="0"/>
                  </a:cxn>
                </a:cxnLst>
                <a:rect l="0" t="0" r="r" b="b"/>
                <a:pathLst>
                  <a:path w="143" h="90">
                    <a:moveTo>
                      <a:pt x="0" y="89"/>
                    </a:moveTo>
                    <a:lnTo>
                      <a:pt x="0" y="62"/>
                    </a:lnTo>
                    <a:lnTo>
                      <a:pt x="13" y="52"/>
                    </a:lnTo>
                    <a:lnTo>
                      <a:pt x="87" y="52"/>
                    </a:lnTo>
                    <a:lnTo>
                      <a:pt x="142" y="17"/>
                    </a:lnTo>
                    <a:lnTo>
                      <a:pt x="142" y="0"/>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sp>
            <p:nvSpPr>
              <p:cNvPr id="108860" name="Freeform 316"/>
              <p:cNvSpPr>
                <a:spLocks/>
              </p:cNvSpPr>
              <p:nvPr/>
            </p:nvSpPr>
            <p:spPr bwMode="auto">
              <a:xfrm>
                <a:off x="3017" y="2721"/>
                <a:ext cx="29" cy="223"/>
              </a:xfrm>
              <a:custGeom>
                <a:avLst/>
                <a:gdLst/>
                <a:ahLst/>
                <a:cxnLst>
                  <a:cxn ang="0">
                    <a:pos x="0" y="186"/>
                  </a:cxn>
                  <a:cxn ang="0">
                    <a:pos x="0" y="132"/>
                  </a:cxn>
                  <a:cxn ang="0">
                    <a:pos x="14" y="97"/>
                  </a:cxn>
                  <a:cxn ang="0">
                    <a:pos x="35" y="62"/>
                  </a:cxn>
                  <a:cxn ang="0">
                    <a:pos x="35" y="17"/>
                  </a:cxn>
                  <a:cxn ang="0">
                    <a:pos x="35" y="0"/>
                  </a:cxn>
                </a:cxnLst>
                <a:rect l="0" t="0" r="r" b="b"/>
                <a:pathLst>
                  <a:path w="36" h="187">
                    <a:moveTo>
                      <a:pt x="0" y="186"/>
                    </a:moveTo>
                    <a:lnTo>
                      <a:pt x="0" y="132"/>
                    </a:lnTo>
                    <a:lnTo>
                      <a:pt x="14" y="97"/>
                    </a:lnTo>
                    <a:lnTo>
                      <a:pt x="35" y="62"/>
                    </a:lnTo>
                    <a:lnTo>
                      <a:pt x="35" y="17"/>
                    </a:lnTo>
                    <a:lnTo>
                      <a:pt x="35" y="0"/>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grpSp>
          <p:nvGrpSpPr>
            <p:cNvPr id="108867" name="Group 403"/>
            <p:cNvGrpSpPr>
              <a:grpSpLocks/>
            </p:cNvGrpSpPr>
            <p:nvPr/>
          </p:nvGrpSpPr>
          <p:grpSpPr bwMode="auto">
            <a:xfrm>
              <a:off x="1652" y="2379"/>
              <a:ext cx="1866" cy="517"/>
              <a:chOff x="1652" y="2379"/>
              <a:chExt cx="1866" cy="517"/>
            </a:xfrm>
          </p:grpSpPr>
          <p:sp>
            <p:nvSpPr>
              <p:cNvPr id="108862" name="Freeform 318"/>
              <p:cNvSpPr>
                <a:spLocks/>
              </p:cNvSpPr>
              <p:nvPr/>
            </p:nvSpPr>
            <p:spPr bwMode="auto">
              <a:xfrm>
                <a:off x="1652" y="2379"/>
                <a:ext cx="1866" cy="517"/>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00006F"/>
              </a:solidFill>
              <a:ln w="12700" cap="rnd" cmpd="sng">
                <a:noFill/>
                <a:prstDash val="solid"/>
                <a:round/>
                <a:headEnd type="none" w="med" len="med"/>
                <a:tailEnd type="none" w="med" len="med"/>
              </a:ln>
              <a:effectLst/>
            </p:spPr>
            <p:txBody>
              <a:bodyPr/>
              <a:lstStyle/>
              <a:p>
                <a:endParaRPr lang="en-US"/>
              </a:p>
            </p:txBody>
          </p:sp>
          <p:grpSp>
            <p:nvGrpSpPr>
              <p:cNvPr id="108869" name="Group 402"/>
              <p:cNvGrpSpPr>
                <a:grpSpLocks/>
              </p:cNvGrpSpPr>
              <p:nvPr/>
            </p:nvGrpSpPr>
            <p:grpSpPr bwMode="auto">
              <a:xfrm>
                <a:off x="1674" y="2391"/>
                <a:ext cx="1833" cy="501"/>
                <a:chOff x="1674" y="2391"/>
                <a:chExt cx="1833" cy="501"/>
              </a:xfrm>
            </p:grpSpPr>
            <p:sp>
              <p:nvSpPr>
                <p:cNvPr id="108864" name="Freeform 320"/>
                <p:cNvSpPr>
                  <a:spLocks/>
                </p:cNvSpPr>
                <p:nvPr/>
              </p:nvSpPr>
              <p:spPr bwMode="auto">
                <a:xfrm>
                  <a:off x="1674" y="2519"/>
                  <a:ext cx="1032" cy="373"/>
                </a:xfrm>
                <a:custGeom>
                  <a:avLst/>
                  <a:gdLst/>
                  <a:ahLst/>
                  <a:cxnLst>
                    <a:cxn ang="0">
                      <a:pos x="0" y="310"/>
                    </a:cxn>
                    <a:cxn ang="0">
                      <a:pos x="317" y="310"/>
                    </a:cxn>
                    <a:cxn ang="0">
                      <a:pos x="499" y="268"/>
                    </a:cxn>
                    <a:cxn ang="0">
                      <a:pos x="581" y="242"/>
                    </a:cxn>
                    <a:cxn ang="0">
                      <a:pos x="661" y="268"/>
                    </a:cxn>
                    <a:cxn ang="0">
                      <a:pos x="763" y="268"/>
                    </a:cxn>
                    <a:cxn ang="0">
                      <a:pos x="816" y="250"/>
                    </a:cxn>
                    <a:cxn ang="0">
                      <a:pos x="870" y="180"/>
                    </a:cxn>
                    <a:cxn ang="0">
                      <a:pos x="910" y="164"/>
                    </a:cxn>
                    <a:cxn ang="0">
                      <a:pos x="1073" y="156"/>
                    </a:cxn>
                    <a:cxn ang="0">
                      <a:pos x="1141" y="206"/>
                    </a:cxn>
                    <a:cxn ang="0">
                      <a:pos x="1262" y="250"/>
                    </a:cxn>
                    <a:cxn ang="0">
                      <a:pos x="1295" y="206"/>
                    </a:cxn>
                    <a:cxn ang="0">
                      <a:pos x="1262" y="42"/>
                    </a:cxn>
                    <a:cxn ang="0">
                      <a:pos x="1147" y="26"/>
                    </a:cxn>
                    <a:cxn ang="0">
                      <a:pos x="1012" y="52"/>
                    </a:cxn>
                    <a:cxn ang="0">
                      <a:pos x="958" y="52"/>
                    </a:cxn>
                    <a:cxn ang="0">
                      <a:pos x="958" y="0"/>
                    </a:cxn>
                    <a:cxn ang="0">
                      <a:pos x="857" y="0"/>
                    </a:cxn>
                    <a:cxn ang="0">
                      <a:pos x="775" y="0"/>
                    </a:cxn>
                    <a:cxn ang="0">
                      <a:pos x="0" y="310"/>
                    </a:cxn>
                  </a:cxnLst>
                  <a:rect l="0" t="0" r="r" b="b"/>
                  <a:pathLst>
                    <a:path w="1296" h="311">
                      <a:moveTo>
                        <a:pt x="0" y="310"/>
                      </a:moveTo>
                      <a:lnTo>
                        <a:pt x="317" y="310"/>
                      </a:lnTo>
                      <a:lnTo>
                        <a:pt x="499" y="268"/>
                      </a:lnTo>
                      <a:lnTo>
                        <a:pt x="581" y="242"/>
                      </a:lnTo>
                      <a:lnTo>
                        <a:pt x="661" y="268"/>
                      </a:lnTo>
                      <a:lnTo>
                        <a:pt x="763" y="268"/>
                      </a:lnTo>
                      <a:lnTo>
                        <a:pt x="816" y="250"/>
                      </a:lnTo>
                      <a:lnTo>
                        <a:pt x="870" y="180"/>
                      </a:lnTo>
                      <a:lnTo>
                        <a:pt x="910" y="164"/>
                      </a:lnTo>
                      <a:lnTo>
                        <a:pt x="1073" y="156"/>
                      </a:lnTo>
                      <a:lnTo>
                        <a:pt x="1141" y="206"/>
                      </a:lnTo>
                      <a:lnTo>
                        <a:pt x="1262" y="250"/>
                      </a:lnTo>
                      <a:lnTo>
                        <a:pt x="1295" y="206"/>
                      </a:lnTo>
                      <a:lnTo>
                        <a:pt x="1262" y="42"/>
                      </a:lnTo>
                      <a:lnTo>
                        <a:pt x="1147" y="26"/>
                      </a:lnTo>
                      <a:lnTo>
                        <a:pt x="1012" y="52"/>
                      </a:lnTo>
                      <a:lnTo>
                        <a:pt x="958" y="52"/>
                      </a:lnTo>
                      <a:lnTo>
                        <a:pt x="958" y="0"/>
                      </a:lnTo>
                      <a:lnTo>
                        <a:pt x="857" y="0"/>
                      </a:lnTo>
                      <a:lnTo>
                        <a:pt x="775" y="0"/>
                      </a:lnTo>
                      <a:lnTo>
                        <a:pt x="0" y="310"/>
                      </a:lnTo>
                    </a:path>
                  </a:pathLst>
                </a:custGeom>
                <a:solidFill>
                  <a:srgbClr val="CFAF80"/>
                </a:solidFill>
                <a:ln w="12700" cap="rnd" cmpd="sng">
                  <a:noFill/>
                  <a:prstDash val="solid"/>
                  <a:round/>
                  <a:headEnd type="none" w="med" len="med"/>
                  <a:tailEnd type="none" w="med" len="med"/>
                </a:ln>
                <a:effectLst/>
              </p:spPr>
              <p:txBody>
                <a:bodyPr/>
                <a:lstStyle/>
                <a:p>
                  <a:endParaRPr lang="en-US"/>
                </a:p>
              </p:txBody>
            </p:sp>
            <p:sp>
              <p:nvSpPr>
                <p:cNvPr id="108865" name="Freeform 321"/>
                <p:cNvSpPr>
                  <a:spLocks/>
                </p:cNvSpPr>
                <p:nvPr/>
              </p:nvSpPr>
              <p:spPr bwMode="auto">
                <a:xfrm>
                  <a:off x="1950" y="2680"/>
                  <a:ext cx="1173" cy="212"/>
                </a:xfrm>
                <a:custGeom>
                  <a:avLst/>
                  <a:gdLst/>
                  <a:ahLst/>
                  <a:cxnLst>
                    <a:cxn ang="0">
                      <a:pos x="0" y="176"/>
                    </a:cxn>
                    <a:cxn ang="0">
                      <a:pos x="236" y="108"/>
                    </a:cxn>
                    <a:cxn ang="0">
                      <a:pos x="317" y="133"/>
                    </a:cxn>
                    <a:cxn ang="0">
                      <a:pos x="418" y="133"/>
                    </a:cxn>
                    <a:cxn ang="0">
                      <a:pos x="473" y="117"/>
                    </a:cxn>
                    <a:cxn ang="0">
                      <a:pos x="534" y="41"/>
                    </a:cxn>
                    <a:cxn ang="0">
                      <a:pos x="729" y="24"/>
                    </a:cxn>
                    <a:cxn ang="0">
                      <a:pos x="804" y="84"/>
                    </a:cxn>
                    <a:cxn ang="0">
                      <a:pos x="911" y="117"/>
                    </a:cxn>
                    <a:cxn ang="0">
                      <a:pos x="958" y="75"/>
                    </a:cxn>
                    <a:cxn ang="0">
                      <a:pos x="1007" y="24"/>
                    </a:cxn>
                    <a:cxn ang="0">
                      <a:pos x="1087" y="24"/>
                    </a:cxn>
                    <a:cxn ang="0">
                      <a:pos x="1168" y="41"/>
                    </a:cxn>
                    <a:cxn ang="0">
                      <a:pos x="1256" y="67"/>
                    </a:cxn>
                    <a:cxn ang="0">
                      <a:pos x="1344" y="33"/>
                    </a:cxn>
                    <a:cxn ang="0">
                      <a:pos x="1459" y="0"/>
                    </a:cxn>
                    <a:cxn ang="0">
                      <a:pos x="1473" y="33"/>
                    </a:cxn>
                    <a:cxn ang="0">
                      <a:pos x="1222" y="176"/>
                    </a:cxn>
                    <a:cxn ang="0">
                      <a:pos x="0" y="176"/>
                    </a:cxn>
                  </a:cxnLst>
                  <a:rect l="0" t="0" r="r" b="b"/>
                  <a:pathLst>
                    <a:path w="1474" h="177">
                      <a:moveTo>
                        <a:pt x="0" y="176"/>
                      </a:moveTo>
                      <a:lnTo>
                        <a:pt x="236" y="108"/>
                      </a:lnTo>
                      <a:lnTo>
                        <a:pt x="317" y="133"/>
                      </a:lnTo>
                      <a:lnTo>
                        <a:pt x="418" y="133"/>
                      </a:lnTo>
                      <a:lnTo>
                        <a:pt x="473" y="117"/>
                      </a:lnTo>
                      <a:lnTo>
                        <a:pt x="534" y="41"/>
                      </a:lnTo>
                      <a:lnTo>
                        <a:pt x="729" y="24"/>
                      </a:lnTo>
                      <a:lnTo>
                        <a:pt x="804" y="84"/>
                      </a:lnTo>
                      <a:lnTo>
                        <a:pt x="911" y="117"/>
                      </a:lnTo>
                      <a:lnTo>
                        <a:pt x="958" y="75"/>
                      </a:lnTo>
                      <a:lnTo>
                        <a:pt x="1007" y="24"/>
                      </a:lnTo>
                      <a:lnTo>
                        <a:pt x="1087" y="24"/>
                      </a:lnTo>
                      <a:lnTo>
                        <a:pt x="1168" y="41"/>
                      </a:lnTo>
                      <a:lnTo>
                        <a:pt x="1256" y="67"/>
                      </a:lnTo>
                      <a:lnTo>
                        <a:pt x="1344" y="33"/>
                      </a:lnTo>
                      <a:lnTo>
                        <a:pt x="1459" y="0"/>
                      </a:lnTo>
                      <a:lnTo>
                        <a:pt x="1473" y="33"/>
                      </a:lnTo>
                      <a:lnTo>
                        <a:pt x="1222" y="176"/>
                      </a:lnTo>
                      <a:lnTo>
                        <a:pt x="0" y="176"/>
                      </a:lnTo>
                    </a:path>
                  </a:pathLst>
                </a:custGeom>
                <a:solidFill>
                  <a:srgbClr val="802000"/>
                </a:solidFill>
                <a:ln w="12700" cap="rnd" cmpd="sng">
                  <a:noFill/>
                  <a:prstDash val="solid"/>
                  <a:round/>
                  <a:headEnd type="none" w="med" len="med"/>
                  <a:tailEnd type="none" w="med" len="med"/>
                </a:ln>
                <a:effectLst/>
              </p:spPr>
              <p:txBody>
                <a:bodyPr/>
                <a:lstStyle/>
                <a:p>
                  <a:endParaRPr lang="en-US"/>
                </a:p>
              </p:txBody>
            </p:sp>
            <p:sp>
              <p:nvSpPr>
                <p:cNvPr id="108866" name="Freeform 322"/>
                <p:cNvSpPr>
                  <a:spLocks/>
                </p:cNvSpPr>
                <p:nvPr/>
              </p:nvSpPr>
              <p:spPr bwMode="auto">
                <a:xfrm>
                  <a:off x="2295" y="2391"/>
                  <a:ext cx="1212" cy="362"/>
                </a:xfrm>
                <a:custGeom>
                  <a:avLst/>
                  <a:gdLst/>
                  <a:ahLst/>
                  <a:cxnLst>
                    <a:cxn ang="0">
                      <a:pos x="0" y="104"/>
                    </a:cxn>
                    <a:cxn ang="0">
                      <a:pos x="182" y="104"/>
                    </a:cxn>
                    <a:cxn ang="0">
                      <a:pos x="176" y="163"/>
                    </a:cxn>
                    <a:cxn ang="0">
                      <a:pos x="237" y="163"/>
                    </a:cxn>
                    <a:cxn ang="0">
                      <a:pos x="372" y="129"/>
                    </a:cxn>
                    <a:cxn ang="0">
                      <a:pos x="487" y="155"/>
                    </a:cxn>
                    <a:cxn ang="0">
                      <a:pos x="534" y="301"/>
                    </a:cxn>
                    <a:cxn ang="0">
                      <a:pos x="575" y="259"/>
                    </a:cxn>
                    <a:cxn ang="0">
                      <a:pos x="669" y="259"/>
                    </a:cxn>
                    <a:cxn ang="0">
                      <a:pos x="812" y="301"/>
                    </a:cxn>
                    <a:cxn ang="0">
                      <a:pos x="1028" y="233"/>
                    </a:cxn>
                    <a:cxn ang="0">
                      <a:pos x="1035" y="267"/>
                    </a:cxn>
                    <a:cxn ang="0">
                      <a:pos x="1521" y="0"/>
                    </a:cxn>
                    <a:cxn ang="0">
                      <a:pos x="278" y="0"/>
                    </a:cxn>
                    <a:cxn ang="0">
                      <a:pos x="0" y="104"/>
                    </a:cxn>
                  </a:cxnLst>
                  <a:rect l="0" t="0" r="r" b="b"/>
                  <a:pathLst>
                    <a:path w="1522" h="302">
                      <a:moveTo>
                        <a:pt x="0" y="104"/>
                      </a:moveTo>
                      <a:lnTo>
                        <a:pt x="182" y="104"/>
                      </a:lnTo>
                      <a:lnTo>
                        <a:pt x="176" y="163"/>
                      </a:lnTo>
                      <a:lnTo>
                        <a:pt x="237" y="163"/>
                      </a:lnTo>
                      <a:lnTo>
                        <a:pt x="372" y="129"/>
                      </a:lnTo>
                      <a:lnTo>
                        <a:pt x="487" y="155"/>
                      </a:lnTo>
                      <a:lnTo>
                        <a:pt x="534" y="301"/>
                      </a:lnTo>
                      <a:lnTo>
                        <a:pt x="575" y="259"/>
                      </a:lnTo>
                      <a:lnTo>
                        <a:pt x="669" y="259"/>
                      </a:lnTo>
                      <a:lnTo>
                        <a:pt x="812" y="301"/>
                      </a:lnTo>
                      <a:lnTo>
                        <a:pt x="1028" y="233"/>
                      </a:lnTo>
                      <a:lnTo>
                        <a:pt x="1035" y="267"/>
                      </a:lnTo>
                      <a:lnTo>
                        <a:pt x="1521" y="0"/>
                      </a:lnTo>
                      <a:lnTo>
                        <a:pt x="278" y="0"/>
                      </a:lnTo>
                      <a:lnTo>
                        <a:pt x="0" y="104"/>
                      </a:lnTo>
                    </a:path>
                  </a:pathLst>
                </a:custGeom>
                <a:solidFill>
                  <a:srgbClr val="FF8000"/>
                </a:solidFill>
                <a:ln w="12700" cap="rnd" cmpd="sng">
                  <a:noFill/>
                  <a:prstDash val="solid"/>
                  <a:round/>
                  <a:headEnd type="none" w="med" len="med"/>
                  <a:tailEnd type="none" w="med" len="med"/>
                </a:ln>
                <a:effectLst/>
              </p:spPr>
              <p:txBody>
                <a:bodyPr/>
                <a:lstStyle/>
                <a:p>
                  <a:endParaRPr lang="en-US"/>
                </a:p>
              </p:txBody>
            </p:sp>
          </p:grpSp>
        </p:grpSp>
        <p:grpSp>
          <p:nvGrpSpPr>
            <p:cNvPr id="108871" name="Group 401"/>
            <p:cNvGrpSpPr>
              <a:grpSpLocks/>
            </p:cNvGrpSpPr>
            <p:nvPr/>
          </p:nvGrpSpPr>
          <p:grpSpPr bwMode="auto">
            <a:xfrm>
              <a:off x="1651" y="2156"/>
              <a:ext cx="1873" cy="517"/>
              <a:chOff x="1651" y="2156"/>
              <a:chExt cx="1873" cy="517"/>
            </a:xfrm>
          </p:grpSpPr>
          <p:sp>
            <p:nvSpPr>
              <p:cNvPr id="108868" name="Freeform 324"/>
              <p:cNvSpPr>
                <a:spLocks/>
              </p:cNvSpPr>
              <p:nvPr/>
            </p:nvSpPr>
            <p:spPr bwMode="auto">
              <a:xfrm>
                <a:off x="1651" y="2156"/>
                <a:ext cx="1867" cy="515"/>
              </a:xfrm>
              <a:custGeom>
                <a:avLst/>
                <a:gdLst/>
                <a:ahLst/>
                <a:cxnLst>
                  <a:cxn ang="0">
                    <a:pos x="0" y="429"/>
                  </a:cxn>
                  <a:cxn ang="0">
                    <a:pos x="1590" y="429"/>
                  </a:cxn>
                  <a:cxn ang="0">
                    <a:pos x="2343" y="0"/>
                  </a:cxn>
                  <a:cxn ang="0">
                    <a:pos x="1088" y="0"/>
                  </a:cxn>
                  <a:cxn ang="0">
                    <a:pos x="0" y="429"/>
                  </a:cxn>
                </a:cxnLst>
                <a:rect l="0" t="0" r="r" b="b"/>
                <a:pathLst>
                  <a:path w="2344" h="430">
                    <a:moveTo>
                      <a:pt x="0" y="429"/>
                    </a:moveTo>
                    <a:lnTo>
                      <a:pt x="1590" y="429"/>
                    </a:lnTo>
                    <a:lnTo>
                      <a:pt x="2343" y="0"/>
                    </a:lnTo>
                    <a:lnTo>
                      <a:pt x="1088" y="0"/>
                    </a:lnTo>
                    <a:lnTo>
                      <a:pt x="0" y="429"/>
                    </a:lnTo>
                  </a:path>
                </a:pathLst>
              </a:custGeom>
              <a:solidFill>
                <a:srgbClr val="00006F"/>
              </a:solidFill>
              <a:ln w="12700" cap="rnd" cmpd="sng">
                <a:noFill/>
                <a:prstDash val="solid"/>
                <a:round/>
                <a:headEnd type="none" w="med" len="med"/>
                <a:tailEnd type="none" w="med" len="med"/>
              </a:ln>
              <a:effectLst/>
            </p:spPr>
            <p:txBody>
              <a:bodyPr/>
              <a:lstStyle/>
              <a:p>
                <a:endParaRPr lang="en-US"/>
              </a:p>
            </p:txBody>
          </p:sp>
          <p:grpSp>
            <p:nvGrpSpPr>
              <p:cNvPr id="108875" name="Group 400"/>
              <p:cNvGrpSpPr>
                <a:grpSpLocks/>
              </p:cNvGrpSpPr>
              <p:nvPr/>
            </p:nvGrpSpPr>
            <p:grpSpPr bwMode="auto">
              <a:xfrm>
                <a:off x="1651" y="2156"/>
                <a:ext cx="1873" cy="517"/>
                <a:chOff x="1651" y="2156"/>
                <a:chExt cx="1873" cy="517"/>
              </a:xfrm>
            </p:grpSpPr>
            <p:sp>
              <p:nvSpPr>
                <p:cNvPr id="108870" name="Freeform 326"/>
                <p:cNvSpPr>
                  <a:spLocks/>
                </p:cNvSpPr>
                <p:nvPr/>
              </p:nvSpPr>
              <p:spPr bwMode="auto">
                <a:xfrm>
                  <a:off x="1651" y="2156"/>
                  <a:ext cx="1873" cy="517"/>
                </a:xfrm>
                <a:custGeom>
                  <a:avLst/>
                  <a:gdLst/>
                  <a:ahLst/>
                  <a:cxnLst>
                    <a:cxn ang="0">
                      <a:pos x="0" y="439"/>
                    </a:cxn>
                    <a:cxn ang="0">
                      <a:pos x="1595" y="439"/>
                    </a:cxn>
                    <a:cxn ang="0">
                      <a:pos x="2351" y="0"/>
                    </a:cxn>
                    <a:cxn ang="0">
                      <a:pos x="1092" y="0"/>
                    </a:cxn>
                    <a:cxn ang="0">
                      <a:pos x="0" y="439"/>
                    </a:cxn>
                  </a:cxnLst>
                  <a:rect l="0" t="0" r="r" b="b"/>
                  <a:pathLst>
                    <a:path w="2352" h="440">
                      <a:moveTo>
                        <a:pt x="0" y="439"/>
                      </a:moveTo>
                      <a:lnTo>
                        <a:pt x="1595" y="439"/>
                      </a:lnTo>
                      <a:lnTo>
                        <a:pt x="2351" y="0"/>
                      </a:lnTo>
                      <a:lnTo>
                        <a:pt x="1092" y="0"/>
                      </a:lnTo>
                      <a:lnTo>
                        <a:pt x="0" y="439"/>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nvGrpSpPr>
                <p:cNvPr id="108876" name="Group 399"/>
                <p:cNvGrpSpPr>
                  <a:grpSpLocks/>
                </p:cNvGrpSpPr>
                <p:nvPr/>
              </p:nvGrpSpPr>
              <p:grpSpPr bwMode="auto">
                <a:xfrm>
                  <a:off x="1651" y="2156"/>
                  <a:ext cx="1873" cy="517"/>
                  <a:chOff x="1651" y="2156"/>
                  <a:chExt cx="1873" cy="517"/>
                </a:xfrm>
              </p:grpSpPr>
              <p:sp>
                <p:nvSpPr>
                  <p:cNvPr id="108872" name="Freeform 328"/>
                  <p:cNvSpPr>
                    <a:spLocks/>
                  </p:cNvSpPr>
                  <p:nvPr/>
                </p:nvSpPr>
                <p:spPr bwMode="auto">
                  <a:xfrm>
                    <a:off x="1651" y="2386"/>
                    <a:ext cx="573" cy="287"/>
                  </a:xfrm>
                  <a:custGeom>
                    <a:avLst/>
                    <a:gdLst/>
                    <a:ahLst/>
                    <a:cxnLst>
                      <a:cxn ang="0">
                        <a:pos x="529" y="0"/>
                      </a:cxn>
                      <a:cxn ang="0">
                        <a:pos x="583" y="18"/>
                      </a:cxn>
                      <a:cxn ang="0">
                        <a:pos x="597" y="77"/>
                      </a:cxn>
                      <a:cxn ang="0">
                        <a:pos x="597" y="154"/>
                      </a:cxn>
                      <a:cxn ang="0">
                        <a:pos x="623" y="195"/>
                      </a:cxn>
                      <a:cxn ang="0">
                        <a:pos x="636" y="213"/>
                      </a:cxn>
                      <a:cxn ang="0">
                        <a:pos x="0" y="213"/>
                      </a:cxn>
                      <a:cxn ang="0">
                        <a:pos x="529" y="0"/>
                      </a:cxn>
                    </a:cxnLst>
                    <a:rect l="0" t="0" r="r" b="b"/>
                    <a:pathLst>
                      <a:path w="637" h="214">
                        <a:moveTo>
                          <a:pt x="529" y="0"/>
                        </a:moveTo>
                        <a:lnTo>
                          <a:pt x="583" y="18"/>
                        </a:lnTo>
                        <a:lnTo>
                          <a:pt x="597" y="77"/>
                        </a:lnTo>
                        <a:lnTo>
                          <a:pt x="597" y="154"/>
                        </a:lnTo>
                        <a:lnTo>
                          <a:pt x="623" y="195"/>
                        </a:lnTo>
                        <a:lnTo>
                          <a:pt x="636" y="213"/>
                        </a:lnTo>
                        <a:lnTo>
                          <a:pt x="0" y="213"/>
                        </a:lnTo>
                        <a:lnTo>
                          <a:pt x="529" y="0"/>
                        </a:lnTo>
                      </a:path>
                    </a:pathLst>
                  </a:custGeom>
                  <a:solidFill>
                    <a:srgbClr val="008000"/>
                  </a:solidFill>
                  <a:ln w="12700" cap="rnd" cmpd="sng">
                    <a:noFill/>
                    <a:prstDash val="solid"/>
                    <a:round/>
                    <a:headEnd type="none" w="med" len="med"/>
                    <a:tailEnd type="none" w="med" len="med"/>
                  </a:ln>
                  <a:effectLst/>
                </p:spPr>
                <p:txBody>
                  <a:bodyPr/>
                  <a:lstStyle/>
                  <a:p>
                    <a:endParaRPr lang="en-US"/>
                  </a:p>
                </p:txBody>
              </p:sp>
              <p:sp>
                <p:nvSpPr>
                  <p:cNvPr id="108873" name="Freeform 329"/>
                  <p:cNvSpPr>
                    <a:spLocks/>
                  </p:cNvSpPr>
                  <p:nvPr/>
                </p:nvSpPr>
                <p:spPr bwMode="auto">
                  <a:xfrm>
                    <a:off x="2110" y="2156"/>
                    <a:ext cx="688" cy="517"/>
                  </a:xfrm>
                  <a:custGeom>
                    <a:avLst/>
                    <a:gdLst/>
                    <a:ahLst/>
                    <a:cxnLst>
                      <a:cxn ang="0">
                        <a:pos x="94" y="417"/>
                      </a:cxn>
                      <a:cxn ang="0">
                        <a:pos x="61" y="373"/>
                      </a:cxn>
                      <a:cxn ang="0">
                        <a:pos x="41" y="347"/>
                      </a:cxn>
                      <a:cxn ang="0">
                        <a:pos x="41" y="268"/>
                      </a:cxn>
                      <a:cxn ang="0">
                        <a:pos x="34" y="216"/>
                      </a:cxn>
                      <a:cxn ang="0">
                        <a:pos x="0" y="200"/>
                      </a:cxn>
                      <a:cxn ang="0">
                        <a:pos x="505" y="0"/>
                      </a:cxn>
                      <a:cxn ang="0">
                        <a:pos x="566" y="52"/>
                      </a:cxn>
                      <a:cxn ang="0">
                        <a:pos x="532" y="173"/>
                      </a:cxn>
                      <a:cxn ang="0">
                        <a:pos x="693" y="200"/>
                      </a:cxn>
                      <a:cxn ang="0">
                        <a:pos x="835" y="242"/>
                      </a:cxn>
                      <a:cxn ang="0">
                        <a:pos x="807" y="312"/>
                      </a:cxn>
                      <a:cxn ang="0">
                        <a:pos x="713" y="356"/>
                      </a:cxn>
                      <a:cxn ang="0">
                        <a:pos x="727" y="417"/>
                      </a:cxn>
                      <a:cxn ang="0">
                        <a:pos x="94" y="417"/>
                      </a:cxn>
                    </a:cxnLst>
                    <a:rect l="0" t="0" r="r" b="b"/>
                    <a:pathLst>
                      <a:path w="836" h="418">
                        <a:moveTo>
                          <a:pt x="94" y="417"/>
                        </a:moveTo>
                        <a:lnTo>
                          <a:pt x="61" y="373"/>
                        </a:lnTo>
                        <a:lnTo>
                          <a:pt x="41" y="347"/>
                        </a:lnTo>
                        <a:lnTo>
                          <a:pt x="41" y="268"/>
                        </a:lnTo>
                        <a:lnTo>
                          <a:pt x="34" y="216"/>
                        </a:lnTo>
                        <a:lnTo>
                          <a:pt x="0" y="200"/>
                        </a:lnTo>
                        <a:lnTo>
                          <a:pt x="505" y="0"/>
                        </a:lnTo>
                        <a:lnTo>
                          <a:pt x="566" y="52"/>
                        </a:lnTo>
                        <a:lnTo>
                          <a:pt x="532" y="173"/>
                        </a:lnTo>
                        <a:lnTo>
                          <a:pt x="693" y="200"/>
                        </a:lnTo>
                        <a:lnTo>
                          <a:pt x="835" y="242"/>
                        </a:lnTo>
                        <a:lnTo>
                          <a:pt x="807" y="312"/>
                        </a:lnTo>
                        <a:lnTo>
                          <a:pt x="713" y="356"/>
                        </a:lnTo>
                        <a:lnTo>
                          <a:pt x="727" y="417"/>
                        </a:lnTo>
                        <a:lnTo>
                          <a:pt x="94" y="417"/>
                        </a:lnTo>
                      </a:path>
                    </a:pathLst>
                  </a:custGeom>
                  <a:solidFill>
                    <a:srgbClr val="00FF00"/>
                  </a:solidFill>
                  <a:ln w="12700" cap="rnd" cmpd="sng">
                    <a:noFill/>
                    <a:prstDash val="solid"/>
                    <a:round/>
                    <a:headEnd type="none" w="med" len="med"/>
                    <a:tailEnd type="none" w="med" len="med"/>
                  </a:ln>
                  <a:effectLst/>
                </p:spPr>
                <p:txBody>
                  <a:bodyPr/>
                  <a:lstStyle/>
                  <a:p>
                    <a:endParaRPr lang="en-US"/>
                  </a:p>
                </p:txBody>
              </p:sp>
              <p:sp>
                <p:nvSpPr>
                  <p:cNvPr id="108874" name="Freeform 330"/>
                  <p:cNvSpPr>
                    <a:spLocks/>
                  </p:cNvSpPr>
                  <p:nvPr/>
                </p:nvSpPr>
                <p:spPr bwMode="auto">
                  <a:xfrm>
                    <a:off x="2531" y="2156"/>
                    <a:ext cx="993" cy="512"/>
                  </a:xfrm>
                  <a:custGeom>
                    <a:avLst/>
                    <a:gdLst/>
                    <a:ahLst/>
                    <a:cxnLst>
                      <a:cxn ang="0">
                        <a:pos x="0" y="5"/>
                      </a:cxn>
                      <a:cxn ang="0">
                        <a:pos x="65" y="65"/>
                      </a:cxn>
                      <a:cxn ang="0">
                        <a:pos x="31" y="188"/>
                      </a:cxn>
                      <a:cxn ang="0">
                        <a:pos x="176" y="209"/>
                      </a:cxn>
                      <a:cxn ang="0">
                        <a:pos x="331" y="252"/>
                      </a:cxn>
                      <a:cxn ang="0">
                        <a:pos x="308" y="327"/>
                      </a:cxn>
                      <a:cxn ang="0">
                        <a:pos x="216" y="365"/>
                      </a:cxn>
                      <a:cxn ang="0">
                        <a:pos x="229" y="427"/>
                      </a:cxn>
                      <a:cxn ang="0">
                        <a:pos x="509" y="427"/>
                      </a:cxn>
                      <a:cxn ang="0">
                        <a:pos x="1246" y="0"/>
                      </a:cxn>
                      <a:cxn ang="0">
                        <a:pos x="0" y="5"/>
                      </a:cxn>
                    </a:cxnLst>
                    <a:rect l="0" t="0" r="r" b="b"/>
                    <a:pathLst>
                      <a:path w="1247" h="428">
                        <a:moveTo>
                          <a:pt x="0" y="5"/>
                        </a:moveTo>
                        <a:lnTo>
                          <a:pt x="65" y="65"/>
                        </a:lnTo>
                        <a:lnTo>
                          <a:pt x="31" y="188"/>
                        </a:lnTo>
                        <a:lnTo>
                          <a:pt x="176" y="209"/>
                        </a:lnTo>
                        <a:lnTo>
                          <a:pt x="331" y="252"/>
                        </a:lnTo>
                        <a:lnTo>
                          <a:pt x="308" y="327"/>
                        </a:lnTo>
                        <a:lnTo>
                          <a:pt x="216" y="365"/>
                        </a:lnTo>
                        <a:lnTo>
                          <a:pt x="229" y="427"/>
                        </a:lnTo>
                        <a:lnTo>
                          <a:pt x="509" y="427"/>
                        </a:lnTo>
                        <a:lnTo>
                          <a:pt x="1246" y="0"/>
                        </a:lnTo>
                        <a:lnTo>
                          <a:pt x="0" y="5"/>
                        </a:lnTo>
                      </a:path>
                    </a:pathLst>
                  </a:custGeom>
                  <a:solidFill>
                    <a:srgbClr val="004000"/>
                  </a:solidFill>
                  <a:ln w="12700" cap="rnd" cmpd="sng">
                    <a:noFill/>
                    <a:prstDash val="solid"/>
                    <a:round/>
                    <a:headEnd type="none" w="med" len="med"/>
                    <a:tailEnd type="none" w="med" len="med"/>
                  </a:ln>
                  <a:effectLst/>
                </p:spPr>
                <p:txBody>
                  <a:bodyPr/>
                  <a:lstStyle/>
                  <a:p>
                    <a:endParaRPr lang="en-US"/>
                  </a:p>
                </p:txBody>
              </p:sp>
            </p:grpSp>
          </p:grpSp>
        </p:grpSp>
      </p:grpSp>
      <p:grpSp>
        <p:nvGrpSpPr>
          <p:cNvPr id="108877" name="Group 383"/>
          <p:cNvGrpSpPr>
            <a:grpSpLocks/>
          </p:cNvGrpSpPr>
          <p:nvPr/>
        </p:nvGrpSpPr>
        <p:grpSpPr bwMode="auto">
          <a:xfrm>
            <a:off x="76200" y="3276600"/>
            <a:ext cx="3735388" cy="2803525"/>
            <a:chOff x="48" y="2064"/>
            <a:chExt cx="2353" cy="1766"/>
          </a:xfrm>
        </p:grpSpPr>
        <p:grpSp>
          <p:nvGrpSpPr>
            <p:cNvPr id="108882" name="Group 382"/>
            <p:cNvGrpSpPr>
              <a:grpSpLocks/>
            </p:cNvGrpSpPr>
            <p:nvPr/>
          </p:nvGrpSpPr>
          <p:grpSpPr bwMode="auto">
            <a:xfrm>
              <a:off x="426" y="3410"/>
              <a:ext cx="1848" cy="420"/>
              <a:chOff x="426" y="3410"/>
              <a:chExt cx="1848" cy="420"/>
            </a:xfrm>
          </p:grpSpPr>
          <p:grpSp>
            <p:nvGrpSpPr>
              <p:cNvPr id="108890" name="Group 381"/>
              <p:cNvGrpSpPr>
                <a:grpSpLocks/>
              </p:cNvGrpSpPr>
              <p:nvPr/>
            </p:nvGrpSpPr>
            <p:grpSpPr bwMode="auto">
              <a:xfrm>
                <a:off x="426" y="3410"/>
                <a:ext cx="1848" cy="420"/>
                <a:chOff x="426" y="3410"/>
                <a:chExt cx="1848" cy="420"/>
              </a:xfrm>
            </p:grpSpPr>
            <p:sp>
              <p:nvSpPr>
                <p:cNvPr id="108878" name="Freeform 334"/>
                <p:cNvSpPr>
                  <a:spLocks/>
                </p:cNvSpPr>
                <p:nvPr/>
              </p:nvSpPr>
              <p:spPr bwMode="auto">
                <a:xfrm>
                  <a:off x="1308" y="3703"/>
                  <a:ext cx="545" cy="127"/>
                </a:xfrm>
                <a:custGeom>
                  <a:avLst/>
                  <a:gdLst/>
                  <a:ahLst/>
                  <a:cxnLst>
                    <a:cxn ang="0">
                      <a:pos x="0" y="126"/>
                    </a:cxn>
                    <a:cxn ang="0">
                      <a:pos x="89" y="126"/>
                    </a:cxn>
                    <a:cxn ang="0">
                      <a:pos x="210" y="108"/>
                    </a:cxn>
                    <a:cxn ang="0">
                      <a:pos x="340" y="89"/>
                    </a:cxn>
                    <a:cxn ang="0">
                      <a:pos x="422" y="54"/>
                    </a:cxn>
                    <a:cxn ang="0">
                      <a:pos x="531" y="8"/>
                    </a:cxn>
                    <a:cxn ang="0">
                      <a:pos x="544" y="0"/>
                    </a:cxn>
                  </a:cxnLst>
                  <a:rect l="0" t="0" r="r" b="b"/>
                  <a:pathLst>
                    <a:path w="545" h="127">
                      <a:moveTo>
                        <a:pt x="0" y="126"/>
                      </a:moveTo>
                      <a:lnTo>
                        <a:pt x="89" y="126"/>
                      </a:lnTo>
                      <a:lnTo>
                        <a:pt x="210" y="108"/>
                      </a:lnTo>
                      <a:lnTo>
                        <a:pt x="340" y="89"/>
                      </a:lnTo>
                      <a:lnTo>
                        <a:pt x="422" y="54"/>
                      </a:lnTo>
                      <a:lnTo>
                        <a:pt x="531" y="8"/>
                      </a:lnTo>
                      <a:lnTo>
                        <a:pt x="54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79" name="Freeform 335"/>
                <p:cNvSpPr>
                  <a:spLocks/>
                </p:cNvSpPr>
                <p:nvPr/>
              </p:nvSpPr>
              <p:spPr bwMode="auto">
                <a:xfrm>
                  <a:off x="1023" y="3553"/>
                  <a:ext cx="1095" cy="277"/>
                </a:xfrm>
                <a:custGeom>
                  <a:avLst/>
                  <a:gdLst/>
                  <a:ahLst/>
                  <a:cxnLst>
                    <a:cxn ang="0">
                      <a:pos x="0" y="276"/>
                    </a:cxn>
                    <a:cxn ang="0">
                      <a:pos x="115" y="249"/>
                    </a:cxn>
                    <a:cxn ang="0">
                      <a:pos x="191" y="231"/>
                    </a:cxn>
                    <a:cxn ang="0">
                      <a:pos x="218" y="177"/>
                    </a:cxn>
                    <a:cxn ang="0">
                      <a:pos x="292" y="169"/>
                    </a:cxn>
                    <a:cxn ang="0">
                      <a:pos x="366" y="169"/>
                    </a:cxn>
                    <a:cxn ang="0">
                      <a:pos x="442" y="169"/>
                    </a:cxn>
                    <a:cxn ang="0">
                      <a:pos x="483" y="115"/>
                    </a:cxn>
                    <a:cxn ang="0">
                      <a:pos x="516" y="97"/>
                    </a:cxn>
                    <a:cxn ang="0">
                      <a:pos x="571" y="89"/>
                    </a:cxn>
                    <a:cxn ang="0">
                      <a:pos x="740" y="70"/>
                    </a:cxn>
                    <a:cxn ang="0">
                      <a:pos x="822" y="54"/>
                    </a:cxn>
                    <a:cxn ang="0">
                      <a:pos x="897" y="27"/>
                    </a:cxn>
                    <a:cxn ang="0">
                      <a:pos x="985" y="8"/>
                    </a:cxn>
                    <a:cxn ang="0">
                      <a:pos x="1094" y="0"/>
                    </a:cxn>
                  </a:cxnLst>
                  <a:rect l="0" t="0" r="r" b="b"/>
                  <a:pathLst>
                    <a:path w="1095" h="277">
                      <a:moveTo>
                        <a:pt x="0" y="276"/>
                      </a:moveTo>
                      <a:lnTo>
                        <a:pt x="115" y="249"/>
                      </a:lnTo>
                      <a:lnTo>
                        <a:pt x="191" y="231"/>
                      </a:lnTo>
                      <a:lnTo>
                        <a:pt x="218" y="177"/>
                      </a:lnTo>
                      <a:lnTo>
                        <a:pt x="292" y="169"/>
                      </a:lnTo>
                      <a:lnTo>
                        <a:pt x="366" y="169"/>
                      </a:lnTo>
                      <a:lnTo>
                        <a:pt x="442" y="169"/>
                      </a:lnTo>
                      <a:lnTo>
                        <a:pt x="483" y="115"/>
                      </a:lnTo>
                      <a:lnTo>
                        <a:pt x="516" y="97"/>
                      </a:lnTo>
                      <a:lnTo>
                        <a:pt x="571" y="89"/>
                      </a:lnTo>
                      <a:lnTo>
                        <a:pt x="740" y="70"/>
                      </a:lnTo>
                      <a:lnTo>
                        <a:pt x="822" y="54"/>
                      </a:lnTo>
                      <a:lnTo>
                        <a:pt x="897" y="27"/>
                      </a:lnTo>
                      <a:lnTo>
                        <a:pt x="985" y="8"/>
                      </a:lnTo>
                      <a:lnTo>
                        <a:pt x="109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80" name="Freeform 336"/>
                <p:cNvSpPr>
                  <a:spLocks/>
                </p:cNvSpPr>
                <p:nvPr/>
              </p:nvSpPr>
              <p:spPr bwMode="auto">
                <a:xfrm>
                  <a:off x="500" y="3419"/>
                  <a:ext cx="1774" cy="411"/>
                </a:xfrm>
                <a:custGeom>
                  <a:avLst/>
                  <a:gdLst/>
                  <a:ahLst/>
                  <a:cxnLst>
                    <a:cxn ang="0">
                      <a:pos x="0" y="410"/>
                    </a:cxn>
                    <a:cxn ang="0">
                      <a:pos x="95" y="383"/>
                    </a:cxn>
                    <a:cxn ang="0">
                      <a:pos x="265" y="338"/>
                    </a:cxn>
                    <a:cxn ang="0">
                      <a:pos x="333" y="293"/>
                    </a:cxn>
                    <a:cxn ang="0">
                      <a:pos x="380" y="249"/>
                    </a:cxn>
                    <a:cxn ang="0">
                      <a:pos x="462" y="204"/>
                    </a:cxn>
                    <a:cxn ang="0">
                      <a:pos x="605" y="134"/>
                    </a:cxn>
                    <a:cxn ang="0">
                      <a:pos x="755" y="99"/>
                    </a:cxn>
                    <a:cxn ang="0">
                      <a:pos x="965" y="62"/>
                    </a:cxn>
                    <a:cxn ang="0">
                      <a:pos x="1209" y="27"/>
                    </a:cxn>
                    <a:cxn ang="0">
                      <a:pos x="1399" y="18"/>
                    </a:cxn>
                    <a:cxn ang="0">
                      <a:pos x="1590" y="0"/>
                    </a:cxn>
                    <a:cxn ang="0">
                      <a:pos x="1732" y="10"/>
                    </a:cxn>
                    <a:cxn ang="0">
                      <a:pos x="1773" y="45"/>
                    </a:cxn>
                  </a:cxnLst>
                  <a:rect l="0" t="0" r="r" b="b"/>
                  <a:pathLst>
                    <a:path w="1774" h="411">
                      <a:moveTo>
                        <a:pt x="0" y="410"/>
                      </a:moveTo>
                      <a:lnTo>
                        <a:pt x="95" y="383"/>
                      </a:lnTo>
                      <a:lnTo>
                        <a:pt x="265" y="338"/>
                      </a:lnTo>
                      <a:lnTo>
                        <a:pt x="333" y="293"/>
                      </a:lnTo>
                      <a:lnTo>
                        <a:pt x="380" y="249"/>
                      </a:lnTo>
                      <a:lnTo>
                        <a:pt x="462" y="204"/>
                      </a:lnTo>
                      <a:lnTo>
                        <a:pt x="605" y="134"/>
                      </a:lnTo>
                      <a:lnTo>
                        <a:pt x="755" y="99"/>
                      </a:lnTo>
                      <a:lnTo>
                        <a:pt x="965" y="62"/>
                      </a:lnTo>
                      <a:lnTo>
                        <a:pt x="1209" y="27"/>
                      </a:lnTo>
                      <a:lnTo>
                        <a:pt x="1399" y="18"/>
                      </a:lnTo>
                      <a:lnTo>
                        <a:pt x="1590" y="0"/>
                      </a:lnTo>
                      <a:lnTo>
                        <a:pt x="1732" y="10"/>
                      </a:lnTo>
                      <a:lnTo>
                        <a:pt x="1773" y="45"/>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81" name="Freeform 337"/>
                <p:cNvSpPr>
                  <a:spLocks/>
                </p:cNvSpPr>
                <p:nvPr/>
              </p:nvSpPr>
              <p:spPr bwMode="auto">
                <a:xfrm>
                  <a:off x="426" y="3410"/>
                  <a:ext cx="823" cy="420"/>
                </a:xfrm>
                <a:custGeom>
                  <a:avLst/>
                  <a:gdLst/>
                  <a:ahLst/>
                  <a:cxnLst>
                    <a:cxn ang="0">
                      <a:pos x="0" y="419"/>
                    </a:cxn>
                    <a:cxn ang="0">
                      <a:pos x="115" y="374"/>
                    </a:cxn>
                    <a:cxn ang="0">
                      <a:pos x="245" y="347"/>
                    </a:cxn>
                    <a:cxn ang="0">
                      <a:pos x="346" y="302"/>
                    </a:cxn>
                    <a:cxn ang="0">
                      <a:pos x="393" y="258"/>
                    </a:cxn>
                    <a:cxn ang="0">
                      <a:pos x="455" y="223"/>
                    </a:cxn>
                    <a:cxn ang="0">
                      <a:pos x="496" y="169"/>
                    </a:cxn>
                    <a:cxn ang="0">
                      <a:pos x="563" y="126"/>
                    </a:cxn>
                    <a:cxn ang="0">
                      <a:pos x="699" y="72"/>
                    </a:cxn>
                    <a:cxn ang="0">
                      <a:pos x="781" y="8"/>
                    </a:cxn>
                    <a:cxn ang="0">
                      <a:pos x="822" y="0"/>
                    </a:cxn>
                  </a:cxnLst>
                  <a:rect l="0" t="0" r="r" b="b"/>
                  <a:pathLst>
                    <a:path w="823" h="420">
                      <a:moveTo>
                        <a:pt x="0" y="419"/>
                      </a:moveTo>
                      <a:lnTo>
                        <a:pt x="115" y="374"/>
                      </a:lnTo>
                      <a:lnTo>
                        <a:pt x="245" y="347"/>
                      </a:lnTo>
                      <a:lnTo>
                        <a:pt x="346" y="302"/>
                      </a:lnTo>
                      <a:lnTo>
                        <a:pt x="393" y="258"/>
                      </a:lnTo>
                      <a:lnTo>
                        <a:pt x="455" y="223"/>
                      </a:lnTo>
                      <a:lnTo>
                        <a:pt x="496" y="169"/>
                      </a:lnTo>
                      <a:lnTo>
                        <a:pt x="563" y="126"/>
                      </a:lnTo>
                      <a:lnTo>
                        <a:pt x="699" y="72"/>
                      </a:lnTo>
                      <a:lnTo>
                        <a:pt x="781" y="8"/>
                      </a:lnTo>
                      <a:lnTo>
                        <a:pt x="822"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sp>
            <p:nvSpPr>
              <p:cNvPr id="108889" name="Freeform 345"/>
              <p:cNvSpPr>
                <a:spLocks/>
              </p:cNvSpPr>
              <p:nvPr/>
            </p:nvSpPr>
            <p:spPr bwMode="auto">
              <a:xfrm>
                <a:off x="1023" y="3553"/>
                <a:ext cx="1095" cy="277"/>
              </a:xfrm>
              <a:custGeom>
                <a:avLst/>
                <a:gdLst/>
                <a:ahLst/>
                <a:cxnLst>
                  <a:cxn ang="0">
                    <a:pos x="0" y="276"/>
                  </a:cxn>
                  <a:cxn ang="0">
                    <a:pos x="115" y="249"/>
                  </a:cxn>
                  <a:cxn ang="0">
                    <a:pos x="191" y="231"/>
                  </a:cxn>
                  <a:cxn ang="0">
                    <a:pos x="218" y="177"/>
                  </a:cxn>
                  <a:cxn ang="0">
                    <a:pos x="292" y="169"/>
                  </a:cxn>
                  <a:cxn ang="0">
                    <a:pos x="366" y="169"/>
                  </a:cxn>
                  <a:cxn ang="0">
                    <a:pos x="442" y="169"/>
                  </a:cxn>
                  <a:cxn ang="0">
                    <a:pos x="483" y="115"/>
                  </a:cxn>
                  <a:cxn ang="0">
                    <a:pos x="516" y="97"/>
                  </a:cxn>
                  <a:cxn ang="0">
                    <a:pos x="571" y="89"/>
                  </a:cxn>
                  <a:cxn ang="0">
                    <a:pos x="740" y="70"/>
                  </a:cxn>
                  <a:cxn ang="0">
                    <a:pos x="822" y="54"/>
                  </a:cxn>
                  <a:cxn ang="0">
                    <a:pos x="897" y="27"/>
                  </a:cxn>
                  <a:cxn ang="0">
                    <a:pos x="985" y="8"/>
                  </a:cxn>
                  <a:cxn ang="0">
                    <a:pos x="1094" y="0"/>
                  </a:cxn>
                </a:cxnLst>
                <a:rect l="0" t="0" r="r" b="b"/>
                <a:pathLst>
                  <a:path w="1095" h="277">
                    <a:moveTo>
                      <a:pt x="0" y="276"/>
                    </a:moveTo>
                    <a:lnTo>
                      <a:pt x="115" y="249"/>
                    </a:lnTo>
                    <a:lnTo>
                      <a:pt x="191" y="231"/>
                    </a:lnTo>
                    <a:lnTo>
                      <a:pt x="218" y="177"/>
                    </a:lnTo>
                    <a:lnTo>
                      <a:pt x="292" y="169"/>
                    </a:lnTo>
                    <a:lnTo>
                      <a:pt x="366" y="169"/>
                    </a:lnTo>
                    <a:lnTo>
                      <a:pt x="442" y="169"/>
                    </a:lnTo>
                    <a:lnTo>
                      <a:pt x="483" y="115"/>
                    </a:lnTo>
                    <a:lnTo>
                      <a:pt x="516" y="97"/>
                    </a:lnTo>
                    <a:lnTo>
                      <a:pt x="571" y="89"/>
                    </a:lnTo>
                    <a:lnTo>
                      <a:pt x="740" y="70"/>
                    </a:lnTo>
                    <a:lnTo>
                      <a:pt x="822" y="54"/>
                    </a:lnTo>
                    <a:lnTo>
                      <a:pt x="897" y="27"/>
                    </a:lnTo>
                    <a:lnTo>
                      <a:pt x="985" y="8"/>
                    </a:lnTo>
                    <a:lnTo>
                      <a:pt x="109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nvGrpSpPr>
            <p:cNvPr id="108891" name="Group 346"/>
            <p:cNvGrpSpPr>
              <a:grpSpLocks/>
            </p:cNvGrpSpPr>
            <p:nvPr/>
          </p:nvGrpSpPr>
          <p:grpSpPr bwMode="auto">
            <a:xfrm>
              <a:off x="49" y="3072"/>
              <a:ext cx="2352" cy="438"/>
              <a:chOff x="289" y="3069"/>
              <a:chExt cx="2352" cy="438"/>
            </a:xfrm>
          </p:grpSpPr>
          <p:grpSp>
            <p:nvGrpSpPr>
              <p:cNvPr id="108900" name="Group 347"/>
              <p:cNvGrpSpPr>
                <a:grpSpLocks/>
              </p:cNvGrpSpPr>
              <p:nvPr/>
            </p:nvGrpSpPr>
            <p:grpSpPr bwMode="auto">
              <a:xfrm>
                <a:off x="289" y="3069"/>
                <a:ext cx="2352" cy="435"/>
                <a:chOff x="289" y="3069"/>
                <a:chExt cx="2352" cy="435"/>
              </a:xfrm>
            </p:grpSpPr>
            <p:sp>
              <p:nvSpPr>
                <p:cNvPr id="108892" name="Freeform 348"/>
                <p:cNvSpPr>
                  <a:spLocks/>
                </p:cNvSpPr>
                <p:nvPr/>
              </p:nvSpPr>
              <p:spPr bwMode="auto">
                <a:xfrm>
                  <a:off x="289" y="3069"/>
                  <a:ext cx="2344" cy="431"/>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008000"/>
                </a:solidFill>
                <a:ln w="12700" cap="rnd" cmpd="sng">
                  <a:noFill/>
                  <a:prstDash val="solid"/>
                  <a:round/>
                  <a:headEnd type="none" w="med" len="med"/>
                  <a:tailEnd type="none" w="med" len="med"/>
                </a:ln>
                <a:effectLst/>
              </p:spPr>
              <p:txBody>
                <a:bodyPr/>
                <a:lstStyle/>
                <a:p>
                  <a:endParaRPr lang="en-US"/>
                </a:p>
              </p:txBody>
            </p:sp>
            <p:sp>
              <p:nvSpPr>
                <p:cNvPr id="108893" name="Freeform 349"/>
                <p:cNvSpPr>
                  <a:spLocks/>
                </p:cNvSpPr>
                <p:nvPr/>
              </p:nvSpPr>
              <p:spPr bwMode="auto">
                <a:xfrm>
                  <a:off x="289" y="3069"/>
                  <a:ext cx="2352" cy="435"/>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94" name="Freeform 350"/>
                <p:cNvSpPr>
                  <a:spLocks/>
                </p:cNvSpPr>
                <p:nvPr/>
              </p:nvSpPr>
              <p:spPr bwMode="auto">
                <a:xfrm>
                  <a:off x="1655" y="3169"/>
                  <a:ext cx="768" cy="329"/>
                </a:xfrm>
                <a:custGeom>
                  <a:avLst/>
                  <a:gdLst/>
                  <a:ahLst/>
                  <a:cxnLst>
                    <a:cxn ang="0">
                      <a:pos x="767" y="17"/>
                    </a:cxn>
                    <a:cxn ang="0">
                      <a:pos x="652" y="17"/>
                    </a:cxn>
                    <a:cxn ang="0">
                      <a:pos x="543" y="0"/>
                    </a:cxn>
                    <a:cxn ang="0">
                      <a:pos x="502" y="17"/>
                    </a:cxn>
                    <a:cxn ang="0">
                      <a:pos x="483" y="79"/>
                    </a:cxn>
                    <a:cxn ang="0">
                      <a:pos x="428" y="151"/>
                    </a:cxn>
                    <a:cxn ang="0">
                      <a:pos x="278" y="159"/>
                    </a:cxn>
                    <a:cxn ang="0">
                      <a:pos x="156" y="141"/>
                    </a:cxn>
                    <a:cxn ang="0">
                      <a:pos x="95" y="177"/>
                    </a:cxn>
                    <a:cxn ang="0">
                      <a:pos x="14" y="213"/>
                    </a:cxn>
                    <a:cxn ang="0">
                      <a:pos x="0" y="231"/>
                    </a:cxn>
                    <a:cxn ang="0">
                      <a:pos x="0" y="293"/>
                    </a:cxn>
                    <a:cxn ang="0">
                      <a:pos x="0" y="328"/>
                    </a:cxn>
                  </a:cxnLst>
                  <a:rect l="0" t="0" r="r" b="b"/>
                  <a:pathLst>
                    <a:path w="768" h="329">
                      <a:moveTo>
                        <a:pt x="767" y="17"/>
                      </a:moveTo>
                      <a:lnTo>
                        <a:pt x="652" y="17"/>
                      </a:lnTo>
                      <a:lnTo>
                        <a:pt x="543" y="0"/>
                      </a:lnTo>
                      <a:lnTo>
                        <a:pt x="502" y="17"/>
                      </a:lnTo>
                      <a:lnTo>
                        <a:pt x="483" y="79"/>
                      </a:lnTo>
                      <a:lnTo>
                        <a:pt x="428" y="151"/>
                      </a:lnTo>
                      <a:lnTo>
                        <a:pt x="278" y="159"/>
                      </a:lnTo>
                      <a:lnTo>
                        <a:pt x="156" y="141"/>
                      </a:lnTo>
                      <a:lnTo>
                        <a:pt x="95" y="177"/>
                      </a:lnTo>
                      <a:lnTo>
                        <a:pt x="14" y="213"/>
                      </a:lnTo>
                      <a:lnTo>
                        <a:pt x="0" y="231"/>
                      </a:lnTo>
                      <a:lnTo>
                        <a:pt x="0" y="293"/>
                      </a:lnTo>
                      <a:lnTo>
                        <a:pt x="0" y="328"/>
                      </a:lnTo>
                    </a:path>
                  </a:pathLst>
                </a:custGeom>
                <a:noFill/>
                <a:ln w="12700" cap="rnd" cmpd="sng">
                  <a:solidFill>
                    <a:srgbClr val="FF0000"/>
                  </a:solidFill>
                  <a:prstDash val="solid"/>
                  <a:round/>
                  <a:headEnd type="none" w="med" len="med"/>
                  <a:tailEnd type="none" w="med" len="med"/>
                </a:ln>
                <a:effectLst/>
              </p:spPr>
              <p:txBody>
                <a:bodyPr/>
                <a:lstStyle/>
                <a:p>
                  <a:endParaRPr lang="en-US"/>
                </a:p>
              </p:txBody>
            </p:sp>
            <p:sp>
              <p:nvSpPr>
                <p:cNvPr id="108895" name="Freeform 351"/>
                <p:cNvSpPr>
                  <a:spLocks/>
                </p:cNvSpPr>
                <p:nvPr/>
              </p:nvSpPr>
              <p:spPr bwMode="auto">
                <a:xfrm>
                  <a:off x="567" y="3355"/>
                  <a:ext cx="1089" cy="71"/>
                </a:xfrm>
                <a:custGeom>
                  <a:avLst/>
                  <a:gdLst/>
                  <a:ahLst/>
                  <a:cxnLst>
                    <a:cxn ang="0">
                      <a:pos x="1088" y="62"/>
                    </a:cxn>
                    <a:cxn ang="0">
                      <a:pos x="1026" y="27"/>
                    </a:cxn>
                    <a:cxn ang="0">
                      <a:pos x="918" y="27"/>
                    </a:cxn>
                    <a:cxn ang="0">
                      <a:pos x="714" y="27"/>
                    </a:cxn>
                    <a:cxn ang="0">
                      <a:pos x="654" y="43"/>
                    </a:cxn>
                    <a:cxn ang="0">
                      <a:pos x="613" y="62"/>
                    </a:cxn>
                    <a:cxn ang="0">
                      <a:pos x="477" y="43"/>
                    </a:cxn>
                    <a:cxn ang="0">
                      <a:pos x="422" y="0"/>
                    </a:cxn>
                    <a:cxn ang="0">
                      <a:pos x="333" y="0"/>
                    </a:cxn>
                    <a:cxn ang="0">
                      <a:pos x="232" y="0"/>
                    </a:cxn>
                    <a:cxn ang="0">
                      <a:pos x="178" y="43"/>
                    </a:cxn>
                    <a:cxn ang="0">
                      <a:pos x="88" y="70"/>
                    </a:cxn>
                    <a:cxn ang="0">
                      <a:pos x="0" y="43"/>
                    </a:cxn>
                  </a:cxnLst>
                  <a:rect l="0" t="0" r="r" b="b"/>
                  <a:pathLst>
                    <a:path w="1089" h="71">
                      <a:moveTo>
                        <a:pt x="1088" y="62"/>
                      </a:moveTo>
                      <a:lnTo>
                        <a:pt x="1026" y="27"/>
                      </a:lnTo>
                      <a:lnTo>
                        <a:pt x="918" y="27"/>
                      </a:lnTo>
                      <a:lnTo>
                        <a:pt x="714" y="27"/>
                      </a:lnTo>
                      <a:lnTo>
                        <a:pt x="654" y="43"/>
                      </a:lnTo>
                      <a:lnTo>
                        <a:pt x="613" y="62"/>
                      </a:lnTo>
                      <a:lnTo>
                        <a:pt x="477" y="43"/>
                      </a:lnTo>
                      <a:lnTo>
                        <a:pt x="422" y="0"/>
                      </a:lnTo>
                      <a:lnTo>
                        <a:pt x="333" y="0"/>
                      </a:lnTo>
                      <a:lnTo>
                        <a:pt x="232" y="0"/>
                      </a:lnTo>
                      <a:lnTo>
                        <a:pt x="178" y="43"/>
                      </a:lnTo>
                      <a:lnTo>
                        <a:pt x="88" y="70"/>
                      </a:lnTo>
                      <a:lnTo>
                        <a:pt x="0" y="43"/>
                      </a:lnTo>
                    </a:path>
                  </a:pathLst>
                </a:custGeom>
                <a:noFill/>
                <a:ln w="12700" cap="rnd" cmpd="sng">
                  <a:solidFill>
                    <a:srgbClr val="FF0000"/>
                  </a:solidFill>
                  <a:prstDash val="solid"/>
                  <a:round/>
                  <a:headEnd type="none" w="med" len="med"/>
                  <a:tailEnd type="none" w="med" len="med"/>
                </a:ln>
                <a:effectLst/>
              </p:spPr>
              <p:txBody>
                <a:bodyPr/>
                <a:lstStyle/>
                <a:p>
                  <a:endParaRPr lang="en-US"/>
                </a:p>
              </p:txBody>
            </p:sp>
          </p:grpSp>
          <p:sp>
            <p:nvSpPr>
              <p:cNvPr id="108896" name="Freeform 352"/>
              <p:cNvSpPr>
                <a:spLocks/>
              </p:cNvSpPr>
              <p:nvPr/>
            </p:nvSpPr>
            <p:spPr bwMode="auto">
              <a:xfrm>
                <a:off x="1206" y="3116"/>
                <a:ext cx="90" cy="275"/>
              </a:xfrm>
              <a:custGeom>
                <a:avLst/>
                <a:gdLst/>
                <a:ahLst/>
                <a:cxnLst>
                  <a:cxn ang="0">
                    <a:pos x="41" y="274"/>
                  </a:cxn>
                  <a:cxn ang="0">
                    <a:pos x="0" y="212"/>
                  </a:cxn>
                  <a:cxn ang="0">
                    <a:pos x="0" y="142"/>
                  </a:cxn>
                  <a:cxn ang="0">
                    <a:pos x="14" y="142"/>
                  </a:cxn>
                  <a:cxn ang="0">
                    <a:pos x="75" y="70"/>
                  </a:cxn>
                  <a:cxn ang="0">
                    <a:pos x="89" y="17"/>
                  </a:cxn>
                  <a:cxn ang="0">
                    <a:pos x="89" y="0"/>
                  </a:cxn>
                </a:cxnLst>
                <a:rect l="0" t="0" r="r" b="b"/>
                <a:pathLst>
                  <a:path w="90" h="275">
                    <a:moveTo>
                      <a:pt x="41" y="274"/>
                    </a:moveTo>
                    <a:lnTo>
                      <a:pt x="0" y="212"/>
                    </a:lnTo>
                    <a:lnTo>
                      <a:pt x="0" y="142"/>
                    </a:lnTo>
                    <a:lnTo>
                      <a:pt x="14" y="142"/>
                    </a:lnTo>
                    <a:lnTo>
                      <a:pt x="75" y="70"/>
                    </a:lnTo>
                    <a:lnTo>
                      <a:pt x="89" y="17"/>
                    </a:lnTo>
                    <a:lnTo>
                      <a:pt x="89"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97" name="Freeform 353"/>
              <p:cNvSpPr>
                <a:spLocks/>
              </p:cNvSpPr>
              <p:nvPr/>
            </p:nvSpPr>
            <p:spPr bwMode="auto">
              <a:xfrm>
                <a:off x="1349" y="3382"/>
                <a:ext cx="103" cy="125"/>
              </a:xfrm>
              <a:custGeom>
                <a:avLst/>
                <a:gdLst/>
                <a:ahLst/>
                <a:cxnLst>
                  <a:cxn ang="0">
                    <a:pos x="0" y="0"/>
                  </a:cxn>
                  <a:cxn ang="0">
                    <a:pos x="8" y="35"/>
                  </a:cxn>
                  <a:cxn ang="0">
                    <a:pos x="41" y="44"/>
                  </a:cxn>
                  <a:cxn ang="0">
                    <a:pos x="82" y="70"/>
                  </a:cxn>
                  <a:cxn ang="0">
                    <a:pos x="88" y="97"/>
                  </a:cxn>
                  <a:cxn ang="0">
                    <a:pos x="102" y="124"/>
                  </a:cxn>
                </a:cxnLst>
                <a:rect l="0" t="0" r="r" b="b"/>
                <a:pathLst>
                  <a:path w="103" h="125">
                    <a:moveTo>
                      <a:pt x="0" y="0"/>
                    </a:moveTo>
                    <a:lnTo>
                      <a:pt x="8" y="35"/>
                    </a:lnTo>
                    <a:lnTo>
                      <a:pt x="41" y="44"/>
                    </a:lnTo>
                    <a:lnTo>
                      <a:pt x="82" y="70"/>
                    </a:lnTo>
                    <a:lnTo>
                      <a:pt x="88" y="97"/>
                    </a:lnTo>
                    <a:lnTo>
                      <a:pt x="102" y="124"/>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98" name="Freeform 354"/>
              <p:cNvSpPr>
                <a:spLocks/>
              </p:cNvSpPr>
              <p:nvPr/>
            </p:nvSpPr>
            <p:spPr bwMode="auto">
              <a:xfrm>
                <a:off x="540" y="3417"/>
                <a:ext cx="151" cy="81"/>
              </a:xfrm>
              <a:custGeom>
                <a:avLst/>
                <a:gdLst/>
                <a:ahLst/>
                <a:cxnLst>
                  <a:cxn ang="0">
                    <a:pos x="150" y="0"/>
                  </a:cxn>
                  <a:cxn ang="0">
                    <a:pos x="117" y="27"/>
                  </a:cxn>
                  <a:cxn ang="0">
                    <a:pos x="49" y="27"/>
                  </a:cxn>
                  <a:cxn ang="0">
                    <a:pos x="8" y="45"/>
                  </a:cxn>
                  <a:cxn ang="0">
                    <a:pos x="0" y="80"/>
                  </a:cxn>
                </a:cxnLst>
                <a:rect l="0" t="0" r="r" b="b"/>
                <a:pathLst>
                  <a:path w="151" h="81">
                    <a:moveTo>
                      <a:pt x="150" y="0"/>
                    </a:moveTo>
                    <a:lnTo>
                      <a:pt x="117" y="27"/>
                    </a:lnTo>
                    <a:lnTo>
                      <a:pt x="49" y="27"/>
                    </a:lnTo>
                    <a:lnTo>
                      <a:pt x="8" y="45"/>
                    </a:lnTo>
                    <a:lnTo>
                      <a:pt x="0" y="8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899" name="Freeform 355"/>
              <p:cNvSpPr>
                <a:spLocks/>
              </p:cNvSpPr>
              <p:nvPr/>
            </p:nvSpPr>
            <p:spPr bwMode="auto">
              <a:xfrm>
                <a:off x="1709" y="3221"/>
                <a:ext cx="564" cy="170"/>
              </a:xfrm>
              <a:custGeom>
                <a:avLst/>
                <a:gdLst/>
                <a:ahLst/>
                <a:cxnLst>
                  <a:cxn ang="0">
                    <a:pos x="563" y="54"/>
                  </a:cxn>
                  <a:cxn ang="0">
                    <a:pos x="476" y="27"/>
                  </a:cxn>
                  <a:cxn ang="0">
                    <a:pos x="435" y="0"/>
                  </a:cxn>
                  <a:cxn ang="0">
                    <a:pos x="347" y="0"/>
                  </a:cxn>
                  <a:cxn ang="0">
                    <a:pos x="197" y="18"/>
                  </a:cxn>
                  <a:cxn ang="0">
                    <a:pos x="170" y="80"/>
                  </a:cxn>
                  <a:cxn ang="0">
                    <a:pos x="170" y="99"/>
                  </a:cxn>
                  <a:cxn ang="0">
                    <a:pos x="150" y="169"/>
                  </a:cxn>
                  <a:cxn ang="0">
                    <a:pos x="102" y="169"/>
                  </a:cxn>
                  <a:cxn ang="0">
                    <a:pos x="28" y="169"/>
                  </a:cxn>
                  <a:cxn ang="0">
                    <a:pos x="0" y="142"/>
                  </a:cxn>
                </a:cxnLst>
                <a:rect l="0" t="0" r="r" b="b"/>
                <a:pathLst>
                  <a:path w="564" h="170">
                    <a:moveTo>
                      <a:pt x="563" y="54"/>
                    </a:moveTo>
                    <a:lnTo>
                      <a:pt x="476" y="27"/>
                    </a:lnTo>
                    <a:lnTo>
                      <a:pt x="435" y="0"/>
                    </a:lnTo>
                    <a:lnTo>
                      <a:pt x="347" y="0"/>
                    </a:lnTo>
                    <a:lnTo>
                      <a:pt x="197" y="18"/>
                    </a:lnTo>
                    <a:lnTo>
                      <a:pt x="170" y="80"/>
                    </a:lnTo>
                    <a:lnTo>
                      <a:pt x="170" y="99"/>
                    </a:lnTo>
                    <a:lnTo>
                      <a:pt x="150" y="169"/>
                    </a:lnTo>
                    <a:lnTo>
                      <a:pt x="102" y="169"/>
                    </a:lnTo>
                    <a:lnTo>
                      <a:pt x="28" y="169"/>
                    </a:lnTo>
                    <a:lnTo>
                      <a:pt x="0" y="142"/>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grpSp>
          <p:nvGrpSpPr>
            <p:cNvPr id="108903" name="Group 356"/>
            <p:cNvGrpSpPr>
              <a:grpSpLocks/>
            </p:cNvGrpSpPr>
            <p:nvPr/>
          </p:nvGrpSpPr>
          <p:grpSpPr bwMode="auto">
            <a:xfrm>
              <a:off x="48" y="2785"/>
              <a:ext cx="2353" cy="431"/>
              <a:chOff x="288" y="2739"/>
              <a:chExt cx="2353" cy="431"/>
            </a:xfrm>
          </p:grpSpPr>
          <p:sp>
            <p:nvSpPr>
              <p:cNvPr id="108901" name="Freeform 357"/>
              <p:cNvSpPr>
                <a:spLocks/>
              </p:cNvSpPr>
              <p:nvPr/>
            </p:nvSpPr>
            <p:spPr bwMode="auto">
              <a:xfrm>
                <a:off x="288" y="2739"/>
                <a:ext cx="2353" cy="429"/>
              </a:xfrm>
              <a:custGeom>
                <a:avLst/>
                <a:gdLst/>
                <a:ahLst/>
                <a:cxnLst>
                  <a:cxn ang="0">
                    <a:pos x="0" y="440"/>
                  </a:cxn>
                  <a:cxn ang="0">
                    <a:pos x="1595" y="440"/>
                  </a:cxn>
                  <a:cxn ang="0">
                    <a:pos x="2351" y="0"/>
                  </a:cxn>
                  <a:cxn ang="0">
                    <a:pos x="1092" y="0"/>
                  </a:cxn>
                  <a:cxn ang="0">
                    <a:pos x="0" y="440"/>
                  </a:cxn>
                </a:cxnLst>
                <a:rect l="0" t="0" r="r" b="b"/>
                <a:pathLst>
                  <a:path w="2352" h="441">
                    <a:moveTo>
                      <a:pt x="0" y="440"/>
                    </a:moveTo>
                    <a:lnTo>
                      <a:pt x="1595" y="440"/>
                    </a:lnTo>
                    <a:lnTo>
                      <a:pt x="2351" y="0"/>
                    </a:lnTo>
                    <a:lnTo>
                      <a:pt x="1092" y="0"/>
                    </a:lnTo>
                    <a:lnTo>
                      <a:pt x="0" y="44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08902" name="Freeform 358"/>
              <p:cNvSpPr>
                <a:spLocks/>
              </p:cNvSpPr>
              <p:nvPr/>
            </p:nvSpPr>
            <p:spPr bwMode="auto">
              <a:xfrm>
                <a:off x="678" y="2893"/>
                <a:ext cx="1503" cy="277"/>
              </a:xfrm>
              <a:custGeom>
                <a:avLst/>
                <a:gdLst/>
                <a:ahLst/>
                <a:cxnLst>
                  <a:cxn ang="0">
                    <a:pos x="0" y="276"/>
                  </a:cxn>
                  <a:cxn ang="0">
                    <a:pos x="55" y="222"/>
                  </a:cxn>
                  <a:cxn ang="0">
                    <a:pos x="129" y="204"/>
                  </a:cxn>
                  <a:cxn ang="0">
                    <a:pos x="265" y="204"/>
                  </a:cxn>
                  <a:cxn ang="0">
                    <a:pos x="327" y="222"/>
                  </a:cxn>
                  <a:cxn ang="0">
                    <a:pos x="428" y="249"/>
                  </a:cxn>
                  <a:cxn ang="0">
                    <a:pos x="537" y="249"/>
                  </a:cxn>
                  <a:cxn ang="0">
                    <a:pos x="619" y="214"/>
                  </a:cxn>
                  <a:cxn ang="0">
                    <a:pos x="707" y="196"/>
                  </a:cxn>
                  <a:cxn ang="0">
                    <a:pos x="815" y="187"/>
                  </a:cxn>
                  <a:cxn ang="0">
                    <a:pos x="932" y="187"/>
                  </a:cxn>
                  <a:cxn ang="0">
                    <a:pos x="1019" y="214"/>
                  </a:cxn>
                  <a:cxn ang="0">
                    <a:pos x="1107" y="214"/>
                  </a:cxn>
                  <a:cxn ang="0">
                    <a:pos x="1202" y="204"/>
                  </a:cxn>
                  <a:cxn ang="0">
                    <a:pos x="1251" y="134"/>
                  </a:cxn>
                  <a:cxn ang="0">
                    <a:pos x="1271" y="62"/>
                  </a:cxn>
                  <a:cxn ang="0">
                    <a:pos x="1399" y="0"/>
                  </a:cxn>
                  <a:cxn ang="0">
                    <a:pos x="1461" y="18"/>
                  </a:cxn>
                  <a:cxn ang="0">
                    <a:pos x="1502" y="99"/>
                  </a:cxn>
                </a:cxnLst>
                <a:rect l="0" t="0" r="r" b="b"/>
                <a:pathLst>
                  <a:path w="1503" h="277">
                    <a:moveTo>
                      <a:pt x="0" y="276"/>
                    </a:moveTo>
                    <a:lnTo>
                      <a:pt x="55" y="222"/>
                    </a:lnTo>
                    <a:lnTo>
                      <a:pt x="129" y="204"/>
                    </a:lnTo>
                    <a:lnTo>
                      <a:pt x="265" y="204"/>
                    </a:lnTo>
                    <a:lnTo>
                      <a:pt x="327" y="222"/>
                    </a:lnTo>
                    <a:lnTo>
                      <a:pt x="428" y="249"/>
                    </a:lnTo>
                    <a:lnTo>
                      <a:pt x="537" y="249"/>
                    </a:lnTo>
                    <a:lnTo>
                      <a:pt x="619" y="214"/>
                    </a:lnTo>
                    <a:lnTo>
                      <a:pt x="707" y="196"/>
                    </a:lnTo>
                    <a:lnTo>
                      <a:pt x="815" y="187"/>
                    </a:lnTo>
                    <a:lnTo>
                      <a:pt x="932" y="187"/>
                    </a:lnTo>
                    <a:lnTo>
                      <a:pt x="1019" y="214"/>
                    </a:lnTo>
                    <a:lnTo>
                      <a:pt x="1107" y="214"/>
                    </a:lnTo>
                    <a:lnTo>
                      <a:pt x="1202" y="204"/>
                    </a:lnTo>
                    <a:lnTo>
                      <a:pt x="1251" y="134"/>
                    </a:lnTo>
                    <a:lnTo>
                      <a:pt x="1271" y="62"/>
                    </a:lnTo>
                    <a:lnTo>
                      <a:pt x="1399" y="0"/>
                    </a:lnTo>
                    <a:lnTo>
                      <a:pt x="1461" y="18"/>
                    </a:lnTo>
                    <a:lnTo>
                      <a:pt x="1502" y="99"/>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nvGrpSpPr>
              <p:cNvPr id="108909" name="Group 359"/>
              <p:cNvGrpSpPr>
                <a:grpSpLocks/>
              </p:cNvGrpSpPr>
              <p:nvPr/>
            </p:nvGrpSpPr>
            <p:grpSpPr bwMode="auto">
              <a:xfrm>
                <a:off x="289" y="2739"/>
                <a:ext cx="2344" cy="431"/>
                <a:chOff x="289" y="2739"/>
                <a:chExt cx="2344" cy="431"/>
              </a:xfrm>
            </p:grpSpPr>
            <p:sp>
              <p:nvSpPr>
                <p:cNvPr id="108904" name="Freeform 360"/>
                <p:cNvSpPr>
                  <a:spLocks/>
                </p:cNvSpPr>
                <p:nvPr/>
              </p:nvSpPr>
              <p:spPr bwMode="auto">
                <a:xfrm>
                  <a:off x="289" y="2739"/>
                  <a:ext cx="2344" cy="431"/>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FFD386"/>
                </a:solidFill>
                <a:ln w="12700" cap="rnd" cmpd="sng">
                  <a:noFill/>
                  <a:prstDash val="solid"/>
                  <a:round/>
                  <a:headEnd type="none" w="med" len="med"/>
                  <a:tailEnd type="none" w="med" len="med"/>
                </a:ln>
                <a:effectLst/>
              </p:spPr>
              <p:txBody>
                <a:bodyPr/>
                <a:lstStyle/>
                <a:p>
                  <a:endParaRPr lang="en-US"/>
                </a:p>
              </p:txBody>
            </p:sp>
            <p:sp>
              <p:nvSpPr>
                <p:cNvPr id="108905" name="Freeform 361"/>
                <p:cNvSpPr>
                  <a:spLocks/>
                </p:cNvSpPr>
                <p:nvPr/>
              </p:nvSpPr>
              <p:spPr bwMode="auto">
                <a:xfrm>
                  <a:off x="570" y="3054"/>
                  <a:ext cx="245" cy="44"/>
                </a:xfrm>
                <a:custGeom>
                  <a:avLst/>
                  <a:gdLst/>
                  <a:ahLst/>
                  <a:cxnLst>
                    <a:cxn ang="0">
                      <a:pos x="244" y="43"/>
                    </a:cxn>
                    <a:cxn ang="0">
                      <a:pos x="231" y="0"/>
                    </a:cxn>
                    <a:cxn ang="0">
                      <a:pos x="184" y="0"/>
                    </a:cxn>
                    <a:cxn ang="0">
                      <a:pos x="109" y="17"/>
                    </a:cxn>
                    <a:cxn ang="0">
                      <a:pos x="47" y="43"/>
                    </a:cxn>
                    <a:cxn ang="0">
                      <a:pos x="0" y="17"/>
                    </a:cxn>
                  </a:cxnLst>
                  <a:rect l="0" t="0" r="r" b="b"/>
                  <a:pathLst>
                    <a:path w="245" h="44">
                      <a:moveTo>
                        <a:pt x="244" y="43"/>
                      </a:moveTo>
                      <a:lnTo>
                        <a:pt x="231" y="0"/>
                      </a:lnTo>
                      <a:lnTo>
                        <a:pt x="184" y="0"/>
                      </a:lnTo>
                      <a:lnTo>
                        <a:pt x="109" y="17"/>
                      </a:lnTo>
                      <a:lnTo>
                        <a:pt x="47" y="43"/>
                      </a:lnTo>
                      <a:lnTo>
                        <a:pt x="0" y="17"/>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sp>
            <p:nvSpPr>
              <p:cNvPr id="108906" name="Freeform 362"/>
              <p:cNvSpPr>
                <a:spLocks/>
              </p:cNvSpPr>
              <p:nvPr/>
            </p:nvSpPr>
            <p:spPr bwMode="auto">
              <a:xfrm>
                <a:off x="1065" y="2874"/>
                <a:ext cx="151" cy="259"/>
              </a:xfrm>
              <a:custGeom>
                <a:avLst/>
                <a:gdLst/>
                <a:ahLst/>
                <a:cxnLst>
                  <a:cxn ang="0">
                    <a:pos x="0" y="0"/>
                  </a:cxn>
                  <a:cxn ang="0">
                    <a:pos x="55" y="45"/>
                  </a:cxn>
                  <a:cxn ang="0">
                    <a:pos x="88" y="99"/>
                  </a:cxn>
                  <a:cxn ang="0">
                    <a:pos x="82" y="134"/>
                  </a:cxn>
                  <a:cxn ang="0">
                    <a:pos x="76" y="169"/>
                  </a:cxn>
                  <a:cxn ang="0">
                    <a:pos x="76" y="204"/>
                  </a:cxn>
                  <a:cxn ang="0">
                    <a:pos x="95" y="214"/>
                  </a:cxn>
                  <a:cxn ang="0">
                    <a:pos x="136" y="250"/>
                  </a:cxn>
                  <a:cxn ang="0">
                    <a:pos x="150" y="258"/>
                  </a:cxn>
                </a:cxnLst>
                <a:rect l="0" t="0" r="r" b="b"/>
                <a:pathLst>
                  <a:path w="151" h="259">
                    <a:moveTo>
                      <a:pt x="0" y="0"/>
                    </a:moveTo>
                    <a:lnTo>
                      <a:pt x="55" y="45"/>
                    </a:lnTo>
                    <a:lnTo>
                      <a:pt x="88" y="99"/>
                    </a:lnTo>
                    <a:lnTo>
                      <a:pt x="82" y="134"/>
                    </a:lnTo>
                    <a:lnTo>
                      <a:pt x="76" y="169"/>
                    </a:lnTo>
                    <a:lnTo>
                      <a:pt x="76" y="204"/>
                    </a:lnTo>
                    <a:lnTo>
                      <a:pt x="95" y="214"/>
                    </a:lnTo>
                    <a:lnTo>
                      <a:pt x="136" y="250"/>
                    </a:lnTo>
                    <a:lnTo>
                      <a:pt x="150" y="258"/>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sp>
            <p:nvSpPr>
              <p:cNvPr id="108907" name="Freeform 363"/>
              <p:cNvSpPr>
                <a:spLocks/>
              </p:cNvSpPr>
              <p:nvPr/>
            </p:nvSpPr>
            <p:spPr bwMode="auto">
              <a:xfrm>
                <a:off x="1447" y="3080"/>
                <a:ext cx="143" cy="90"/>
              </a:xfrm>
              <a:custGeom>
                <a:avLst/>
                <a:gdLst/>
                <a:ahLst/>
                <a:cxnLst>
                  <a:cxn ang="0">
                    <a:pos x="0" y="89"/>
                  </a:cxn>
                  <a:cxn ang="0">
                    <a:pos x="0" y="62"/>
                  </a:cxn>
                  <a:cxn ang="0">
                    <a:pos x="13" y="52"/>
                  </a:cxn>
                  <a:cxn ang="0">
                    <a:pos x="87" y="52"/>
                  </a:cxn>
                  <a:cxn ang="0">
                    <a:pos x="142" y="17"/>
                  </a:cxn>
                  <a:cxn ang="0">
                    <a:pos x="142" y="0"/>
                  </a:cxn>
                </a:cxnLst>
                <a:rect l="0" t="0" r="r" b="b"/>
                <a:pathLst>
                  <a:path w="143" h="90">
                    <a:moveTo>
                      <a:pt x="0" y="89"/>
                    </a:moveTo>
                    <a:lnTo>
                      <a:pt x="0" y="62"/>
                    </a:lnTo>
                    <a:lnTo>
                      <a:pt x="13" y="52"/>
                    </a:lnTo>
                    <a:lnTo>
                      <a:pt x="87" y="52"/>
                    </a:lnTo>
                    <a:lnTo>
                      <a:pt x="142" y="17"/>
                    </a:lnTo>
                    <a:lnTo>
                      <a:pt x="142" y="0"/>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sp>
            <p:nvSpPr>
              <p:cNvPr id="108908" name="Freeform 364"/>
              <p:cNvSpPr>
                <a:spLocks/>
              </p:cNvSpPr>
              <p:nvPr/>
            </p:nvSpPr>
            <p:spPr bwMode="auto">
              <a:xfrm>
                <a:off x="2003" y="2903"/>
                <a:ext cx="36" cy="187"/>
              </a:xfrm>
              <a:custGeom>
                <a:avLst/>
                <a:gdLst/>
                <a:ahLst/>
                <a:cxnLst>
                  <a:cxn ang="0">
                    <a:pos x="0" y="186"/>
                  </a:cxn>
                  <a:cxn ang="0">
                    <a:pos x="0" y="132"/>
                  </a:cxn>
                  <a:cxn ang="0">
                    <a:pos x="14" y="97"/>
                  </a:cxn>
                  <a:cxn ang="0">
                    <a:pos x="35" y="62"/>
                  </a:cxn>
                  <a:cxn ang="0">
                    <a:pos x="35" y="17"/>
                  </a:cxn>
                  <a:cxn ang="0">
                    <a:pos x="35" y="0"/>
                  </a:cxn>
                </a:cxnLst>
                <a:rect l="0" t="0" r="r" b="b"/>
                <a:pathLst>
                  <a:path w="36" h="187">
                    <a:moveTo>
                      <a:pt x="0" y="186"/>
                    </a:moveTo>
                    <a:lnTo>
                      <a:pt x="0" y="132"/>
                    </a:lnTo>
                    <a:lnTo>
                      <a:pt x="14" y="97"/>
                    </a:lnTo>
                    <a:lnTo>
                      <a:pt x="35" y="62"/>
                    </a:lnTo>
                    <a:lnTo>
                      <a:pt x="35" y="17"/>
                    </a:lnTo>
                    <a:lnTo>
                      <a:pt x="35" y="0"/>
                    </a:lnTo>
                  </a:path>
                </a:pathLst>
              </a:custGeom>
              <a:noFill/>
              <a:ln w="12700" cap="rnd" cmpd="sng">
                <a:solidFill>
                  <a:srgbClr val="0000FF"/>
                </a:solidFill>
                <a:prstDash val="solid"/>
                <a:round/>
                <a:headEnd type="none" w="med" len="med"/>
                <a:tailEnd type="none" w="med" len="med"/>
              </a:ln>
              <a:effectLst/>
            </p:spPr>
            <p:txBody>
              <a:bodyPr/>
              <a:lstStyle/>
              <a:p>
                <a:endParaRPr lang="en-US"/>
              </a:p>
            </p:txBody>
          </p:sp>
        </p:grpSp>
        <p:grpSp>
          <p:nvGrpSpPr>
            <p:cNvPr id="108911" name="Group 365"/>
            <p:cNvGrpSpPr>
              <a:grpSpLocks/>
            </p:cNvGrpSpPr>
            <p:nvPr/>
          </p:nvGrpSpPr>
          <p:grpSpPr bwMode="auto">
            <a:xfrm>
              <a:off x="49" y="2449"/>
              <a:ext cx="2344" cy="431"/>
              <a:chOff x="289" y="2409"/>
              <a:chExt cx="2344" cy="431"/>
            </a:xfrm>
          </p:grpSpPr>
          <p:sp>
            <p:nvSpPr>
              <p:cNvPr id="108910" name="Freeform 366"/>
              <p:cNvSpPr>
                <a:spLocks/>
              </p:cNvSpPr>
              <p:nvPr/>
            </p:nvSpPr>
            <p:spPr bwMode="auto">
              <a:xfrm>
                <a:off x="289" y="2409"/>
                <a:ext cx="2344" cy="431"/>
              </a:xfrm>
              <a:custGeom>
                <a:avLst/>
                <a:gdLst/>
                <a:ahLst/>
                <a:cxnLst>
                  <a:cxn ang="0">
                    <a:pos x="0" y="430"/>
                  </a:cxn>
                  <a:cxn ang="0">
                    <a:pos x="1590" y="430"/>
                  </a:cxn>
                  <a:cxn ang="0">
                    <a:pos x="2343" y="0"/>
                  </a:cxn>
                  <a:cxn ang="0">
                    <a:pos x="1088" y="0"/>
                  </a:cxn>
                  <a:cxn ang="0">
                    <a:pos x="0" y="430"/>
                  </a:cxn>
                </a:cxnLst>
                <a:rect l="0" t="0" r="r" b="b"/>
                <a:pathLst>
                  <a:path w="2344" h="431">
                    <a:moveTo>
                      <a:pt x="0" y="430"/>
                    </a:moveTo>
                    <a:lnTo>
                      <a:pt x="1590" y="430"/>
                    </a:lnTo>
                    <a:lnTo>
                      <a:pt x="2343" y="0"/>
                    </a:lnTo>
                    <a:lnTo>
                      <a:pt x="1088" y="0"/>
                    </a:lnTo>
                    <a:lnTo>
                      <a:pt x="0" y="430"/>
                    </a:lnTo>
                  </a:path>
                </a:pathLst>
              </a:custGeom>
              <a:solidFill>
                <a:srgbClr val="00006F"/>
              </a:solidFill>
              <a:ln w="12700" cap="rnd" cmpd="sng">
                <a:noFill/>
                <a:prstDash val="solid"/>
                <a:round/>
                <a:headEnd type="none" w="med" len="med"/>
                <a:tailEnd type="none" w="med" len="med"/>
              </a:ln>
              <a:effectLst/>
            </p:spPr>
            <p:txBody>
              <a:bodyPr/>
              <a:lstStyle/>
              <a:p>
                <a:endParaRPr lang="en-US"/>
              </a:p>
            </p:txBody>
          </p:sp>
          <p:grpSp>
            <p:nvGrpSpPr>
              <p:cNvPr id="108915" name="Group 367"/>
              <p:cNvGrpSpPr>
                <a:grpSpLocks/>
              </p:cNvGrpSpPr>
              <p:nvPr/>
            </p:nvGrpSpPr>
            <p:grpSpPr bwMode="auto">
              <a:xfrm>
                <a:off x="317" y="2419"/>
                <a:ext cx="2302" cy="418"/>
                <a:chOff x="317" y="2419"/>
                <a:chExt cx="2302" cy="418"/>
              </a:xfrm>
            </p:grpSpPr>
            <p:sp>
              <p:nvSpPr>
                <p:cNvPr id="108912" name="Freeform 368"/>
                <p:cNvSpPr>
                  <a:spLocks/>
                </p:cNvSpPr>
                <p:nvPr/>
              </p:nvSpPr>
              <p:spPr bwMode="auto">
                <a:xfrm>
                  <a:off x="317" y="2526"/>
                  <a:ext cx="1296" cy="311"/>
                </a:xfrm>
                <a:custGeom>
                  <a:avLst/>
                  <a:gdLst/>
                  <a:ahLst/>
                  <a:cxnLst>
                    <a:cxn ang="0">
                      <a:pos x="0" y="310"/>
                    </a:cxn>
                    <a:cxn ang="0">
                      <a:pos x="317" y="310"/>
                    </a:cxn>
                    <a:cxn ang="0">
                      <a:pos x="499" y="268"/>
                    </a:cxn>
                    <a:cxn ang="0">
                      <a:pos x="581" y="242"/>
                    </a:cxn>
                    <a:cxn ang="0">
                      <a:pos x="661" y="268"/>
                    </a:cxn>
                    <a:cxn ang="0">
                      <a:pos x="763" y="268"/>
                    </a:cxn>
                    <a:cxn ang="0">
                      <a:pos x="816" y="250"/>
                    </a:cxn>
                    <a:cxn ang="0">
                      <a:pos x="870" y="180"/>
                    </a:cxn>
                    <a:cxn ang="0">
                      <a:pos x="910" y="164"/>
                    </a:cxn>
                    <a:cxn ang="0">
                      <a:pos x="1073" y="156"/>
                    </a:cxn>
                    <a:cxn ang="0">
                      <a:pos x="1141" y="206"/>
                    </a:cxn>
                    <a:cxn ang="0">
                      <a:pos x="1262" y="250"/>
                    </a:cxn>
                    <a:cxn ang="0">
                      <a:pos x="1295" y="206"/>
                    </a:cxn>
                    <a:cxn ang="0">
                      <a:pos x="1262" y="42"/>
                    </a:cxn>
                    <a:cxn ang="0">
                      <a:pos x="1147" y="26"/>
                    </a:cxn>
                    <a:cxn ang="0">
                      <a:pos x="1012" y="52"/>
                    </a:cxn>
                    <a:cxn ang="0">
                      <a:pos x="958" y="52"/>
                    </a:cxn>
                    <a:cxn ang="0">
                      <a:pos x="958" y="0"/>
                    </a:cxn>
                    <a:cxn ang="0">
                      <a:pos x="857" y="0"/>
                    </a:cxn>
                    <a:cxn ang="0">
                      <a:pos x="775" y="0"/>
                    </a:cxn>
                    <a:cxn ang="0">
                      <a:pos x="0" y="310"/>
                    </a:cxn>
                  </a:cxnLst>
                  <a:rect l="0" t="0" r="r" b="b"/>
                  <a:pathLst>
                    <a:path w="1296" h="311">
                      <a:moveTo>
                        <a:pt x="0" y="310"/>
                      </a:moveTo>
                      <a:lnTo>
                        <a:pt x="317" y="310"/>
                      </a:lnTo>
                      <a:lnTo>
                        <a:pt x="499" y="268"/>
                      </a:lnTo>
                      <a:lnTo>
                        <a:pt x="581" y="242"/>
                      </a:lnTo>
                      <a:lnTo>
                        <a:pt x="661" y="268"/>
                      </a:lnTo>
                      <a:lnTo>
                        <a:pt x="763" y="268"/>
                      </a:lnTo>
                      <a:lnTo>
                        <a:pt x="816" y="250"/>
                      </a:lnTo>
                      <a:lnTo>
                        <a:pt x="870" y="180"/>
                      </a:lnTo>
                      <a:lnTo>
                        <a:pt x="910" y="164"/>
                      </a:lnTo>
                      <a:lnTo>
                        <a:pt x="1073" y="156"/>
                      </a:lnTo>
                      <a:lnTo>
                        <a:pt x="1141" y="206"/>
                      </a:lnTo>
                      <a:lnTo>
                        <a:pt x="1262" y="250"/>
                      </a:lnTo>
                      <a:lnTo>
                        <a:pt x="1295" y="206"/>
                      </a:lnTo>
                      <a:lnTo>
                        <a:pt x="1262" y="42"/>
                      </a:lnTo>
                      <a:lnTo>
                        <a:pt x="1147" y="26"/>
                      </a:lnTo>
                      <a:lnTo>
                        <a:pt x="1012" y="52"/>
                      </a:lnTo>
                      <a:lnTo>
                        <a:pt x="958" y="52"/>
                      </a:lnTo>
                      <a:lnTo>
                        <a:pt x="958" y="0"/>
                      </a:lnTo>
                      <a:lnTo>
                        <a:pt x="857" y="0"/>
                      </a:lnTo>
                      <a:lnTo>
                        <a:pt x="775" y="0"/>
                      </a:lnTo>
                      <a:lnTo>
                        <a:pt x="0" y="310"/>
                      </a:lnTo>
                    </a:path>
                  </a:pathLst>
                </a:custGeom>
                <a:solidFill>
                  <a:srgbClr val="CFAF80"/>
                </a:solidFill>
                <a:ln w="12700" cap="rnd" cmpd="sng">
                  <a:noFill/>
                  <a:prstDash val="solid"/>
                  <a:round/>
                  <a:headEnd type="none" w="med" len="med"/>
                  <a:tailEnd type="none" w="med" len="med"/>
                </a:ln>
                <a:effectLst/>
              </p:spPr>
              <p:txBody>
                <a:bodyPr/>
                <a:lstStyle/>
                <a:p>
                  <a:endParaRPr lang="en-US"/>
                </a:p>
              </p:txBody>
            </p:sp>
            <p:sp>
              <p:nvSpPr>
                <p:cNvPr id="108913" name="Freeform 369"/>
                <p:cNvSpPr>
                  <a:spLocks/>
                </p:cNvSpPr>
                <p:nvPr/>
              </p:nvSpPr>
              <p:spPr bwMode="auto">
                <a:xfrm>
                  <a:off x="663" y="2660"/>
                  <a:ext cx="1474" cy="177"/>
                </a:xfrm>
                <a:custGeom>
                  <a:avLst/>
                  <a:gdLst/>
                  <a:ahLst/>
                  <a:cxnLst>
                    <a:cxn ang="0">
                      <a:pos x="0" y="176"/>
                    </a:cxn>
                    <a:cxn ang="0">
                      <a:pos x="236" y="108"/>
                    </a:cxn>
                    <a:cxn ang="0">
                      <a:pos x="317" y="133"/>
                    </a:cxn>
                    <a:cxn ang="0">
                      <a:pos x="418" y="133"/>
                    </a:cxn>
                    <a:cxn ang="0">
                      <a:pos x="473" y="117"/>
                    </a:cxn>
                    <a:cxn ang="0">
                      <a:pos x="534" y="41"/>
                    </a:cxn>
                    <a:cxn ang="0">
                      <a:pos x="729" y="24"/>
                    </a:cxn>
                    <a:cxn ang="0">
                      <a:pos x="804" y="84"/>
                    </a:cxn>
                    <a:cxn ang="0">
                      <a:pos x="911" y="117"/>
                    </a:cxn>
                    <a:cxn ang="0">
                      <a:pos x="958" y="75"/>
                    </a:cxn>
                    <a:cxn ang="0">
                      <a:pos x="1007" y="24"/>
                    </a:cxn>
                    <a:cxn ang="0">
                      <a:pos x="1087" y="24"/>
                    </a:cxn>
                    <a:cxn ang="0">
                      <a:pos x="1168" y="41"/>
                    </a:cxn>
                    <a:cxn ang="0">
                      <a:pos x="1256" y="67"/>
                    </a:cxn>
                    <a:cxn ang="0">
                      <a:pos x="1344" y="33"/>
                    </a:cxn>
                    <a:cxn ang="0">
                      <a:pos x="1459" y="0"/>
                    </a:cxn>
                    <a:cxn ang="0">
                      <a:pos x="1473" y="33"/>
                    </a:cxn>
                    <a:cxn ang="0">
                      <a:pos x="1222" y="176"/>
                    </a:cxn>
                    <a:cxn ang="0">
                      <a:pos x="0" y="176"/>
                    </a:cxn>
                  </a:cxnLst>
                  <a:rect l="0" t="0" r="r" b="b"/>
                  <a:pathLst>
                    <a:path w="1474" h="177">
                      <a:moveTo>
                        <a:pt x="0" y="176"/>
                      </a:moveTo>
                      <a:lnTo>
                        <a:pt x="236" y="108"/>
                      </a:lnTo>
                      <a:lnTo>
                        <a:pt x="317" y="133"/>
                      </a:lnTo>
                      <a:lnTo>
                        <a:pt x="418" y="133"/>
                      </a:lnTo>
                      <a:lnTo>
                        <a:pt x="473" y="117"/>
                      </a:lnTo>
                      <a:lnTo>
                        <a:pt x="534" y="41"/>
                      </a:lnTo>
                      <a:lnTo>
                        <a:pt x="729" y="24"/>
                      </a:lnTo>
                      <a:lnTo>
                        <a:pt x="804" y="84"/>
                      </a:lnTo>
                      <a:lnTo>
                        <a:pt x="911" y="117"/>
                      </a:lnTo>
                      <a:lnTo>
                        <a:pt x="958" y="75"/>
                      </a:lnTo>
                      <a:lnTo>
                        <a:pt x="1007" y="24"/>
                      </a:lnTo>
                      <a:lnTo>
                        <a:pt x="1087" y="24"/>
                      </a:lnTo>
                      <a:lnTo>
                        <a:pt x="1168" y="41"/>
                      </a:lnTo>
                      <a:lnTo>
                        <a:pt x="1256" y="67"/>
                      </a:lnTo>
                      <a:lnTo>
                        <a:pt x="1344" y="33"/>
                      </a:lnTo>
                      <a:lnTo>
                        <a:pt x="1459" y="0"/>
                      </a:lnTo>
                      <a:lnTo>
                        <a:pt x="1473" y="33"/>
                      </a:lnTo>
                      <a:lnTo>
                        <a:pt x="1222" y="176"/>
                      </a:lnTo>
                      <a:lnTo>
                        <a:pt x="0" y="176"/>
                      </a:lnTo>
                    </a:path>
                  </a:pathLst>
                </a:custGeom>
                <a:solidFill>
                  <a:srgbClr val="802000"/>
                </a:solidFill>
                <a:ln w="12700" cap="rnd" cmpd="sng">
                  <a:noFill/>
                  <a:prstDash val="solid"/>
                  <a:round/>
                  <a:headEnd type="none" w="med" len="med"/>
                  <a:tailEnd type="none" w="med" len="med"/>
                </a:ln>
                <a:effectLst/>
              </p:spPr>
              <p:txBody>
                <a:bodyPr/>
                <a:lstStyle/>
                <a:p>
                  <a:endParaRPr lang="en-US"/>
                </a:p>
              </p:txBody>
            </p:sp>
            <p:sp>
              <p:nvSpPr>
                <p:cNvPr id="108914" name="Freeform 370"/>
                <p:cNvSpPr>
                  <a:spLocks/>
                </p:cNvSpPr>
                <p:nvPr/>
              </p:nvSpPr>
              <p:spPr bwMode="auto">
                <a:xfrm>
                  <a:off x="1097" y="2419"/>
                  <a:ext cx="1522" cy="302"/>
                </a:xfrm>
                <a:custGeom>
                  <a:avLst/>
                  <a:gdLst/>
                  <a:ahLst/>
                  <a:cxnLst>
                    <a:cxn ang="0">
                      <a:pos x="0" y="104"/>
                    </a:cxn>
                    <a:cxn ang="0">
                      <a:pos x="182" y="104"/>
                    </a:cxn>
                    <a:cxn ang="0">
                      <a:pos x="176" y="163"/>
                    </a:cxn>
                    <a:cxn ang="0">
                      <a:pos x="237" y="163"/>
                    </a:cxn>
                    <a:cxn ang="0">
                      <a:pos x="372" y="129"/>
                    </a:cxn>
                    <a:cxn ang="0">
                      <a:pos x="487" y="155"/>
                    </a:cxn>
                    <a:cxn ang="0">
                      <a:pos x="534" y="301"/>
                    </a:cxn>
                    <a:cxn ang="0">
                      <a:pos x="575" y="259"/>
                    </a:cxn>
                    <a:cxn ang="0">
                      <a:pos x="669" y="259"/>
                    </a:cxn>
                    <a:cxn ang="0">
                      <a:pos x="812" y="301"/>
                    </a:cxn>
                    <a:cxn ang="0">
                      <a:pos x="1028" y="233"/>
                    </a:cxn>
                    <a:cxn ang="0">
                      <a:pos x="1035" y="267"/>
                    </a:cxn>
                    <a:cxn ang="0">
                      <a:pos x="1521" y="0"/>
                    </a:cxn>
                    <a:cxn ang="0">
                      <a:pos x="278" y="0"/>
                    </a:cxn>
                    <a:cxn ang="0">
                      <a:pos x="0" y="104"/>
                    </a:cxn>
                  </a:cxnLst>
                  <a:rect l="0" t="0" r="r" b="b"/>
                  <a:pathLst>
                    <a:path w="1522" h="302">
                      <a:moveTo>
                        <a:pt x="0" y="104"/>
                      </a:moveTo>
                      <a:lnTo>
                        <a:pt x="182" y="104"/>
                      </a:lnTo>
                      <a:lnTo>
                        <a:pt x="176" y="163"/>
                      </a:lnTo>
                      <a:lnTo>
                        <a:pt x="237" y="163"/>
                      </a:lnTo>
                      <a:lnTo>
                        <a:pt x="372" y="129"/>
                      </a:lnTo>
                      <a:lnTo>
                        <a:pt x="487" y="155"/>
                      </a:lnTo>
                      <a:lnTo>
                        <a:pt x="534" y="301"/>
                      </a:lnTo>
                      <a:lnTo>
                        <a:pt x="575" y="259"/>
                      </a:lnTo>
                      <a:lnTo>
                        <a:pt x="669" y="259"/>
                      </a:lnTo>
                      <a:lnTo>
                        <a:pt x="812" y="301"/>
                      </a:lnTo>
                      <a:lnTo>
                        <a:pt x="1028" y="233"/>
                      </a:lnTo>
                      <a:lnTo>
                        <a:pt x="1035" y="267"/>
                      </a:lnTo>
                      <a:lnTo>
                        <a:pt x="1521" y="0"/>
                      </a:lnTo>
                      <a:lnTo>
                        <a:pt x="278" y="0"/>
                      </a:lnTo>
                      <a:lnTo>
                        <a:pt x="0" y="104"/>
                      </a:lnTo>
                    </a:path>
                  </a:pathLst>
                </a:custGeom>
                <a:solidFill>
                  <a:srgbClr val="FF8000"/>
                </a:solidFill>
                <a:ln w="12700" cap="rnd" cmpd="sng">
                  <a:noFill/>
                  <a:prstDash val="solid"/>
                  <a:round/>
                  <a:headEnd type="none" w="med" len="med"/>
                  <a:tailEnd type="none" w="med" len="med"/>
                </a:ln>
                <a:effectLst/>
              </p:spPr>
              <p:txBody>
                <a:bodyPr/>
                <a:lstStyle/>
                <a:p>
                  <a:endParaRPr lang="en-US"/>
                </a:p>
              </p:txBody>
            </p:sp>
          </p:grpSp>
        </p:grpSp>
        <p:grpSp>
          <p:nvGrpSpPr>
            <p:cNvPr id="108917" name="Group 371"/>
            <p:cNvGrpSpPr>
              <a:grpSpLocks/>
            </p:cNvGrpSpPr>
            <p:nvPr/>
          </p:nvGrpSpPr>
          <p:grpSpPr bwMode="auto">
            <a:xfrm>
              <a:off x="48" y="2064"/>
              <a:ext cx="2352" cy="432"/>
              <a:chOff x="288" y="2064"/>
              <a:chExt cx="2352" cy="432"/>
            </a:xfrm>
          </p:grpSpPr>
          <p:sp>
            <p:nvSpPr>
              <p:cNvPr id="108916" name="Freeform 372"/>
              <p:cNvSpPr>
                <a:spLocks/>
              </p:cNvSpPr>
              <p:nvPr/>
            </p:nvSpPr>
            <p:spPr bwMode="auto">
              <a:xfrm>
                <a:off x="288" y="2064"/>
                <a:ext cx="2344" cy="430"/>
              </a:xfrm>
              <a:custGeom>
                <a:avLst/>
                <a:gdLst/>
                <a:ahLst/>
                <a:cxnLst>
                  <a:cxn ang="0">
                    <a:pos x="0" y="429"/>
                  </a:cxn>
                  <a:cxn ang="0">
                    <a:pos x="1590" y="429"/>
                  </a:cxn>
                  <a:cxn ang="0">
                    <a:pos x="2343" y="0"/>
                  </a:cxn>
                  <a:cxn ang="0">
                    <a:pos x="1088" y="0"/>
                  </a:cxn>
                  <a:cxn ang="0">
                    <a:pos x="0" y="429"/>
                  </a:cxn>
                </a:cxnLst>
                <a:rect l="0" t="0" r="r" b="b"/>
                <a:pathLst>
                  <a:path w="2344" h="430">
                    <a:moveTo>
                      <a:pt x="0" y="429"/>
                    </a:moveTo>
                    <a:lnTo>
                      <a:pt x="1590" y="429"/>
                    </a:lnTo>
                    <a:lnTo>
                      <a:pt x="2343" y="0"/>
                    </a:lnTo>
                    <a:lnTo>
                      <a:pt x="1088" y="0"/>
                    </a:lnTo>
                    <a:lnTo>
                      <a:pt x="0" y="429"/>
                    </a:lnTo>
                  </a:path>
                </a:pathLst>
              </a:custGeom>
              <a:solidFill>
                <a:srgbClr val="00006F"/>
              </a:solidFill>
              <a:ln w="12700" cap="rnd" cmpd="sng">
                <a:noFill/>
                <a:prstDash val="solid"/>
                <a:round/>
                <a:headEnd type="none" w="med" len="med"/>
                <a:tailEnd type="none" w="med" len="med"/>
              </a:ln>
              <a:effectLst/>
            </p:spPr>
            <p:txBody>
              <a:bodyPr/>
              <a:lstStyle/>
              <a:p>
                <a:endParaRPr lang="en-US"/>
              </a:p>
            </p:txBody>
          </p:sp>
          <p:grpSp>
            <p:nvGrpSpPr>
              <p:cNvPr id="108919" name="Group 373"/>
              <p:cNvGrpSpPr>
                <a:grpSpLocks/>
              </p:cNvGrpSpPr>
              <p:nvPr/>
            </p:nvGrpSpPr>
            <p:grpSpPr bwMode="auto">
              <a:xfrm>
                <a:off x="288" y="2064"/>
                <a:ext cx="2352" cy="432"/>
                <a:chOff x="288" y="2064"/>
                <a:chExt cx="2352" cy="432"/>
              </a:xfrm>
            </p:grpSpPr>
            <p:sp>
              <p:nvSpPr>
                <p:cNvPr id="108918" name="Freeform 374"/>
                <p:cNvSpPr>
                  <a:spLocks/>
                </p:cNvSpPr>
                <p:nvPr/>
              </p:nvSpPr>
              <p:spPr bwMode="auto">
                <a:xfrm>
                  <a:off x="288" y="2064"/>
                  <a:ext cx="2352" cy="432"/>
                </a:xfrm>
                <a:custGeom>
                  <a:avLst/>
                  <a:gdLst/>
                  <a:ahLst/>
                  <a:cxnLst>
                    <a:cxn ang="0">
                      <a:pos x="0" y="439"/>
                    </a:cxn>
                    <a:cxn ang="0">
                      <a:pos x="1595" y="439"/>
                    </a:cxn>
                    <a:cxn ang="0">
                      <a:pos x="2351" y="0"/>
                    </a:cxn>
                    <a:cxn ang="0">
                      <a:pos x="1092" y="0"/>
                    </a:cxn>
                    <a:cxn ang="0">
                      <a:pos x="0" y="439"/>
                    </a:cxn>
                  </a:cxnLst>
                  <a:rect l="0" t="0" r="r" b="b"/>
                  <a:pathLst>
                    <a:path w="2352" h="440">
                      <a:moveTo>
                        <a:pt x="0" y="439"/>
                      </a:moveTo>
                      <a:lnTo>
                        <a:pt x="1595" y="439"/>
                      </a:lnTo>
                      <a:lnTo>
                        <a:pt x="2351" y="0"/>
                      </a:lnTo>
                      <a:lnTo>
                        <a:pt x="1092" y="0"/>
                      </a:lnTo>
                      <a:lnTo>
                        <a:pt x="0" y="439"/>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grpSp>
              <p:nvGrpSpPr>
                <p:cNvPr id="108923" name="Group 375"/>
                <p:cNvGrpSpPr>
                  <a:grpSpLocks/>
                </p:cNvGrpSpPr>
                <p:nvPr/>
              </p:nvGrpSpPr>
              <p:grpSpPr bwMode="auto">
                <a:xfrm>
                  <a:off x="288" y="2064"/>
                  <a:ext cx="2352" cy="432"/>
                  <a:chOff x="288" y="2064"/>
                  <a:chExt cx="2352" cy="432"/>
                </a:xfrm>
              </p:grpSpPr>
              <p:sp>
                <p:nvSpPr>
                  <p:cNvPr id="108920" name="Freeform 376"/>
                  <p:cNvSpPr>
                    <a:spLocks/>
                  </p:cNvSpPr>
                  <p:nvPr/>
                </p:nvSpPr>
                <p:spPr bwMode="auto">
                  <a:xfrm>
                    <a:off x="288" y="2256"/>
                    <a:ext cx="720" cy="240"/>
                  </a:xfrm>
                  <a:custGeom>
                    <a:avLst/>
                    <a:gdLst/>
                    <a:ahLst/>
                    <a:cxnLst>
                      <a:cxn ang="0">
                        <a:pos x="529" y="0"/>
                      </a:cxn>
                      <a:cxn ang="0">
                        <a:pos x="583" y="18"/>
                      </a:cxn>
                      <a:cxn ang="0">
                        <a:pos x="597" y="77"/>
                      </a:cxn>
                      <a:cxn ang="0">
                        <a:pos x="597" y="154"/>
                      </a:cxn>
                      <a:cxn ang="0">
                        <a:pos x="623" y="195"/>
                      </a:cxn>
                      <a:cxn ang="0">
                        <a:pos x="636" y="213"/>
                      </a:cxn>
                      <a:cxn ang="0">
                        <a:pos x="0" y="213"/>
                      </a:cxn>
                      <a:cxn ang="0">
                        <a:pos x="529" y="0"/>
                      </a:cxn>
                    </a:cxnLst>
                    <a:rect l="0" t="0" r="r" b="b"/>
                    <a:pathLst>
                      <a:path w="637" h="214">
                        <a:moveTo>
                          <a:pt x="529" y="0"/>
                        </a:moveTo>
                        <a:lnTo>
                          <a:pt x="583" y="18"/>
                        </a:lnTo>
                        <a:lnTo>
                          <a:pt x="597" y="77"/>
                        </a:lnTo>
                        <a:lnTo>
                          <a:pt x="597" y="154"/>
                        </a:lnTo>
                        <a:lnTo>
                          <a:pt x="623" y="195"/>
                        </a:lnTo>
                        <a:lnTo>
                          <a:pt x="636" y="213"/>
                        </a:lnTo>
                        <a:lnTo>
                          <a:pt x="0" y="213"/>
                        </a:lnTo>
                        <a:lnTo>
                          <a:pt x="529" y="0"/>
                        </a:lnTo>
                      </a:path>
                    </a:pathLst>
                  </a:custGeom>
                  <a:solidFill>
                    <a:srgbClr val="008000"/>
                  </a:solidFill>
                  <a:ln w="12700" cap="rnd" cmpd="sng">
                    <a:noFill/>
                    <a:prstDash val="solid"/>
                    <a:round/>
                    <a:headEnd type="none" w="med" len="med"/>
                    <a:tailEnd type="none" w="med" len="med"/>
                  </a:ln>
                  <a:effectLst/>
                </p:spPr>
                <p:txBody>
                  <a:bodyPr/>
                  <a:lstStyle/>
                  <a:p>
                    <a:endParaRPr lang="en-US"/>
                  </a:p>
                </p:txBody>
              </p:sp>
              <p:sp>
                <p:nvSpPr>
                  <p:cNvPr id="108921" name="Freeform 377"/>
                  <p:cNvSpPr>
                    <a:spLocks/>
                  </p:cNvSpPr>
                  <p:nvPr/>
                </p:nvSpPr>
                <p:spPr bwMode="auto">
                  <a:xfrm>
                    <a:off x="864" y="2064"/>
                    <a:ext cx="864" cy="432"/>
                  </a:xfrm>
                  <a:custGeom>
                    <a:avLst/>
                    <a:gdLst/>
                    <a:ahLst/>
                    <a:cxnLst>
                      <a:cxn ang="0">
                        <a:pos x="94" y="417"/>
                      </a:cxn>
                      <a:cxn ang="0">
                        <a:pos x="61" y="373"/>
                      </a:cxn>
                      <a:cxn ang="0">
                        <a:pos x="41" y="347"/>
                      </a:cxn>
                      <a:cxn ang="0">
                        <a:pos x="41" y="268"/>
                      </a:cxn>
                      <a:cxn ang="0">
                        <a:pos x="34" y="216"/>
                      </a:cxn>
                      <a:cxn ang="0">
                        <a:pos x="0" y="200"/>
                      </a:cxn>
                      <a:cxn ang="0">
                        <a:pos x="505" y="0"/>
                      </a:cxn>
                      <a:cxn ang="0">
                        <a:pos x="566" y="52"/>
                      </a:cxn>
                      <a:cxn ang="0">
                        <a:pos x="532" y="173"/>
                      </a:cxn>
                      <a:cxn ang="0">
                        <a:pos x="693" y="200"/>
                      </a:cxn>
                      <a:cxn ang="0">
                        <a:pos x="835" y="242"/>
                      </a:cxn>
                      <a:cxn ang="0">
                        <a:pos x="807" y="312"/>
                      </a:cxn>
                      <a:cxn ang="0">
                        <a:pos x="713" y="356"/>
                      </a:cxn>
                      <a:cxn ang="0">
                        <a:pos x="727" y="417"/>
                      </a:cxn>
                      <a:cxn ang="0">
                        <a:pos x="94" y="417"/>
                      </a:cxn>
                    </a:cxnLst>
                    <a:rect l="0" t="0" r="r" b="b"/>
                    <a:pathLst>
                      <a:path w="836" h="418">
                        <a:moveTo>
                          <a:pt x="94" y="417"/>
                        </a:moveTo>
                        <a:lnTo>
                          <a:pt x="61" y="373"/>
                        </a:lnTo>
                        <a:lnTo>
                          <a:pt x="41" y="347"/>
                        </a:lnTo>
                        <a:lnTo>
                          <a:pt x="41" y="268"/>
                        </a:lnTo>
                        <a:lnTo>
                          <a:pt x="34" y="216"/>
                        </a:lnTo>
                        <a:lnTo>
                          <a:pt x="0" y="200"/>
                        </a:lnTo>
                        <a:lnTo>
                          <a:pt x="505" y="0"/>
                        </a:lnTo>
                        <a:lnTo>
                          <a:pt x="566" y="52"/>
                        </a:lnTo>
                        <a:lnTo>
                          <a:pt x="532" y="173"/>
                        </a:lnTo>
                        <a:lnTo>
                          <a:pt x="693" y="200"/>
                        </a:lnTo>
                        <a:lnTo>
                          <a:pt x="835" y="242"/>
                        </a:lnTo>
                        <a:lnTo>
                          <a:pt x="807" y="312"/>
                        </a:lnTo>
                        <a:lnTo>
                          <a:pt x="713" y="356"/>
                        </a:lnTo>
                        <a:lnTo>
                          <a:pt x="727" y="417"/>
                        </a:lnTo>
                        <a:lnTo>
                          <a:pt x="94" y="417"/>
                        </a:lnTo>
                      </a:path>
                    </a:pathLst>
                  </a:custGeom>
                  <a:solidFill>
                    <a:srgbClr val="00FF00"/>
                  </a:solidFill>
                  <a:ln w="12700" cap="rnd" cmpd="sng">
                    <a:noFill/>
                    <a:prstDash val="solid"/>
                    <a:round/>
                    <a:headEnd type="none" w="med" len="med"/>
                    <a:tailEnd type="none" w="med" len="med"/>
                  </a:ln>
                  <a:effectLst/>
                </p:spPr>
                <p:txBody>
                  <a:bodyPr/>
                  <a:lstStyle/>
                  <a:p>
                    <a:endParaRPr lang="en-US"/>
                  </a:p>
                </p:txBody>
              </p:sp>
              <p:sp>
                <p:nvSpPr>
                  <p:cNvPr id="108922" name="Freeform 378"/>
                  <p:cNvSpPr>
                    <a:spLocks/>
                  </p:cNvSpPr>
                  <p:nvPr/>
                </p:nvSpPr>
                <p:spPr bwMode="auto">
                  <a:xfrm>
                    <a:off x="1393" y="2064"/>
                    <a:ext cx="1247" cy="428"/>
                  </a:xfrm>
                  <a:custGeom>
                    <a:avLst/>
                    <a:gdLst/>
                    <a:ahLst/>
                    <a:cxnLst>
                      <a:cxn ang="0">
                        <a:pos x="0" y="5"/>
                      </a:cxn>
                      <a:cxn ang="0">
                        <a:pos x="65" y="65"/>
                      </a:cxn>
                      <a:cxn ang="0">
                        <a:pos x="31" y="188"/>
                      </a:cxn>
                      <a:cxn ang="0">
                        <a:pos x="176" y="209"/>
                      </a:cxn>
                      <a:cxn ang="0">
                        <a:pos x="331" y="252"/>
                      </a:cxn>
                      <a:cxn ang="0">
                        <a:pos x="308" y="327"/>
                      </a:cxn>
                      <a:cxn ang="0">
                        <a:pos x="216" y="365"/>
                      </a:cxn>
                      <a:cxn ang="0">
                        <a:pos x="229" y="427"/>
                      </a:cxn>
                      <a:cxn ang="0">
                        <a:pos x="509" y="427"/>
                      </a:cxn>
                      <a:cxn ang="0">
                        <a:pos x="1246" y="0"/>
                      </a:cxn>
                      <a:cxn ang="0">
                        <a:pos x="0" y="5"/>
                      </a:cxn>
                    </a:cxnLst>
                    <a:rect l="0" t="0" r="r" b="b"/>
                    <a:pathLst>
                      <a:path w="1247" h="428">
                        <a:moveTo>
                          <a:pt x="0" y="5"/>
                        </a:moveTo>
                        <a:lnTo>
                          <a:pt x="65" y="65"/>
                        </a:lnTo>
                        <a:lnTo>
                          <a:pt x="31" y="188"/>
                        </a:lnTo>
                        <a:lnTo>
                          <a:pt x="176" y="209"/>
                        </a:lnTo>
                        <a:lnTo>
                          <a:pt x="331" y="252"/>
                        </a:lnTo>
                        <a:lnTo>
                          <a:pt x="308" y="327"/>
                        </a:lnTo>
                        <a:lnTo>
                          <a:pt x="216" y="365"/>
                        </a:lnTo>
                        <a:lnTo>
                          <a:pt x="229" y="427"/>
                        </a:lnTo>
                        <a:lnTo>
                          <a:pt x="509" y="427"/>
                        </a:lnTo>
                        <a:lnTo>
                          <a:pt x="1246" y="0"/>
                        </a:lnTo>
                        <a:lnTo>
                          <a:pt x="0" y="5"/>
                        </a:lnTo>
                      </a:path>
                    </a:pathLst>
                  </a:custGeom>
                  <a:solidFill>
                    <a:srgbClr val="004000"/>
                  </a:solidFill>
                  <a:ln w="12700" cap="rnd" cmpd="sng">
                    <a:noFill/>
                    <a:prstDash val="solid"/>
                    <a:round/>
                    <a:headEnd type="none" w="med" len="med"/>
                    <a:tailEnd type="none" w="med" len="med"/>
                  </a:ln>
                  <a:effectLst/>
                </p:spPr>
                <p:txBody>
                  <a:bodyPr/>
                  <a:lstStyle/>
                  <a:p>
                    <a:endParaRPr lang="en-US"/>
                  </a:p>
                </p:txBody>
              </p:sp>
            </p:gr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nodeType="clickEffect">
                                  <p:stCondLst>
                                    <p:cond delay="0"/>
                                  </p:stCondLst>
                                  <p:childTnLst>
                                    <p:set>
                                      <p:cBhvr>
                                        <p:cTn id="6" dur="1000">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7" fill="hold">
                            <p:stCondLst>
                              <p:cond delay="1000"/>
                            </p:stCondLst>
                            <p:childTnLst>
                              <p:par>
                                <p:cTn id="8" presetID="11" presetClass="entr" presetSubtype="0" fill="hold" nodeType="afterEffect">
                                  <p:stCondLst>
                                    <p:cond delay="0"/>
                                  </p:stCondLst>
                                  <p:childTnLst>
                                    <p:set>
                                      <p:cBhvr>
                                        <p:cTn id="9" dur="1000">
                                          <p:stCondLst>
                                            <p:cond delay="0"/>
                                          </p:stCondLst>
                                        </p:cTn>
                                        <p:tgtEl>
                                          <p:spTgt spid="4"/>
                                        </p:tgtEl>
                                        <p:attrNameLst>
                                          <p:attrName>style.visibility</p:attrName>
                                        </p:attrNameLst>
                                      </p:cBhvr>
                                      <p:to>
                                        <p:strVal val="visible"/>
                                      </p:to>
                                    </p:set>
                                  </p:childTnLst>
                                  <p:subTnLst>
                                    <p:audio>
                                      <p:cMediaNode>
                                        <p:cTn display="0" masterRel="sameClick">
                                          <p:stCondLst>
                                            <p:cond evt="begin" delay="0">
                                              <p:tn val="8"/>
                                            </p:cond>
                                          </p:stCondLst>
                                          <p:endCondLst>
                                            <p:cond evt="onStopAudio" delay="0">
                                              <p:tgtEl>
                                                <p:sldTgt/>
                                              </p:tgtEl>
                                            </p:cond>
                                          </p:endCondLst>
                                        </p:cTn>
                                        <p:tgtEl>
                                          <p:sndTgt r:embed="rId3" name="CAMERA.WAV"/>
                                        </p:tgtEl>
                                      </p:cMediaNode>
                                    </p:audio>
                                  </p:sub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499"/>
                                          </p:stCondLst>
                                        </p:cTn>
                                        <p:tgtEl>
                                          <p:spTgt spid="18"/>
                                        </p:tgtEl>
                                        <p:attrNameLst>
                                          <p:attrName>style.visibility</p:attrName>
                                        </p:attrNameLst>
                                      </p:cBhvr>
                                      <p:to>
                                        <p:strVal val="visible"/>
                                      </p:to>
                                    </p:se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28600"/>
            <a:ext cx="8686800" cy="1417638"/>
          </a:xfrm>
        </p:spPr>
        <p:txBody>
          <a:bodyPr>
            <a:normAutofit/>
          </a:bodyPr>
          <a:lstStyle/>
          <a:p>
            <a:r>
              <a:rPr lang="en-US" sz="3600" dirty="0"/>
              <a:t>Spatial Overlays</a:t>
            </a:r>
          </a:p>
        </p:txBody>
      </p:sp>
      <p:sp>
        <p:nvSpPr>
          <p:cNvPr id="5" name="Content Placeholder 4"/>
          <p:cNvSpPr>
            <a:spLocks noGrp="1"/>
          </p:cNvSpPr>
          <p:nvPr>
            <p:ph idx="1"/>
          </p:nvPr>
        </p:nvSpPr>
        <p:spPr>
          <a:xfrm>
            <a:off x="533400" y="1447800"/>
            <a:ext cx="8001000" cy="4525963"/>
          </a:xfrm>
        </p:spPr>
        <p:txBody>
          <a:bodyPr>
            <a:normAutofit/>
          </a:bodyPr>
          <a:lstStyle/>
          <a:p>
            <a:r>
              <a:rPr lang="en-US" sz="2400" dirty="0"/>
              <a:t>Spatially combine two layers to:</a:t>
            </a:r>
          </a:p>
          <a:p>
            <a:pPr>
              <a:buNone/>
            </a:pPr>
            <a:endParaRPr lang="en-US" sz="2400" dirty="0"/>
          </a:p>
          <a:p>
            <a:pPr lvl="1"/>
            <a:r>
              <a:rPr lang="en-US" sz="2400" dirty="0"/>
              <a:t>Generate a new output data layer</a:t>
            </a:r>
          </a:p>
          <a:p>
            <a:pPr lvl="1"/>
            <a:endParaRPr lang="en-US" sz="2400" dirty="0"/>
          </a:p>
          <a:p>
            <a:pPr lvl="1"/>
            <a:r>
              <a:rPr lang="en-US" sz="2400" dirty="0"/>
              <a:t>Assign attributes of one data layer to another</a:t>
            </a:r>
          </a:p>
          <a:p>
            <a:pPr lvl="1"/>
            <a:endParaRPr lang="en-US" sz="2400" dirty="0"/>
          </a:p>
          <a:p>
            <a:pPr lvl="1"/>
            <a:r>
              <a:rPr lang="en-US" sz="2400" dirty="0"/>
              <a:t>Usually one of the data layers will be polygons</a:t>
            </a:r>
          </a:p>
          <a:p>
            <a:pPr lvl="2"/>
            <a:r>
              <a:rPr lang="en-US" sz="2400" dirty="0"/>
              <a:t>A point-in-polygon overlay is typical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8686800" cy="1219200"/>
          </a:xfrm>
        </p:spPr>
        <p:txBody>
          <a:bodyPr>
            <a:normAutofit/>
          </a:bodyPr>
          <a:lstStyle/>
          <a:p>
            <a:r>
              <a:rPr lang="en-US" sz="3600" dirty="0"/>
              <a:t>Examples:</a:t>
            </a:r>
          </a:p>
        </p:txBody>
      </p:sp>
      <p:sp>
        <p:nvSpPr>
          <p:cNvPr id="2" name="Content Placeholder 1"/>
          <p:cNvSpPr>
            <a:spLocks noGrp="1"/>
          </p:cNvSpPr>
          <p:nvPr>
            <p:ph idx="1"/>
          </p:nvPr>
        </p:nvSpPr>
        <p:spPr>
          <a:xfrm>
            <a:off x="685330" y="1600200"/>
            <a:ext cx="7773339" cy="3424107"/>
          </a:xfrm>
        </p:spPr>
        <p:txBody>
          <a:bodyPr>
            <a:noAutofit/>
          </a:bodyPr>
          <a:lstStyle/>
          <a:p>
            <a:r>
              <a:rPr lang="en-US" sz="2800" dirty="0"/>
              <a:t>In which zip code are survey respondents located?  Campaign donors?</a:t>
            </a:r>
          </a:p>
          <a:p>
            <a:endParaRPr lang="en-US" sz="2800" dirty="0"/>
          </a:p>
          <a:p>
            <a:r>
              <a:rPr lang="en-US" sz="2800" dirty="0"/>
              <a:t>In which census tracts do we find </a:t>
            </a:r>
            <a:r>
              <a:rPr lang="en-US" sz="2800" dirty="0" err="1"/>
              <a:t>Walmart</a:t>
            </a:r>
            <a:r>
              <a:rPr lang="en-US" sz="2800" dirty="0"/>
              <a:t> stores?  Payday lenders?</a:t>
            </a:r>
          </a:p>
          <a:p>
            <a:endParaRPr lang="en-US" sz="2800" dirty="0"/>
          </a:p>
          <a:p>
            <a:r>
              <a:rPr lang="en-US" sz="2800" dirty="0"/>
              <a:t>How proximate to liquor stores and bars do most crimes occur?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0"/>
            <a:ext cx="8686800" cy="1417638"/>
          </a:xfrm>
        </p:spPr>
        <p:txBody>
          <a:bodyPr>
            <a:normAutofit/>
          </a:bodyPr>
          <a:lstStyle/>
          <a:p>
            <a:pPr eaLnBrk="1" hangingPunct="1">
              <a:defRPr/>
            </a:pPr>
            <a:r>
              <a:rPr lang="en-US" sz="3600" dirty="0"/>
              <a:t>Important Map Overlay Tools</a:t>
            </a:r>
          </a:p>
        </p:txBody>
      </p:sp>
      <p:sp>
        <p:nvSpPr>
          <p:cNvPr id="10243" name="Rectangle 3"/>
          <p:cNvSpPr>
            <a:spLocks noGrp="1" noChangeArrowheads="1"/>
          </p:cNvSpPr>
          <p:nvPr>
            <p:ph idx="1"/>
          </p:nvPr>
        </p:nvSpPr>
        <p:spPr>
          <a:xfrm>
            <a:off x="685330" y="1905000"/>
            <a:ext cx="7773339" cy="3424107"/>
          </a:xfrm>
        </p:spPr>
        <p:txBody>
          <a:bodyPr>
            <a:normAutofit fontScale="92500" lnSpcReduction="10000"/>
          </a:bodyPr>
          <a:lstStyle/>
          <a:p>
            <a:pPr eaLnBrk="1" hangingPunct="1"/>
            <a:endParaRPr lang="en-US" sz="2800" dirty="0"/>
          </a:p>
          <a:p>
            <a:pPr eaLnBrk="1" hangingPunct="1"/>
            <a:r>
              <a:rPr lang="en-US" sz="2800" dirty="0"/>
              <a:t>Intersect</a:t>
            </a:r>
          </a:p>
          <a:p>
            <a:pPr eaLnBrk="1" hangingPunct="1"/>
            <a:r>
              <a:rPr lang="en-US" sz="2800" dirty="0"/>
              <a:t>Union</a:t>
            </a:r>
          </a:p>
          <a:p>
            <a:pPr eaLnBrk="1" hangingPunct="1"/>
            <a:r>
              <a:rPr lang="en-US" sz="2800" dirty="0"/>
              <a:t>Identity</a:t>
            </a:r>
          </a:p>
          <a:p>
            <a:pPr eaLnBrk="1" hangingPunct="1"/>
            <a:r>
              <a:rPr lang="en-US" sz="2800" dirty="0"/>
              <a:t>Erase</a:t>
            </a:r>
          </a:p>
          <a:p>
            <a:pPr eaLnBrk="1" hangingPunct="1"/>
            <a:r>
              <a:rPr lang="en-US" sz="2800" dirty="0"/>
              <a:t>Symmetrical Difference</a:t>
            </a:r>
          </a:p>
          <a:p>
            <a:pPr eaLnBrk="1" hangingPunct="1">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1" name="Text Box 3"/>
          <p:cNvSpPr txBox="1">
            <a:spLocks noChangeArrowheads="1"/>
          </p:cNvSpPr>
          <p:nvPr/>
        </p:nvSpPr>
        <p:spPr bwMode="auto">
          <a:xfrm>
            <a:off x="762000" y="2286000"/>
            <a:ext cx="7305675" cy="701675"/>
          </a:xfrm>
          <a:prstGeom prst="rect">
            <a:avLst/>
          </a:prstGeom>
          <a:noFill/>
          <a:ln w="9525">
            <a:noFill/>
            <a:miter lim="800000"/>
            <a:headEnd/>
            <a:tailEnd/>
          </a:ln>
          <a:effectLst/>
        </p:spPr>
        <p:txBody>
          <a:bodyPr wrap="none">
            <a:spAutoFit/>
          </a:bodyPr>
          <a:lstStyle/>
          <a:p>
            <a:pPr eaLnBrk="1" hangingPunct="1"/>
            <a:r>
              <a:rPr lang="en-US" altLang="zh-CN" sz="2000" dirty="0">
                <a:solidFill>
                  <a:srgbClr val="FF0000"/>
                </a:solidFill>
                <a:latin typeface="Times New Roman" pitchFamily="18" charset="0"/>
                <a:ea typeface="SimSun" pitchFamily="2" charset="-122"/>
              </a:rPr>
              <a:t>Some of the basic overlay tools for vector data are UNION,</a:t>
            </a:r>
          </a:p>
          <a:p>
            <a:pPr eaLnBrk="1" hangingPunct="1"/>
            <a:r>
              <a:rPr lang="en-US" altLang="zh-CN" sz="2000" dirty="0">
                <a:solidFill>
                  <a:srgbClr val="FF0000"/>
                </a:solidFill>
                <a:latin typeface="Times New Roman" pitchFamily="18" charset="0"/>
                <a:ea typeface="SimSun" pitchFamily="2" charset="-122"/>
              </a:rPr>
              <a:t> and INTERSECT corresponding to Boolean operations of OR, AND </a:t>
            </a:r>
          </a:p>
        </p:txBody>
      </p:sp>
      <p:sp>
        <p:nvSpPr>
          <p:cNvPr id="283652" name="Oval 4"/>
          <p:cNvSpPr>
            <a:spLocks noChangeArrowheads="1"/>
          </p:cNvSpPr>
          <p:nvPr/>
        </p:nvSpPr>
        <p:spPr bwMode="auto">
          <a:xfrm>
            <a:off x="838200" y="3733800"/>
            <a:ext cx="1066800" cy="1066800"/>
          </a:xfrm>
          <a:prstGeom prst="ellipse">
            <a:avLst/>
          </a:prstGeom>
          <a:solidFill>
            <a:schemeClr val="accent1"/>
          </a:solidFill>
          <a:ln w="9525">
            <a:noFill/>
            <a:round/>
            <a:headEnd/>
            <a:tailEnd/>
          </a:ln>
          <a:effectLst/>
        </p:spPr>
        <p:txBody>
          <a:bodyPr wrap="none" anchor="ctr"/>
          <a:lstStyle/>
          <a:p>
            <a:pPr algn="ctr" eaLnBrk="1" hangingPunct="1"/>
            <a:r>
              <a:rPr lang="en-US" altLang="zh-CN" sz="2400">
                <a:latin typeface="Times New Roman" pitchFamily="18" charset="0"/>
                <a:ea typeface="SimSun" pitchFamily="2" charset="-122"/>
              </a:rPr>
              <a:t>A</a:t>
            </a:r>
          </a:p>
        </p:txBody>
      </p:sp>
      <p:sp>
        <p:nvSpPr>
          <p:cNvPr id="283653" name="Oval 5"/>
          <p:cNvSpPr>
            <a:spLocks noChangeArrowheads="1"/>
          </p:cNvSpPr>
          <p:nvPr/>
        </p:nvSpPr>
        <p:spPr bwMode="auto">
          <a:xfrm>
            <a:off x="2514600" y="3733800"/>
            <a:ext cx="1066800" cy="1066800"/>
          </a:xfrm>
          <a:prstGeom prst="ellipse">
            <a:avLst/>
          </a:prstGeom>
          <a:solidFill>
            <a:schemeClr val="accent1"/>
          </a:solidFill>
          <a:ln w="9525">
            <a:noFill/>
            <a:round/>
            <a:headEnd/>
            <a:tailEnd/>
          </a:ln>
          <a:effectLst/>
        </p:spPr>
        <p:txBody>
          <a:bodyPr wrap="none" anchor="ctr"/>
          <a:lstStyle/>
          <a:p>
            <a:pPr algn="ctr" eaLnBrk="1" hangingPunct="1"/>
            <a:r>
              <a:rPr lang="en-US" altLang="zh-CN" sz="2400">
                <a:latin typeface="Times New Roman" pitchFamily="18" charset="0"/>
                <a:ea typeface="SimSun" pitchFamily="2" charset="-122"/>
              </a:rPr>
              <a:t>B</a:t>
            </a:r>
          </a:p>
        </p:txBody>
      </p:sp>
      <p:sp>
        <p:nvSpPr>
          <p:cNvPr id="283654" name="Text Box 6"/>
          <p:cNvSpPr txBox="1">
            <a:spLocks noChangeArrowheads="1"/>
          </p:cNvSpPr>
          <p:nvPr/>
        </p:nvSpPr>
        <p:spPr bwMode="auto">
          <a:xfrm>
            <a:off x="1981200" y="4164013"/>
            <a:ext cx="538163" cy="396875"/>
          </a:xfrm>
          <a:prstGeom prst="rect">
            <a:avLst/>
          </a:prstGeom>
          <a:noFill/>
          <a:ln w="9525">
            <a:noFill/>
            <a:miter lim="800000"/>
            <a:headEnd/>
            <a:tailEnd/>
          </a:ln>
          <a:effectLst/>
        </p:spPr>
        <p:txBody>
          <a:bodyPr wrap="none">
            <a:spAutoFit/>
          </a:bodyPr>
          <a:lstStyle/>
          <a:p>
            <a:pPr eaLnBrk="1" hangingPunct="1"/>
            <a:r>
              <a:rPr lang="en-US" altLang="zh-CN" sz="2000" dirty="0">
                <a:latin typeface="Times New Roman" pitchFamily="18" charset="0"/>
                <a:ea typeface="SimSun" pitchFamily="2" charset="-122"/>
              </a:rPr>
              <a:t>OR</a:t>
            </a:r>
          </a:p>
        </p:txBody>
      </p:sp>
      <p:grpSp>
        <p:nvGrpSpPr>
          <p:cNvPr id="2" name="Group 7"/>
          <p:cNvGrpSpPr>
            <a:grpSpLocks/>
          </p:cNvGrpSpPr>
          <p:nvPr/>
        </p:nvGrpSpPr>
        <p:grpSpPr bwMode="auto">
          <a:xfrm>
            <a:off x="4953000" y="3733800"/>
            <a:ext cx="1752600" cy="1066800"/>
            <a:chOff x="3264" y="2064"/>
            <a:chExt cx="1104" cy="672"/>
          </a:xfrm>
        </p:grpSpPr>
        <p:sp>
          <p:nvSpPr>
            <p:cNvPr id="283656" name="Oval 8"/>
            <p:cNvSpPr>
              <a:spLocks noChangeArrowheads="1"/>
            </p:cNvSpPr>
            <p:nvPr/>
          </p:nvSpPr>
          <p:spPr bwMode="auto">
            <a:xfrm>
              <a:off x="3264" y="2064"/>
              <a:ext cx="672" cy="672"/>
            </a:xfrm>
            <a:prstGeom prst="ellipse">
              <a:avLst/>
            </a:prstGeom>
            <a:solidFill>
              <a:schemeClr val="accent1"/>
            </a:solidFill>
            <a:ln w="9525">
              <a:noFill/>
              <a:round/>
              <a:headEnd/>
              <a:tailEnd/>
            </a:ln>
            <a:effectLst/>
          </p:spPr>
          <p:txBody>
            <a:bodyPr wrap="none" anchor="ctr"/>
            <a:lstStyle/>
            <a:p>
              <a:pPr algn="ctr" eaLnBrk="1" hangingPunct="1"/>
              <a:r>
                <a:rPr lang="en-US" altLang="zh-CN" sz="2400">
                  <a:latin typeface="Times New Roman" pitchFamily="18" charset="0"/>
                  <a:ea typeface="SimSun" pitchFamily="2" charset="-122"/>
                </a:rPr>
                <a:t>A</a:t>
              </a:r>
            </a:p>
          </p:txBody>
        </p:sp>
        <p:sp>
          <p:nvSpPr>
            <p:cNvPr id="283657" name="Oval 9"/>
            <p:cNvSpPr>
              <a:spLocks noChangeArrowheads="1"/>
            </p:cNvSpPr>
            <p:nvPr/>
          </p:nvSpPr>
          <p:spPr bwMode="auto">
            <a:xfrm>
              <a:off x="3696" y="2064"/>
              <a:ext cx="672" cy="672"/>
            </a:xfrm>
            <a:prstGeom prst="ellipse">
              <a:avLst/>
            </a:prstGeom>
            <a:solidFill>
              <a:schemeClr val="accent1"/>
            </a:solidFill>
            <a:ln w="9525">
              <a:noFill/>
              <a:round/>
              <a:headEnd/>
              <a:tailEnd/>
            </a:ln>
            <a:effectLst/>
          </p:spPr>
          <p:txBody>
            <a:bodyPr wrap="none" anchor="ctr"/>
            <a:lstStyle/>
            <a:p>
              <a:pPr algn="ctr" eaLnBrk="1" hangingPunct="1"/>
              <a:r>
                <a:rPr lang="en-US" altLang="zh-CN" sz="2400">
                  <a:latin typeface="Times New Roman" pitchFamily="18" charset="0"/>
                  <a:ea typeface="SimSun" pitchFamily="2" charset="-122"/>
                </a:rPr>
                <a:t>B</a:t>
              </a:r>
            </a:p>
          </p:txBody>
        </p:sp>
      </p:grpSp>
      <p:sp>
        <p:nvSpPr>
          <p:cNvPr id="283658" name="Line 10"/>
          <p:cNvSpPr>
            <a:spLocks noChangeShapeType="1"/>
          </p:cNvSpPr>
          <p:nvPr/>
        </p:nvSpPr>
        <p:spPr bwMode="auto">
          <a:xfrm>
            <a:off x="3810000" y="4343400"/>
            <a:ext cx="1066800" cy="0"/>
          </a:xfrm>
          <a:prstGeom prst="line">
            <a:avLst/>
          </a:prstGeom>
          <a:noFill/>
          <a:ln w="9525">
            <a:solidFill>
              <a:schemeClr val="accent1"/>
            </a:solidFill>
            <a:round/>
            <a:headEnd/>
            <a:tailEnd type="triangle" w="med" len="med"/>
          </a:ln>
          <a:effectLst/>
        </p:spPr>
        <p:txBody>
          <a:bodyPr/>
          <a:lstStyle/>
          <a:p>
            <a:endParaRPr lang="en-US"/>
          </a:p>
        </p:txBody>
      </p:sp>
      <p:sp>
        <p:nvSpPr>
          <p:cNvPr id="283659" name="Oval 11"/>
          <p:cNvSpPr>
            <a:spLocks noChangeArrowheads="1"/>
          </p:cNvSpPr>
          <p:nvPr/>
        </p:nvSpPr>
        <p:spPr bwMode="auto">
          <a:xfrm>
            <a:off x="838200" y="5029200"/>
            <a:ext cx="1066800" cy="1066800"/>
          </a:xfrm>
          <a:prstGeom prst="ellipse">
            <a:avLst/>
          </a:prstGeom>
          <a:solidFill>
            <a:schemeClr val="accent1"/>
          </a:solidFill>
          <a:ln w="9525">
            <a:noFill/>
            <a:round/>
            <a:headEnd/>
            <a:tailEnd/>
          </a:ln>
          <a:effectLst/>
        </p:spPr>
        <p:txBody>
          <a:bodyPr wrap="none" anchor="ctr"/>
          <a:lstStyle/>
          <a:p>
            <a:pPr algn="ctr" eaLnBrk="1" hangingPunct="1"/>
            <a:r>
              <a:rPr lang="en-US" altLang="zh-CN" sz="2400">
                <a:latin typeface="Times New Roman" pitchFamily="18" charset="0"/>
                <a:ea typeface="SimSun" pitchFamily="2" charset="-122"/>
              </a:rPr>
              <a:t>A</a:t>
            </a:r>
          </a:p>
        </p:txBody>
      </p:sp>
      <p:sp>
        <p:nvSpPr>
          <p:cNvPr id="283660" name="Oval 12"/>
          <p:cNvSpPr>
            <a:spLocks noChangeArrowheads="1"/>
          </p:cNvSpPr>
          <p:nvPr/>
        </p:nvSpPr>
        <p:spPr bwMode="auto">
          <a:xfrm>
            <a:off x="2514600" y="5105400"/>
            <a:ext cx="1066800" cy="1066800"/>
          </a:xfrm>
          <a:prstGeom prst="ellipse">
            <a:avLst/>
          </a:prstGeom>
          <a:solidFill>
            <a:schemeClr val="accent1"/>
          </a:solidFill>
          <a:ln w="9525">
            <a:noFill/>
            <a:round/>
            <a:headEnd/>
            <a:tailEnd/>
          </a:ln>
          <a:effectLst/>
        </p:spPr>
        <p:txBody>
          <a:bodyPr wrap="none" anchor="ctr"/>
          <a:lstStyle/>
          <a:p>
            <a:pPr algn="ctr" eaLnBrk="1" hangingPunct="1"/>
            <a:r>
              <a:rPr lang="en-US" altLang="zh-CN" sz="2400">
                <a:latin typeface="Times New Roman" pitchFamily="18" charset="0"/>
                <a:ea typeface="SimSun" pitchFamily="2" charset="-122"/>
              </a:rPr>
              <a:t>B</a:t>
            </a:r>
          </a:p>
        </p:txBody>
      </p:sp>
      <p:sp>
        <p:nvSpPr>
          <p:cNvPr id="283661" name="Text Box 13"/>
          <p:cNvSpPr txBox="1">
            <a:spLocks noChangeArrowheads="1"/>
          </p:cNvSpPr>
          <p:nvPr/>
        </p:nvSpPr>
        <p:spPr bwMode="auto">
          <a:xfrm>
            <a:off x="1828800" y="5459413"/>
            <a:ext cx="736600" cy="396875"/>
          </a:xfrm>
          <a:prstGeom prst="rect">
            <a:avLst/>
          </a:prstGeom>
          <a:noFill/>
          <a:ln w="9525">
            <a:noFill/>
            <a:miter lim="800000"/>
            <a:headEnd/>
            <a:tailEnd/>
          </a:ln>
          <a:effectLst/>
        </p:spPr>
        <p:txBody>
          <a:bodyPr wrap="none">
            <a:spAutoFit/>
          </a:bodyPr>
          <a:lstStyle/>
          <a:p>
            <a:pPr eaLnBrk="1" hangingPunct="1"/>
            <a:r>
              <a:rPr lang="en-US" altLang="zh-CN" sz="2000">
                <a:latin typeface="Times New Roman" pitchFamily="18" charset="0"/>
                <a:ea typeface="SimSun" pitchFamily="2" charset="-122"/>
              </a:rPr>
              <a:t>AND</a:t>
            </a:r>
          </a:p>
        </p:txBody>
      </p:sp>
      <p:sp>
        <p:nvSpPr>
          <p:cNvPr id="283662" name="Line 14"/>
          <p:cNvSpPr>
            <a:spLocks noChangeShapeType="1"/>
          </p:cNvSpPr>
          <p:nvPr/>
        </p:nvSpPr>
        <p:spPr bwMode="auto">
          <a:xfrm>
            <a:off x="3733800" y="5638800"/>
            <a:ext cx="1066800" cy="0"/>
          </a:xfrm>
          <a:prstGeom prst="line">
            <a:avLst/>
          </a:prstGeom>
          <a:noFill/>
          <a:ln w="9525">
            <a:solidFill>
              <a:schemeClr val="accent1"/>
            </a:solidFill>
            <a:round/>
            <a:headEnd/>
            <a:tailEnd type="triangle" w="med" len="med"/>
          </a:ln>
          <a:effectLst/>
        </p:spPr>
        <p:txBody>
          <a:bodyPr/>
          <a:lstStyle/>
          <a:p>
            <a:endParaRPr lang="en-US"/>
          </a:p>
        </p:txBody>
      </p:sp>
      <p:sp>
        <p:nvSpPr>
          <p:cNvPr id="283663" name="Text Box 15"/>
          <p:cNvSpPr txBox="1">
            <a:spLocks noChangeArrowheads="1"/>
          </p:cNvSpPr>
          <p:nvPr/>
        </p:nvSpPr>
        <p:spPr bwMode="auto">
          <a:xfrm>
            <a:off x="6934200" y="3962400"/>
            <a:ext cx="1168400" cy="457200"/>
          </a:xfrm>
          <a:prstGeom prst="rect">
            <a:avLst/>
          </a:prstGeom>
          <a:noFill/>
          <a:ln w="9525">
            <a:noFill/>
            <a:miter lim="800000"/>
            <a:headEnd/>
            <a:tailEnd/>
          </a:ln>
          <a:effectLst/>
        </p:spPr>
        <p:txBody>
          <a:bodyPr wrap="none">
            <a:spAutoFit/>
          </a:bodyPr>
          <a:lstStyle/>
          <a:p>
            <a:pPr eaLnBrk="1" hangingPunct="1"/>
            <a:r>
              <a:rPr lang="en-US" altLang="zh-CN" sz="2400">
                <a:latin typeface="Times New Roman" pitchFamily="18" charset="0"/>
                <a:ea typeface="SimSun" pitchFamily="2" charset="-122"/>
              </a:rPr>
              <a:t>UNION</a:t>
            </a:r>
          </a:p>
        </p:txBody>
      </p:sp>
      <p:sp>
        <p:nvSpPr>
          <p:cNvPr id="283664" name="Text Box 16"/>
          <p:cNvSpPr txBox="1">
            <a:spLocks noChangeArrowheads="1"/>
          </p:cNvSpPr>
          <p:nvPr/>
        </p:nvSpPr>
        <p:spPr bwMode="auto">
          <a:xfrm>
            <a:off x="6858000" y="5257800"/>
            <a:ext cx="1825625" cy="457200"/>
          </a:xfrm>
          <a:prstGeom prst="rect">
            <a:avLst/>
          </a:prstGeom>
          <a:noFill/>
          <a:ln w="9525">
            <a:noFill/>
            <a:miter lim="800000"/>
            <a:headEnd/>
            <a:tailEnd/>
          </a:ln>
          <a:effectLst/>
        </p:spPr>
        <p:txBody>
          <a:bodyPr wrap="none">
            <a:spAutoFit/>
          </a:bodyPr>
          <a:lstStyle/>
          <a:p>
            <a:pPr eaLnBrk="1" hangingPunct="1"/>
            <a:r>
              <a:rPr lang="en-US" altLang="zh-CN" sz="2400">
                <a:latin typeface="Times New Roman" pitchFamily="18" charset="0"/>
                <a:ea typeface="SimSun" pitchFamily="2" charset="-122"/>
              </a:rPr>
              <a:t>INTERSECT</a:t>
            </a:r>
          </a:p>
        </p:txBody>
      </p:sp>
      <p:grpSp>
        <p:nvGrpSpPr>
          <p:cNvPr id="3" name="Group 17"/>
          <p:cNvGrpSpPr>
            <a:grpSpLocks/>
          </p:cNvGrpSpPr>
          <p:nvPr/>
        </p:nvGrpSpPr>
        <p:grpSpPr bwMode="auto">
          <a:xfrm>
            <a:off x="4953000" y="5029200"/>
            <a:ext cx="1752600" cy="1066800"/>
            <a:chOff x="3264" y="2064"/>
            <a:chExt cx="1104" cy="672"/>
          </a:xfrm>
        </p:grpSpPr>
        <p:sp>
          <p:nvSpPr>
            <p:cNvPr id="283666" name="Oval 18"/>
            <p:cNvSpPr>
              <a:spLocks noChangeArrowheads="1"/>
            </p:cNvSpPr>
            <p:nvPr/>
          </p:nvSpPr>
          <p:spPr bwMode="auto">
            <a:xfrm>
              <a:off x="3264" y="2064"/>
              <a:ext cx="672" cy="672"/>
            </a:xfrm>
            <a:prstGeom prst="ellipse">
              <a:avLst/>
            </a:prstGeom>
            <a:noFill/>
            <a:ln w="9525">
              <a:solidFill>
                <a:schemeClr val="tx1"/>
              </a:solidFill>
              <a:round/>
              <a:headEnd/>
              <a:tailEnd/>
            </a:ln>
            <a:effectLst/>
          </p:spPr>
          <p:txBody>
            <a:bodyPr wrap="none" anchor="ctr"/>
            <a:lstStyle/>
            <a:p>
              <a:pPr algn="ctr" eaLnBrk="1" hangingPunct="1"/>
              <a:r>
                <a:rPr lang="en-US" altLang="zh-CN" sz="2400">
                  <a:latin typeface="Times New Roman" pitchFamily="18" charset="0"/>
                  <a:ea typeface="SimSun" pitchFamily="2" charset="-122"/>
                </a:rPr>
                <a:t>A</a:t>
              </a:r>
            </a:p>
          </p:txBody>
        </p:sp>
        <p:sp>
          <p:nvSpPr>
            <p:cNvPr id="283667" name="Oval 19"/>
            <p:cNvSpPr>
              <a:spLocks noChangeArrowheads="1"/>
            </p:cNvSpPr>
            <p:nvPr/>
          </p:nvSpPr>
          <p:spPr bwMode="auto">
            <a:xfrm>
              <a:off x="3696" y="2064"/>
              <a:ext cx="672" cy="672"/>
            </a:xfrm>
            <a:prstGeom prst="ellipse">
              <a:avLst/>
            </a:prstGeom>
            <a:noFill/>
            <a:ln w="9525">
              <a:solidFill>
                <a:schemeClr val="tx1"/>
              </a:solidFill>
              <a:round/>
              <a:headEnd/>
              <a:tailEnd/>
            </a:ln>
            <a:effectLst/>
          </p:spPr>
          <p:txBody>
            <a:bodyPr wrap="none" anchor="ctr"/>
            <a:lstStyle/>
            <a:p>
              <a:pPr algn="ctr" eaLnBrk="1" hangingPunct="1"/>
              <a:r>
                <a:rPr lang="en-US" altLang="zh-CN" sz="2400">
                  <a:latin typeface="Times New Roman" pitchFamily="18" charset="0"/>
                  <a:ea typeface="SimSun" pitchFamily="2" charset="-122"/>
                </a:rPr>
                <a:t>B</a:t>
              </a:r>
            </a:p>
          </p:txBody>
        </p:sp>
      </p:grpSp>
      <p:grpSp>
        <p:nvGrpSpPr>
          <p:cNvPr id="4" name="Group 20"/>
          <p:cNvGrpSpPr>
            <a:grpSpLocks/>
          </p:cNvGrpSpPr>
          <p:nvPr/>
        </p:nvGrpSpPr>
        <p:grpSpPr bwMode="auto">
          <a:xfrm>
            <a:off x="5562600" y="5181600"/>
            <a:ext cx="457200" cy="762000"/>
            <a:chOff x="3504" y="2592"/>
            <a:chExt cx="288" cy="480"/>
          </a:xfrm>
        </p:grpSpPr>
        <p:sp>
          <p:nvSpPr>
            <p:cNvPr id="283669" name="AutoShape 21"/>
            <p:cNvSpPr>
              <a:spLocks noChangeArrowheads="1"/>
            </p:cNvSpPr>
            <p:nvPr/>
          </p:nvSpPr>
          <p:spPr bwMode="auto">
            <a:xfrm>
              <a:off x="3504" y="2592"/>
              <a:ext cx="192" cy="480"/>
            </a:xfrm>
            <a:prstGeom prst="moon">
              <a:avLst>
                <a:gd name="adj" fmla="val 50000"/>
              </a:avLst>
            </a:prstGeom>
            <a:solidFill>
              <a:schemeClr val="accent1"/>
            </a:solidFill>
            <a:ln w="9525">
              <a:noFill/>
              <a:miter lim="800000"/>
              <a:headEnd/>
              <a:tailEnd/>
            </a:ln>
            <a:effectLst/>
          </p:spPr>
          <p:txBody>
            <a:bodyPr wrap="none" anchor="ctr"/>
            <a:lstStyle/>
            <a:p>
              <a:endParaRPr lang="en-US"/>
            </a:p>
          </p:txBody>
        </p:sp>
        <p:sp>
          <p:nvSpPr>
            <p:cNvPr id="283670" name="AutoShape 22"/>
            <p:cNvSpPr>
              <a:spLocks noChangeArrowheads="1"/>
            </p:cNvSpPr>
            <p:nvPr/>
          </p:nvSpPr>
          <p:spPr bwMode="auto">
            <a:xfrm rot="10800000">
              <a:off x="3648" y="2592"/>
              <a:ext cx="144" cy="480"/>
            </a:xfrm>
            <a:prstGeom prst="moon">
              <a:avLst>
                <a:gd name="adj" fmla="val 50000"/>
              </a:avLst>
            </a:prstGeom>
            <a:solidFill>
              <a:schemeClr val="accent1"/>
            </a:solidFill>
            <a:ln w="9525">
              <a:noFill/>
              <a:miter lim="800000"/>
              <a:headEnd/>
              <a:tailEnd/>
            </a:ln>
            <a:effectLst/>
          </p:spPr>
          <p:txBody>
            <a:bodyPr wrap="none" anchor="ctr"/>
            <a:lstStyle/>
            <a:p>
              <a:endParaRPr lang="en-US"/>
            </a:p>
          </p:txBody>
        </p:sp>
        <p:sp>
          <p:nvSpPr>
            <p:cNvPr id="283671" name="Freeform 23"/>
            <p:cNvSpPr>
              <a:spLocks/>
            </p:cNvSpPr>
            <p:nvPr/>
          </p:nvSpPr>
          <p:spPr bwMode="auto">
            <a:xfrm>
              <a:off x="3552" y="2592"/>
              <a:ext cx="192" cy="480"/>
            </a:xfrm>
            <a:custGeom>
              <a:avLst/>
              <a:gdLst/>
              <a:ahLst/>
              <a:cxnLst>
                <a:cxn ang="0">
                  <a:pos x="48" y="48"/>
                </a:cxn>
                <a:cxn ang="0">
                  <a:pos x="0" y="192"/>
                </a:cxn>
                <a:cxn ang="0">
                  <a:pos x="48" y="336"/>
                </a:cxn>
                <a:cxn ang="0">
                  <a:pos x="96" y="480"/>
                </a:cxn>
                <a:cxn ang="0">
                  <a:pos x="144" y="432"/>
                </a:cxn>
                <a:cxn ang="0">
                  <a:pos x="192" y="288"/>
                </a:cxn>
                <a:cxn ang="0">
                  <a:pos x="192" y="192"/>
                </a:cxn>
                <a:cxn ang="0">
                  <a:pos x="144" y="48"/>
                </a:cxn>
                <a:cxn ang="0">
                  <a:pos x="144" y="0"/>
                </a:cxn>
                <a:cxn ang="0">
                  <a:pos x="48" y="48"/>
                </a:cxn>
              </a:cxnLst>
              <a:rect l="0" t="0" r="r" b="b"/>
              <a:pathLst>
                <a:path w="192" h="480">
                  <a:moveTo>
                    <a:pt x="48" y="48"/>
                  </a:moveTo>
                  <a:lnTo>
                    <a:pt x="0" y="192"/>
                  </a:lnTo>
                  <a:lnTo>
                    <a:pt x="48" y="336"/>
                  </a:lnTo>
                  <a:lnTo>
                    <a:pt x="96" y="480"/>
                  </a:lnTo>
                  <a:lnTo>
                    <a:pt x="144" y="432"/>
                  </a:lnTo>
                  <a:lnTo>
                    <a:pt x="192" y="288"/>
                  </a:lnTo>
                  <a:lnTo>
                    <a:pt x="192" y="192"/>
                  </a:lnTo>
                  <a:lnTo>
                    <a:pt x="144" y="48"/>
                  </a:lnTo>
                  <a:lnTo>
                    <a:pt x="144" y="0"/>
                  </a:lnTo>
                  <a:lnTo>
                    <a:pt x="48" y="48"/>
                  </a:lnTo>
                  <a:close/>
                </a:path>
              </a:pathLst>
            </a:custGeom>
            <a:solidFill>
              <a:schemeClr val="accent1"/>
            </a:solidFill>
            <a:ln w="9525">
              <a:noFill/>
              <a:round/>
              <a:headEnd/>
              <a:tailEnd/>
            </a:ln>
            <a:effectLst/>
          </p:spPr>
          <p:txBody>
            <a:bodyPr/>
            <a:lstStyle/>
            <a:p>
              <a:endParaRPr lang="en-US"/>
            </a:p>
          </p:txBody>
        </p:sp>
      </p:grpSp>
      <p:sp>
        <p:nvSpPr>
          <p:cNvPr id="24" name="Title 23"/>
          <p:cNvSpPr>
            <a:spLocks noGrp="1"/>
          </p:cNvSpPr>
          <p:nvPr>
            <p:ph type="title"/>
          </p:nvPr>
        </p:nvSpPr>
        <p:spPr>
          <a:xfrm>
            <a:off x="152400" y="274638"/>
            <a:ext cx="8534400" cy="1143000"/>
          </a:xfrm>
        </p:spPr>
        <p:txBody>
          <a:bodyPr>
            <a:normAutofit/>
          </a:bodyPr>
          <a:lstStyle/>
          <a:p>
            <a:r>
              <a:rPr lang="en-US" sz="3600" dirty="0"/>
              <a:t>Two Basic Overlay Tools</a:t>
            </a:r>
          </a:p>
        </p:txBody>
      </p:sp>
      <p:sp>
        <p:nvSpPr>
          <p:cNvPr id="25" name="Content Placeholder 24"/>
          <p:cNvSpPr>
            <a:spLocks noGrp="1"/>
          </p:cNvSpPr>
          <p:nvPr>
            <p:ph idx="1"/>
          </p:nvPr>
        </p:nvSpPr>
        <p:spPr/>
        <p:txBody>
          <a:bodyPr/>
          <a:lstStyle/>
          <a:p>
            <a:pPr>
              <a:buNone/>
            </a:pPr>
            <a:r>
              <a:rPr 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04800" y="274638"/>
            <a:ext cx="8382000" cy="1143000"/>
          </a:xfrm>
        </p:spPr>
        <p:txBody>
          <a:bodyPr>
            <a:normAutofit/>
          </a:bodyPr>
          <a:lstStyle/>
          <a:p>
            <a:pPr eaLnBrk="1" hangingPunct="1">
              <a:defRPr/>
            </a:pPr>
            <a:r>
              <a:rPr lang="en-US" sz="3600" dirty="0"/>
              <a:t>Intersect</a:t>
            </a:r>
          </a:p>
        </p:txBody>
      </p:sp>
      <p:sp>
        <p:nvSpPr>
          <p:cNvPr id="11267" name="Rectangle 3"/>
          <p:cNvSpPr>
            <a:spLocks noGrp="1" noChangeArrowheads="1"/>
          </p:cNvSpPr>
          <p:nvPr>
            <p:ph idx="1"/>
          </p:nvPr>
        </p:nvSpPr>
        <p:spPr>
          <a:xfrm>
            <a:off x="457200" y="1600200"/>
            <a:ext cx="8229600" cy="2133600"/>
          </a:xfrm>
        </p:spPr>
        <p:txBody>
          <a:bodyPr/>
          <a:lstStyle/>
          <a:p>
            <a:pPr eaLnBrk="1" hangingPunct="1"/>
            <a:r>
              <a:rPr lang="en-US" dirty="0"/>
              <a:t>This tool builds a new feature class from the intersecting features common in both feature classes. </a:t>
            </a:r>
          </a:p>
        </p:txBody>
      </p:sp>
      <p:pic>
        <p:nvPicPr>
          <p:cNvPr id="11268" name="Picture 5" descr="Intersect illustration"/>
          <p:cNvPicPr>
            <a:picLocks noChangeAspect="1" noChangeArrowheads="1"/>
          </p:cNvPicPr>
          <p:nvPr/>
        </p:nvPicPr>
        <p:blipFill>
          <a:blip r:embed="rId2" cstate="print"/>
          <a:srcRect/>
          <a:stretch>
            <a:fillRect/>
          </a:stretch>
        </p:blipFill>
        <p:spPr bwMode="auto">
          <a:xfrm>
            <a:off x="2362200" y="3276600"/>
            <a:ext cx="5105400" cy="3048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0"/>
            <a:ext cx="8686800" cy="990600"/>
          </a:xfrm>
        </p:spPr>
        <p:txBody>
          <a:bodyPr>
            <a:normAutofit/>
          </a:bodyPr>
          <a:lstStyle/>
          <a:p>
            <a:pPr eaLnBrk="1" hangingPunct="1">
              <a:defRPr/>
            </a:pPr>
            <a:r>
              <a:rPr lang="en-US" sz="3600" dirty="0"/>
              <a:t>How Intersect Works</a:t>
            </a:r>
          </a:p>
        </p:txBody>
      </p:sp>
      <p:sp>
        <p:nvSpPr>
          <p:cNvPr id="12291" name="Rectangle 3"/>
          <p:cNvSpPr>
            <a:spLocks noGrp="1" noChangeArrowheads="1"/>
          </p:cNvSpPr>
          <p:nvPr>
            <p:ph idx="1"/>
          </p:nvPr>
        </p:nvSpPr>
        <p:spPr>
          <a:xfrm>
            <a:off x="457200" y="990600"/>
            <a:ext cx="8229600" cy="5715000"/>
          </a:xfrm>
        </p:spPr>
        <p:txBody>
          <a:bodyPr>
            <a:normAutofit/>
          </a:bodyPr>
          <a:lstStyle/>
          <a:p>
            <a:pPr eaLnBrk="1" hangingPunct="1">
              <a:lnSpc>
                <a:spcPct val="80000"/>
              </a:lnSpc>
            </a:pPr>
            <a:endParaRPr lang="en-US" sz="1600" b="1" dirty="0"/>
          </a:p>
          <a:p>
            <a:pPr eaLnBrk="1" hangingPunct="1">
              <a:lnSpc>
                <a:spcPct val="80000"/>
              </a:lnSpc>
            </a:pPr>
            <a:endParaRPr lang="en-US" sz="1800" dirty="0"/>
          </a:p>
          <a:p>
            <a:pPr eaLnBrk="1" hangingPunct="1">
              <a:lnSpc>
                <a:spcPct val="80000"/>
              </a:lnSpc>
            </a:pPr>
            <a:r>
              <a:rPr lang="en-US" sz="2000" dirty="0"/>
              <a:t>The Intersect tool calculates the geometric intersection of any number of </a:t>
            </a:r>
            <a:r>
              <a:rPr lang="en-US" sz="2000" b="1" dirty="0">
                <a:hlinkClick r:id="rId2"/>
              </a:rPr>
              <a:t>feature classes</a:t>
            </a:r>
            <a:r>
              <a:rPr lang="en-US" sz="2000" dirty="0"/>
              <a:t> and </a:t>
            </a:r>
            <a:r>
              <a:rPr lang="en-US" sz="2000" b="1" dirty="0">
                <a:hlinkClick r:id="rId3"/>
              </a:rPr>
              <a:t>feature layers</a:t>
            </a:r>
            <a:r>
              <a:rPr lang="en-US" sz="2000" dirty="0"/>
              <a:t>. The features or portion of features that are common to (intersect) all inputs will be written to the Output Feature Class.</a:t>
            </a:r>
          </a:p>
          <a:p>
            <a:pPr eaLnBrk="1" hangingPunct="1">
              <a:lnSpc>
                <a:spcPct val="80000"/>
              </a:lnSpc>
            </a:pPr>
            <a:endParaRPr lang="en-US" sz="2000" dirty="0"/>
          </a:p>
          <a:p>
            <a:pPr eaLnBrk="1" hangingPunct="1">
              <a:lnSpc>
                <a:spcPct val="80000"/>
              </a:lnSpc>
            </a:pPr>
            <a:r>
              <a:rPr lang="en-US" sz="2000" dirty="0"/>
              <a:t>Discovers geometric relationships (intersections) between features from all the feature classes or layers. </a:t>
            </a:r>
          </a:p>
          <a:p>
            <a:pPr eaLnBrk="1" hangingPunct="1">
              <a:lnSpc>
                <a:spcPct val="80000"/>
              </a:lnSpc>
            </a:pPr>
            <a:endParaRPr lang="en-US" sz="2000" dirty="0"/>
          </a:p>
          <a:p>
            <a:pPr eaLnBrk="1" hangingPunct="1">
              <a:lnSpc>
                <a:spcPct val="80000"/>
              </a:lnSpc>
            </a:pPr>
            <a:r>
              <a:rPr lang="en-US" sz="2000" dirty="0"/>
              <a:t>Writes these intersections as features (point, line, or polygon) to the output. </a:t>
            </a:r>
          </a:p>
          <a:p>
            <a:pPr eaLnBrk="1" hangingPunct="1">
              <a:lnSpc>
                <a:spcPct val="80000"/>
              </a:lnSpc>
            </a:pPr>
            <a:endParaRPr lang="en-US" sz="2000" dirty="0"/>
          </a:p>
          <a:p>
            <a:pPr eaLnBrk="1" hangingPunct="1">
              <a:lnSpc>
                <a:spcPct val="80000"/>
              </a:lnSpc>
            </a:pPr>
            <a:r>
              <a:rPr lang="en-US" sz="2000" dirty="0"/>
              <a:t>The inputs can be any combination of geometry types (point, multipoint, line, polygon).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228600"/>
            <a:ext cx="8686800" cy="762000"/>
          </a:xfrm>
        </p:spPr>
        <p:txBody>
          <a:bodyPr>
            <a:normAutofit/>
          </a:bodyPr>
          <a:lstStyle/>
          <a:p>
            <a:pPr eaLnBrk="1" hangingPunct="1">
              <a:defRPr/>
            </a:pPr>
            <a:r>
              <a:rPr lang="en-US" sz="3600" dirty="0"/>
              <a:t>Union</a:t>
            </a:r>
          </a:p>
        </p:txBody>
      </p:sp>
      <p:sp>
        <p:nvSpPr>
          <p:cNvPr id="13315" name="Rectangle 3"/>
          <p:cNvSpPr>
            <a:spLocks noGrp="1" noChangeArrowheads="1"/>
          </p:cNvSpPr>
          <p:nvPr>
            <p:ph idx="1"/>
          </p:nvPr>
        </p:nvSpPr>
        <p:spPr>
          <a:xfrm>
            <a:off x="457200" y="1143000"/>
            <a:ext cx="8229600" cy="2133600"/>
          </a:xfrm>
        </p:spPr>
        <p:txBody>
          <a:bodyPr/>
          <a:lstStyle/>
          <a:p>
            <a:pPr eaLnBrk="1" hangingPunct="1"/>
            <a:r>
              <a:rPr lang="en-US" dirty="0"/>
              <a:t>This tool builds a new feature class by combining the features and attributes of each feature class. </a:t>
            </a:r>
          </a:p>
        </p:txBody>
      </p:sp>
      <p:pic>
        <p:nvPicPr>
          <p:cNvPr id="13316" name="Picture 5" descr="Union illustration"/>
          <p:cNvPicPr>
            <a:picLocks noChangeAspect="1" noChangeArrowheads="1"/>
          </p:cNvPicPr>
          <p:nvPr/>
        </p:nvPicPr>
        <p:blipFill>
          <a:blip r:embed="rId2" cstate="print"/>
          <a:srcRect/>
          <a:stretch>
            <a:fillRect/>
          </a:stretch>
        </p:blipFill>
        <p:spPr bwMode="auto">
          <a:xfrm>
            <a:off x="1143000" y="3429000"/>
            <a:ext cx="6705600" cy="32766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8686800" cy="1143000"/>
          </a:xfrm>
        </p:spPr>
        <p:txBody>
          <a:bodyPr>
            <a:normAutofit/>
          </a:bodyPr>
          <a:lstStyle/>
          <a:p>
            <a:pPr eaLnBrk="1" hangingPunct="1">
              <a:defRPr/>
            </a:pPr>
            <a:r>
              <a:rPr lang="en-US" sz="3600" dirty="0"/>
              <a:t>How Union Works</a:t>
            </a:r>
          </a:p>
        </p:txBody>
      </p:sp>
      <p:sp>
        <p:nvSpPr>
          <p:cNvPr id="14339" name="Rectangle 3"/>
          <p:cNvSpPr>
            <a:spLocks noGrp="1" noChangeArrowheads="1"/>
          </p:cNvSpPr>
          <p:nvPr>
            <p:ph idx="1"/>
          </p:nvPr>
        </p:nvSpPr>
        <p:spPr>
          <a:xfrm>
            <a:off x="457200" y="1219200"/>
            <a:ext cx="8229600" cy="5410200"/>
          </a:xfrm>
        </p:spPr>
        <p:txBody>
          <a:bodyPr>
            <a:normAutofit lnSpcReduction="10000"/>
          </a:bodyPr>
          <a:lstStyle/>
          <a:p>
            <a:pPr eaLnBrk="1" hangingPunct="1">
              <a:lnSpc>
                <a:spcPct val="80000"/>
              </a:lnSpc>
            </a:pPr>
            <a:r>
              <a:rPr lang="en-US" sz="2000" dirty="0"/>
              <a:t>Union calculates the geometric intersection of any number of </a:t>
            </a:r>
            <a:r>
              <a:rPr lang="en-US" sz="2000" b="1" dirty="0">
                <a:hlinkClick r:id="rId2"/>
              </a:rPr>
              <a:t>feature classes</a:t>
            </a:r>
            <a:r>
              <a:rPr lang="en-US" sz="2000" dirty="0"/>
              <a:t> and </a:t>
            </a:r>
            <a:r>
              <a:rPr lang="en-US" sz="2000" b="1" dirty="0">
                <a:hlinkClick r:id="rId3"/>
              </a:rPr>
              <a:t>feature layers</a:t>
            </a:r>
            <a:r>
              <a:rPr lang="en-US" sz="2000" dirty="0"/>
              <a:t>. </a:t>
            </a:r>
          </a:p>
          <a:p>
            <a:pPr eaLnBrk="1" hangingPunct="1">
              <a:lnSpc>
                <a:spcPct val="80000"/>
              </a:lnSpc>
            </a:pPr>
            <a:endParaRPr lang="en-US" sz="2000" dirty="0"/>
          </a:p>
          <a:p>
            <a:pPr eaLnBrk="1" hangingPunct="1">
              <a:lnSpc>
                <a:spcPct val="80000"/>
              </a:lnSpc>
            </a:pPr>
            <a:r>
              <a:rPr lang="en-US" sz="2000" dirty="0"/>
              <a:t>All inputs must be of a common geometry type and the output will be of that same geometry type. This means that a number of polygon feature classes and feature layers can be unioned together. The output features will have the attributes of all the input features that they overlap. </a:t>
            </a:r>
          </a:p>
          <a:p>
            <a:pPr eaLnBrk="1" hangingPunct="1">
              <a:lnSpc>
                <a:spcPct val="80000"/>
              </a:lnSpc>
            </a:pPr>
            <a:endParaRPr lang="en-US" sz="2000" dirty="0"/>
          </a:p>
          <a:p>
            <a:pPr eaLnBrk="1" hangingPunct="1">
              <a:lnSpc>
                <a:spcPct val="80000"/>
              </a:lnSpc>
            </a:pPr>
            <a:r>
              <a:rPr lang="en-US" sz="2000" dirty="0"/>
              <a:t>Discovers geometric relationships (overlap) between features from all feature classes. </a:t>
            </a:r>
          </a:p>
          <a:p>
            <a:pPr eaLnBrk="1" hangingPunct="1">
              <a:lnSpc>
                <a:spcPct val="80000"/>
              </a:lnSpc>
            </a:pPr>
            <a:endParaRPr lang="en-US" sz="2000" dirty="0"/>
          </a:p>
          <a:p>
            <a:pPr eaLnBrk="1" hangingPunct="1">
              <a:lnSpc>
                <a:spcPct val="80000"/>
              </a:lnSpc>
            </a:pPr>
            <a:r>
              <a:rPr lang="en-US" sz="2000" dirty="0"/>
              <a:t>Writes the new features to the output. </a:t>
            </a:r>
          </a:p>
          <a:p>
            <a:pPr eaLnBrk="1" hangingPunct="1">
              <a:lnSpc>
                <a:spcPct val="80000"/>
              </a:lnSpc>
            </a:pPr>
            <a:endParaRPr lang="en-US" sz="2000" dirty="0"/>
          </a:p>
          <a:p>
            <a:pPr eaLnBrk="1" hangingPunct="1">
              <a:lnSpc>
                <a:spcPct val="80000"/>
              </a:lnSpc>
            </a:pPr>
            <a:r>
              <a:rPr lang="en-US" sz="2000" dirty="0"/>
              <a:t>Union will discover the overlap between features. The areas where features overlap will be separated into new features with all the attribute information of the input feature. </a:t>
            </a:r>
          </a:p>
          <a:p>
            <a:pPr eaLnBrk="1" hangingPunct="1">
              <a:lnSpc>
                <a:spcPct val="80000"/>
              </a:lnSpc>
              <a:buFontTx/>
              <a:buNone/>
            </a:pPr>
            <a:br>
              <a:rPr lang="en-US" sz="1400" dirty="0"/>
            </a:b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8686800" cy="1066800"/>
          </a:xfrm>
        </p:spPr>
        <p:txBody>
          <a:bodyPr>
            <a:normAutofit/>
          </a:bodyPr>
          <a:lstStyle/>
          <a:p>
            <a:pPr eaLnBrk="1" hangingPunct="1">
              <a:defRPr/>
            </a:pPr>
            <a:r>
              <a:rPr lang="en-US" sz="3600" dirty="0"/>
              <a:t>Identity</a:t>
            </a:r>
          </a:p>
        </p:txBody>
      </p:sp>
      <p:sp>
        <p:nvSpPr>
          <p:cNvPr id="15363" name="Rectangle 3"/>
          <p:cNvSpPr>
            <a:spLocks noGrp="1" noChangeArrowheads="1"/>
          </p:cNvSpPr>
          <p:nvPr>
            <p:ph idx="1"/>
          </p:nvPr>
        </p:nvSpPr>
        <p:spPr>
          <a:xfrm>
            <a:off x="457200" y="1219200"/>
            <a:ext cx="8229600" cy="1447800"/>
          </a:xfrm>
        </p:spPr>
        <p:txBody>
          <a:bodyPr>
            <a:normAutofit fontScale="92500" lnSpcReduction="10000"/>
          </a:bodyPr>
          <a:lstStyle/>
          <a:p>
            <a:pPr eaLnBrk="1" hangingPunct="1"/>
            <a:r>
              <a:rPr lang="en-US" sz="2800" dirty="0"/>
              <a:t>This tool combines the portions of features that overlap the identity features to create a new feature class. </a:t>
            </a:r>
          </a:p>
        </p:txBody>
      </p:sp>
      <p:pic>
        <p:nvPicPr>
          <p:cNvPr id="15364" name="Picture 5" descr="Identity illustration"/>
          <p:cNvPicPr>
            <a:picLocks noChangeAspect="1" noChangeArrowheads="1"/>
          </p:cNvPicPr>
          <p:nvPr/>
        </p:nvPicPr>
        <p:blipFill>
          <a:blip r:embed="rId2" cstate="print"/>
          <a:srcRect/>
          <a:stretch>
            <a:fillRect/>
          </a:stretch>
        </p:blipFill>
        <p:spPr bwMode="auto">
          <a:xfrm>
            <a:off x="1219200" y="2971800"/>
            <a:ext cx="6553200" cy="33528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0" y="0"/>
            <a:ext cx="8686800" cy="1143000"/>
          </a:xfrm>
        </p:spPr>
        <p:txBody>
          <a:bodyPr>
            <a:normAutofit/>
          </a:bodyPr>
          <a:lstStyle/>
          <a:p>
            <a:pPr eaLnBrk="1" hangingPunct="1">
              <a:defRPr/>
            </a:pPr>
            <a:r>
              <a:rPr lang="en-US" sz="3600" dirty="0"/>
              <a:t>Erase</a:t>
            </a:r>
          </a:p>
        </p:txBody>
      </p:sp>
      <p:sp>
        <p:nvSpPr>
          <p:cNvPr id="17411" name="Rectangle 3"/>
          <p:cNvSpPr>
            <a:spLocks noGrp="1" noChangeArrowheads="1"/>
          </p:cNvSpPr>
          <p:nvPr>
            <p:ph idx="1"/>
          </p:nvPr>
        </p:nvSpPr>
        <p:spPr/>
        <p:txBody>
          <a:bodyPr/>
          <a:lstStyle/>
          <a:p>
            <a:pPr eaLnBrk="1" hangingPunct="1"/>
            <a:r>
              <a:rPr lang="en-US" dirty="0"/>
              <a:t>This tool creates a feature class from those features or portions of features outside the erase feature class. </a:t>
            </a:r>
          </a:p>
        </p:txBody>
      </p:sp>
      <p:pic>
        <p:nvPicPr>
          <p:cNvPr id="17412" name="Picture 5" descr="Erase illustration"/>
          <p:cNvPicPr>
            <a:picLocks noChangeAspect="1" noChangeArrowheads="1"/>
          </p:cNvPicPr>
          <p:nvPr/>
        </p:nvPicPr>
        <p:blipFill>
          <a:blip r:embed="rId2" cstate="print"/>
          <a:srcRect/>
          <a:stretch>
            <a:fillRect/>
          </a:stretch>
        </p:blipFill>
        <p:spPr bwMode="auto">
          <a:xfrm>
            <a:off x="914400" y="3733800"/>
            <a:ext cx="7010400" cy="27432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8229600" cy="1066800"/>
          </a:xfrm>
        </p:spPr>
        <p:txBody>
          <a:bodyPr>
            <a:normAutofit/>
          </a:bodyPr>
          <a:lstStyle/>
          <a:p>
            <a:pPr eaLnBrk="1" hangingPunct="1">
              <a:defRPr/>
            </a:pPr>
            <a:r>
              <a:rPr lang="en-US" sz="3600" dirty="0"/>
              <a:t>Symmetrical Difference</a:t>
            </a:r>
          </a:p>
        </p:txBody>
      </p:sp>
      <p:sp>
        <p:nvSpPr>
          <p:cNvPr id="18435" name="Rectangle 3"/>
          <p:cNvSpPr>
            <a:spLocks noGrp="1" noChangeArrowheads="1"/>
          </p:cNvSpPr>
          <p:nvPr>
            <p:ph idx="1"/>
          </p:nvPr>
        </p:nvSpPr>
        <p:spPr/>
        <p:txBody>
          <a:bodyPr/>
          <a:lstStyle/>
          <a:p>
            <a:pPr eaLnBrk="1" hangingPunct="1"/>
            <a:r>
              <a:rPr lang="en-US" dirty="0"/>
              <a:t>This tool creates a feature class from those features or portions of features that are not common to any of the other inputs. </a:t>
            </a:r>
          </a:p>
        </p:txBody>
      </p:sp>
      <p:pic>
        <p:nvPicPr>
          <p:cNvPr id="18436" name="Picture 5" descr="Symmetrical Difference illustration"/>
          <p:cNvPicPr>
            <a:picLocks noChangeAspect="1" noChangeArrowheads="1"/>
          </p:cNvPicPr>
          <p:nvPr/>
        </p:nvPicPr>
        <p:blipFill>
          <a:blip r:embed="rId2" cstate="print"/>
          <a:srcRect/>
          <a:stretch>
            <a:fillRect/>
          </a:stretch>
        </p:blipFill>
        <p:spPr bwMode="auto">
          <a:xfrm>
            <a:off x="914400" y="3733800"/>
            <a:ext cx="7239000" cy="28956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9144000" cy="1143000"/>
          </a:xfrm>
        </p:spPr>
        <p:txBody>
          <a:bodyPr>
            <a:normAutofit/>
          </a:bodyPr>
          <a:lstStyle/>
          <a:p>
            <a:pPr eaLnBrk="1" hangingPunct="1">
              <a:defRPr/>
            </a:pPr>
            <a:r>
              <a:rPr lang="en-US" sz="3600" dirty="0"/>
              <a:t>Clip:  Very Helpful! </a:t>
            </a:r>
          </a:p>
        </p:txBody>
      </p:sp>
      <p:sp>
        <p:nvSpPr>
          <p:cNvPr id="23555" name="Rectangle 3"/>
          <p:cNvSpPr>
            <a:spLocks noGrp="1" noChangeArrowheads="1"/>
          </p:cNvSpPr>
          <p:nvPr>
            <p:ph idx="1"/>
          </p:nvPr>
        </p:nvSpPr>
        <p:spPr>
          <a:xfrm>
            <a:off x="457200" y="1600200"/>
            <a:ext cx="8229600" cy="2362200"/>
          </a:xfrm>
        </p:spPr>
        <p:txBody>
          <a:bodyPr>
            <a:normAutofit lnSpcReduction="10000"/>
          </a:bodyPr>
          <a:lstStyle/>
          <a:p>
            <a:pPr eaLnBrk="1" hangingPunct="1">
              <a:lnSpc>
                <a:spcPct val="80000"/>
              </a:lnSpc>
            </a:pPr>
            <a:r>
              <a:rPr lang="en-US" sz="2400" dirty="0"/>
              <a:t>Extracts those features or portions of features from an input feature class that overlap with a clip feature class. </a:t>
            </a:r>
          </a:p>
          <a:p>
            <a:pPr eaLnBrk="1" hangingPunct="1">
              <a:lnSpc>
                <a:spcPct val="80000"/>
              </a:lnSpc>
            </a:pPr>
            <a:endParaRPr lang="en-US" sz="2400" dirty="0"/>
          </a:p>
          <a:p>
            <a:pPr eaLnBrk="1" hangingPunct="1">
              <a:lnSpc>
                <a:spcPct val="80000"/>
              </a:lnSpc>
            </a:pPr>
            <a:r>
              <a:rPr lang="en-US" sz="2400" dirty="0"/>
              <a:t>The Clip tool is similar to the Intersect tool, however, the Clip tool does not transfer any attributes from the clip feature class to the output. </a:t>
            </a:r>
          </a:p>
        </p:txBody>
      </p:sp>
      <p:pic>
        <p:nvPicPr>
          <p:cNvPr id="23556" name="Picture 5" descr="Clip illustration"/>
          <p:cNvPicPr>
            <a:picLocks noChangeAspect="1" noChangeArrowheads="1"/>
          </p:cNvPicPr>
          <p:nvPr/>
        </p:nvPicPr>
        <p:blipFill>
          <a:blip r:embed="rId2" cstate="print"/>
          <a:srcRect/>
          <a:stretch>
            <a:fillRect/>
          </a:stretch>
        </p:blipFill>
        <p:spPr bwMode="auto">
          <a:xfrm>
            <a:off x="838200" y="3733800"/>
            <a:ext cx="7620000" cy="284638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6200" y="274638"/>
            <a:ext cx="8610600" cy="868362"/>
          </a:xfrm>
        </p:spPr>
        <p:txBody>
          <a:bodyPr>
            <a:normAutofit/>
          </a:bodyPr>
          <a:lstStyle/>
          <a:p>
            <a:pPr eaLnBrk="1" hangingPunct="1">
              <a:defRPr/>
            </a:pPr>
            <a:r>
              <a:rPr lang="en-US" sz="3600" dirty="0"/>
              <a:t>Split</a:t>
            </a:r>
          </a:p>
        </p:txBody>
      </p:sp>
      <p:sp>
        <p:nvSpPr>
          <p:cNvPr id="25603" name="Rectangle 3"/>
          <p:cNvSpPr>
            <a:spLocks noGrp="1" noChangeArrowheads="1"/>
          </p:cNvSpPr>
          <p:nvPr>
            <p:ph idx="1"/>
          </p:nvPr>
        </p:nvSpPr>
        <p:spPr/>
        <p:txBody>
          <a:bodyPr/>
          <a:lstStyle/>
          <a:p>
            <a:pPr eaLnBrk="1" hangingPunct="1"/>
            <a:r>
              <a:rPr lang="en-US" dirty="0"/>
              <a:t>The spatial extraction of features by clipping portions of the input feature class into multiple feature classes. </a:t>
            </a:r>
          </a:p>
        </p:txBody>
      </p:sp>
      <p:pic>
        <p:nvPicPr>
          <p:cNvPr id="25604" name="Picture 5" descr="Split illustration"/>
          <p:cNvPicPr>
            <a:picLocks noChangeAspect="1" noChangeArrowheads="1"/>
          </p:cNvPicPr>
          <p:nvPr/>
        </p:nvPicPr>
        <p:blipFill>
          <a:blip r:embed="rId2" cstate="print"/>
          <a:srcRect/>
          <a:stretch>
            <a:fillRect/>
          </a:stretch>
        </p:blipFill>
        <p:spPr bwMode="auto">
          <a:xfrm>
            <a:off x="990600" y="3579813"/>
            <a:ext cx="7391400" cy="3278187"/>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defRPr/>
            </a:pPr>
            <a:r>
              <a:rPr lang="en-US"/>
              <a:t>Near</a:t>
            </a:r>
          </a:p>
        </p:txBody>
      </p:sp>
      <p:sp>
        <p:nvSpPr>
          <p:cNvPr id="30723" name="Rectangle 3"/>
          <p:cNvSpPr>
            <a:spLocks noGrp="1" noChangeArrowheads="1"/>
          </p:cNvSpPr>
          <p:nvPr>
            <p:ph idx="1"/>
          </p:nvPr>
        </p:nvSpPr>
        <p:spPr>
          <a:xfrm>
            <a:off x="457200" y="1600200"/>
            <a:ext cx="8229600" cy="1676400"/>
          </a:xfrm>
        </p:spPr>
        <p:txBody>
          <a:bodyPr/>
          <a:lstStyle/>
          <a:p>
            <a:pPr eaLnBrk="1" hangingPunct="1">
              <a:lnSpc>
                <a:spcPct val="90000"/>
              </a:lnSpc>
            </a:pPr>
            <a:r>
              <a:rPr lang="en-US" sz="2800" dirty="0"/>
              <a:t>Computes the distance from each point in a feature class to the nearest line or point in another feature class.</a:t>
            </a:r>
          </a:p>
        </p:txBody>
      </p:sp>
      <p:pic>
        <p:nvPicPr>
          <p:cNvPr id="30724" name="Picture 5" descr="Near illustration"/>
          <p:cNvPicPr>
            <a:picLocks noChangeAspect="1" noChangeArrowheads="1"/>
          </p:cNvPicPr>
          <p:nvPr/>
        </p:nvPicPr>
        <p:blipFill>
          <a:blip r:embed="rId2" cstate="print"/>
          <a:srcRect/>
          <a:stretch>
            <a:fillRect/>
          </a:stretch>
        </p:blipFill>
        <p:spPr bwMode="auto">
          <a:xfrm>
            <a:off x="2590800" y="2895600"/>
            <a:ext cx="5791200" cy="368141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274638"/>
            <a:ext cx="8458200" cy="1143000"/>
          </a:xfrm>
        </p:spPr>
        <p:txBody>
          <a:bodyPr/>
          <a:lstStyle/>
          <a:p>
            <a:r>
              <a:rPr lang="en-US" dirty="0"/>
              <a:t>Common Errors</a:t>
            </a:r>
          </a:p>
        </p:txBody>
      </p:sp>
      <p:sp>
        <p:nvSpPr>
          <p:cNvPr id="2" name="Content Placeholder 1"/>
          <p:cNvSpPr>
            <a:spLocks noGrp="1"/>
          </p:cNvSpPr>
          <p:nvPr>
            <p:ph idx="1"/>
          </p:nvPr>
        </p:nvSpPr>
        <p:spPr/>
        <p:txBody>
          <a:bodyPr>
            <a:normAutofit fontScale="92500" lnSpcReduction="20000"/>
          </a:bodyPr>
          <a:lstStyle/>
          <a:p>
            <a:r>
              <a:rPr lang="en-US" dirty="0"/>
              <a:t>One-to-many, vs. one-to-one joins</a:t>
            </a:r>
          </a:p>
          <a:p>
            <a:endParaRPr lang="en-US" dirty="0"/>
          </a:p>
          <a:p>
            <a:r>
              <a:rPr lang="en-US" dirty="0"/>
              <a:t>Intend a one-to-one join</a:t>
            </a:r>
          </a:p>
          <a:p>
            <a:pPr lvl="1"/>
            <a:r>
              <a:rPr lang="en-US" dirty="0"/>
              <a:t>Result is a one-to-many join</a:t>
            </a:r>
          </a:p>
          <a:p>
            <a:pPr lvl="1"/>
            <a:endParaRPr lang="en-US" dirty="0"/>
          </a:p>
          <a:p>
            <a:endParaRPr lang="en-US" dirty="0"/>
          </a:p>
          <a:p>
            <a:r>
              <a:rPr lang="en-US" dirty="0"/>
              <a:t>Be careful with islands</a:t>
            </a:r>
          </a:p>
          <a:p>
            <a:pPr lvl="1"/>
            <a:r>
              <a:rPr lang="en-US" dirty="0"/>
              <a:t>Every polygon in a shapefile gets a record, even if it belongs to the same unit</a:t>
            </a:r>
          </a:p>
          <a:p>
            <a:pPr lvl="1">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diagram&#10;&#10;AI-generated content may be incorrect.">
            <a:extLst>
              <a:ext uri="{FF2B5EF4-FFF2-40B4-BE49-F238E27FC236}">
                <a16:creationId xmlns:a16="http://schemas.microsoft.com/office/drawing/2014/main" id="{50CCEF9B-E3A4-3BD3-50CA-3830EA4FD3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214" y="228600"/>
            <a:ext cx="5207793" cy="5503782"/>
          </a:xfrm>
        </p:spPr>
      </p:pic>
      <p:pic>
        <p:nvPicPr>
          <p:cNvPr id="7" name="Picture 6" descr="A map with arrows pointing to the location of a certain joint&#10;&#10;AI-generated content may be incorrect.">
            <a:extLst>
              <a:ext uri="{FF2B5EF4-FFF2-40B4-BE49-F238E27FC236}">
                <a16:creationId xmlns:a16="http://schemas.microsoft.com/office/drawing/2014/main" id="{7AEB7BAA-EAC2-73E0-7703-3D9F8C91E4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5007" y="2117126"/>
            <a:ext cx="3785579" cy="2123754"/>
          </a:xfrm>
          <a:prstGeom prst="rect">
            <a:avLst/>
          </a:prstGeom>
        </p:spPr>
      </p:pic>
    </p:spTree>
    <p:extLst>
      <p:ext uri="{BB962C8B-B14F-4D97-AF65-F5344CB8AC3E}">
        <p14:creationId xmlns:p14="http://schemas.microsoft.com/office/powerpoint/2010/main" val="1447944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Single Parts vs. Multiple Parts</a:t>
            </a:r>
          </a:p>
        </p:txBody>
      </p:sp>
      <p:sp>
        <p:nvSpPr>
          <p:cNvPr id="4" name="TextBox 4"/>
          <p:cNvSpPr txBox="1">
            <a:spLocks noGrp="1" noChangeArrowheads="1"/>
          </p:cNvSpPr>
          <p:nvPr>
            <p:ph idx="1"/>
          </p:nvPr>
        </p:nvSpPr>
        <p:spPr bwMode="auto">
          <a:xfrm>
            <a:off x="457200" y="1481328"/>
            <a:ext cx="8229600" cy="3621504"/>
          </a:xfrm>
          <a:prstGeom prst="rect">
            <a:avLst/>
          </a:prstGeom>
          <a:noFill/>
          <a:ln w="9525">
            <a:noFill/>
            <a:miter lim="800000"/>
            <a:headEnd/>
            <a:tailEnd/>
          </a:ln>
        </p:spPr>
        <p:txBody>
          <a:bodyPr>
            <a:spAutoFit/>
          </a:bodyPr>
          <a:lstStyle/>
          <a:p>
            <a:r>
              <a:rPr lang="en-US" sz="2400" dirty="0"/>
              <a:t>If there are islands, a unit (state, province) must be drawn as a </a:t>
            </a:r>
            <a:r>
              <a:rPr lang="en-US" sz="2400" i="1" u="sng" dirty="0"/>
              <a:t>multi-part feature</a:t>
            </a:r>
            <a:r>
              <a:rPr lang="en-US" sz="2400" dirty="0"/>
              <a:t> in the shapefile (the spatial data)</a:t>
            </a:r>
          </a:p>
          <a:p>
            <a:endParaRPr lang="en-US" sz="2400" dirty="0"/>
          </a:p>
          <a:p>
            <a:r>
              <a:rPr lang="en-US" sz="2400" dirty="0"/>
              <a:t>Then there will be only </a:t>
            </a:r>
            <a:r>
              <a:rPr lang="en-US" sz="2400" u="sng" dirty="0"/>
              <a:t>one</a:t>
            </a:r>
            <a:r>
              <a:rPr lang="en-US" sz="2400" dirty="0"/>
              <a:t> row in the attribute table</a:t>
            </a:r>
          </a:p>
          <a:p>
            <a:endParaRPr lang="en-US" sz="2400" dirty="0"/>
          </a:p>
          <a:p>
            <a:r>
              <a:rPr lang="en-US" sz="2400" dirty="0"/>
              <a:t>If each island is drawn as a separate feature,  there will be </a:t>
            </a:r>
            <a:r>
              <a:rPr lang="en-US" sz="2400" u="sng" dirty="0"/>
              <a:t>multiple rows</a:t>
            </a:r>
            <a:r>
              <a:rPr lang="en-US" sz="2400" dirty="0"/>
              <a:t> in the attribute table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Multi-Part vs. Single-Part</a:t>
            </a:r>
          </a:p>
        </p:txBody>
      </p:sp>
      <p:graphicFrame>
        <p:nvGraphicFramePr>
          <p:cNvPr id="1026" name="Object 2"/>
          <p:cNvGraphicFramePr>
            <a:graphicFrameLocks noGrp="1" noChangeAspect="1"/>
          </p:cNvGraphicFramePr>
          <p:nvPr>
            <p:ph idx="1"/>
          </p:nvPr>
        </p:nvGraphicFramePr>
        <p:xfrm>
          <a:off x="533400" y="1524000"/>
          <a:ext cx="3648075" cy="2019300"/>
        </p:xfrm>
        <a:graphic>
          <a:graphicData uri="http://schemas.openxmlformats.org/presentationml/2006/ole">
            <mc:AlternateContent xmlns:mc="http://schemas.openxmlformats.org/markup-compatibility/2006">
              <mc:Choice xmlns:v="urn:schemas-microsoft-com:vml" Requires="v">
                <p:oleObj name="Worksheet" r:id="rId2" imgW="3648078" imgH="2019171" progId="Excel.Sheet.8">
                  <p:embed/>
                </p:oleObj>
              </mc:Choice>
              <mc:Fallback>
                <p:oleObj name="Worksheet" r:id="rId2" imgW="3648078" imgH="2019171" progId="Excel.Shee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524000"/>
                        <a:ext cx="3648075" cy="201930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ChangeAspect="1"/>
          </p:cNvGraphicFramePr>
          <p:nvPr/>
        </p:nvGraphicFramePr>
        <p:xfrm>
          <a:off x="4038600" y="3810000"/>
          <a:ext cx="4924425" cy="2528888"/>
        </p:xfrm>
        <a:graphic>
          <a:graphicData uri="http://schemas.openxmlformats.org/presentationml/2006/ole">
            <mc:AlternateContent xmlns:mc="http://schemas.openxmlformats.org/markup-compatibility/2006">
              <mc:Choice xmlns:v="urn:schemas-microsoft-com:vml" Requires="v">
                <p:oleObj name="Worksheet" r:id="rId4" imgW="4933905" imgH="2533560" progId="Excel.Sheet.8">
                  <p:embed/>
                </p:oleObj>
              </mc:Choice>
              <mc:Fallback>
                <p:oleObj name="Worksheet" r:id="rId4" imgW="4933905" imgH="2533560" progId="Excel.Shee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3810000"/>
                        <a:ext cx="4924425" cy="2528888"/>
                      </a:xfrm>
                      <a:prstGeom prst="rect">
                        <a:avLst/>
                      </a:prstGeom>
                      <a:noFill/>
                      <a:ln w="25400">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5"/>
          <p:cNvSpPr txBox="1"/>
          <p:nvPr/>
        </p:nvSpPr>
        <p:spPr>
          <a:xfrm>
            <a:off x="1371600" y="4724400"/>
            <a:ext cx="2424062" cy="646331"/>
          </a:xfrm>
          <a:prstGeom prst="rect">
            <a:avLst/>
          </a:prstGeom>
          <a:noFill/>
        </p:spPr>
        <p:txBody>
          <a:bodyPr wrap="none" rtlCol="0">
            <a:spAutoFit/>
          </a:bodyPr>
          <a:lstStyle/>
          <a:p>
            <a:r>
              <a:rPr lang="en-US" dirty="0"/>
              <a:t>Note the population</a:t>
            </a:r>
          </a:p>
          <a:p>
            <a:r>
              <a:rPr lang="en-US" dirty="0"/>
              <a:t>sum is wrong here</a:t>
            </a:r>
          </a:p>
        </p:txBody>
      </p:sp>
      <p:sp>
        <p:nvSpPr>
          <p:cNvPr id="7" name="Right Arrow 6"/>
          <p:cNvSpPr/>
          <p:nvPr/>
        </p:nvSpPr>
        <p:spPr>
          <a:xfrm>
            <a:off x="2286000" y="5410200"/>
            <a:ext cx="1524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495800" y="1905000"/>
            <a:ext cx="4645938" cy="923330"/>
          </a:xfrm>
          <a:prstGeom prst="rect">
            <a:avLst/>
          </a:prstGeom>
          <a:noFill/>
        </p:spPr>
        <p:txBody>
          <a:bodyPr wrap="square" rtlCol="0">
            <a:spAutoFit/>
          </a:bodyPr>
          <a:lstStyle/>
          <a:p>
            <a:r>
              <a:rPr lang="en-US" dirty="0"/>
              <a:t>We join the state population figures to</a:t>
            </a:r>
          </a:p>
          <a:p>
            <a:r>
              <a:rPr lang="en-US" dirty="0"/>
              <a:t>a file of states, here to a multi-part </a:t>
            </a:r>
          </a:p>
          <a:p>
            <a:r>
              <a:rPr lang="en-US" dirty="0"/>
              <a:t>shapefile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Merge and Single-to-Multi-part Commands</a:t>
            </a:r>
          </a:p>
        </p:txBody>
      </p:sp>
      <p:sp>
        <p:nvSpPr>
          <p:cNvPr id="2" name="Content Placeholder 1"/>
          <p:cNvSpPr>
            <a:spLocks noGrp="1"/>
          </p:cNvSpPr>
          <p:nvPr>
            <p:ph idx="1"/>
          </p:nvPr>
        </p:nvSpPr>
        <p:spPr/>
        <p:txBody>
          <a:bodyPr>
            <a:normAutofit lnSpcReduction="10000"/>
          </a:bodyPr>
          <a:lstStyle/>
          <a:p>
            <a:r>
              <a:rPr lang="en-US" dirty="0"/>
              <a:t>Merge – takes single-part features and merges to multi-part</a:t>
            </a:r>
          </a:p>
          <a:p>
            <a:endParaRPr lang="en-US" dirty="0"/>
          </a:p>
          <a:p>
            <a:r>
              <a:rPr lang="en-US" dirty="0"/>
              <a:t>Explode – goes from multi- to single, making the parts of multi-part features independent</a:t>
            </a:r>
          </a:p>
          <a:p>
            <a:endParaRPr lang="en-US" dirty="0"/>
          </a:p>
          <a:p>
            <a:r>
              <a:rPr lang="en-US" dirty="0"/>
              <a:t>These work on all features in a layer rather than just selected features when used via the geoprocessing tools in QGIS</a:t>
            </a:r>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EsriMapsInfo xmlns="ESRI.ArcGIS.Mapping.OfficeIntegration.PowerPointInfo">
  <Version>Version1</Version>
  <RequiresSignIn>False</RequiresSignIn>
</EsriMapsInfo>
</file>

<file path=customXml/itemProps1.xml><?xml version="1.0" encoding="utf-8"?>
<ds:datastoreItem xmlns:ds="http://schemas.openxmlformats.org/officeDocument/2006/customXml" ds:itemID="{5707AD11-E9B4-40D9-A4BD-3B6FA493ECA9}">
  <ds:schemaRefs>
    <ds:schemaRef ds:uri="ESRI.ArcGIS.Mapping.OfficeIntegration.PowerPointInfo"/>
  </ds:schemaRefs>
</ds:datastoreItem>
</file>

<file path=docProps/app.xml><?xml version="1.0" encoding="utf-8"?>
<Properties xmlns="http://schemas.openxmlformats.org/officeDocument/2006/extended-properties" xmlns:vt="http://schemas.openxmlformats.org/officeDocument/2006/docPropsVTypes">
  <Template>Droplet</Template>
  <TotalTime>1044</TotalTime>
  <Words>1171</Words>
  <Application>Microsoft Macintosh PowerPoint</Application>
  <PresentationFormat>On-screen Show (4:3)</PresentationFormat>
  <Paragraphs>182</Paragraphs>
  <Slides>27</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27</vt:i4>
      </vt:variant>
    </vt:vector>
  </HeadingPairs>
  <TitlesOfParts>
    <vt:vector size="34" baseType="lpstr">
      <vt:lpstr>Arial</vt:lpstr>
      <vt:lpstr>Calibri</vt:lpstr>
      <vt:lpstr>Times New Roman</vt:lpstr>
      <vt:lpstr>Tw Cen MT</vt:lpstr>
      <vt:lpstr>Droplet</vt:lpstr>
      <vt:lpstr>Bitmap Image</vt:lpstr>
      <vt:lpstr>Worksheet</vt:lpstr>
      <vt:lpstr>GIS and spatial analytics</vt:lpstr>
      <vt:lpstr>Today:</vt:lpstr>
      <vt:lpstr>Overview of Census Shapefiles </vt:lpstr>
      <vt:lpstr>We Link Shapes with Attributes</vt:lpstr>
      <vt:lpstr>Example</vt:lpstr>
      <vt:lpstr>Spatial Data Description and Management</vt:lpstr>
      <vt:lpstr>Common Spatial Analysis Tools</vt:lpstr>
      <vt:lpstr>Adding Spatial Layers</vt:lpstr>
      <vt:lpstr>Spatial Overlays</vt:lpstr>
      <vt:lpstr>Examples:</vt:lpstr>
      <vt:lpstr>Important Map Overlay Tools</vt:lpstr>
      <vt:lpstr>Two Basic Overlay Tools</vt:lpstr>
      <vt:lpstr>Intersect</vt:lpstr>
      <vt:lpstr>How Intersect Works</vt:lpstr>
      <vt:lpstr>Union</vt:lpstr>
      <vt:lpstr>How Union Works</vt:lpstr>
      <vt:lpstr>Identity</vt:lpstr>
      <vt:lpstr>Erase</vt:lpstr>
      <vt:lpstr>Symmetrical Difference</vt:lpstr>
      <vt:lpstr>Clip:  Very Helpful! </vt:lpstr>
      <vt:lpstr>Split</vt:lpstr>
      <vt:lpstr>Near</vt:lpstr>
      <vt:lpstr>Common Errors</vt:lpstr>
      <vt:lpstr>PowerPoint Presentation</vt:lpstr>
      <vt:lpstr>Single Parts vs. Multiple Parts</vt:lpstr>
      <vt:lpstr>Multi-Part vs. Single-Part</vt:lpstr>
      <vt:lpstr>Merge and Single-to-Multi-part Commands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GIS and Social Science Research</dc:title>
  <dc:creator>Author</dc:creator>
  <cp:lastModifiedBy>Edwin Grimsley</cp:lastModifiedBy>
  <cp:revision>53</cp:revision>
  <dcterms:created xsi:type="dcterms:W3CDTF">2011-09-26T13:56:03Z</dcterms:created>
  <dcterms:modified xsi:type="dcterms:W3CDTF">2026-02-10T17:09:52Z</dcterms:modified>
</cp:coreProperties>
</file>