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8" r:id="rId1"/>
  </p:sldMasterIdLst>
  <p:notesMasterIdLst>
    <p:notesMasterId r:id="rId39"/>
  </p:notesMasterIdLst>
  <p:sldIdLst>
    <p:sldId id="256" r:id="rId2"/>
    <p:sldId id="300" r:id="rId3"/>
    <p:sldId id="314" r:id="rId4"/>
    <p:sldId id="316" r:id="rId5"/>
    <p:sldId id="322" r:id="rId6"/>
    <p:sldId id="326" r:id="rId7"/>
    <p:sldId id="262" r:id="rId8"/>
    <p:sldId id="304" r:id="rId9"/>
    <p:sldId id="327" r:id="rId10"/>
    <p:sldId id="258" r:id="rId11"/>
    <p:sldId id="267" r:id="rId12"/>
    <p:sldId id="270" r:id="rId13"/>
    <p:sldId id="271" r:id="rId14"/>
    <p:sldId id="288" r:id="rId15"/>
    <p:sldId id="289" r:id="rId16"/>
    <p:sldId id="285" r:id="rId17"/>
    <p:sldId id="284" r:id="rId18"/>
    <p:sldId id="295" r:id="rId19"/>
    <p:sldId id="296" r:id="rId20"/>
    <p:sldId id="294"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43"/>
    <p:restoredTop sz="94673"/>
  </p:normalViewPr>
  <p:slideViewPr>
    <p:cSldViewPr>
      <p:cViewPr varScale="1">
        <p:scale>
          <a:sx n="107" d="100"/>
          <a:sy n="107" d="100"/>
        </p:scale>
        <p:origin x="744" y="176"/>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5153FF9-58DC-4866-BA34-588FC57ECD05}" type="datetimeFigureOut">
              <a:rPr lang="en-US" smtClean="0"/>
              <a:t>9/16/24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889072-7365-4511-AB37-D013CF61EF89}" type="slidenum">
              <a:rPr lang="en-US" smtClean="0"/>
              <a:t>‹#›</a:t>
            </a:fld>
            <a:endParaRPr lang="en-US"/>
          </a:p>
        </p:txBody>
      </p:sp>
    </p:spTree>
    <p:extLst>
      <p:ext uri="{BB962C8B-B14F-4D97-AF65-F5344CB8AC3E}">
        <p14:creationId xmlns:p14="http://schemas.microsoft.com/office/powerpoint/2010/main" val="233268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3F7AF0-E741-4DB8-BE67-ADB8AD26F3FC}" type="slidenum">
              <a:rPr lang="en-US"/>
              <a:pPr/>
              <a:t>3</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r>
              <a:rPr lang="en-US" dirty="0"/>
              <a:t>degrees-minutes-seconds (DMS), MSEC GPS result: 34</a:t>
            </a:r>
            <a:r>
              <a:rPr lang="en-US" dirty="0">
                <a:cs typeface="Arial" charset="0"/>
              </a:rPr>
              <a:t>º04'04.270" N, 106º54'20.870 “ W</a:t>
            </a:r>
          </a:p>
          <a:p>
            <a:r>
              <a:rPr lang="en-US" dirty="0"/>
              <a:t>decimal degrees (DD): 34.06785 N, 106.90580 W </a:t>
            </a:r>
          </a:p>
          <a:p>
            <a:endParaRPr lang="en-US" dirty="0"/>
          </a:p>
          <a:p>
            <a:r>
              <a:rPr lang="en-US" dirty="0"/>
              <a:t>Parallels are parallel and spaced equally on meridians. Meridians and other arcs of great circles are straight lines (if looked at perpendicularly to the Earth's surface). Meridians converge toward the poles and diverge toward the Equator.</a:t>
            </a:r>
          </a:p>
          <a:p>
            <a:endParaRPr lang="en-US" dirty="0"/>
          </a:p>
          <a:p>
            <a:r>
              <a:rPr lang="en-US" dirty="0"/>
              <a:t>Meridians are equally spaced on the parallels, but their distances apart decreases from the Equator to the poles. At the Equator, meridians are spaced the same as parallels. Meridians at 60° are half as far apart as parallels. Parallels and meridians cross at right angles. The area of the surface bounded by any two parallels and any two meridians (a given distance apart) is the same anywhere between the same two parallels.</a:t>
            </a:r>
          </a:p>
          <a:p>
            <a:endParaRPr lang="en-US" dirty="0"/>
          </a:p>
          <a:p>
            <a:r>
              <a:rPr lang="en-US" dirty="0"/>
              <a:t>The scale factor at each point is the same in any direction.</a:t>
            </a:r>
          </a:p>
        </p:txBody>
      </p:sp>
    </p:spTree>
    <p:extLst>
      <p:ext uri="{BB962C8B-B14F-4D97-AF65-F5344CB8AC3E}">
        <p14:creationId xmlns:p14="http://schemas.microsoft.com/office/powerpoint/2010/main" val="1059221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Datums</a:t>
            </a:r>
            <a:r>
              <a:rPr lang="en-US" sz="1200" b="0" i="0" kern="1200" dirty="0">
                <a:solidFill>
                  <a:schemeClr val="tx1"/>
                </a:solidFill>
                <a:effectLst/>
                <a:latin typeface="+mn-lt"/>
                <a:ea typeface="+mn-ea"/>
                <a:cs typeface="+mn-cs"/>
              </a:rPr>
              <a:t> allow us to map points on a spheroid.  But we also want</a:t>
            </a:r>
            <a:r>
              <a:rPr lang="en-US" sz="1200" b="0" i="0" kern="1200" baseline="0" dirty="0">
                <a:solidFill>
                  <a:schemeClr val="tx1"/>
                </a:solidFill>
                <a:effectLst/>
                <a:latin typeface="+mn-lt"/>
                <a:ea typeface="+mn-ea"/>
                <a:cs typeface="+mn-cs"/>
              </a:rPr>
              <a:t> to create two dimensional maps from three dimensional location data.  We </a:t>
            </a:r>
            <a:r>
              <a:rPr lang="en-US" sz="1200" b="0" i="0" kern="1200" dirty="0">
                <a:solidFill>
                  <a:schemeClr val="tx1"/>
                </a:solidFill>
                <a:effectLst/>
                <a:latin typeface="+mn-lt"/>
                <a:ea typeface="+mn-ea"/>
                <a:cs typeface="+mn-cs"/>
              </a:rPr>
              <a:t>use map projections to flatten out parts of</a:t>
            </a:r>
            <a:r>
              <a:rPr lang="en-US" sz="1200" b="0" i="0" kern="1200" baseline="0" dirty="0">
                <a:solidFill>
                  <a:schemeClr val="tx1"/>
                </a:solidFill>
                <a:effectLst/>
                <a:latin typeface="+mn-lt"/>
                <a:ea typeface="+mn-ea"/>
                <a:cs typeface="+mn-cs"/>
              </a:rPr>
              <a:t> the globe to</a:t>
            </a:r>
            <a:r>
              <a:rPr lang="en-US" sz="1200" b="0" i="0" kern="1200" dirty="0">
                <a:solidFill>
                  <a:schemeClr val="tx1"/>
                </a:solidFill>
                <a:effectLst/>
                <a:latin typeface="+mn-lt"/>
                <a:ea typeface="+mn-ea"/>
                <a:cs typeface="+mn-cs"/>
              </a:rPr>
              <a:t> two-dimensions.</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E43E9DD-970B-46F4-95AE-0CDEB073B05A}" type="slidenum">
              <a:rPr lang="en-US" smtClean="0"/>
              <a:t>6</a:t>
            </a:fld>
            <a:endParaRPr lang="en-US"/>
          </a:p>
        </p:txBody>
      </p:sp>
    </p:spTree>
    <p:extLst>
      <p:ext uri="{BB962C8B-B14F-4D97-AF65-F5344CB8AC3E}">
        <p14:creationId xmlns:p14="http://schemas.microsoft.com/office/powerpoint/2010/main" val="677337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Map projections take developable surface such as cylinders, cones and planes and flattens it in a two-dimensional plane. Each surface is mathematically rendered based on those geometric shapes.</a:t>
            </a:r>
          </a:p>
          <a:p>
            <a:pPr fontAlgn="base"/>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E43E9DD-970B-46F4-95AE-0CDEB073B05A}" type="slidenum">
              <a:rPr lang="en-US" smtClean="0"/>
              <a:t>8</a:t>
            </a:fld>
            <a:endParaRPr lang="en-US"/>
          </a:p>
        </p:txBody>
      </p:sp>
    </p:spTree>
    <p:extLst>
      <p:ext uri="{BB962C8B-B14F-4D97-AF65-F5344CB8AC3E}">
        <p14:creationId xmlns:p14="http://schemas.microsoft.com/office/powerpoint/2010/main" val="1200644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9/16/24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3803838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9/16/24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20152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9/16/24</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286933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1D416C-15FF-42A3-8E36-5C91A35E9801}" type="datetimeFigureOut">
              <a:rPr lang="en-US" smtClean="0"/>
              <a:t>9/16/24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423356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1D416C-15FF-42A3-8E36-5C91A35E9801}" type="datetimeFigureOut">
              <a:rPr lang="en-US" smtClean="0"/>
              <a:t>9/16/24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153652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1D416C-15FF-42A3-8E36-5C91A35E9801}" type="datetimeFigureOut">
              <a:rPr lang="en-US" smtClean="0"/>
              <a:t>9/16/24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6971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1D416C-15FF-42A3-8E36-5C91A35E9801}" type="datetimeFigureOut">
              <a:rPr lang="en-US" smtClean="0"/>
              <a:t>9/16/24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728438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81D416C-15FF-42A3-8E36-5C91A35E9801}" type="datetimeFigureOut">
              <a:rPr lang="en-US" smtClean="0"/>
              <a:t>9/16/24</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137616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1D416C-15FF-42A3-8E36-5C91A35E9801}" type="datetimeFigureOut">
              <a:rPr lang="en-US" smtClean="0"/>
              <a:t>9/16/24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672936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1D416C-15FF-42A3-8E36-5C91A35E9801}" type="datetimeFigureOut">
              <a:rPr lang="en-US" smtClean="0"/>
              <a:t>9/16/24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645AA-C0DC-42CB-B806-075F3A6970AF}" type="slidenum">
              <a:rPr lang="en-US" smtClean="0"/>
              <a:t>‹#›</a:t>
            </a:fld>
            <a:endParaRPr lang="en-US"/>
          </a:p>
        </p:txBody>
      </p:sp>
    </p:spTree>
    <p:extLst>
      <p:ext uri="{BB962C8B-B14F-4D97-AF65-F5344CB8AC3E}">
        <p14:creationId xmlns:p14="http://schemas.microsoft.com/office/powerpoint/2010/main" val="35796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E81D416C-15FF-42A3-8E36-5C91A35E9801}" type="datetimeFigureOut">
              <a:rPr lang="en-US" smtClean="0"/>
              <a:t>9/16/24</a:t>
            </a:fld>
            <a:endParaRPr lang="en-US"/>
          </a:p>
        </p:txBody>
      </p:sp>
      <p:sp>
        <p:nvSpPr>
          <p:cNvPr id="5" name="Footer Placeholder 4"/>
          <p:cNvSpPr>
            <a:spLocks noGrp="1"/>
          </p:cNvSpPr>
          <p:nvPr>
            <p:ph type="ftr" sz="quarter" idx="11"/>
          </p:nvPr>
        </p:nvSpPr>
        <p:spPr>
          <a:xfrm>
            <a:off x="581192" y="5951810"/>
            <a:ext cx="5922209" cy="365125"/>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1F4645AA-C0DC-42CB-B806-075F3A6970AF}" type="slidenum">
              <a:rPr lang="en-US" smtClean="0"/>
              <a:t>‹#›</a:t>
            </a:fld>
            <a:endParaRPr lang="en-US"/>
          </a:p>
        </p:txBody>
      </p:sp>
    </p:spTree>
    <p:extLst>
      <p:ext uri="{BB962C8B-B14F-4D97-AF65-F5344CB8AC3E}">
        <p14:creationId xmlns:p14="http://schemas.microsoft.com/office/powerpoint/2010/main" val="712073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p>
        </p:txBody>
      </p:sp>
      <p:sp>
        <p:nvSpPr>
          <p:cNvPr id="3" name="Text Placeholder 2"/>
          <p:cNvSpPr>
            <a:spLocks noGrp="1"/>
          </p:cNvSpPr>
          <p:nvPr>
            <p:ph type="body" sz="half" idx="1"/>
          </p:nvPr>
        </p:nvSpPr>
        <p:spPr>
          <a:xfrm>
            <a:off x="11826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45088" y="20177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145088" y="4151313"/>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162050" y="6243638"/>
            <a:ext cx="1905000" cy="457200"/>
          </a:xfrm>
        </p:spPr>
        <p:txBody>
          <a:bodyPr/>
          <a:lstStyle>
            <a:lvl1pPr>
              <a:defRPr/>
            </a:lvl1pPr>
          </a:lstStyle>
          <a:p>
            <a:endParaRPr lang="en-US"/>
          </a:p>
        </p:txBody>
      </p:sp>
      <p:sp>
        <p:nvSpPr>
          <p:cNvPr id="7" name="Footer Placeholder 6"/>
          <p:cNvSpPr>
            <a:spLocks noGrp="1"/>
          </p:cNvSpPr>
          <p:nvPr>
            <p:ph type="ftr" sz="quarter" idx="11"/>
          </p:nvPr>
        </p:nvSpPr>
        <p:spPr>
          <a:xfrm>
            <a:off x="3657600" y="6243638"/>
            <a:ext cx="2895600" cy="457200"/>
          </a:xfrm>
        </p:spPr>
        <p:txBody>
          <a:bodyPr/>
          <a:lstStyle>
            <a:lvl1pPr>
              <a:defRPr/>
            </a:lvl1pPr>
          </a:lstStyle>
          <a:p>
            <a:endParaRPr lang="en-US"/>
          </a:p>
        </p:txBody>
      </p:sp>
      <p:sp>
        <p:nvSpPr>
          <p:cNvPr id="8" name="Slide Number Placeholder 7"/>
          <p:cNvSpPr>
            <a:spLocks noGrp="1"/>
          </p:cNvSpPr>
          <p:nvPr>
            <p:ph type="sldNum" sz="quarter" idx="12"/>
          </p:nvPr>
        </p:nvSpPr>
        <p:spPr>
          <a:xfrm>
            <a:off x="7042150" y="6243638"/>
            <a:ext cx="1905000" cy="457200"/>
          </a:xfrm>
        </p:spPr>
        <p:txBody>
          <a:bodyPr/>
          <a:lstStyle>
            <a:lvl1pPr>
              <a:defRPr/>
            </a:lvl1pPr>
          </a:lstStyle>
          <a:p>
            <a:fld id="{A37249D6-C62E-4666-8308-39F9353F2875}" type="slidenum">
              <a:rPr lang="en-US"/>
              <a:pPr/>
              <a:t>‹#›</a:t>
            </a:fld>
            <a:endParaRPr lang="en-US"/>
          </a:p>
        </p:txBody>
      </p:sp>
    </p:spTree>
    <p:extLst>
      <p:ext uri="{BB962C8B-B14F-4D97-AF65-F5344CB8AC3E}">
        <p14:creationId xmlns:p14="http://schemas.microsoft.com/office/powerpoint/2010/main" val="2553571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E81D416C-15FF-42A3-8E36-5C91A35E9801}" type="datetimeFigureOut">
              <a:rPr lang="en-US" smtClean="0"/>
              <a:t>9/16/24</a:t>
            </a:fld>
            <a:endParaRPr lang="en-US"/>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1F4645AA-C0DC-42CB-B806-075F3A6970AF}" type="slidenum">
              <a:rPr lang="en-US" smtClean="0"/>
              <a:t>‹#›</a:t>
            </a:fld>
            <a:endParaRPr 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01913010"/>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36185" y="0"/>
            <a:ext cx="5471630" cy="3703320"/>
          </a:xfrm>
        </p:spPr>
        <p:txBody>
          <a:bodyPr anchor="ctr">
            <a:normAutofit/>
          </a:bodyPr>
          <a:lstStyle/>
          <a:p>
            <a:pPr algn="ctr"/>
            <a:r>
              <a:rPr lang="en-US" sz="4200" dirty="0"/>
              <a:t>GIS and Spatial Analytics</a:t>
            </a:r>
            <a:br>
              <a:rPr lang="en-US" sz="4200" dirty="0"/>
            </a:br>
            <a:r>
              <a:rPr lang="en-US" sz="4200" dirty="0"/>
              <a:t>QMSS 5070</a:t>
            </a:r>
          </a:p>
        </p:txBody>
      </p:sp>
      <p:sp>
        <p:nvSpPr>
          <p:cNvPr id="3" name="Subtitle 2"/>
          <p:cNvSpPr>
            <a:spLocks noGrp="1"/>
          </p:cNvSpPr>
          <p:nvPr>
            <p:ph type="subTitle" idx="1"/>
          </p:nvPr>
        </p:nvSpPr>
        <p:spPr>
          <a:xfrm>
            <a:off x="1981200" y="2819400"/>
            <a:ext cx="3810000" cy="3703320"/>
          </a:xfrm>
          <a:ln w="57150">
            <a:noFill/>
          </a:ln>
        </p:spPr>
        <p:txBody>
          <a:bodyPr anchor="ctr">
            <a:normAutofit/>
          </a:bodyPr>
          <a:lstStyle/>
          <a:p>
            <a:pPr algn="r"/>
            <a:r>
              <a:rPr lang="en-US" sz="2800" dirty="0">
                <a:solidFill>
                  <a:schemeClr val="bg1"/>
                </a:solidFill>
                <a:latin typeface="Arial" panose="020B0604020202020204" pitchFamily="34" charset="0"/>
                <a:cs typeface="Arial" panose="020B0604020202020204" pitchFamily="34" charset="0"/>
              </a:rPr>
              <a:t>Lecture 3</a:t>
            </a:r>
          </a:p>
          <a:p>
            <a:pPr algn="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noAutofit/>
          </a:bodyPr>
          <a:lstStyle/>
          <a:p>
            <a:r>
              <a:rPr lang="en-US" sz="2400" dirty="0"/>
              <a:t>Map: a representation of the world or part of it, in two dimensions</a:t>
            </a:r>
          </a:p>
          <a:p>
            <a:endParaRPr lang="en-US" sz="2400" dirty="0"/>
          </a:p>
          <a:p>
            <a:r>
              <a:rPr lang="en-US" sz="2400" dirty="0"/>
              <a:t>Globe: a 3-D representation of the entire earth surface.</a:t>
            </a:r>
          </a:p>
          <a:p>
            <a:endParaRPr lang="en-US" sz="2400" dirty="0">
              <a:solidFill>
                <a:schemeClr val="accent2"/>
              </a:solidFill>
            </a:endParaRPr>
          </a:p>
          <a:p>
            <a:r>
              <a:rPr lang="en-US" sz="2400" dirty="0">
                <a:solidFill>
                  <a:schemeClr val="accent2"/>
                </a:solidFill>
              </a:rPr>
              <a:t>We use maps for </a:t>
            </a:r>
            <a:r>
              <a:rPr lang="en-US" sz="2400" i="1" dirty="0">
                <a:solidFill>
                  <a:schemeClr val="accent2"/>
                </a:solidFill>
              </a:rPr>
              <a:t>ease of presentation</a:t>
            </a:r>
            <a:r>
              <a:rPr lang="en-US" sz="2400" dirty="0">
                <a:solidFill>
                  <a:schemeClr val="accent2"/>
                </a:solidFill>
              </a:rPr>
              <a:t>.</a:t>
            </a:r>
          </a:p>
          <a:p>
            <a:pPr lvl="1"/>
            <a:r>
              <a:rPr lang="en-US" sz="2400" dirty="0">
                <a:solidFill>
                  <a:schemeClr val="accent2"/>
                </a:solidFill>
              </a:rPr>
              <a:t>They do distort reality, though.  And we need some awareness of how much distortion.</a:t>
            </a:r>
          </a:p>
        </p:txBody>
      </p:sp>
      <p:sp>
        <p:nvSpPr>
          <p:cNvPr id="5122" name="Rectangle 2"/>
          <p:cNvSpPr>
            <a:spLocks noGrp="1" noChangeArrowheads="1"/>
          </p:cNvSpPr>
          <p:nvPr>
            <p:ph type="title"/>
          </p:nvPr>
        </p:nvSpPr>
        <p:spPr>
          <a:xfrm>
            <a:off x="1905000" y="228600"/>
            <a:ext cx="8686800" cy="1066800"/>
          </a:xfrm>
        </p:spPr>
        <p:txBody>
          <a:bodyPr>
            <a:normAutofit/>
          </a:bodyPr>
          <a:lstStyle/>
          <a:p>
            <a:r>
              <a:rPr lang="en-US" sz="3600" dirty="0">
                <a:latin typeface="Arial" panose="020B0604020202020204" pitchFamily="34" charset="0"/>
                <a:cs typeface="Arial" panose="020B0604020202020204" pitchFamily="34" charset="0"/>
              </a:rPr>
              <a:t>Maps versus Globes</a:t>
            </a:r>
          </a:p>
        </p:txBody>
      </p:sp>
    </p:spTree>
    <p:extLst>
      <p:ext uri="{BB962C8B-B14F-4D97-AF65-F5344CB8AC3E}">
        <p14:creationId xmlns:p14="http://schemas.microsoft.com/office/powerpoint/2010/main" val="3535609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0" y="-34636"/>
            <a:ext cx="8991600" cy="1177636"/>
          </a:xfrm>
        </p:spPr>
        <p:txBody>
          <a:bodyPr>
            <a:normAutofit/>
          </a:bodyPr>
          <a:lstStyle/>
          <a:p>
            <a:r>
              <a:rPr lang="en-US" sz="3600" dirty="0"/>
              <a:t>From Globe to Map</a:t>
            </a:r>
          </a:p>
        </p:txBody>
      </p:sp>
      <p:sp>
        <p:nvSpPr>
          <p:cNvPr id="99331" name="Rectangle 3"/>
          <p:cNvSpPr>
            <a:spLocks noGrp="1" noChangeArrowheads="1"/>
          </p:cNvSpPr>
          <p:nvPr>
            <p:ph type="body" sz="half" idx="1"/>
          </p:nvPr>
        </p:nvSpPr>
        <p:spPr>
          <a:xfrm>
            <a:off x="304800" y="1295400"/>
            <a:ext cx="4191000" cy="5334000"/>
          </a:xfrm>
        </p:spPr>
        <p:txBody>
          <a:bodyPr>
            <a:normAutofit/>
          </a:bodyPr>
          <a:lstStyle/>
          <a:p>
            <a:pPr>
              <a:lnSpc>
                <a:spcPct val="90000"/>
              </a:lnSpc>
            </a:pPr>
            <a:r>
              <a:rPr lang="en-US" sz="2200" dirty="0"/>
              <a:t>Spherical Earth’s surface</a:t>
            </a:r>
          </a:p>
          <a:p>
            <a:pPr>
              <a:lnSpc>
                <a:spcPct val="90000"/>
              </a:lnSpc>
              <a:buFont typeface="Wingdings" pitchFamily="2" charset="2"/>
              <a:buNone/>
            </a:pPr>
            <a:r>
              <a:rPr lang="en-US" sz="2200" dirty="0"/>
              <a:t>		-radius 6,371 km </a:t>
            </a:r>
          </a:p>
          <a:p>
            <a:pPr>
              <a:lnSpc>
                <a:spcPct val="90000"/>
              </a:lnSpc>
            </a:pPr>
            <a:r>
              <a:rPr lang="en-US" sz="2200" dirty="0">
                <a:solidFill>
                  <a:schemeClr val="accent2"/>
                </a:solidFill>
              </a:rPr>
              <a:t>Meridians</a:t>
            </a:r>
            <a:r>
              <a:rPr lang="en-US" sz="2200" dirty="0"/>
              <a:t> (</a:t>
            </a:r>
            <a:r>
              <a:rPr lang="en-US" sz="2200" dirty="0">
                <a:solidFill>
                  <a:schemeClr val="accent1"/>
                </a:solidFill>
              </a:rPr>
              <a:t>longitude/X</a:t>
            </a:r>
            <a:r>
              <a:rPr lang="en-US" sz="2200" dirty="0"/>
              <a:t>)</a:t>
            </a:r>
          </a:p>
          <a:p>
            <a:pPr>
              <a:lnSpc>
                <a:spcPct val="90000"/>
              </a:lnSpc>
              <a:buFont typeface="Wingdings" pitchFamily="2" charset="2"/>
              <a:buNone/>
            </a:pPr>
            <a:r>
              <a:rPr lang="en-US" sz="2200" dirty="0"/>
              <a:t>	- passing through Greenwich, England as prime meridian or 0º longitude.</a:t>
            </a:r>
          </a:p>
          <a:p>
            <a:pPr>
              <a:lnSpc>
                <a:spcPct val="90000"/>
              </a:lnSpc>
            </a:pPr>
            <a:r>
              <a:rPr lang="en-US" sz="2200" dirty="0">
                <a:solidFill>
                  <a:schemeClr val="accent2"/>
                </a:solidFill>
              </a:rPr>
              <a:t>Parallels</a:t>
            </a:r>
            <a:r>
              <a:rPr lang="en-US" sz="2200" dirty="0"/>
              <a:t> (</a:t>
            </a:r>
            <a:r>
              <a:rPr lang="en-US" sz="2200" dirty="0">
                <a:solidFill>
                  <a:schemeClr val="accent1"/>
                </a:solidFill>
              </a:rPr>
              <a:t>latitude/Y</a:t>
            </a:r>
            <a:r>
              <a:rPr lang="en-US" sz="2200" dirty="0"/>
              <a:t>)</a:t>
            </a:r>
          </a:p>
          <a:p>
            <a:pPr>
              <a:lnSpc>
                <a:spcPct val="90000"/>
              </a:lnSpc>
              <a:buFont typeface="Wingdings" pitchFamily="2" charset="2"/>
              <a:buNone/>
            </a:pPr>
            <a:r>
              <a:rPr lang="en-US" sz="2200" dirty="0"/>
              <a:t>	- using equator as 0º latitude.</a:t>
            </a:r>
          </a:p>
          <a:p>
            <a:pPr>
              <a:lnSpc>
                <a:spcPct val="90000"/>
              </a:lnSpc>
            </a:pPr>
            <a:r>
              <a:rPr lang="en-US" sz="2200" dirty="0"/>
              <a:t>degrees-minutes-seconds (</a:t>
            </a:r>
            <a:r>
              <a:rPr lang="en-US" sz="2200" dirty="0">
                <a:solidFill>
                  <a:schemeClr val="accent1"/>
                </a:solidFill>
              </a:rPr>
              <a:t>DMS</a:t>
            </a:r>
            <a:r>
              <a:rPr lang="en-US" sz="2200" dirty="0"/>
              <a:t>), </a:t>
            </a:r>
          </a:p>
          <a:p>
            <a:pPr>
              <a:lnSpc>
                <a:spcPct val="90000"/>
              </a:lnSpc>
            </a:pPr>
            <a:r>
              <a:rPr lang="en-US" sz="2200" dirty="0"/>
              <a:t>decimal degrees (</a:t>
            </a:r>
            <a:r>
              <a:rPr lang="en-US" sz="2200" dirty="0">
                <a:solidFill>
                  <a:schemeClr val="accent1"/>
                </a:solidFill>
              </a:rPr>
              <a:t>DD</a:t>
            </a:r>
            <a:r>
              <a:rPr lang="en-US" sz="2200" dirty="0"/>
              <a:t>)</a:t>
            </a:r>
          </a:p>
          <a:p>
            <a:pPr>
              <a:lnSpc>
                <a:spcPct val="90000"/>
              </a:lnSpc>
              <a:buFont typeface="Wingdings" pitchFamily="2" charset="2"/>
              <a:buNone/>
            </a:pPr>
            <a:endParaRPr lang="en-US" sz="2200" dirty="0"/>
          </a:p>
        </p:txBody>
      </p:sp>
      <p:pic>
        <p:nvPicPr>
          <p:cNvPr id="99332" name="Picture 4" descr="primem"/>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343400" y="685800"/>
            <a:ext cx="4648200" cy="3290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9333" name="Text Box 5"/>
          <p:cNvSpPr txBox="1">
            <a:spLocks noChangeArrowheads="1"/>
          </p:cNvSpPr>
          <p:nvPr/>
        </p:nvSpPr>
        <p:spPr bwMode="auto">
          <a:xfrm>
            <a:off x="4495800" y="4191000"/>
            <a:ext cx="182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200"/>
              <a:t>True direction, shape,</a:t>
            </a:r>
          </a:p>
          <a:p>
            <a:r>
              <a:rPr lang="en-US" sz="1200"/>
              <a:t>distance, and area</a:t>
            </a:r>
          </a:p>
        </p:txBody>
      </p:sp>
      <p:pic>
        <p:nvPicPr>
          <p:cNvPr id="99334" name="Picture 6" descr="sphercoo9"/>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5638800" y="4876800"/>
            <a:ext cx="2786063" cy="1981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9622849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9334"/>
                                        </p:tgtEl>
                                        <p:attrNameLst>
                                          <p:attrName>style.visibility</p:attrName>
                                        </p:attrNameLst>
                                      </p:cBhvr>
                                      <p:to>
                                        <p:strVal val="visible"/>
                                      </p:to>
                                    </p:set>
                                    <p:anim calcmode="lin" valueType="num">
                                      <p:cBhvr additive="base">
                                        <p:cTn id="7" dur="500" fill="hold"/>
                                        <p:tgtEl>
                                          <p:spTgt spid="99334"/>
                                        </p:tgtEl>
                                        <p:attrNameLst>
                                          <p:attrName>ppt_x</p:attrName>
                                        </p:attrNameLst>
                                      </p:cBhvr>
                                      <p:tavLst>
                                        <p:tav tm="0">
                                          <p:val>
                                            <p:strVal val="#ppt_x"/>
                                          </p:val>
                                        </p:tav>
                                        <p:tav tm="100000">
                                          <p:val>
                                            <p:strVal val="#ppt_x"/>
                                          </p:val>
                                        </p:tav>
                                      </p:tavLst>
                                    </p:anim>
                                    <p:anim calcmode="lin" valueType="num">
                                      <p:cBhvr additive="base">
                                        <p:cTn id="8" dur="500" fill="hold"/>
                                        <p:tgtEl>
                                          <p:spTgt spid="993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524000" y="228600"/>
            <a:ext cx="8686800" cy="1143000"/>
          </a:xfrm>
        </p:spPr>
        <p:txBody>
          <a:bodyPr>
            <a:normAutofit/>
          </a:bodyPr>
          <a:lstStyle/>
          <a:p>
            <a:r>
              <a:rPr lang="en-US" sz="3600" dirty="0">
                <a:latin typeface="Arial" panose="020B0604020202020204" pitchFamily="34" charset="0"/>
                <a:cs typeface="Arial" panose="020B0604020202020204" pitchFamily="34" charset="0"/>
              </a:rPr>
              <a:t>Coordinate Systems</a:t>
            </a:r>
          </a:p>
        </p:txBody>
      </p:sp>
      <p:sp>
        <p:nvSpPr>
          <p:cNvPr id="4100" name="Text Box 4"/>
          <p:cNvSpPr txBox="1">
            <a:spLocks noChangeArrowheads="1"/>
          </p:cNvSpPr>
          <p:nvPr/>
        </p:nvSpPr>
        <p:spPr bwMode="auto">
          <a:xfrm>
            <a:off x="457200" y="1938647"/>
            <a:ext cx="7924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dirty="0"/>
              <a:t>A geographical coordinate system uses a three-dimensional spherical surface to define locations on the earth. </a:t>
            </a:r>
          </a:p>
          <a:p>
            <a:pPr>
              <a:spcBef>
                <a:spcPct val="50000"/>
              </a:spcBef>
            </a:pPr>
            <a:r>
              <a:rPr lang="en-US" dirty="0"/>
              <a:t>Divides space into orderly structure of locations.</a:t>
            </a:r>
          </a:p>
          <a:p>
            <a:pPr>
              <a:spcBef>
                <a:spcPct val="50000"/>
              </a:spcBef>
            </a:pPr>
            <a:r>
              <a:rPr lang="en-US" dirty="0"/>
              <a:t>Example: Angular (spherical)</a:t>
            </a:r>
          </a:p>
        </p:txBody>
      </p:sp>
      <p:pic>
        <p:nvPicPr>
          <p:cNvPr id="4101" name="Picture 5" descr="cart_spherical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617" t="-4635"/>
          <a:stretch/>
        </p:blipFill>
        <p:spPr bwMode="auto">
          <a:xfrm>
            <a:off x="4762500" y="2514600"/>
            <a:ext cx="3352800" cy="3784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Text Box 6"/>
          <p:cNvSpPr txBox="1">
            <a:spLocks noChangeArrowheads="1"/>
          </p:cNvSpPr>
          <p:nvPr/>
        </p:nvSpPr>
        <p:spPr bwMode="auto">
          <a:xfrm>
            <a:off x="6438900" y="6477000"/>
            <a:ext cx="23622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eaLnBrk="0" hangingPunct="0"/>
            <a:r>
              <a:rPr lang="en-US" sz="1000" dirty="0">
                <a:solidFill>
                  <a:srgbClr val="000000"/>
                </a:solidFill>
              </a:rPr>
              <a:t>© Paul </a:t>
            </a:r>
            <a:r>
              <a:rPr lang="en-US" sz="1000" dirty="0" err="1">
                <a:solidFill>
                  <a:srgbClr val="000000"/>
                </a:solidFill>
              </a:rPr>
              <a:t>Bolstad</a:t>
            </a:r>
            <a:r>
              <a:rPr lang="en-US" sz="1000" dirty="0">
                <a:solidFill>
                  <a:srgbClr val="000000"/>
                </a:solidFill>
              </a:rPr>
              <a:t>, GIS Fundamentals</a:t>
            </a:r>
          </a:p>
        </p:txBody>
      </p:sp>
    </p:spTree>
    <p:extLst>
      <p:ext uri="{BB962C8B-B14F-4D97-AF65-F5344CB8AC3E}">
        <p14:creationId xmlns:p14="http://schemas.microsoft.com/office/powerpoint/2010/main" val="391204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728" indent="0">
              <a:buNone/>
            </a:pPr>
            <a:r>
              <a:rPr lang="en-US" dirty="0"/>
              <a:t> </a:t>
            </a:r>
          </a:p>
        </p:txBody>
      </p:sp>
      <p:sp>
        <p:nvSpPr>
          <p:cNvPr id="107522" name="Rectangle 2"/>
          <p:cNvSpPr>
            <a:spLocks noGrp="1" noChangeArrowheads="1"/>
          </p:cNvSpPr>
          <p:nvPr>
            <p:ph type="title"/>
          </p:nvPr>
        </p:nvSpPr>
        <p:spPr>
          <a:xfrm>
            <a:off x="685800" y="489026"/>
            <a:ext cx="9144000" cy="1295400"/>
          </a:xfrm>
        </p:spPr>
        <p:txBody>
          <a:bodyPr>
            <a:noAutofit/>
          </a:bodyPr>
          <a:lstStyle/>
          <a:p>
            <a:r>
              <a:rPr lang="en-US" sz="3600" dirty="0"/>
              <a:t>From One Coordinate System to Another</a:t>
            </a:r>
          </a:p>
        </p:txBody>
      </p:sp>
      <p:pic>
        <p:nvPicPr>
          <p:cNvPr id="107524" name="Picture 4" descr="GCPcorres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2362200"/>
            <a:ext cx="7086600" cy="458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88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09600" y="-37605"/>
            <a:ext cx="8686800" cy="1143000"/>
          </a:xfrm>
        </p:spPr>
        <p:txBody>
          <a:bodyPr>
            <a:normAutofit fontScale="90000"/>
          </a:bodyPr>
          <a:lstStyle/>
          <a:p>
            <a:r>
              <a:rPr lang="en-US" sz="3600" dirty="0"/>
              <a:t>Map Projections: Flattening the Earth </a:t>
            </a:r>
          </a:p>
        </p:txBody>
      </p:sp>
      <p:sp>
        <p:nvSpPr>
          <p:cNvPr id="6148" name="Text Box 4"/>
          <p:cNvSpPr txBox="1">
            <a:spLocks noChangeArrowheads="1"/>
          </p:cNvSpPr>
          <p:nvPr/>
        </p:nvSpPr>
        <p:spPr bwMode="auto">
          <a:xfrm>
            <a:off x="381000" y="2003301"/>
            <a:ext cx="3962400" cy="524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914400" indent="-914400">
              <a:defRPr>
                <a:solidFill>
                  <a:schemeClr val="tx1"/>
                </a:solidFill>
                <a:latin typeface="Arial" charset="0"/>
              </a:defRPr>
            </a:lvl1pPr>
            <a:lvl2pPr marL="1028700">
              <a:defRPr>
                <a:solidFill>
                  <a:schemeClr val="tx1"/>
                </a:solidFill>
                <a:latin typeface="Arial" charset="0"/>
              </a:defRPr>
            </a:lvl2pPr>
            <a:lvl3pPr marL="1143000">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fontAlgn="base">
              <a:spcBef>
                <a:spcPct val="0"/>
              </a:spcBef>
              <a:spcAft>
                <a:spcPct val="0"/>
              </a:spcAft>
              <a:defRPr>
                <a:solidFill>
                  <a:schemeClr val="tx1"/>
                </a:solidFill>
                <a:latin typeface="Arial" charset="0"/>
              </a:defRPr>
            </a:lvl6pPr>
            <a:lvl7pPr fontAlgn="base">
              <a:spcBef>
                <a:spcPct val="0"/>
              </a:spcBef>
              <a:spcAft>
                <a:spcPct val="0"/>
              </a:spcAft>
              <a:defRPr>
                <a:solidFill>
                  <a:schemeClr val="tx1"/>
                </a:solidFill>
                <a:latin typeface="Arial" charset="0"/>
              </a:defRPr>
            </a:lvl7pPr>
            <a:lvl8pPr fontAlgn="base">
              <a:spcBef>
                <a:spcPct val="0"/>
              </a:spcBef>
              <a:spcAft>
                <a:spcPct val="0"/>
              </a:spcAft>
              <a:defRPr>
                <a:solidFill>
                  <a:schemeClr val="tx1"/>
                </a:solidFill>
                <a:latin typeface="Arial" charset="0"/>
              </a:defRPr>
            </a:lvl8pPr>
            <a:lvl9pPr fontAlgn="base">
              <a:spcBef>
                <a:spcPct val="0"/>
              </a:spcBef>
              <a:spcAft>
                <a:spcPct val="0"/>
              </a:spcAft>
              <a:defRPr>
                <a:solidFill>
                  <a:schemeClr val="tx1"/>
                </a:solidFill>
                <a:latin typeface="Arial" charset="0"/>
              </a:defRPr>
            </a:lvl9pPr>
          </a:lstStyle>
          <a:p>
            <a:pPr>
              <a:spcBef>
                <a:spcPct val="50000"/>
              </a:spcBef>
            </a:pPr>
            <a:r>
              <a:rPr lang="en-US" sz="2000" dirty="0"/>
              <a:t>A map projection:</a:t>
            </a:r>
          </a:p>
          <a:p>
            <a:pPr>
              <a:spcBef>
                <a:spcPct val="50000"/>
              </a:spcBef>
            </a:pPr>
            <a:r>
              <a:rPr lang="en-US" dirty="0"/>
              <a:t>	the orderly transfer of positions of places on the surface of the earth to corresponding points on a flat map.</a:t>
            </a:r>
          </a:p>
          <a:p>
            <a:pPr>
              <a:spcBef>
                <a:spcPct val="50000"/>
              </a:spcBef>
            </a:pPr>
            <a:r>
              <a:rPr lang="en-US" dirty="0"/>
              <a:t>	the systematic arrangement of the earth’s parallels and meridians onto a plane surface.</a:t>
            </a:r>
          </a:p>
          <a:p>
            <a:pPr>
              <a:spcBef>
                <a:spcPct val="50000"/>
              </a:spcBef>
            </a:pPr>
            <a:r>
              <a:rPr lang="en-US" dirty="0"/>
              <a:t>	uses mathematical formulas to relate spherical coordinates on the globe to flat, planar coordinates.</a:t>
            </a:r>
          </a:p>
          <a:p>
            <a:pPr>
              <a:spcBef>
                <a:spcPct val="50000"/>
              </a:spcBef>
            </a:pPr>
            <a:endParaRPr lang="en-US" dirty="0"/>
          </a:p>
          <a:p>
            <a:pPr>
              <a:spcBef>
                <a:spcPct val="50000"/>
              </a:spcBef>
            </a:pPr>
            <a:r>
              <a:rPr lang="en-US" dirty="0"/>
              <a:t>	</a:t>
            </a:r>
          </a:p>
        </p:txBody>
      </p:sp>
      <p:pic>
        <p:nvPicPr>
          <p:cNvPr id="6152"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433455" y="3124200"/>
            <a:ext cx="4343400" cy="2129555"/>
          </a:xfrm>
          <a:noFill/>
          <a:ln/>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156" name="Rectangle 12"/>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Tree>
    <p:extLst>
      <p:ext uri="{BB962C8B-B14F-4D97-AF65-F5344CB8AC3E}">
        <p14:creationId xmlns:p14="http://schemas.microsoft.com/office/powerpoint/2010/main" val="1374219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108141"/>
            <a:ext cx="8229600" cy="3302059"/>
          </a:xfrm>
        </p:spPr>
        <p:txBody>
          <a:bodyPr>
            <a:normAutofit fontScale="85000" lnSpcReduction="20000"/>
          </a:bodyPr>
          <a:lstStyle/>
          <a:p>
            <a:r>
              <a:rPr lang="en-US" sz="2600" dirty="0"/>
              <a:t>X,Y or longitude and latitude coordinates are essential for identifying location and for placing features on a map.</a:t>
            </a:r>
          </a:p>
          <a:p>
            <a:endParaRPr lang="en-US" sz="2600" dirty="0"/>
          </a:p>
          <a:p>
            <a:r>
              <a:rPr lang="en-US" sz="2600" dirty="0"/>
              <a:t>X is horizontal=</a:t>
            </a:r>
          </a:p>
          <a:p>
            <a:pPr marL="109728" indent="0">
              <a:buNone/>
            </a:pPr>
            <a:r>
              <a:rPr lang="en-US" sz="2600" dirty="0"/>
              <a:t>longitude coordinate.</a:t>
            </a:r>
          </a:p>
          <a:p>
            <a:endParaRPr lang="en-US" sz="2600" dirty="0"/>
          </a:p>
          <a:p>
            <a:r>
              <a:rPr lang="en-US" sz="2600" dirty="0"/>
              <a:t>Y is vertical=</a:t>
            </a:r>
          </a:p>
          <a:p>
            <a:pPr marL="109728" indent="0">
              <a:buNone/>
            </a:pPr>
            <a:r>
              <a:rPr lang="en-US" sz="2600" dirty="0"/>
              <a:t>latitude coordinate</a:t>
            </a:r>
            <a:r>
              <a:rPr lang="en-US" dirty="0"/>
              <a:t>.</a:t>
            </a:r>
          </a:p>
          <a:p>
            <a:pPr marL="109728" indent="0">
              <a:buNone/>
            </a:pPr>
            <a:endParaRPr lang="en-US" dirty="0"/>
          </a:p>
        </p:txBody>
      </p:sp>
      <p:sp>
        <p:nvSpPr>
          <p:cNvPr id="4" name="Slide Number Placeholder 3"/>
          <p:cNvSpPr>
            <a:spLocks noGrp="1"/>
          </p:cNvSpPr>
          <p:nvPr>
            <p:ph type="sldNum" sz="quarter" idx="12"/>
          </p:nvPr>
        </p:nvSpPr>
        <p:spPr/>
        <p:txBody>
          <a:bodyPr/>
          <a:lstStyle/>
          <a:p>
            <a:fld id="{ABE87010-ED2C-4D21-945F-EFF2AD9789AF}" type="slidenum">
              <a:rPr lang="en-US" smtClean="0"/>
              <a:pPr/>
              <a:t>7</a:t>
            </a:fld>
            <a:endParaRPr lang="en-US"/>
          </a:p>
        </p:txBody>
      </p:sp>
      <p:sp>
        <p:nvSpPr>
          <p:cNvPr id="3" name="Title 2"/>
          <p:cNvSpPr>
            <a:spLocks noGrp="1"/>
          </p:cNvSpPr>
          <p:nvPr>
            <p:ph type="title"/>
          </p:nvPr>
        </p:nvSpPr>
        <p:spPr>
          <a:xfrm>
            <a:off x="1066800" y="152312"/>
            <a:ext cx="8686800" cy="1219200"/>
          </a:xfrm>
        </p:spPr>
        <p:txBody>
          <a:bodyPr>
            <a:normAutofit/>
          </a:bodyPr>
          <a:lstStyle/>
          <a:p>
            <a:r>
              <a:rPr lang="en-US" sz="3600" dirty="0"/>
              <a:t>Coordinates and Location</a:t>
            </a:r>
          </a:p>
        </p:txBody>
      </p:sp>
      <p:pic>
        <p:nvPicPr>
          <p:cNvPr id="5" name="Picture 5" descr="cart_spherical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0617" t="-4635"/>
          <a:stretch/>
        </p:blipFill>
        <p:spPr bwMode="auto">
          <a:xfrm>
            <a:off x="4087177" y="2646218"/>
            <a:ext cx="3713299"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938151" y="152400"/>
            <a:ext cx="8229600" cy="1143000"/>
          </a:xfrm>
        </p:spPr>
        <p:txBody>
          <a:bodyPr>
            <a:normAutofit/>
          </a:bodyPr>
          <a:lstStyle/>
          <a:p>
            <a:r>
              <a:rPr lang="en-US" sz="3600" dirty="0"/>
              <a:t>Map Projections</a:t>
            </a:r>
          </a:p>
        </p:txBody>
      </p:sp>
      <p:sp>
        <p:nvSpPr>
          <p:cNvPr id="52227" name="Rectangle 3"/>
          <p:cNvSpPr>
            <a:spLocks noGrp="1" noChangeArrowheads="1"/>
          </p:cNvSpPr>
          <p:nvPr>
            <p:ph type="body" idx="1"/>
          </p:nvPr>
        </p:nvSpPr>
        <p:spPr/>
        <p:txBody>
          <a:bodyPr/>
          <a:lstStyle/>
          <a:p>
            <a:r>
              <a:rPr lang="en-US" sz="2400" dirty="0">
                <a:latin typeface="Arial" panose="020B0604020202020204" pitchFamily="34" charset="0"/>
                <a:cs typeface="Arial" panose="020B0604020202020204" pitchFamily="34" charset="0"/>
              </a:rPr>
              <a:t>Mathematical method for systematically transforming a 3-D earth into a 2-D map.</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Three traditional types:</a:t>
            </a:r>
          </a:p>
          <a:p>
            <a:pPr lvl="1"/>
            <a:r>
              <a:rPr lang="en-US" sz="2400" dirty="0">
                <a:latin typeface="Arial" panose="020B0604020202020204" pitchFamily="34" charset="0"/>
                <a:cs typeface="Arial" panose="020B0604020202020204" pitchFamily="34" charset="0"/>
              </a:rPr>
              <a:t>Cylindrical -</a:t>
            </a:r>
          </a:p>
          <a:p>
            <a:pPr lvl="1"/>
            <a:r>
              <a:rPr lang="en-US" sz="2400" dirty="0">
                <a:latin typeface="Arial" panose="020B0604020202020204" pitchFamily="34" charset="0"/>
                <a:cs typeface="Arial" panose="020B0604020202020204" pitchFamily="34" charset="0"/>
              </a:rPr>
              <a:t>conical</a:t>
            </a:r>
          </a:p>
          <a:p>
            <a:pPr lvl="1"/>
            <a:r>
              <a:rPr lang="en-US" sz="2400" dirty="0">
                <a:latin typeface="Arial" panose="020B0604020202020204" pitchFamily="34" charset="0"/>
                <a:cs typeface="Arial" panose="020B0604020202020204" pitchFamily="34" charset="0"/>
              </a:rPr>
              <a:t>planar (azimuthal-zenithal)</a:t>
            </a:r>
            <a:br>
              <a:rPr lang="en-US" dirty="0"/>
            </a:br>
            <a:endParaRPr lang="en-US" dirty="0"/>
          </a:p>
        </p:txBody>
      </p:sp>
    </p:spTree>
    <p:extLst>
      <p:ext uri="{BB962C8B-B14F-4D97-AF65-F5344CB8AC3E}">
        <p14:creationId xmlns:p14="http://schemas.microsoft.com/office/powerpoint/2010/main" val="3225372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14548" y="2514600"/>
            <a:ext cx="8229600" cy="5300472"/>
          </a:xfrm>
        </p:spPr>
        <p:txBody>
          <a:bodyPr>
            <a:normAutofit/>
          </a:bodyPr>
          <a:lstStyle/>
          <a:p>
            <a:r>
              <a:rPr lang="en-US" sz="2000" dirty="0">
                <a:latin typeface="Arial" panose="020B0604020202020204" pitchFamily="34" charset="0"/>
                <a:cs typeface="Arial" panose="020B0604020202020204" pitchFamily="34" charset="0"/>
              </a:rPr>
              <a:t>Projections are important</a:t>
            </a:r>
          </a:p>
          <a:p>
            <a:pPr lvl="1"/>
            <a:r>
              <a:rPr lang="en-US" sz="2000" dirty="0">
                <a:latin typeface="Arial" panose="020B0604020202020204" pitchFamily="34" charset="0"/>
                <a:cs typeface="Arial" panose="020B0604020202020204" pitchFamily="34" charset="0"/>
              </a:rPr>
              <a:t>All maps distort reality of earth’s surface to some 	extent – moving from a sphere to a plane</a:t>
            </a:r>
          </a:p>
          <a:p>
            <a:pPr lvl="2"/>
            <a:r>
              <a:rPr lang="en-US" sz="2000" dirty="0">
                <a:latin typeface="Arial" panose="020B0604020202020204" pitchFamily="34" charset="0"/>
                <a:cs typeface="Arial" panose="020B0604020202020204" pitchFamily="34" charset="0"/>
              </a:rPr>
              <a:t>Some less than others</a:t>
            </a:r>
          </a:p>
          <a:p>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The standard GIS </a:t>
            </a:r>
            <a:r>
              <a:rPr lang="en-US" sz="2000" dirty="0" err="1">
                <a:latin typeface="Arial" panose="020B0604020202020204" pitchFamily="34" charset="0"/>
                <a:cs typeface="Arial" panose="020B0604020202020204" pitchFamily="34" charset="0"/>
              </a:rPr>
              <a:t>shapefile</a:t>
            </a:r>
            <a:r>
              <a:rPr lang="en-US" sz="2000" dirty="0">
                <a:latin typeface="Arial" panose="020B0604020202020204" pitchFamily="34" charset="0"/>
                <a:cs typeface="Arial" panose="020B0604020202020204" pitchFamily="34" charset="0"/>
              </a:rPr>
              <a:t> is not projected</a:t>
            </a:r>
          </a:p>
          <a:p>
            <a:pPr marL="630936" lvl="2" indent="0">
              <a:buNone/>
            </a:pPr>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Appearance and presentation</a:t>
            </a:r>
          </a:p>
          <a:p>
            <a:pPr lvl="1"/>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Measurement accuracy in some applications</a:t>
            </a:r>
          </a:p>
          <a:p>
            <a:pPr lvl="1"/>
            <a:endParaRPr lang="en-US" dirty="0"/>
          </a:p>
          <a:p>
            <a:pPr>
              <a:buNone/>
            </a:pPr>
            <a:endParaRPr lang="en-US" dirty="0"/>
          </a:p>
          <a:p>
            <a:endParaRPr lang="en-US" dirty="0"/>
          </a:p>
          <a:p>
            <a:pPr lvl="1">
              <a:buNone/>
            </a:pPr>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ABE87010-ED2C-4D21-945F-EFF2AD9789AF}" type="slidenum">
              <a:rPr lang="en-US" smtClean="0"/>
              <a:pPr/>
              <a:t>9</a:t>
            </a:fld>
            <a:endParaRPr lang="en-US"/>
          </a:p>
        </p:txBody>
      </p:sp>
      <p:sp>
        <p:nvSpPr>
          <p:cNvPr id="3" name="Title 2"/>
          <p:cNvSpPr>
            <a:spLocks noGrp="1"/>
          </p:cNvSpPr>
          <p:nvPr>
            <p:ph type="title"/>
          </p:nvPr>
        </p:nvSpPr>
        <p:spPr>
          <a:xfrm>
            <a:off x="609600" y="228600"/>
            <a:ext cx="8686800" cy="1143000"/>
          </a:xfrm>
        </p:spPr>
        <p:txBody>
          <a:bodyPr>
            <a:normAutofit/>
          </a:bodyPr>
          <a:lstStyle/>
          <a:p>
            <a:r>
              <a:rPr lang="en-US" sz="3600" dirty="0"/>
              <a:t>Map Projection and Appearance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1192" y="2338206"/>
            <a:ext cx="7989752" cy="3630795"/>
          </a:xfrm>
        </p:spPr>
        <p:txBody>
          <a:bodyPr>
            <a:noAutofit/>
          </a:bodyPr>
          <a:lstStyle/>
          <a:p>
            <a:r>
              <a:rPr lang="en-US" sz="2000" dirty="0">
                <a:latin typeface="Arial" panose="020B0604020202020204" pitchFamily="34" charset="0"/>
                <a:cs typeface="Arial" panose="020B0604020202020204" pitchFamily="34" charset="0"/>
              </a:rPr>
              <a:t>Common Projections</a:t>
            </a:r>
          </a:p>
          <a:p>
            <a:pPr lvl="1"/>
            <a:r>
              <a:rPr lang="en-US" sz="2000" dirty="0">
                <a:latin typeface="Arial" panose="020B0604020202020204" pitchFamily="34" charset="0"/>
                <a:cs typeface="Arial" panose="020B0604020202020204" pitchFamily="34" charset="0"/>
              </a:rPr>
              <a:t>Lambert Conformal Conic</a:t>
            </a:r>
          </a:p>
          <a:p>
            <a:pPr lvl="1"/>
            <a:r>
              <a:rPr lang="en-US" sz="2000" dirty="0">
                <a:latin typeface="Arial" panose="020B0604020202020204" pitchFamily="34" charset="0"/>
                <a:cs typeface="Arial" panose="020B0604020202020204" pitchFamily="34" charset="0"/>
              </a:rPr>
              <a:t>Albers Equal Area Conic – statistical maps of U.S.</a:t>
            </a:r>
          </a:p>
          <a:p>
            <a:pPr lvl="1"/>
            <a:r>
              <a:rPr lang="en-US" sz="2000" dirty="0">
                <a:latin typeface="Arial" panose="020B0604020202020204" pitchFamily="34" charset="0"/>
                <a:cs typeface="Arial" panose="020B0604020202020204" pitchFamily="34" charset="0"/>
              </a:rPr>
              <a:t>For local areas in U.S.:  State Plane (Lambert)</a:t>
            </a:r>
          </a:p>
          <a:p>
            <a:pPr lvl="1"/>
            <a:endParaRPr lang="en-US" sz="2000" dirty="0">
              <a:latin typeface="Arial" panose="020B0604020202020204" pitchFamily="34" charset="0"/>
              <a:cs typeface="Arial" panose="020B0604020202020204" pitchFamily="34" charset="0"/>
            </a:endParaRPr>
          </a:p>
          <a:p>
            <a:pPr lvl="1"/>
            <a:endParaRPr lang="en-US" sz="2000" dirty="0">
              <a:latin typeface="Arial" panose="020B0604020202020204" pitchFamily="34" charset="0"/>
              <a:cs typeface="Arial" panose="020B0604020202020204" pitchFamily="34" charset="0"/>
            </a:endParaRPr>
          </a:p>
          <a:p>
            <a:pPr lvl="1"/>
            <a:r>
              <a:rPr lang="en-US" sz="2000" dirty="0">
                <a:latin typeface="Arial" panose="020B0604020202020204" pitchFamily="34" charset="0"/>
                <a:cs typeface="Arial" panose="020B0604020202020204" pitchFamily="34" charset="0"/>
              </a:rPr>
              <a:t>Social sciences typically require less precision in location coordinates than natural sciences</a:t>
            </a:r>
          </a:p>
          <a:p>
            <a:pPr lvl="1"/>
            <a:endParaRPr lang="en-US" sz="2000" dirty="0">
              <a:latin typeface="Arial" panose="020B0604020202020204" pitchFamily="34" charset="0"/>
              <a:cs typeface="Arial" panose="020B0604020202020204" pitchFamily="34" charset="0"/>
            </a:endParaRPr>
          </a:p>
          <a:p>
            <a:pPr lvl="2"/>
            <a:r>
              <a:rPr lang="en-US" sz="2000" dirty="0">
                <a:latin typeface="Arial" panose="020B0604020202020204" pitchFamily="34" charset="0"/>
                <a:cs typeface="Arial" panose="020B0604020202020204" pitchFamily="34" charset="0"/>
              </a:rPr>
              <a:t>Differences in projection may not always matter substantively to your application</a:t>
            </a:r>
          </a:p>
        </p:txBody>
      </p:sp>
      <p:sp>
        <p:nvSpPr>
          <p:cNvPr id="4" name="Slide Number Placeholder 3"/>
          <p:cNvSpPr>
            <a:spLocks noGrp="1"/>
          </p:cNvSpPr>
          <p:nvPr>
            <p:ph type="sldNum" sz="quarter" idx="12"/>
          </p:nvPr>
        </p:nvSpPr>
        <p:spPr/>
        <p:txBody>
          <a:bodyPr/>
          <a:lstStyle/>
          <a:p>
            <a:fld id="{ABE87010-ED2C-4D21-945F-EFF2AD9789AF}" type="slidenum">
              <a:rPr lang="en-US" smtClean="0"/>
              <a:pPr/>
              <a:t>10</a:t>
            </a:fld>
            <a:endParaRPr lang="en-US"/>
          </a:p>
        </p:txBody>
      </p:sp>
      <p:sp>
        <p:nvSpPr>
          <p:cNvPr id="3" name="Title 2"/>
          <p:cNvSpPr>
            <a:spLocks noGrp="1"/>
          </p:cNvSpPr>
          <p:nvPr>
            <p:ph type="title"/>
          </p:nvPr>
        </p:nvSpPr>
        <p:spPr>
          <a:xfrm>
            <a:off x="1066800" y="228600"/>
            <a:ext cx="8686800" cy="1143000"/>
          </a:xfrm>
        </p:spPr>
        <p:txBody>
          <a:bodyPr>
            <a:normAutofit/>
          </a:bodyPr>
          <a:lstStyle/>
          <a:p>
            <a:r>
              <a:rPr lang="en-US" sz="3600" dirty="0"/>
              <a:t>Popular Projections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133600"/>
            <a:ext cx="7989752" cy="3630795"/>
          </a:xfrm>
        </p:spPr>
        <p:txBody>
          <a:bodyPr>
            <a:normAutofit fontScale="62500" lnSpcReduction="20000"/>
          </a:bodyPr>
          <a:lstStyle/>
          <a:p>
            <a:r>
              <a:rPr lang="en-US" sz="3100" dirty="0">
                <a:latin typeface="Arial" panose="020B0604020202020204" pitchFamily="34" charset="0"/>
                <a:cs typeface="Arial" panose="020B0604020202020204" pitchFamily="34" charset="0"/>
              </a:rPr>
              <a:t>Each state in the US also has one or more local coordinate systems. </a:t>
            </a:r>
          </a:p>
          <a:p>
            <a:endParaRPr lang="en-US" sz="3100" dirty="0">
              <a:latin typeface="Arial" panose="020B0604020202020204" pitchFamily="34" charset="0"/>
              <a:cs typeface="Arial" panose="020B0604020202020204" pitchFamily="34" charset="0"/>
            </a:endParaRPr>
          </a:p>
          <a:p>
            <a:pPr lvl="1"/>
            <a:r>
              <a:rPr lang="en-US" sz="3100" dirty="0">
                <a:latin typeface="Arial" panose="020B0604020202020204" pitchFamily="34" charset="0"/>
                <a:cs typeface="Arial" panose="020B0604020202020204" pitchFamily="34" charset="0"/>
              </a:rPr>
              <a:t>These have legal standing for property descriptions. </a:t>
            </a:r>
          </a:p>
          <a:p>
            <a:pPr lvl="1"/>
            <a:r>
              <a:rPr lang="en-US" sz="3100" dirty="0">
                <a:latin typeface="Arial" panose="020B0604020202020204" pitchFamily="34" charset="0"/>
                <a:cs typeface="Arial" panose="020B0604020202020204" pitchFamily="34" charset="0"/>
              </a:rPr>
              <a:t>They are known as “State Plane Coordinates” </a:t>
            </a:r>
          </a:p>
          <a:p>
            <a:pPr lvl="1"/>
            <a:r>
              <a:rPr lang="en-US" sz="3100" dirty="0">
                <a:latin typeface="Arial" panose="020B0604020202020204" pitchFamily="34" charset="0"/>
                <a:cs typeface="Arial" panose="020B0604020202020204" pitchFamily="34" charset="0"/>
              </a:rPr>
              <a:t> In all there are about 124 particular systems, depending on the shape of the state</a:t>
            </a:r>
          </a:p>
          <a:p>
            <a:pPr lvl="1"/>
            <a:r>
              <a:rPr lang="en-US" sz="3100" dirty="0">
                <a:latin typeface="Arial" panose="020B0604020202020204" pitchFamily="34" charset="0"/>
                <a:cs typeface="Arial" panose="020B0604020202020204" pitchFamily="34" charset="0"/>
              </a:rPr>
              <a:t>They use several different projections, the most common being the Lambert Conformal Conic and the Transverse Mercator</a:t>
            </a:r>
          </a:p>
          <a:p>
            <a:pPr lvl="1"/>
            <a:r>
              <a:rPr lang="en-US" sz="3100" dirty="0">
                <a:latin typeface="Arial" panose="020B0604020202020204" pitchFamily="34" charset="0"/>
                <a:cs typeface="Arial" panose="020B0604020202020204" pitchFamily="34" charset="0"/>
              </a:rPr>
              <a:t>Virtually all countries of the world have similar local systems, printed on their topographic maps.</a:t>
            </a:r>
          </a:p>
          <a:p>
            <a:endParaRPr lang="en-US" dirty="0"/>
          </a:p>
        </p:txBody>
      </p:sp>
      <p:sp>
        <p:nvSpPr>
          <p:cNvPr id="4" name="Slide Number Placeholder 3"/>
          <p:cNvSpPr>
            <a:spLocks noGrp="1"/>
          </p:cNvSpPr>
          <p:nvPr>
            <p:ph type="sldNum" sz="quarter" idx="12"/>
          </p:nvPr>
        </p:nvSpPr>
        <p:spPr/>
        <p:txBody>
          <a:bodyPr/>
          <a:lstStyle/>
          <a:p>
            <a:fld id="{ABE87010-ED2C-4D21-945F-EFF2AD9789AF}" type="slidenum">
              <a:rPr lang="en-US" smtClean="0"/>
              <a:pPr/>
              <a:t>11</a:t>
            </a:fld>
            <a:endParaRPr lang="en-US"/>
          </a:p>
        </p:txBody>
      </p:sp>
      <p:sp>
        <p:nvSpPr>
          <p:cNvPr id="3" name="Title 2"/>
          <p:cNvSpPr>
            <a:spLocks noGrp="1"/>
          </p:cNvSpPr>
          <p:nvPr>
            <p:ph type="title"/>
          </p:nvPr>
        </p:nvSpPr>
        <p:spPr>
          <a:xfrm>
            <a:off x="581192" y="228600"/>
            <a:ext cx="8686800" cy="1066800"/>
          </a:xfrm>
        </p:spPr>
        <p:txBody>
          <a:bodyPr>
            <a:normAutofit fontScale="90000"/>
          </a:bodyPr>
          <a:lstStyle/>
          <a:p>
            <a:r>
              <a:rPr lang="en-US" sz="3600" dirty="0"/>
              <a:t>Local Projections for Smaller Areas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exas SP Zones.jpg"/>
          <p:cNvPicPr>
            <a:picLocks noGrp="1" noChangeAspect="1"/>
          </p:cNvPicPr>
          <p:nvPr>
            <p:ph idx="1"/>
          </p:nvPr>
        </p:nvPicPr>
        <p:blipFill>
          <a:blip r:embed="rId2" cstate="print"/>
          <a:stretch>
            <a:fillRect/>
          </a:stretch>
        </p:blipFill>
        <p:spPr>
          <a:xfrm>
            <a:off x="2590800" y="1938436"/>
            <a:ext cx="4917456" cy="4919564"/>
          </a:xfrm>
          <a:ln w="25400">
            <a:solidFill>
              <a:schemeClr val="accent1"/>
            </a:solidFill>
          </a:ln>
        </p:spPr>
      </p:pic>
      <p:sp>
        <p:nvSpPr>
          <p:cNvPr id="5" name="Slide Number Placeholder 4"/>
          <p:cNvSpPr>
            <a:spLocks noGrp="1"/>
          </p:cNvSpPr>
          <p:nvPr>
            <p:ph type="sldNum" sz="quarter" idx="12"/>
          </p:nvPr>
        </p:nvSpPr>
        <p:spPr/>
        <p:txBody>
          <a:bodyPr/>
          <a:lstStyle/>
          <a:p>
            <a:fld id="{ABE87010-ED2C-4D21-945F-EFF2AD9789AF}" type="slidenum">
              <a:rPr lang="en-US" smtClean="0"/>
              <a:pPr/>
              <a:t>12</a:t>
            </a:fld>
            <a:endParaRPr lang="en-US"/>
          </a:p>
        </p:txBody>
      </p:sp>
      <p:sp>
        <p:nvSpPr>
          <p:cNvPr id="3" name="Title 2"/>
          <p:cNvSpPr>
            <a:spLocks noGrp="1"/>
          </p:cNvSpPr>
          <p:nvPr>
            <p:ph type="title"/>
          </p:nvPr>
        </p:nvSpPr>
        <p:spPr>
          <a:xfrm>
            <a:off x="1981200" y="310474"/>
            <a:ext cx="7989752" cy="1083329"/>
          </a:xfrm>
        </p:spPr>
        <p:txBody>
          <a:bodyPr/>
          <a:lstStyle/>
          <a:p>
            <a:r>
              <a:rPr lang="en-US" dirty="0"/>
              <a:t>Texas State Plane Zones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81192" y="2679580"/>
            <a:ext cx="7989752" cy="3630795"/>
          </a:xfrm>
        </p:spPr>
        <p:txBody>
          <a:bodyPr>
            <a:normAutofit fontScale="92500" lnSpcReduction="20000"/>
          </a:bodyPr>
          <a:lstStyle/>
          <a:p>
            <a:r>
              <a:rPr lang="en-US" sz="2400" dirty="0">
                <a:latin typeface="Arial" panose="020B0604020202020204" pitchFamily="34" charset="0"/>
                <a:cs typeface="Arial" panose="020B0604020202020204" pitchFamily="34" charset="0"/>
              </a:rPr>
              <a:t>We are often looking at polygons of aggregated data.   Homework 2</a:t>
            </a:r>
          </a:p>
          <a:p>
            <a:endParaRPr lang="en-US" sz="2400" dirty="0">
              <a:latin typeface="Arial" panose="020B0604020202020204" pitchFamily="34" charset="0"/>
              <a:cs typeface="Arial" panose="020B0604020202020204" pitchFamily="34" charset="0"/>
            </a:endParaRPr>
          </a:p>
          <a:p>
            <a:pPr lvl="1"/>
            <a:r>
              <a:rPr lang="en-US" sz="2400" dirty="0">
                <a:latin typeface="Arial" panose="020B0604020202020204" pitchFamily="34" charset="0"/>
                <a:cs typeface="Arial" panose="020B0604020202020204" pitchFamily="34" charset="0"/>
              </a:rPr>
              <a:t>Counts over a particular area</a:t>
            </a:r>
          </a:p>
          <a:p>
            <a:pPr lvl="1"/>
            <a:r>
              <a:rPr lang="en-US" sz="2400" dirty="0">
                <a:latin typeface="Arial" panose="020B0604020202020204" pitchFamily="34" charset="0"/>
                <a:cs typeface="Arial" panose="020B0604020202020204" pitchFamily="34" charset="0"/>
              </a:rPr>
              <a:t>Rates; % s for a particular location</a:t>
            </a:r>
          </a:p>
          <a:p>
            <a:pPr lvl="1"/>
            <a:r>
              <a:rPr lang="en-US" sz="2400" dirty="0">
                <a:latin typeface="Arial" panose="020B0604020202020204" pitchFamily="34" charset="0"/>
                <a:cs typeface="Arial" panose="020B0604020202020204" pitchFamily="34" charset="0"/>
              </a:rPr>
              <a:t>Groups of individuals</a:t>
            </a:r>
          </a:p>
          <a:p>
            <a:endParaRPr lang="en-US" sz="2400" dirty="0">
              <a:latin typeface="Arial" panose="020B0604020202020204" pitchFamily="34" charset="0"/>
              <a:cs typeface="Arial" panose="020B0604020202020204" pitchFamily="34" charset="0"/>
            </a:endParaRPr>
          </a:p>
          <a:p>
            <a:pPr marL="365760" lvl="1" indent="-256032">
              <a:spcBef>
                <a:spcPts val="400"/>
              </a:spcBef>
              <a:buSzPct val="68000"/>
              <a:buFont typeface="Wingdings 3"/>
              <a:buChar char=""/>
            </a:pPr>
            <a:r>
              <a:rPr lang="en-US" sz="2400" dirty="0">
                <a:latin typeface="Arial" panose="020B0604020202020204" pitchFamily="34" charset="0"/>
                <a:cs typeface="Arial" panose="020B0604020202020204" pitchFamily="34" charset="0"/>
              </a:rPr>
              <a:t>The scale at which we aggregate can matter a lot.  It can change the results of statistical analysis</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a:buNone/>
            </a:pPr>
            <a:endParaRPr lang="en-US" dirty="0">
              <a:latin typeface="Arial" panose="020B0604020202020204" pitchFamily="34" charset="0"/>
              <a:cs typeface="Arial" panose="020B0604020202020204" pitchFamily="34" charset="0"/>
            </a:endParaRPr>
          </a:p>
          <a:p>
            <a:pPr lvl="1">
              <a:buNone/>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ABE87010-ED2C-4D21-945F-EFF2AD9789AF}" type="slidenum">
              <a:rPr lang="en-US" smtClean="0"/>
              <a:pPr/>
              <a:t>13</a:t>
            </a:fld>
            <a:endParaRPr lang="en-US"/>
          </a:p>
        </p:txBody>
      </p:sp>
      <p:sp>
        <p:nvSpPr>
          <p:cNvPr id="3" name="Title 2"/>
          <p:cNvSpPr>
            <a:spLocks noGrp="1"/>
          </p:cNvSpPr>
          <p:nvPr>
            <p:ph type="title"/>
          </p:nvPr>
        </p:nvSpPr>
        <p:spPr>
          <a:xfrm>
            <a:off x="1905000" y="228600"/>
            <a:ext cx="8534400" cy="1143000"/>
          </a:xfrm>
        </p:spPr>
        <p:txBody>
          <a:bodyPr/>
          <a:lstStyle/>
          <a:p>
            <a:r>
              <a:rPr lang="en-US" dirty="0"/>
              <a:t>Scale and Aggregation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3" name="Rectangle 9"/>
          <p:cNvSpPr>
            <a:spLocks noChangeArrowheads="1"/>
          </p:cNvSpPr>
          <p:nvPr/>
        </p:nvSpPr>
        <p:spPr bwMode="auto">
          <a:xfrm>
            <a:off x="1752600" y="3276600"/>
            <a:ext cx="2286000" cy="1524000"/>
          </a:xfrm>
          <a:prstGeom prst="rect">
            <a:avLst/>
          </a:prstGeom>
          <a:noFill/>
          <a:ln w="9525">
            <a:solidFill>
              <a:schemeClr val="tx1"/>
            </a:solidFill>
            <a:miter lim="800000"/>
            <a:headEnd/>
            <a:tailEnd/>
          </a:ln>
          <a:effectLst/>
        </p:spPr>
        <p:txBody>
          <a:bodyPr wrap="none" anchor="ctr"/>
          <a:lstStyle/>
          <a:p>
            <a:endParaRPr lang="en-US"/>
          </a:p>
        </p:txBody>
      </p:sp>
      <p:sp>
        <p:nvSpPr>
          <p:cNvPr id="108554" name="Rectangle 10"/>
          <p:cNvSpPr>
            <a:spLocks noChangeArrowheads="1"/>
          </p:cNvSpPr>
          <p:nvPr/>
        </p:nvSpPr>
        <p:spPr bwMode="auto">
          <a:xfrm>
            <a:off x="1752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55" name="Rectangle 11"/>
          <p:cNvSpPr>
            <a:spLocks noChangeArrowheads="1"/>
          </p:cNvSpPr>
          <p:nvPr/>
        </p:nvSpPr>
        <p:spPr bwMode="auto">
          <a:xfrm>
            <a:off x="2133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56" name="Rectangle 12"/>
          <p:cNvSpPr>
            <a:spLocks noChangeArrowheads="1"/>
          </p:cNvSpPr>
          <p:nvPr/>
        </p:nvSpPr>
        <p:spPr bwMode="auto">
          <a:xfrm>
            <a:off x="2514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57" name="Rectangle 13"/>
          <p:cNvSpPr>
            <a:spLocks noChangeArrowheads="1"/>
          </p:cNvSpPr>
          <p:nvPr/>
        </p:nvSpPr>
        <p:spPr bwMode="auto">
          <a:xfrm>
            <a:off x="2895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58" name="Rectangle 14"/>
          <p:cNvSpPr>
            <a:spLocks noChangeArrowheads="1"/>
          </p:cNvSpPr>
          <p:nvPr/>
        </p:nvSpPr>
        <p:spPr bwMode="auto">
          <a:xfrm>
            <a:off x="3276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59" name="Rectangle 15"/>
          <p:cNvSpPr>
            <a:spLocks noChangeArrowheads="1"/>
          </p:cNvSpPr>
          <p:nvPr/>
        </p:nvSpPr>
        <p:spPr bwMode="auto">
          <a:xfrm>
            <a:off x="3657600" y="3276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0" name="Rectangle 16"/>
          <p:cNvSpPr>
            <a:spLocks noChangeArrowheads="1"/>
          </p:cNvSpPr>
          <p:nvPr/>
        </p:nvSpPr>
        <p:spPr bwMode="auto">
          <a:xfrm>
            <a:off x="1752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1" name="Rectangle 17"/>
          <p:cNvSpPr>
            <a:spLocks noChangeArrowheads="1"/>
          </p:cNvSpPr>
          <p:nvPr/>
        </p:nvSpPr>
        <p:spPr bwMode="auto">
          <a:xfrm>
            <a:off x="2133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2" name="Rectangle 18"/>
          <p:cNvSpPr>
            <a:spLocks noChangeArrowheads="1"/>
          </p:cNvSpPr>
          <p:nvPr/>
        </p:nvSpPr>
        <p:spPr bwMode="auto">
          <a:xfrm>
            <a:off x="2514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3" name="Rectangle 19"/>
          <p:cNvSpPr>
            <a:spLocks noChangeArrowheads="1"/>
          </p:cNvSpPr>
          <p:nvPr/>
        </p:nvSpPr>
        <p:spPr bwMode="auto">
          <a:xfrm>
            <a:off x="2895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4" name="Rectangle 20"/>
          <p:cNvSpPr>
            <a:spLocks noChangeArrowheads="1"/>
          </p:cNvSpPr>
          <p:nvPr/>
        </p:nvSpPr>
        <p:spPr bwMode="auto">
          <a:xfrm>
            <a:off x="3276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5" name="Rectangle 21"/>
          <p:cNvSpPr>
            <a:spLocks noChangeArrowheads="1"/>
          </p:cNvSpPr>
          <p:nvPr/>
        </p:nvSpPr>
        <p:spPr bwMode="auto">
          <a:xfrm>
            <a:off x="3657600" y="3657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6" name="Rectangle 22"/>
          <p:cNvSpPr>
            <a:spLocks noChangeArrowheads="1"/>
          </p:cNvSpPr>
          <p:nvPr/>
        </p:nvSpPr>
        <p:spPr bwMode="auto">
          <a:xfrm>
            <a:off x="1752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7" name="Rectangle 23"/>
          <p:cNvSpPr>
            <a:spLocks noChangeArrowheads="1"/>
          </p:cNvSpPr>
          <p:nvPr/>
        </p:nvSpPr>
        <p:spPr bwMode="auto">
          <a:xfrm>
            <a:off x="2133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8" name="Rectangle 24"/>
          <p:cNvSpPr>
            <a:spLocks noChangeArrowheads="1"/>
          </p:cNvSpPr>
          <p:nvPr/>
        </p:nvSpPr>
        <p:spPr bwMode="auto">
          <a:xfrm>
            <a:off x="2514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69" name="Rectangle 25"/>
          <p:cNvSpPr>
            <a:spLocks noChangeArrowheads="1"/>
          </p:cNvSpPr>
          <p:nvPr/>
        </p:nvSpPr>
        <p:spPr bwMode="auto">
          <a:xfrm>
            <a:off x="2895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0" name="Rectangle 26"/>
          <p:cNvSpPr>
            <a:spLocks noChangeArrowheads="1"/>
          </p:cNvSpPr>
          <p:nvPr/>
        </p:nvSpPr>
        <p:spPr bwMode="auto">
          <a:xfrm>
            <a:off x="3276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1" name="Rectangle 27"/>
          <p:cNvSpPr>
            <a:spLocks noChangeArrowheads="1"/>
          </p:cNvSpPr>
          <p:nvPr/>
        </p:nvSpPr>
        <p:spPr bwMode="auto">
          <a:xfrm>
            <a:off x="3657600" y="4038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2" name="Rectangle 28"/>
          <p:cNvSpPr>
            <a:spLocks noChangeArrowheads="1"/>
          </p:cNvSpPr>
          <p:nvPr/>
        </p:nvSpPr>
        <p:spPr bwMode="auto">
          <a:xfrm>
            <a:off x="1752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3" name="Rectangle 29"/>
          <p:cNvSpPr>
            <a:spLocks noChangeArrowheads="1"/>
          </p:cNvSpPr>
          <p:nvPr/>
        </p:nvSpPr>
        <p:spPr bwMode="auto">
          <a:xfrm>
            <a:off x="2133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4" name="Rectangle 30"/>
          <p:cNvSpPr>
            <a:spLocks noChangeArrowheads="1"/>
          </p:cNvSpPr>
          <p:nvPr/>
        </p:nvSpPr>
        <p:spPr bwMode="auto">
          <a:xfrm>
            <a:off x="2514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5" name="Rectangle 31"/>
          <p:cNvSpPr>
            <a:spLocks noChangeArrowheads="1"/>
          </p:cNvSpPr>
          <p:nvPr/>
        </p:nvSpPr>
        <p:spPr bwMode="auto">
          <a:xfrm>
            <a:off x="2895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6" name="Rectangle 32"/>
          <p:cNvSpPr>
            <a:spLocks noChangeArrowheads="1"/>
          </p:cNvSpPr>
          <p:nvPr/>
        </p:nvSpPr>
        <p:spPr bwMode="auto">
          <a:xfrm>
            <a:off x="3276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77" name="Rectangle 33"/>
          <p:cNvSpPr>
            <a:spLocks noChangeArrowheads="1"/>
          </p:cNvSpPr>
          <p:nvPr/>
        </p:nvSpPr>
        <p:spPr bwMode="auto">
          <a:xfrm>
            <a:off x="3657600" y="4419600"/>
            <a:ext cx="381000" cy="381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584" name="Line 40"/>
          <p:cNvSpPr>
            <a:spLocks noChangeShapeType="1"/>
          </p:cNvSpPr>
          <p:nvPr/>
        </p:nvSpPr>
        <p:spPr bwMode="auto">
          <a:xfrm>
            <a:off x="4191000" y="4191000"/>
            <a:ext cx="381000" cy="0"/>
          </a:xfrm>
          <a:prstGeom prst="line">
            <a:avLst/>
          </a:prstGeom>
          <a:noFill/>
          <a:ln w="9525">
            <a:solidFill>
              <a:schemeClr val="tx1"/>
            </a:solidFill>
            <a:round/>
            <a:headEnd type="triangle" w="med" len="med"/>
            <a:tailEnd type="triangle" w="med" len="med"/>
          </a:ln>
          <a:effectLst/>
        </p:spPr>
        <p:txBody>
          <a:bodyPr/>
          <a:lstStyle/>
          <a:p>
            <a:endParaRPr lang="en-US"/>
          </a:p>
        </p:txBody>
      </p:sp>
      <p:sp>
        <p:nvSpPr>
          <p:cNvPr id="108585" name="Rectangle 41"/>
          <p:cNvSpPr>
            <a:spLocks noChangeArrowheads="1"/>
          </p:cNvSpPr>
          <p:nvPr/>
        </p:nvSpPr>
        <p:spPr bwMode="auto">
          <a:xfrm>
            <a:off x="4800600" y="3276600"/>
            <a:ext cx="2286000" cy="1524000"/>
          </a:xfrm>
          <a:prstGeom prst="rect">
            <a:avLst/>
          </a:prstGeom>
          <a:noFill/>
          <a:ln w="9525">
            <a:solidFill>
              <a:schemeClr val="tx1"/>
            </a:solidFill>
            <a:miter lim="800000"/>
            <a:headEnd/>
            <a:tailEnd/>
          </a:ln>
          <a:effectLst/>
        </p:spPr>
        <p:txBody>
          <a:bodyPr wrap="none" anchor="ctr"/>
          <a:lstStyle/>
          <a:p>
            <a:endParaRPr lang="en-US"/>
          </a:p>
        </p:txBody>
      </p:sp>
      <p:sp>
        <p:nvSpPr>
          <p:cNvPr id="108616" name="Rectangle 72"/>
          <p:cNvSpPr>
            <a:spLocks noChangeArrowheads="1"/>
          </p:cNvSpPr>
          <p:nvPr/>
        </p:nvSpPr>
        <p:spPr bwMode="auto">
          <a:xfrm>
            <a:off x="4800600" y="3276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17" name="Rectangle 73"/>
          <p:cNvSpPr>
            <a:spLocks noChangeArrowheads="1"/>
          </p:cNvSpPr>
          <p:nvPr/>
        </p:nvSpPr>
        <p:spPr bwMode="auto">
          <a:xfrm>
            <a:off x="5562600" y="3276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18" name="Rectangle 74"/>
          <p:cNvSpPr>
            <a:spLocks noChangeArrowheads="1"/>
          </p:cNvSpPr>
          <p:nvPr/>
        </p:nvSpPr>
        <p:spPr bwMode="auto">
          <a:xfrm>
            <a:off x="6324600" y="3276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19" name="Rectangle 75"/>
          <p:cNvSpPr>
            <a:spLocks noChangeArrowheads="1"/>
          </p:cNvSpPr>
          <p:nvPr/>
        </p:nvSpPr>
        <p:spPr bwMode="auto">
          <a:xfrm>
            <a:off x="4800600" y="4038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20" name="Rectangle 76"/>
          <p:cNvSpPr>
            <a:spLocks noChangeArrowheads="1"/>
          </p:cNvSpPr>
          <p:nvPr/>
        </p:nvSpPr>
        <p:spPr bwMode="auto">
          <a:xfrm>
            <a:off x="5562600" y="4038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21" name="Rectangle 77"/>
          <p:cNvSpPr>
            <a:spLocks noChangeArrowheads="1"/>
          </p:cNvSpPr>
          <p:nvPr/>
        </p:nvSpPr>
        <p:spPr bwMode="auto">
          <a:xfrm>
            <a:off x="6324600" y="4038600"/>
            <a:ext cx="762000" cy="7620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08622" name="Text Box 78"/>
          <p:cNvSpPr txBox="1">
            <a:spLocks noChangeArrowheads="1"/>
          </p:cNvSpPr>
          <p:nvPr/>
        </p:nvSpPr>
        <p:spPr bwMode="auto">
          <a:xfrm>
            <a:off x="3352800" y="4876800"/>
            <a:ext cx="3170238" cy="457200"/>
          </a:xfrm>
          <a:prstGeom prst="rect">
            <a:avLst/>
          </a:prstGeom>
          <a:noFill/>
          <a:ln w="9525">
            <a:noFill/>
            <a:miter lim="800000"/>
            <a:headEnd/>
            <a:tailEnd/>
          </a:ln>
          <a:effectLst/>
        </p:spPr>
        <p:txBody>
          <a:bodyPr wrap="none">
            <a:spAutoFit/>
          </a:bodyPr>
          <a:lstStyle/>
          <a:p>
            <a:r>
              <a:rPr lang="en-US"/>
              <a:t>Aggregation (smoothed)</a:t>
            </a:r>
          </a:p>
        </p:txBody>
      </p:sp>
      <p:sp>
        <p:nvSpPr>
          <p:cNvPr id="41" name="Content Placeholder 40"/>
          <p:cNvSpPr>
            <a:spLocks noGrp="1"/>
          </p:cNvSpPr>
          <p:nvPr>
            <p:ph idx="1"/>
          </p:nvPr>
        </p:nvSpPr>
        <p:spPr>
          <a:xfrm>
            <a:off x="609600" y="350837"/>
            <a:ext cx="8382000" cy="4525963"/>
          </a:xfrm>
        </p:spPr>
        <p:txBody>
          <a:bodyPr>
            <a:normAutofit/>
          </a:bodyPr>
          <a:lstStyle/>
          <a:p>
            <a:r>
              <a:rPr lang="en-US" sz="2400" dirty="0">
                <a:latin typeface="Arial" panose="020B0604020202020204" pitchFamily="34" charset="0"/>
                <a:cs typeface="Arial" panose="020B0604020202020204" pitchFamily="34" charset="0"/>
              </a:rPr>
              <a:t> </a:t>
            </a:r>
            <a:r>
              <a:rPr lang="en-US" sz="2400" dirty="0">
                <a:solidFill>
                  <a:srgbClr val="FF0000"/>
                </a:solidFill>
                <a:latin typeface="Arial" panose="020B0604020202020204" pitchFamily="34" charset="0"/>
                <a:cs typeface="Arial" panose="020B0604020202020204" pitchFamily="34" charset="0"/>
              </a:rPr>
              <a:t>Scale:   </a:t>
            </a:r>
            <a:r>
              <a:rPr lang="en-US" sz="2400" dirty="0">
                <a:latin typeface="Arial" panose="020B0604020202020204" pitchFamily="34" charset="0"/>
                <a:cs typeface="Arial" panose="020B0604020202020204" pitchFamily="34" charset="0"/>
              </a:rPr>
              <a:t>Generally speaking, the larger the spatial units, the stronger the relationship among variables</a:t>
            </a:r>
          </a:p>
        </p:txBody>
      </p:sp>
      <p:sp>
        <p:nvSpPr>
          <p:cNvPr id="42" name="Slide Number Placeholder 41"/>
          <p:cNvSpPr>
            <a:spLocks noGrp="1"/>
          </p:cNvSpPr>
          <p:nvPr>
            <p:ph type="sldNum" sz="quarter" idx="12"/>
          </p:nvPr>
        </p:nvSpPr>
        <p:spPr/>
        <p:txBody>
          <a:bodyPr/>
          <a:lstStyle/>
          <a:p>
            <a:fld id="{ABE87010-ED2C-4D21-945F-EFF2AD9789AF}" type="slidenum">
              <a:rPr lang="en-US" smtClean="0"/>
              <a:pPr/>
              <a:t>14</a:t>
            </a:fld>
            <a:endParaRPr lang="en-US"/>
          </a:p>
        </p:txBody>
      </p:sp>
      <p:sp>
        <p:nvSpPr>
          <p:cNvPr id="40" name="Title 39"/>
          <p:cNvSpPr>
            <a:spLocks noGrp="1"/>
          </p:cNvSpPr>
          <p:nvPr>
            <p:ph type="title"/>
          </p:nvPr>
        </p:nvSpPr>
        <p:spPr>
          <a:xfrm>
            <a:off x="1977736" y="283425"/>
            <a:ext cx="8458200" cy="1143000"/>
          </a:xfrm>
        </p:spPr>
        <p:txBody>
          <a:bodyPr/>
          <a:lstStyle/>
          <a:p>
            <a:r>
              <a:rPr lang="en-US" dirty="0"/>
              <a:t>The Scale Issue:  Diagram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0" name="Rectangle 10"/>
          <p:cNvSpPr>
            <a:spLocks noChangeArrowheads="1"/>
          </p:cNvSpPr>
          <p:nvPr/>
        </p:nvSpPr>
        <p:spPr bwMode="auto">
          <a:xfrm>
            <a:off x="1371600" y="3276600"/>
            <a:ext cx="2286000" cy="2209800"/>
          </a:xfrm>
          <a:prstGeom prst="rect">
            <a:avLst/>
          </a:prstGeom>
          <a:noFill/>
          <a:ln w="28575">
            <a:solidFill>
              <a:schemeClr val="tx1"/>
            </a:solidFill>
            <a:miter lim="800000"/>
            <a:headEnd/>
            <a:tailEnd/>
          </a:ln>
          <a:effectLst/>
        </p:spPr>
        <p:txBody>
          <a:bodyPr wrap="none" anchor="ctr"/>
          <a:lstStyle/>
          <a:p>
            <a:endParaRPr lang="en-US"/>
          </a:p>
        </p:txBody>
      </p:sp>
      <p:sp>
        <p:nvSpPr>
          <p:cNvPr id="102411" name="Rectangle 11"/>
          <p:cNvSpPr>
            <a:spLocks noChangeArrowheads="1"/>
          </p:cNvSpPr>
          <p:nvPr/>
        </p:nvSpPr>
        <p:spPr bwMode="auto">
          <a:xfrm>
            <a:off x="1371600" y="3276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2" name="Rectangle 12"/>
          <p:cNvSpPr>
            <a:spLocks noChangeArrowheads="1"/>
          </p:cNvSpPr>
          <p:nvPr/>
        </p:nvSpPr>
        <p:spPr bwMode="auto">
          <a:xfrm>
            <a:off x="2133600" y="3276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3" name="Rectangle 13"/>
          <p:cNvSpPr>
            <a:spLocks noChangeArrowheads="1"/>
          </p:cNvSpPr>
          <p:nvPr/>
        </p:nvSpPr>
        <p:spPr bwMode="auto">
          <a:xfrm>
            <a:off x="2895600" y="3276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4" name="Rectangle 14"/>
          <p:cNvSpPr>
            <a:spLocks noChangeArrowheads="1"/>
          </p:cNvSpPr>
          <p:nvPr/>
        </p:nvSpPr>
        <p:spPr bwMode="auto">
          <a:xfrm>
            <a:off x="1371600" y="4038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5" name="Rectangle 15"/>
          <p:cNvSpPr>
            <a:spLocks noChangeArrowheads="1"/>
          </p:cNvSpPr>
          <p:nvPr/>
        </p:nvSpPr>
        <p:spPr bwMode="auto">
          <a:xfrm>
            <a:off x="2133600" y="4038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6" name="Rectangle 16"/>
          <p:cNvSpPr>
            <a:spLocks noChangeArrowheads="1"/>
          </p:cNvSpPr>
          <p:nvPr/>
        </p:nvSpPr>
        <p:spPr bwMode="auto">
          <a:xfrm>
            <a:off x="2895600" y="4038600"/>
            <a:ext cx="762000" cy="762000"/>
          </a:xfrm>
          <a:prstGeom prst="rect">
            <a:avLst/>
          </a:prstGeom>
          <a:noFill/>
          <a:ln w="9525">
            <a:solidFill>
              <a:schemeClr val="tx1"/>
            </a:solidFill>
            <a:miter lim="800000"/>
            <a:headEnd/>
            <a:tailEnd/>
          </a:ln>
          <a:effectLst/>
        </p:spPr>
        <p:txBody>
          <a:bodyPr wrap="none" anchor="ctr"/>
          <a:lstStyle/>
          <a:p>
            <a:endParaRPr lang="en-US"/>
          </a:p>
        </p:txBody>
      </p:sp>
      <p:sp>
        <p:nvSpPr>
          <p:cNvPr id="102417" name="Rectangle 17"/>
          <p:cNvSpPr>
            <a:spLocks noChangeArrowheads="1"/>
          </p:cNvSpPr>
          <p:nvPr/>
        </p:nvSpPr>
        <p:spPr bwMode="auto">
          <a:xfrm>
            <a:off x="1371600" y="4800600"/>
            <a:ext cx="1219200" cy="685800"/>
          </a:xfrm>
          <a:prstGeom prst="rect">
            <a:avLst/>
          </a:prstGeom>
          <a:noFill/>
          <a:ln w="9525">
            <a:solidFill>
              <a:schemeClr val="tx1"/>
            </a:solidFill>
            <a:miter lim="800000"/>
            <a:headEnd/>
            <a:tailEnd/>
          </a:ln>
          <a:effectLst/>
        </p:spPr>
        <p:txBody>
          <a:bodyPr wrap="none" anchor="ctr"/>
          <a:lstStyle/>
          <a:p>
            <a:endParaRPr lang="en-US"/>
          </a:p>
        </p:txBody>
      </p:sp>
      <p:sp>
        <p:nvSpPr>
          <p:cNvPr id="102418" name="Rectangle 18"/>
          <p:cNvSpPr>
            <a:spLocks noChangeArrowheads="1"/>
          </p:cNvSpPr>
          <p:nvPr/>
        </p:nvSpPr>
        <p:spPr bwMode="auto">
          <a:xfrm>
            <a:off x="4724400" y="3276600"/>
            <a:ext cx="2286000" cy="2209800"/>
          </a:xfrm>
          <a:prstGeom prst="rect">
            <a:avLst/>
          </a:prstGeom>
          <a:noFill/>
          <a:ln w="31750">
            <a:solidFill>
              <a:schemeClr val="tx1"/>
            </a:solidFill>
            <a:miter lim="800000"/>
            <a:headEnd/>
            <a:tailEnd/>
          </a:ln>
          <a:effectLst/>
        </p:spPr>
        <p:txBody>
          <a:bodyPr wrap="none" anchor="ctr"/>
          <a:lstStyle/>
          <a:p>
            <a:endParaRPr lang="en-US"/>
          </a:p>
        </p:txBody>
      </p:sp>
      <p:sp>
        <p:nvSpPr>
          <p:cNvPr id="102419" name="Freeform 19"/>
          <p:cNvSpPr>
            <a:spLocks/>
          </p:cNvSpPr>
          <p:nvPr/>
        </p:nvSpPr>
        <p:spPr bwMode="auto">
          <a:xfrm>
            <a:off x="4724400" y="3276600"/>
            <a:ext cx="838200" cy="838200"/>
          </a:xfrm>
          <a:custGeom>
            <a:avLst/>
            <a:gdLst/>
            <a:ahLst/>
            <a:cxnLst>
              <a:cxn ang="0">
                <a:pos x="528" y="0"/>
              </a:cxn>
              <a:cxn ang="0">
                <a:pos x="480" y="336"/>
              </a:cxn>
              <a:cxn ang="0">
                <a:pos x="240" y="528"/>
              </a:cxn>
              <a:cxn ang="0">
                <a:pos x="144" y="480"/>
              </a:cxn>
              <a:cxn ang="0">
                <a:pos x="0" y="384"/>
              </a:cxn>
            </a:cxnLst>
            <a:rect l="0" t="0" r="r" b="b"/>
            <a:pathLst>
              <a:path w="528" h="528">
                <a:moveTo>
                  <a:pt x="528" y="0"/>
                </a:moveTo>
                <a:lnTo>
                  <a:pt x="480" y="336"/>
                </a:lnTo>
                <a:lnTo>
                  <a:pt x="240" y="528"/>
                </a:lnTo>
                <a:lnTo>
                  <a:pt x="144" y="480"/>
                </a:lnTo>
                <a:lnTo>
                  <a:pt x="0" y="384"/>
                </a:lnTo>
              </a:path>
            </a:pathLst>
          </a:custGeom>
          <a:noFill/>
          <a:ln w="9525">
            <a:solidFill>
              <a:schemeClr val="tx1"/>
            </a:solidFill>
            <a:round/>
            <a:headEnd/>
            <a:tailEnd/>
          </a:ln>
          <a:effectLst/>
        </p:spPr>
        <p:txBody>
          <a:bodyPr/>
          <a:lstStyle/>
          <a:p>
            <a:endParaRPr lang="en-US"/>
          </a:p>
        </p:txBody>
      </p:sp>
      <p:sp>
        <p:nvSpPr>
          <p:cNvPr id="102420" name="Freeform 20"/>
          <p:cNvSpPr>
            <a:spLocks/>
          </p:cNvSpPr>
          <p:nvPr/>
        </p:nvSpPr>
        <p:spPr bwMode="auto">
          <a:xfrm>
            <a:off x="5410200" y="3276600"/>
            <a:ext cx="838200" cy="990600"/>
          </a:xfrm>
          <a:custGeom>
            <a:avLst/>
            <a:gdLst/>
            <a:ahLst/>
            <a:cxnLst>
              <a:cxn ang="0">
                <a:pos x="528" y="0"/>
              </a:cxn>
              <a:cxn ang="0">
                <a:pos x="480" y="336"/>
              </a:cxn>
              <a:cxn ang="0">
                <a:pos x="384" y="528"/>
              </a:cxn>
              <a:cxn ang="0">
                <a:pos x="240" y="624"/>
              </a:cxn>
              <a:cxn ang="0">
                <a:pos x="48" y="528"/>
              </a:cxn>
              <a:cxn ang="0">
                <a:pos x="0" y="384"/>
              </a:cxn>
            </a:cxnLst>
            <a:rect l="0" t="0" r="r" b="b"/>
            <a:pathLst>
              <a:path w="528" h="624">
                <a:moveTo>
                  <a:pt x="528" y="0"/>
                </a:moveTo>
                <a:lnTo>
                  <a:pt x="480" y="336"/>
                </a:lnTo>
                <a:lnTo>
                  <a:pt x="384" y="528"/>
                </a:lnTo>
                <a:lnTo>
                  <a:pt x="240" y="624"/>
                </a:lnTo>
                <a:lnTo>
                  <a:pt x="48" y="528"/>
                </a:lnTo>
                <a:lnTo>
                  <a:pt x="0" y="384"/>
                </a:lnTo>
              </a:path>
            </a:pathLst>
          </a:custGeom>
          <a:noFill/>
          <a:ln w="9525">
            <a:solidFill>
              <a:schemeClr val="tx1"/>
            </a:solidFill>
            <a:round/>
            <a:headEnd/>
            <a:tailEnd/>
          </a:ln>
          <a:effectLst/>
        </p:spPr>
        <p:txBody>
          <a:bodyPr/>
          <a:lstStyle/>
          <a:p>
            <a:endParaRPr lang="en-US"/>
          </a:p>
        </p:txBody>
      </p:sp>
      <p:sp>
        <p:nvSpPr>
          <p:cNvPr id="102421" name="Freeform 21"/>
          <p:cNvSpPr>
            <a:spLocks/>
          </p:cNvSpPr>
          <p:nvPr/>
        </p:nvSpPr>
        <p:spPr bwMode="auto">
          <a:xfrm>
            <a:off x="6172200" y="3810000"/>
            <a:ext cx="838200" cy="228600"/>
          </a:xfrm>
          <a:custGeom>
            <a:avLst/>
            <a:gdLst/>
            <a:ahLst/>
            <a:cxnLst>
              <a:cxn ang="0">
                <a:pos x="480" y="144"/>
              </a:cxn>
              <a:cxn ang="0">
                <a:pos x="288" y="96"/>
              </a:cxn>
              <a:cxn ang="0">
                <a:pos x="0" y="0"/>
              </a:cxn>
            </a:cxnLst>
            <a:rect l="0" t="0" r="r" b="b"/>
            <a:pathLst>
              <a:path w="480" h="144">
                <a:moveTo>
                  <a:pt x="480" y="144"/>
                </a:moveTo>
                <a:lnTo>
                  <a:pt x="288" y="96"/>
                </a:lnTo>
                <a:lnTo>
                  <a:pt x="0" y="0"/>
                </a:lnTo>
              </a:path>
            </a:pathLst>
          </a:custGeom>
          <a:noFill/>
          <a:ln w="9525">
            <a:solidFill>
              <a:schemeClr val="tx1"/>
            </a:solidFill>
            <a:round/>
            <a:headEnd/>
            <a:tailEnd/>
          </a:ln>
          <a:effectLst/>
        </p:spPr>
        <p:txBody>
          <a:bodyPr/>
          <a:lstStyle/>
          <a:p>
            <a:endParaRPr lang="en-US"/>
          </a:p>
        </p:txBody>
      </p:sp>
      <p:sp>
        <p:nvSpPr>
          <p:cNvPr id="102422" name="Freeform 22"/>
          <p:cNvSpPr>
            <a:spLocks/>
          </p:cNvSpPr>
          <p:nvPr/>
        </p:nvSpPr>
        <p:spPr bwMode="auto">
          <a:xfrm>
            <a:off x="4724400" y="4114800"/>
            <a:ext cx="838200" cy="990600"/>
          </a:xfrm>
          <a:custGeom>
            <a:avLst/>
            <a:gdLst/>
            <a:ahLst/>
            <a:cxnLst>
              <a:cxn ang="0">
                <a:pos x="0" y="624"/>
              </a:cxn>
              <a:cxn ang="0">
                <a:pos x="288" y="432"/>
              </a:cxn>
              <a:cxn ang="0">
                <a:pos x="432" y="336"/>
              </a:cxn>
              <a:cxn ang="0">
                <a:pos x="528" y="144"/>
              </a:cxn>
              <a:cxn ang="0">
                <a:pos x="528" y="0"/>
              </a:cxn>
            </a:cxnLst>
            <a:rect l="0" t="0" r="r" b="b"/>
            <a:pathLst>
              <a:path w="528" h="624">
                <a:moveTo>
                  <a:pt x="0" y="624"/>
                </a:moveTo>
                <a:lnTo>
                  <a:pt x="288" y="432"/>
                </a:lnTo>
                <a:lnTo>
                  <a:pt x="432" y="336"/>
                </a:lnTo>
                <a:lnTo>
                  <a:pt x="528" y="144"/>
                </a:lnTo>
                <a:lnTo>
                  <a:pt x="528" y="0"/>
                </a:lnTo>
              </a:path>
            </a:pathLst>
          </a:custGeom>
          <a:noFill/>
          <a:ln w="9525">
            <a:solidFill>
              <a:schemeClr val="tx1"/>
            </a:solidFill>
            <a:round/>
            <a:headEnd/>
            <a:tailEnd/>
          </a:ln>
          <a:effectLst/>
        </p:spPr>
        <p:txBody>
          <a:bodyPr/>
          <a:lstStyle/>
          <a:p>
            <a:endParaRPr lang="en-US"/>
          </a:p>
        </p:txBody>
      </p:sp>
      <p:sp>
        <p:nvSpPr>
          <p:cNvPr id="102423" name="Freeform 23"/>
          <p:cNvSpPr>
            <a:spLocks/>
          </p:cNvSpPr>
          <p:nvPr/>
        </p:nvSpPr>
        <p:spPr bwMode="auto">
          <a:xfrm>
            <a:off x="5943600" y="4114800"/>
            <a:ext cx="457200" cy="1371600"/>
          </a:xfrm>
          <a:custGeom>
            <a:avLst/>
            <a:gdLst/>
            <a:ahLst/>
            <a:cxnLst>
              <a:cxn ang="0">
                <a:pos x="0" y="0"/>
              </a:cxn>
              <a:cxn ang="0">
                <a:pos x="96" y="432"/>
              </a:cxn>
              <a:cxn ang="0">
                <a:pos x="144" y="672"/>
              </a:cxn>
              <a:cxn ang="0">
                <a:pos x="240" y="768"/>
              </a:cxn>
              <a:cxn ang="0">
                <a:pos x="288" y="864"/>
              </a:cxn>
            </a:cxnLst>
            <a:rect l="0" t="0" r="r" b="b"/>
            <a:pathLst>
              <a:path w="288" h="864">
                <a:moveTo>
                  <a:pt x="0" y="0"/>
                </a:moveTo>
                <a:lnTo>
                  <a:pt x="96" y="432"/>
                </a:lnTo>
                <a:lnTo>
                  <a:pt x="144" y="672"/>
                </a:lnTo>
                <a:lnTo>
                  <a:pt x="240" y="768"/>
                </a:lnTo>
                <a:lnTo>
                  <a:pt x="288" y="864"/>
                </a:lnTo>
              </a:path>
            </a:pathLst>
          </a:custGeom>
          <a:noFill/>
          <a:ln w="9525">
            <a:solidFill>
              <a:schemeClr val="tx1"/>
            </a:solidFill>
            <a:round/>
            <a:headEnd/>
            <a:tailEnd/>
          </a:ln>
          <a:effectLst/>
        </p:spPr>
        <p:txBody>
          <a:bodyPr/>
          <a:lstStyle/>
          <a:p>
            <a:endParaRPr lang="en-US"/>
          </a:p>
        </p:txBody>
      </p:sp>
      <p:sp>
        <p:nvSpPr>
          <p:cNvPr id="102424" name="Freeform 24"/>
          <p:cNvSpPr>
            <a:spLocks/>
          </p:cNvSpPr>
          <p:nvPr/>
        </p:nvSpPr>
        <p:spPr bwMode="auto">
          <a:xfrm>
            <a:off x="5181600" y="4800600"/>
            <a:ext cx="838200" cy="685800"/>
          </a:xfrm>
          <a:custGeom>
            <a:avLst/>
            <a:gdLst/>
            <a:ahLst/>
            <a:cxnLst>
              <a:cxn ang="0">
                <a:pos x="0" y="0"/>
              </a:cxn>
              <a:cxn ang="0">
                <a:pos x="192" y="144"/>
              </a:cxn>
              <a:cxn ang="0">
                <a:pos x="480" y="288"/>
              </a:cxn>
              <a:cxn ang="0">
                <a:pos x="528" y="432"/>
              </a:cxn>
            </a:cxnLst>
            <a:rect l="0" t="0" r="r" b="b"/>
            <a:pathLst>
              <a:path w="528" h="432">
                <a:moveTo>
                  <a:pt x="0" y="0"/>
                </a:moveTo>
                <a:lnTo>
                  <a:pt x="192" y="144"/>
                </a:lnTo>
                <a:lnTo>
                  <a:pt x="480" y="288"/>
                </a:lnTo>
                <a:lnTo>
                  <a:pt x="528" y="432"/>
                </a:lnTo>
              </a:path>
            </a:pathLst>
          </a:custGeom>
          <a:noFill/>
          <a:ln w="9525">
            <a:solidFill>
              <a:schemeClr val="tx1"/>
            </a:solidFill>
            <a:round/>
            <a:headEnd/>
            <a:tailEnd/>
          </a:ln>
          <a:effectLst/>
        </p:spPr>
        <p:txBody>
          <a:bodyPr/>
          <a:lstStyle/>
          <a:p>
            <a:endParaRPr lang="en-US"/>
          </a:p>
        </p:txBody>
      </p:sp>
      <p:sp>
        <p:nvSpPr>
          <p:cNvPr id="102425" name="Freeform 25"/>
          <p:cNvSpPr>
            <a:spLocks/>
          </p:cNvSpPr>
          <p:nvPr/>
        </p:nvSpPr>
        <p:spPr bwMode="auto">
          <a:xfrm>
            <a:off x="6096000" y="4648200"/>
            <a:ext cx="914400" cy="304800"/>
          </a:xfrm>
          <a:custGeom>
            <a:avLst/>
            <a:gdLst/>
            <a:ahLst/>
            <a:cxnLst>
              <a:cxn ang="0">
                <a:pos x="0" y="192"/>
              </a:cxn>
              <a:cxn ang="0">
                <a:pos x="336" y="96"/>
              </a:cxn>
              <a:cxn ang="0">
                <a:pos x="480" y="48"/>
              </a:cxn>
              <a:cxn ang="0">
                <a:pos x="576" y="0"/>
              </a:cxn>
            </a:cxnLst>
            <a:rect l="0" t="0" r="r" b="b"/>
            <a:pathLst>
              <a:path w="576" h="192">
                <a:moveTo>
                  <a:pt x="0" y="192"/>
                </a:moveTo>
                <a:lnTo>
                  <a:pt x="336" y="96"/>
                </a:lnTo>
                <a:lnTo>
                  <a:pt x="480" y="48"/>
                </a:lnTo>
                <a:lnTo>
                  <a:pt x="576" y="0"/>
                </a:lnTo>
              </a:path>
            </a:pathLst>
          </a:custGeom>
          <a:noFill/>
          <a:ln w="9525">
            <a:solidFill>
              <a:schemeClr val="tx1"/>
            </a:solidFill>
            <a:round/>
            <a:headEnd/>
            <a:tailEnd/>
          </a:ln>
          <a:effectLst/>
        </p:spPr>
        <p:txBody>
          <a:bodyPr/>
          <a:lstStyle/>
          <a:p>
            <a:endParaRPr lang="en-US"/>
          </a:p>
        </p:txBody>
      </p:sp>
      <p:sp>
        <p:nvSpPr>
          <p:cNvPr id="20" name="Content Placeholder 19"/>
          <p:cNvSpPr>
            <a:spLocks noGrp="1"/>
          </p:cNvSpPr>
          <p:nvPr>
            <p:ph idx="1"/>
          </p:nvPr>
        </p:nvSpPr>
        <p:spPr>
          <a:xfrm>
            <a:off x="419100" y="274637"/>
            <a:ext cx="8305800" cy="4525963"/>
          </a:xfrm>
        </p:spPr>
        <p:txBody>
          <a:bodyPr>
            <a:normAutofit/>
          </a:bodyPr>
          <a:lstStyle/>
          <a:p>
            <a:r>
              <a:rPr lang="en-US" sz="2400" dirty="0">
                <a:solidFill>
                  <a:srgbClr val="FF0000"/>
                </a:solidFill>
              </a:rPr>
              <a:t>Aggregation:  </a:t>
            </a:r>
            <a:r>
              <a:rPr lang="en-US" sz="2400" dirty="0"/>
              <a:t>Units are arbitrarily defined and organizing them differently can create different results:</a:t>
            </a:r>
          </a:p>
        </p:txBody>
      </p:sp>
      <p:sp>
        <p:nvSpPr>
          <p:cNvPr id="21" name="Slide Number Placeholder 20"/>
          <p:cNvSpPr>
            <a:spLocks noGrp="1"/>
          </p:cNvSpPr>
          <p:nvPr>
            <p:ph type="sldNum" sz="quarter" idx="12"/>
          </p:nvPr>
        </p:nvSpPr>
        <p:spPr/>
        <p:txBody>
          <a:bodyPr/>
          <a:lstStyle/>
          <a:p>
            <a:fld id="{ABE87010-ED2C-4D21-945F-EFF2AD9789AF}" type="slidenum">
              <a:rPr lang="en-US" smtClean="0"/>
              <a:pPr/>
              <a:t>15</a:t>
            </a:fld>
            <a:endParaRPr lang="en-US"/>
          </a:p>
        </p:txBody>
      </p:sp>
      <p:sp>
        <p:nvSpPr>
          <p:cNvPr id="19" name="Title 18"/>
          <p:cNvSpPr>
            <a:spLocks noGrp="1"/>
          </p:cNvSpPr>
          <p:nvPr>
            <p:ph type="title"/>
          </p:nvPr>
        </p:nvSpPr>
        <p:spPr>
          <a:xfrm>
            <a:off x="1143000" y="207310"/>
            <a:ext cx="8534400" cy="1143000"/>
          </a:xfrm>
        </p:spPr>
        <p:txBody>
          <a:bodyPr>
            <a:normAutofit/>
          </a:bodyPr>
          <a:lstStyle/>
          <a:p>
            <a:r>
              <a:rPr lang="en-US" dirty="0"/>
              <a:t>Zoning or Aggregation: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4" name="Picture 6" descr="fig1"/>
          <p:cNvPicPr>
            <a:picLocks noGrp="1" noChangeAspect="1" noChangeArrowheads="1"/>
          </p:cNvPicPr>
          <p:nvPr>
            <p:ph idx="1"/>
          </p:nvPr>
        </p:nvPicPr>
        <p:blipFill>
          <a:blip r:embed="rId2" cstate="print"/>
          <a:stretch>
            <a:fillRect/>
          </a:stretch>
        </p:blipFill>
        <p:spPr>
          <a:xfrm>
            <a:off x="486567" y="2362200"/>
            <a:ext cx="8200233" cy="3200400"/>
          </a:xfrm>
          <a:noFill/>
          <a:ln w="25400">
            <a:solidFill>
              <a:schemeClr val="tx1"/>
            </a:solidFill>
          </a:ln>
        </p:spPr>
      </p:pic>
      <p:sp>
        <p:nvSpPr>
          <p:cNvPr id="7" name="Slide Number Placeholder 6"/>
          <p:cNvSpPr>
            <a:spLocks noGrp="1"/>
          </p:cNvSpPr>
          <p:nvPr>
            <p:ph type="sldNum" sz="quarter" idx="12"/>
          </p:nvPr>
        </p:nvSpPr>
        <p:spPr/>
        <p:txBody>
          <a:bodyPr/>
          <a:lstStyle/>
          <a:p>
            <a:fld id="{ABE87010-ED2C-4D21-945F-EFF2AD9789AF}" type="slidenum">
              <a:rPr lang="en-US" smtClean="0"/>
              <a:pPr/>
              <a:t>16</a:t>
            </a:fld>
            <a:endParaRPr lang="en-US"/>
          </a:p>
        </p:txBody>
      </p:sp>
      <p:sp>
        <p:nvSpPr>
          <p:cNvPr id="6" name="Title 5"/>
          <p:cNvSpPr>
            <a:spLocks noGrp="1"/>
          </p:cNvSpPr>
          <p:nvPr>
            <p:ph type="title"/>
          </p:nvPr>
        </p:nvSpPr>
        <p:spPr>
          <a:xfrm>
            <a:off x="2362200" y="438067"/>
            <a:ext cx="8534400" cy="1143000"/>
          </a:xfrm>
        </p:spPr>
        <p:txBody>
          <a:bodyPr/>
          <a:lstStyle/>
          <a:p>
            <a:r>
              <a:rPr lang="en-US" dirty="0"/>
              <a:t>The MAUP: An Example 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fig2"/>
          <p:cNvPicPr>
            <a:picLocks noGrp="1" noChangeAspect="1" noChangeArrowheads="1"/>
          </p:cNvPicPr>
          <p:nvPr>
            <p:ph idx="1"/>
          </p:nvPr>
        </p:nvPicPr>
        <p:blipFill>
          <a:blip r:embed="rId2" cstate="print"/>
          <a:srcRect/>
          <a:stretch>
            <a:fillRect/>
          </a:stretch>
        </p:blipFill>
        <p:spPr>
          <a:xfrm>
            <a:off x="533400" y="1905000"/>
            <a:ext cx="8077200" cy="3200400"/>
          </a:xfrm>
          <a:noFill/>
          <a:ln w="25400">
            <a:solidFill>
              <a:schemeClr val="tx1"/>
            </a:solidFill>
          </a:ln>
        </p:spPr>
      </p:pic>
      <p:sp>
        <p:nvSpPr>
          <p:cNvPr id="5" name="Slide Number Placeholder 4"/>
          <p:cNvSpPr>
            <a:spLocks noGrp="1"/>
          </p:cNvSpPr>
          <p:nvPr>
            <p:ph type="sldNum" sz="quarter" idx="12"/>
          </p:nvPr>
        </p:nvSpPr>
        <p:spPr/>
        <p:txBody>
          <a:bodyPr/>
          <a:lstStyle/>
          <a:p>
            <a:fld id="{ABE87010-ED2C-4D21-945F-EFF2AD9789AF}" type="slidenum">
              <a:rPr lang="en-US" smtClean="0"/>
              <a:pPr/>
              <a:t>17</a:t>
            </a:fld>
            <a:endParaRPr lang="en-US"/>
          </a:p>
        </p:txBody>
      </p:sp>
      <p:sp>
        <p:nvSpPr>
          <p:cNvPr id="3" name="Title 2"/>
          <p:cNvSpPr>
            <a:spLocks noGrp="1"/>
          </p:cNvSpPr>
          <p:nvPr>
            <p:ph type="title"/>
          </p:nvPr>
        </p:nvSpPr>
        <p:spPr>
          <a:xfrm>
            <a:off x="152400" y="274638"/>
            <a:ext cx="8534400" cy="1143000"/>
          </a:xfrm>
        </p:spPr>
        <p:txBody>
          <a:bodyPr/>
          <a:lstStyle/>
          <a:p>
            <a:r>
              <a:rPr lang="en-US" dirty="0"/>
              <a:t>The MAUP:  An Example II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My Documents\MW's files\mchconference\counties.jpg"/>
          <p:cNvPicPr>
            <a:picLocks noChangeAspect="1" noChangeArrowheads="1"/>
          </p:cNvPicPr>
          <p:nvPr/>
        </p:nvPicPr>
        <p:blipFill>
          <a:blip r:embed="rId2" cstate="print"/>
          <a:srcRect/>
          <a:stretch>
            <a:fillRect/>
          </a:stretch>
        </p:blipFill>
        <p:spPr bwMode="auto">
          <a:xfrm>
            <a:off x="1447800" y="1947672"/>
            <a:ext cx="6450822" cy="4910328"/>
          </a:xfrm>
          <a:prstGeom prst="rect">
            <a:avLst/>
          </a:prstGeom>
          <a:noFill/>
          <a:ln>
            <a:solidFill>
              <a:schemeClr val="tx1"/>
            </a:solidFill>
          </a:ln>
        </p:spPr>
      </p:pic>
      <p:sp>
        <p:nvSpPr>
          <p:cNvPr id="5" name="Content Placeholder 4"/>
          <p:cNvSpPr>
            <a:spLocks noGrp="1"/>
          </p:cNvSpPr>
          <p:nvPr>
            <p:ph idx="1"/>
          </p:nvPr>
        </p:nvSpPr>
        <p:spPr/>
        <p:txBody>
          <a:bodyPr/>
          <a:lstStyle/>
          <a:p>
            <a:pPr>
              <a:buNone/>
            </a:pPr>
            <a:r>
              <a:rPr lang="en-US" dirty="0"/>
              <a:t>  </a:t>
            </a:r>
          </a:p>
        </p:txBody>
      </p:sp>
      <p:sp>
        <p:nvSpPr>
          <p:cNvPr id="3" name="Title 2"/>
          <p:cNvSpPr>
            <a:spLocks noGrp="1"/>
          </p:cNvSpPr>
          <p:nvPr>
            <p:ph type="title"/>
          </p:nvPr>
        </p:nvSpPr>
        <p:spPr>
          <a:xfrm>
            <a:off x="2591860" y="406805"/>
            <a:ext cx="7989752" cy="1083329"/>
          </a:xfrm>
        </p:spPr>
        <p:txBody>
          <a:bodyPr/>
          <a:lstStyle/>
          <a:p>
            <a:r>
              <a:rPr lang="en-US" dirty="0"/>
              <a:t>Scale:  Counties</a:t>
            </a:r>
          </a:p>
        </p:txBody>
      </p:sp>
      <p:sp>
        <p:nvSpPr>
          <p:cNvPr id="6" name="TextBox 5"/>
          <p:cNvSpPr txBox="1"/>
          <p:nvPr/>
        </p:nvSpPr>
        <p:spPr>
          <a:xfrm>
            <a:off x="6172200" y="4648200"/>
            <a:ext cx="829073" cy="369332"/>
          </a:xfrm>
          <a:prstGeom prst="rect">
            <a:avLst/>
          </a:prstGeom>
          <a:noFill/>
        </p:spPr>
        <p:txBody>
          <a:bodyPr wrap="none" rtlCol="0">
            <a:spAutoFit/>
          </a:bodyPr>
          <a:lstStyle/>
          <a:p>
            <a:r>
              <a:rPr lang="en-US" dirty="0"/>
              <a:t>N=87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buNone/>
            </a:pPr>
            <a:r>
              <a:rPr lang="en-US" dirty="0"/>
              <a:t>   </a:t>
            </a:r>
          </a:p>
        </p:txBody>
      </p:sp>
      <p:sp>
        <p:nvSpPr>
          <p:cNvPr id="2" name="Slide Number Placeholder 1"/>
          <p:cNvSpPr>
            <a:spLocks noGrp="1"/>
          </p:cNvSpPr>
          <p:nvPr>
            <p:ph type="sldNum" sz="quarter" idx="12"/>
          </p:nvPr>
        </p:nvSpPr>
        <p:spPr/>
        <p:txBody>
          <a:bodyPr/>
          <a:lstStyle/>
          <a:p>
            <a:fld id="{ABE87010-ED2C-4D21-945F-EFF2AD9789AF}" type="slidenum">
              <a:rPr lang="en-US" smtClean="0"/>
              <a:pPr/>
              <a:t>19</a:t>
            </a:fld>
            <a:endParaRPr lang="en-US"/>
          </a:p>
        </p:txBody>
      </p:sp>
      <p:sp>
        <p:nvSpPr>
          <p:cNvPr id="4" name="Title 3"/>
          <p:cNvSpPr>
            <a:spLocks noGrp="1"/>
          </p:cNvSpPr>
          <p:nvPr>
            <p:ph type="title"/>
          </p:nvPr>
        </p:nvSpPr>
        <p:spPr>
          <a:xfrm>
            <a:off x="1981200" y="227808"/>
            <a:ext cx="7989752" cy="1083329"/>
          </a:xfrm>
        </p:spPr>
        <p:txBody>
          <a:bodyPr/>
          <a:lstStyle/>
          <a:p>
            <a:r>
              <a:rPr lang="en-US" dirty="0"/>
              <a:t>Scale:  Block Groups</a:t>
            </a:r>
          </a:p>
        </p:txBody>
      </p:sp>
      <p:pic>
        <p:nvPicPr>
          <p:cNvPr id="3" name="Picture 2" descr="C:\My Documents\MW's files\mchconference\censusblkgrps.jpg"/>
          <p:cNvPicPr>
            <a:picLocks noChangeAspect="1" noChangeArrowheads="1"/>
          </p:cNvPicPr>
          <p:nvPr/>
        </p:nvPicPr>
        <p:blipFill>
          <a:blip r:embed="rId2" cstate="print"/>
          <a:srcRect/>
          <a:stretch>
            <a:fillRect/>
          </a:stretch>
        </p:blipFill>
        <p:spPr bwMode="auto">
          <a:xfrm>
            <a:off x="1399211" y="1918032"/>
            <a:ext cx="6450760" cy="4910280"/>
          </a:xfrm>
          <a:prstGeom prst="rect">
            <a:avLst/>
          </a:prstGeom>
          <a:noFill/>
          <a:ln w="25400">
            <a:solidFill>
              <a:schemeClr val="tx1"/>
            </a:solidFill>
          </a:ln>
        </p:spPr>
      </p:pic>
      <p:sp>
        <p:nvSpPr>
          <p:cNvPr id="6" name="TextBox 5"/>
          <p:cNvSpPr txBox="1"/>
          <p:nvPr/>
        </p:nvSpPr>
        <p:spPr>
          <a:xfrm>
            <a:off x="6553200" y="5257800"/>
            <a:ext cx="1194558" cy="369332"/>
          </a:xfrm>
          <a:prstGeom prst="rect">
            <a:avLst/>
          </a:prstGeom>
          <a:noFill/>
        </p:spPr>
        <p:txBody>
          <a:bodyPr wrap="none" rtlCol="0">
            <a:spAutoFit/>
          </a:bodyPr>
          <a:lstStyle/>
          <a:p>
            <a:r>
              <a:rPr lang="en-US" dirty="0"/>
              <a:t>N=4,443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92500" lnSpcReduction="20000"/>
          </a:bodyPr>
          <a:lstStyle/>
          <a:p>
            <a:r>
              <a:rPr lang="en-US" sz="2400" dirty="0">
                <a:latin typeface="Arial" panose="020B0604020202020204" pitchFamily="34" charset="0"/>
                <a:cs typeface="Arial" panose="020B0604020202020204" pitchFamily="34" charset="0"/>
              </a:rPr>
              <a:t>U.S. </a:t>
            </a:r>
            <a:r>
              <a:rPr lang="en-US" sz="2400" dirty="0" err="1">
                <a:latin typeface="Arial" panose="020B0604020202020204" pitchFamily="34" charset="0"/>
                <a:cs typeface="Arial" panose="020B0604020202020204" pitchFamily="34" charset="0"/>
              </a:rPr>
              <a:t>Fips</a:t>
            </a:r>
            <a:r>
              <a:rPr lang="en-US" sz="2400" dirty="0">
                <a:latin typeface="Arial" panose="020B0604020202020204" pitchFamily="34" charset="0"/>
                <a:cs typeface="Arial" panose="020B0604020202020204" pitchFamily="34" charset="0"/>
              </a:rPr>
              <a:t> Codes:  “Federal Information Processing”</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Key ID Codes </a:t>
            </a:r>
            <a:r>
              <a:rPr lang="en-US" sz="2400" dirty="0">
                <a:solidFill>
                  <a:srgbClr val="FF0000"/>
                </a:solidFill>
                <a:latin typeface="Arial" panose="020B0604020202020204" pitchFamily="34" charset="0"/>
                <a:cs typeface="Arial" panose="020B0604020202020204" pitchFamily="34" charset="0"/>
              </a:rPr>
              <a:t>are required </a:t>
            </a:r>
            <a:r>
              <a:rPr lang="en-US" sz="2400" dirty="0">
                <a:latin typeface="Arial" panose="020B0604020202020204" pitchFamily="34" charset="0"/>
                <a:cs typeface="Arial" panose="020B0604020202020204" pitchFamily="34" charset="0"/>
              </a:rPr>
              <a:t>to match one set of data to another, one table to another</a:t>
            </a:r>
          </a:p>
          <a:p>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Be watchful of the format of key ids</a:t>
            </a:r>
          </a:p>
          <a:p>
            <a:pPr lvl="1"/>
            <a:r>
              <a:rPr lang="en-US" sz="2400" dirty="0">
                <a:latin typeface="Arial" panose="020B0604020202020204" pitchFamily="34" charset="0"/>
                <a:cs typeface="Arial" panose="020B0604020202020204" pitchFamily="34" charset="0"/>
              </a:rPr>
              <a:t>String</a:t>
            </a:r>
          </a:p>
          <a:p>
            <a:pPr lvl="1"/>
            <a:r>
              <a:rPr lang="en-US" sz="2400" dirty="0">
                <a:latin typeface="Arial" panose="020B0604020202020204" pitchFamily="34" charset="0"/>
                <a:cs typeface="Arial" panose="020B0604020202020204" pitchFamily="34" charset="0"/>
              </a:rPr>
              <a:t>Numeric   (numeric ids are usually easier)</a:t>
            </a:r>
          </a:p>
          <a:p>
            <a:pPr lvl="1"/>
            <a:r>
              <a:rPr lang="en-US" sz="2400" dirty="0">
                <a:latin typeface="Arial" panose="020B0604020202020204" pitchFamily="34" charset="0"/>
                <a:cs typeface="Arial" panose="020B0604020202020204" pitchFamily="34" charset="0"/>
              </a:rPr>
              <a:t>Length of Field</a:t>
            </a:r>
          </a:p>
          <a:p>
            <a:endParaRPr lang="en-US" dirty="0"/>
          </a:p>
          <a:p>
            <a:endParaRPr lang="en-US" dirty="0"/>
          </a:p>
        </p:txBody>
      </p:sp>
      <p:sp>
        <p:nvSpPr>
          <p:cNvPr id="3" name="Title 2"/>
          <p:cNvSpPr>
            <a:spLocks noGrp="1"/>
          </p:cNvSpPr>
          <p:nvPr>
            <p:ph type="title"/>
          </p:nvPr>
        </p:nvSpPr>
        <p:spPr>
          <a:xfrm>
            <a:off x="1676400" y="457537"/>
            <a:ext cx="7989752" cy="1083329"/>
          </a:xfrm>
        </p:spPr>
        <p:txBody>
          <a:bodyPr/>
          <a:lstStyle/>
          <a:p>
            <a:r>
              <a:rPr lang="en-US" dirty="0"/>
              <a:t>Importance of Key ID Codes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A13CDE73-DE67-AC0D-82A7-22551372B1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858" y="914400"/>
            <a:ext cx="7452283" cy="5630297"/>
          </a:xfrm>
          <a:prstGeom prst="rect">
            <a:avLst/>
          </a:prstGeom>
        </p:spPr>
      </p:pic>
    </p:spTree>
    <p:extLst>
      <p:ext uri="{BB962C8B-B14F-4D97-AF65-F5344CB8AC3E}">
        <p14:creationId xmlns:p14="http://schemas.microsoft.com/office/powerpoint/2010/main" val="762033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89E77-5022-1117-AD9E-76CA53553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74" y="609600"/>
            <a:ext cx="7934326" cy="5943600"/>
          </a:xfrm>
          <a:prstGeom prst="rect">
            <a:avLst/>
          </a:prstGeom>
        </p:spPr>
      </p:pic>
    </p:spTree>
    <p:extLst>
      <p:ext uri="{BB962C8B-B14F-4D97-AF65-F5344CB8AC3E}">
        <p14:creationId xmlns:p14="http://schemas.microsoft.com/office/powerpoint/2010/main" val="2693928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B575D7-C3E0-0916-6E86-AEF83FE051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 y="609600"/>
            <a:ext cx="8001000" cy="6084996"/>
          </a:xfrm>
          <a:prstGeom prst="rect">
            <a:avLst/>
          </a:prstGeom>
        </p:spPr>
      </p:pic>
    </p:spTree>
    <p:extLst>
      <p:ext uri="{BB962C8B-B14F-4D97-AF65-F5344CB8AC3E}">
        <p14:creationId xmlns:p14="http://schemas.microsoft.com/office/powerpoint/2010/main" val="1728556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70F5B2-AA61-58BA-CC58-2280656D9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991" y="512618"/>
            <a:ext cx="8342017" cy="6324600"/>
          </a:xfrm>
          <a:prstGeom prst="rect">
            <a:avLst/>
          </a:prstGeom>
        </p:spPr>
      </p:pic>
    </p:spTree>
    <p:extLst>
      <p:ext uri="{BB962C8B-B14F-4D97-AF65-F5344CB8AC3E}">
        <p14:creationId xmlns:p14="http://schemas.microsoft.com/office/powerpoint/2010/main" val="102533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6A19EE-ADE9-E648-2F05-4D16E28619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685800"/>
            <a:ext cx="8077200" cy="6055504"/>
          </a:xfrm>
          <a:prstGeom prst="rect">
            <a:avLst/>
          </a:prstGeom>
        </p:spPr>
      </p:pic>
    </p:spTree>
    <p:extLst>
      <p:ext uri="{BB962C8B-B14F-4D97-AF65-F5344CB8AC3E}">
        <p14:creationId xmlns:p14="http://schemas.microsoft.com/office/powerpoint/2010/main" val="292055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FD9A6D-470C-FE6D-2B74-8F8B05D048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762000"/>
            <a:ext cx="7772400" cy="5908515"/>
          </a:xfrm>
          <a:prstGeom prst="rect">
            <a:avLst/>
          </a:prstGeom>
        </p:spPr>
      </p:pic>
    </p:spTree>
    <p:extLst>
      <p:ext uri="{BB962C8B-B14F-4D97-AF65-F5344CB8AC3E}">
        <p14:creationId xmlns:p14="http://schemas.microsoft.com/office/powerpoint/2010/main" val="602254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D198FC-B674-4550-B93F-645BB76CF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609600"/>
            <a:ext cx="7772400" cy="5838732"/>
          </a:xfrm>
          <a:prstGeom prst="rect">
            <a:avLst/>
          </a:prstGeom>
        </p:spPr>
      </p:pic>
    </p:spTree>
    <p:extLst>
      <p:ext uri="{BB962C8B-B14F-4D97-AF65-F5344CB8AC3E}">
        <p14:creationId xmlns:p14="http://schemas.microsoft.com/office/powerpoint/2010/main" val="19078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D6AF01-F254-A3AE-870B-254FE0153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685800"/>
            <a:ext cx="7772400" cy="5747657"/>
          </a:xfrm>
          <a:prstGeom prst="rect">
            <a:avLst/>
          </a:prstGeom>
        </p:spPr>
      </p:pic>
    </p:spTree>
    <p:extLst>
      <p:ext uri="{BB962C8B-B14F-4D97-AF65-F5344CB8AC3E}">
        <p14:creationId xmlns:p14="http://schemas.microsoft.com/office/powerpoint/2010/main" val="760051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4476CE-B66B-5568-3D01-7B91343D13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131" y="685800"/>
            <a:ext cx="8001738" cy="5866681"/>
          </a:xfrm>
          <a:prstGeom prst="rect">
            <a:avLst/>
          </a:prstGeom>
        </p:spPr>
      </p:pic>
    </p:spTree>
    <p:extLst>
      <p:ext uri="{BB962C8B-B14F-4D97-AF65-F5344CB8AC3E}">
        <p14:creationId xmlns:p14="http://schemas.microsoft.com/office/powerpoint/2010/main" val="1602952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D99718-8D5B-42D7-0515-9004839AB8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685800"/>
            <a:ext cx="7924800" cy="5936464"/>
          </a:xfrm>
          <a:prstGeom prst="rect">
            <a:avLst/>
          </a:prstGeom>
        </p:spPr>
      </p:pic>
    </p:spTree>
    <p:extLst>
      <p:ext uri="{BB962C8B-B14F-4D97-AF65-F5344CB8AC3E}">
        <p14:creationId xmlns:p14="http://schemas.microsoft.com/office/powerpoint/2010/main" val="2556759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16963B-3661-39B5-3ADC-DA2D99785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44" y="609600"/>
            <a:ext cx="8018511" cy="6096000"/>
          </a:xfrm>
          <a:prstGeom prst="rect">
            <a:avLst/>
          </a:prstGeom>
        </p:spPr>
      </p:pic>
    </p:spTree>
    <p:extLst>
      <p:ext uri="{BB962C8B-B14F-4D97-AF65-F5344CB8AC3E}">
        <p14:creationId xmlns:p14="http://schemas.microsoft.com/office/powerpoint/2010/main" val="18405381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03C226-0835-59EB-420B-EFA4D7086B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685800"/>
            <a:ext cx="7959831" cy="6019800"/>
          </a:xfrm>
          <a:prstGeom prst="rect">
            <a:avLst/>
          </a:prstGeom>
        </p:spPr>
      </p:pic>
    </p:spTree>
    <p:extLst>
      <p:ext uri="{BB962C8B-B14F-4D97-AF65-F5344CB8AC3E}">
        <p14:creationId xmlns:p14="http://schemas.microsoft.com/office/powerpoint/2010/main" val="2525490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9BD8A3-165F-0B70-A61F-AFCDBE2B9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838200"/>
            <a:ext cx="7772400" cy="5723145"/>
          </a:xfrm>
          <a:prstGeom prst="rect">
            <a:avLst/>
          </a:prstGeom>
        </p:spPr>
      </p:pic>
    </p:spTree>
    <p:extLst>
      <p:ext uri="{BB962C8B-B14F-4D97-AF65-F5344CB8AC3E}">
        <p14:creationId xmlns:p14="http://schemas.microsoft.com/office/powerpoint/2010/main" val="3235236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F0D7AB-EAA4-9876-5129-C13A60DD01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762000"/>
            <a:ext cx="7772400" cy="5897602"/>
          </a:xfrm>
          <a:prstGeom prst="rect">
            <a:avLst/>
          </a:prstGeom>
        </p:spPr>
      </p:pic>
    </p:spTree>
    <p:extLst>
      <p:ext uri="{BB962C8B-B14F-4D97-AF65-F5344CB8AC3E}">
        <p14:creationId xmlns:p14="http://schemas.microsoft.com/office/powerpoint/2010/main" val="12995235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CC95B-A82D-3EF2-B1E5-7C1E039EDA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874509"/>
            <a:ext cx="7772400" cy="5108982"/>
          </a:xfrm>
          <a:prstGeom prst="rect">
            <a:avLst/>
          </a:prstGeom>
        </p:spPr>
      </p:pic>
    </p:spTree>
    <p:extLst>
      <p:ext uri="{BB962C8B-B14F-4D97-AF65-F5344CB8AC3E}">
        <p14:creationId xmlns:p14="http://schemas.microsoft.com/office/powerpoint/2010/main" val="1611300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C5F2D94C-5A3E-7122-07C9-A76096D6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100125"/>
            <a:ext cx="7772400" cy="4657750"/>
          </a:xfrm>
          <a:prstGeom prst="rect">
            <a:avLst/>
          </a:prstGeom>
        </p:spPr>
      </p:pic>
    </p:spTree>
    <p:extLst>
      <p:ext uri="{BB962C8B-B14F-4D97-AF65-F5344CB8AC3E}">
        <p14:creationId xmlns:p14="http://schemas.microsoft.com/office/powerpoint/2010/main" val="2646679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692F60-28A2-7B50-EC7E-D69DD623F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 y="990600"/>
            <a:ext cx="8001000" cy="5208606"/>
          </a:xfrm>
          <a:prstGeom prst="rect">
            <a:avLst/>
          </a:prstGeom>
        </p:spPr>
      </p:pic>
    </p:spTree>
    <p:extLst>
      <p:ext uri="{BB962C8B-B14F-4D97-AF65-F5344CB8AC3E}">
        <p14:creationId xmlns:p14="http://schemas.microsoft.com/office/powerpoint/2010/main" val="246729899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12897</TotalTime>
  <Words>919</Words>
  <Application>Microsoft Macintosh PowerPoint</Application>
  <PresentationFormat>On-screen Show (4:3)</PresentationFormat>
  <Paragraphs>137</Paragraphs>
  <Slides>37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Gill Sans MT</vt:lpstr>
      <vt:lpstr>Wingdings</vt:lpstr>
      <vt:lpstr>Wingdings 2</vt:lpstr>
      <vt:lpstr>Wingdings 3</vt:lpstr>
      <vt:lpstr>Dividend</vt:lpstr>
      <vt:lpstr>GIS and Spatial Analytics QMSS 5070</vt:lpstr>
      <vt:lpstr>Maps versus Globes</vt:lpstr>
      <vt:lpstr>From Globe to Map</vt:lpstr>
      <vt:lpstr>Coordinate Systems</vt:lpstr>
      <vt:lpstr>From One Coordinate System to Another</vt:lpstr>
      <vt:lpstr>Map Projections: Flattening the Earth </vt:lpstr>
      <vt:lpstr>Coordinates and Location</vt:lpstr>
      <vt:lpstr>Map Projections</vt:lpstr>
      <vt:lpstr>Map Projection and Appearance</vt:lpstr>
      <vt:lpstr>Popular Projections</vt:lpstr>
      <vt:lpstr>Local Projections for Smaller Areas</vt:lpstr>
      <vt:lpstr>Texas State Plane Zones</vt:lpstr>
      <vt:lpstr>Scale and Aggregation</vt:lpstr>
      <vt:lpstr>The Scale Issue:  Diagram</vt:lpstr>
      <vt:lpstr>Zoning or Aggregation:  Diagram</vt:lpstr>
      <vt:lpstr>The MAUP: An Example I</vt:lpstr>
      <vt:lpstr>The MAUP:  An Example II</vt:lpstr>
      <vt:lpstr>Scale:  Counties</vt:lpstr>
      <vt:lpstr>Scale:  Block Groups</vt:lpstr>
      <vt:lpstr>Importance of Key ID Codes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James Gimpel</dc:creator>
  <cp:lastModifiedBy>Edwin Grimsley</cp:lastModifiedBy>
  <cp:revision>62</cp:revision>
  <dcterms:created xsi:type="dcterms:W3CDTF">2011-09-13T13:49:46Z</dcterms:created>
  <dcterms:modified xsi:type="dcterms:W3CDTF">2024-09-17T16:15:43Z</dcterms:modified>
</cp:coreProperties>
</file>