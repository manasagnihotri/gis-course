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notesMasterIdLst>
    <p:notesMasterId r:id="rId45"/>
  </p:notesMasterIdLst>
  <p:sldIdLst>
    <p:sldId id="256" r:id="rId2"/>
    <p:sldId id="461" r:id="rId3"/>
    <p:sldId id="462" r:id="rId4"/>
    <p:sldId id="463" r:id="rId5"/>
    <p:sldId id="466" r:id="rId6"/>
    <p:sldId id="467" r:id="rId7"/>
    <p:sldId id="437" r:id="rId8"/>
    <p:sldId id="468" r:id="rId9"/>
    <p:sldId id="469" r:id="rId10"/>
    <p:sldId id="470" r:id="rId11"/>
    <p:sldId id="471" r:id="rId12"/>
    <p:sldId id="464" r:id="rId13"/>
    <p:sldId id="456" r:id="rId14"/>
    <p:sldId id="465" r:id="rId15"/>
    <p:sldId id="457" r:id="rId16"/>
    <p:sldId id="458" r:id="rId17"/>
    <p:sldId id="459" r:id="rId18"/>
    <p:sldId id="422" r:id="rId19"/>
    <p:sldId id="451" r:id="rId20"/>
    <p:sldId id="453" r:id="rId21"/>
    <p:sldId id="452" r:id="rId22"/>
    <p:sldId id="438" r:id="rId23"/>
    <p:sldId id="439" r:id="rId24"/>
    <p:sldId id="441" r:id="rId25"/>
    <p:sldId id="440" r:id="rId26"/>
    <p:sldId id="445" r:id="rId27"/>
    <p:sldId id="446" r:id="rId28"/>
    <p:sldId id="447" r:id="rId29"/>
    <p:sldId id="448" r:id="rId30"/>
    <p:sldId id="449" r:id="rId31"/>
    <p:sldId id="450" r:id="rId32"/>
    <p:sldId id="454" r:id="rId33"/>
    <p:sldId id="257" r:id="rId34"/>
    <p:sldId id="258" r:id="rId35"/>
    <p:sldId id="259" r:id="rId36"/>
    <p:sldId id="260" r:id="rId37"/>
    <p:sldId id="261" r:id="rId38"/>
    <p:sldId id="262" r:id="rId39"/>
    <p:sldId id="263" r:id="rId40"/>
    <p:sldId id="475" r:id="rId41"/>
    <p:sldId id="472" r:id="rId42"/>
    <p:sldId id="476" r:id="rId43"/>
    <p:sldId id="477"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9"/>
    <p:restoredTop sz="94658"/>
  </p:normalViewPr>
  <p:slideViewPr>
    <p:cSldViewPr>
      <p:cViewPr varScale="1">
        <p:scale>
          <a:sx n="120" d="100"/>
          <a:sy n="120" d="100"/>
        </p:scale>
        <p:origin x="856"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153FF9-58DC-4866-BA34-588FC57ECD05}" type="datetimeFigureOut">
              <a:rPr lang="en-US" smtClean="0"/>
              <a:t>4/1/25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889072-7365-4511-AB37-D013CF61EF89}" type="slidenum">
              <a:rPr lang="en-US" smtClean="0"/>
              <a:t>‹#›</a:t>
            </a:fld>
            <a:endParaRPr lang="en-US"/>
          </a:p>
        </p:txBody>
      </p:sp>
    </p:spTree>
    <p:extLst>
      <p:ext uri="{BB962C8B-B14F-4D97-AF65-F5344CB8AC3E}">
        <p14:creationId xmlns:p14="http://schemas.microsoft.com/office/powerpoint/2010/main" val="2332681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a:p>
        </p:txBody>
      </p:sp>
      <p:sp>
        <p:nvSpPr>
          <p:cNvPr id="74756" name="Slide Number Placeholder 3"/>
          <p:cNvSpPr>
            <a:spLocks noGrp="1"/>
          </p:cNvSpPr>
          <p:nvPr>
            <p:ph type="sldNum" sz="quarter" idx="5"/>
          </p:nvPr>
        </p:nvSpPr>
        <p:spPr>
          <a:noFill/>
        </p:spPr>
        <p:txBody>
          <a:bodyPr/>
          <a:lstStyle/>
          <a:p>
            <a:pPr defTabSz="935038"/>
            <a:fld id="{E608E210-C34A-4808-9FF8-D0EBF3F83CB5}" type="slidenum">
              <a:rPr lang="en-US" smtClean="0"/>
              <a:pPr defTabSz="935038"/>
              <a:t>18</a:t>
            </a:fld>
            <a:endParaRPr lang="en-US"/>
          </a:p>
        </p:txBody>
      </p:sp>
    </p:spTree>
    <p:extLst>
      <p:ext uri="{BB962C8B-B14F-4D97-AF65-F5344CB8AC3E}">
        <p14:creationId xmlns:p14="http://schemas.microsoft.com/office/powerpoint/2010/main" val="1275274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a:p>
        </p:txBody>
      </p:sp>
      <p:sp>
        <p:nvSpPr>
          <p:cNvPr id="74756" name="Slide Number Placeholder 3"/>
          <p:cNvSpPr>
            <a:spLocks noGrp="1"/>
          </p:cNvSpPr>
          <p:nvPr>
            <p:ph type="sldNum" sz="quarter" idx="5"/>
          </p:nvPr>
        </p:nvSpPr>
        <p:spPr>
          <a:noFill/>
        </p:spPr>
        <p:txBody>
          <a:bodyPr/>
          <a:lstStyle/>
          <a:p>
            <a:pPr defTabSz="935038"/>
            <a:fld id="{E608E210-C34A-4808-9FF8-D0EBF3F83CB5}" type="slidenum">
              <a:rPr lang="en-US" smtClean="0"/>
              <a:pPr defTabSz="935038"/>
              <a:t>19</a:t>
            </a:fld>
            <a:endParaRPr lang="en-US"/>
          </a:p>
        </p:txBody>
      </p:sp>
    </p:spTree>
    <p:extLst>
      <p:ext uri="{BB962C8B-B14F-4D97-AF65-F5344CB8AC3E}">
        <p14:creationId xmlns:p14="http://schemas.microsoft.com/office/powerpoint/2010/main" val="1198416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a:p>
        </p:txBody>
      </p:sp>
      <p:sp>
        <p:nvSpPr>
          <p:cNvPr id="74756" name="Slide Number Placeholder 3"/>
          <p:cNvSpPr>
            <a:spLocks noGrp="1"/>
          </p:cNvSpPr>
          <p:nvPr>
            <p:ph type="sldNum" sz="quarter" idx="5"/>
          </p:nvPr>
        </p:nvSpPr>
        <p:spPr>
          <a:noFill/>
        </p:spPr>
        <p:txBody>
          <a:bodyPr/>
          <a:lstStyle/>
          <a:p>
            <a:pPr defTabSz="935038"/>
            <a:fld id="{E608E210-C34A-4808-9FF8-D0EBF3F83CB5}" type="slidenum">
              <a:rPr lang="en-US" smtClean="0"/>
              <a:pPr defTabSz="935038"/>
              <a:t>21</a:t>
            </a:fld>
            <a:endParaRPr lang="en-US"/>
          </a:p>
        </p:txBody>
      </p:sp>
    </p:spTree>
    <p:extLst>
      <p:ext uri="{BB962C8B-B14F-4D97-AF65-F5344CB8AC3E}">
        <p14:creationId xmlns:p14="http://schemas.microsoft.com/office/powerpoint/2010/main" val="344839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variance to mean ratio indicates the type of point pattern:  if it’s close to one it is random.  If it’s close to zero, it’s uniform.  And if it is above one then it is more clustered.</a:t>
            </a:r>
            <a:endParaRPr lang="en-US" dirty="0"/>
          </a:p>
        </p:txBody>
      </p:sp>
      <p:sp>
        <p:nvSpPr>
          <p:cNvPr id="4" name="Slide Number Placeholder 3"/>
          <p:cNvSpPr>
            <a:spLocks noGrp="1"/>
          </p:cNvSpPr>
          <p:nvPr>
            <p:ph type="sldNum" sz="quarter" idx="10"/>
          </p:nvPr>
        </p:nvSpPr>
        <p:spPr/>
        <p:txBody>
          <a:bodyPr/>
          <a:lstStyle/>
          <a:p>
            <a:pPr>
              <a:defRPr/>
            </a:pPr>
            <a:fld id="{DB79BC27-43D6-4AE3-B8A5-9EC0AF7CD672}" type="slidenum">
              <a:rPr lang="en-US" smtClean="0"/>
              <a:pPr>
                <a:defRPr/>
              </a:pPr>
              <a:t>24</a:t>
            </a:fld>
            <a:endParaRPr lang="en-US"/>
          </a:p>
        </p:txBody>
      </p:sp>
    </p:spTree>
    <p:extLst>
      <p:ext uri="{BB962C8B-B14F-4D97-AF65-F5344CB8AC3E}">
        <p14:creationId xmlns:p14="http://schemas.microsoft.com/office/powerpoint/2010/main" val="4241613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Times New Roman" pitchFamily="18" charset="0"/>
                <a:ea typeface="+mn-ea"/>
                <a:cs typeface="+mn-cs"/>
              </a:rPr>
              <a:t>The Average Nearest Neighbor tool measures the distance between each feature centroid and its nearest neighbor's centroid location. It then averages all these nearest neighbor distances. </a:t>
            </a:r>
          </a:p>
          <a:p>
            <a:endParaRPr lang="en-US" sz="1200" kern="1200" dirty="0">
              <a:solidFill>
                <a:schemeClr val="tx1"/>
              </a:solidFill>
              <a:latin typeface="Times New Roman" pitchFamily="18" charset="0"/>
              <a:ea typeface="+mn-ea"/>
              <a:cs typeface="+mn-cs"/>
            </a:endParaRPr>
          </a:p>
          <a:p>
            <a:r>
              <a:rPr lang="en-US" sz="1200" kern="1200" dirty="0">
                <a:solidFill>
                  <a:schemeClr val="tx1"/>
                </a:solidFill>
                <a:latin typeface="Times New Roman" pitchFamily="18" charset="0"/>
                <a:ea typeface="+mn-ea"/>
                <a:cs typeface="+mn-cs"/>
              </a:rPr>
              <a:t>If the average distance is less than the average for a hypothetical random distribution, the distribution of the features being analyzed is considered clustered. If the average distance is greater than a hypothetical random distribution, the features are considered dispersed. </a:t>
            </a:r>
          </a:p>
          <a:p>
            <a:endParaRPr lang="en-US" sz="1200" kern="1200" dirty="0">
              <a:solidFill>
                <a:schemeClr val="tx1"/>
              </a:solidFill>
              <a:latin typeface="Times New Roman" pitchFamily="18" charset="0"/>
              <a:ea typeface="+mn-ea"/>
              <a:cs typeface="+mn-cs"/>
            </a:endParaRPr>
          </a:p>
          <a:p>
            <a:r>
              <a:rPr lang="en-US" sz="1200" kern="1200" dirty="0">
                <a:solidFill>
                  <a:schemeClr val="tx1"/>
                </a:solidFill>
                <a:latin typeface="Times New Roman" pitchFamily="18" charset="0"/>
                <a:ea typeface="+mn-ea"/>
                <a:cs typeface="+mn-cs"/>
              </a:rPr>
              <a:t>The average nearest neighbor ratio is calculated as the observed average distance divided by the expected average distance (with expected average distance being based on a hypothetical random distribution with the same number of features covering the same total area).</a:t>
            </a:r>
          </a:p>
          <a:p>
            <a:endParaRPr lang="en-US" sz="1200" kern="1200" dirty="0">
              <a:solidFill>
                <a:schemeClr val="tx1"/>
              </a:solidFill>
              <a:latin typeface="Times New Roman" pitchFamily="18" charset="0"/>
              <a:ea typeface="+mn-ea"/>
              <a:cs typeface="+mn-cs"/>
            </a:endParaRPr>
          </a:p>
          <a:p>
            <a:r>
              <a:rPr lang="en-US" sz="1200" kern="1200" dirty="0">
                <a:solidFill>
                  <a:schemeClr val="tx1"/>
                </a:solidFill>
                <a:latin typeface="Times New Roman" pitchFamily="18" charset="0"/>
                <a:ea typeface="+mn-ea"/>
                <a:cs typeface="+mn-cs"/>
              </a:rPr>
              <a:t>Random patterns are</a:t>
            </a:r>
            <a:r>
              <a:rPr lang="en-US" sz="1200" kern="1200" baseline="0" dirty="0">
                <a:solidFill>
                  <a:schemeClr val="tx1"/>
                </a:solidFill>
                <a:latin typeface="Times New Roman" pitchFamily="18" charset="0"/>
                <a:ea typeface="+mn-ea"/>
                <a:cs typeface="+mn-cs"/>
              </a:rPr>
              <a:t> closer to 1 on R</a:t>
            </a:r>
          </a:p>
          <a:p>
            <a:endParaRPr lang="en-US" sz="1200" kern="1200" dirty="0">
              <a:solidFill>
                <a:schemeClr val="tx1"/>
              </a:solidFill>
              <a:latin typeface="Times New Roman" pitchFamily="18" charset="0"/>
              <a:ea typeface="+mn-ea"/>
              <a:cs typeface="+mn-cs"/>
            </a:endParaRPr>
          </a:p>
          <a:p>
            <a:r>
              <a:rPr lang="en-US" sz="1200" kern="1200" dirty="0">
                <a:solidFill>
                  <a:schemeClr val="tx1"/>
                </a:solidFill>
                <a:latin typeface="Times New Roman" pitchFamily="18" charset="0"/>
                <a:ea typeface="+mn-ea"/>
                <a:cs typeface="+mn-cs"/>
              </a:rPr>
              <a:t>Clustered Patterns are Closer to 0 on </a:t>
            </a:r>
            <a:r>
              <a:rPr lang="en-US" sz="1200" i="1" kern="1200" dirty="0">
                <a:solidFill>
                  <a:schemeClr val="tx1"/>
                </a:solidFill>
                <a:latin typeface="Times New Roman" pitchFamily="18" charset="0"/>
                <a:ea typeface="+mn-ea"/>
                <a:cs typeface="+mn-cs"/>
              </a:rPr>
              <a:t>R</a:t>
            </a:r>
          </a:p>
          <a:p>
            <a:r>
              <a:rPr lang="en-US" dirty="0"/>
              <a:t>Dispersed patterns</a:t>
            </a:r>
            <a:r>
              <a:rPr lang="en-US" baseline="0" dirty="0"/>
              <a:t> </a:t>
            </a:r>
            <a:r>
              <a:rPr lang="en-US" baseline="0"/>
              <a:t>are above 1 on R</a:t>
            </a:r>
            <a:endParaRPr lang="en-US" dirty="0"/>
          </a:p>
        </p:txBody>
      </p:sp>
      <p:sp>
        <p:nvSpPr>
          <p:cNvPr id="4" name="Slide Number Placeholder 3"/>
          <p:cNvSpPr>
            <a:spLocks noGrp="1"/>
          </p:cNvSpPr>
          <p:nvPr>
            <p:ph type="sldNum" sz="quarter" idx="10"/>
          </p:nvPr>
        </p:nvSpPr>
        <p:spPr/>
        <p:txBody>
          <a:bodyPr/>
          <a:lstStyle/>
          <a:p>
            <a:pPr>
              <a:defRPr/>
            </a:pPr>
            <a:fld id="{DB79BC27-43D6-4AE3-B8A5-9EC0AF7CD672}" type="slidenum">
              <a:rPr lang="en-US" smtClean="0"/>
              <a:pPr>
                <a:defRPr/>
              </a:pPr>
              <a:t>29</a:t>
            </a:fld>
            <a:endParaRPr lang="en-US"/>
          </a:p>
        </p:txBody>
      </p:sp>
    </p:spTree>
    <p:extLst>
      <p:ext uri="{BB962C8B-B14F-4D97-AF65-F5344CB8AC3E}">
        <p14:creationId xmlns:p14="http://schemas.microsoft.com/office/powerpoint/2010/main" val="3734432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4/1/25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3803838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4/1/25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201523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4/1/25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286933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1D416C-15FF-42A3-8E36-5C91A35E9801}" type="datetimeFigureOut">
              <a:rPr lang="en-US" smtClean="0"/>
              <a:t>4/1/25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423356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1D416C-15FF-42A3-8E36-5C91A35E9801}" type="datetimeFigureOut">
              <a:rPr lang="en-US" smtClean="0"/>
              <a:t>4/1/25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153652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1D416C-15FF-42A3-8E36-5C91A35E9801}" type="datetimeFigureOut">
              <a:rPr lang="en-US" smtClean="0"/>
              <a:t>4/1/25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6971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1D416C-15FF-42A3-8E36-5C91A35E9801}" type="datetimeFigureOut">
              <a:rPr lang="en-US" smtClean="0"/>
              <a:t>4/1/25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72843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4/1/25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137616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1D416C-15FF-42A3-8E36-5C91A35E9801}" type="datetimeFigureOut">
              <a:rPr lang="en-US" smtClean="0"/>
              <a:t>4/1/25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7293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4/1/25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35796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E81D416C-15FF-42A3-8E36-5C91A35E9801}" type="datetimeFigureOut">
              <a:rPr lang="en-US" smtClean="0"/>
              <a:t>4/1/25</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712073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E81D416C-15FF-42A3-8E36-5C91A35E9801}" type="datetimeFigureOut">
              <a:rPr lang="en-US" smtClean="0"/>
              <a:t>4/1/25</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1F4645AA-C0DC-42CB-B806-075F3A6970AF}"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01913010"/>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oleObject" Target="../embeddings/oleObject2.bin"/><Relationship Id="rId10" Type="http://schemas.openxmlformats.org/officeDocument/2006/relationships/image" Target="../media/image9.wmf"/><Relationship Id="rId4" Type="http://schemas.openxmlformats.org/officeDocument/2006/relationships/image" Target="../media/image6.emf"/><Relationship Id="rId9"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4.w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e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3.wmf"/><Relationship Id="rId4" Type="http://schemas.openxmlformats.org/officeDocument/2006/relationships/image" Target="../media/image10.emf"/><Relationship Id="rId9"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36185" y="0"/>
            <a:ext cx="5471630" cy="3703320"/>
          </a:xfrm>
        </p:spPr>
        <p:txBody>
          <a:bodyPr anchor="ctr">
            <a:normAutofit/>
          </a:bodyPr>
          <a:lstStyle/>
          <a:p>
            <a:pPr algn="ctr"/>
            <a:r>
              <a:rPr lang="en-US" sz="4200" dirty="0"/>
              <a:t>GIS Analytics</a:t>
            </a:r>
          </a:p>
        </p:txBody>
      </p:sp>
      <p:sp>
        <p:nvSpPr>
          <p:cNvPr id="3" name="Subtitle 2"/>
          <p:cNvSpPr>
            <a:spLocks noGrp="1"/>
          </p:cNvSpPr>
          <p:nvPr>
            <p:ph type="subTitle" idx="1"/>
          </p:nvPr>
        </p:nvSpPr>
        <p:spPr>
          <a:xfrm>
            <a:off x="1066800" y="3276600"/>
            <a:ext cx="6629400" cy="3703320"/>
          </a:xfrm>
          <a:ln w="57150">
            <a:noFill/>
          </a:ln>
        </p:spPr>
        <p:txBody>
          <a:bodyPr anchor="ctr">
            <a:normAutofit/>
          </a:bodyPr>
          <a:lstStyle/>
          <a:p>
            <a:pPr algn="ctr"/>
            <a:r>
              <a:rPr lang="en-US" sz="2800" dirty="0">
                <a:solidFill>
                  <a:schemeClr val="bg1"/>
                </a:solidFill>
                <a:latin typeface="Arial" panose="020B0604020202020204" pitchFamily="34" charset="0"/>
                <a:cs typeface="Arial" panose="020B0604020202020204" pitchFamily="34" charset="0"/>
              </a:rPr>
              <a:t>Lecture 8: </a:t>
            </a:r>
            <a:r>
              <a:rPr lang="en-US" sz="2800" dirty="0"/>
              <a:t>Exploratory Spatial Data Analysis (ESDA)</a:t>
            </a:r>
          </a:p>
          <a:p>
            <a:pPr algn="ctr"/>
            <a:endParaRPr lang="en-US" sz="2800" dirty="0">
              <a:solidFill>
                <a:schemeClr val="bg1"/>
              </a:solidFill>
              <a:latin typeface="Arial" panose="020B0604020202020204" pitchFamily="34" charset="0"/>
              <a:cs typeface="Arial" panose="020B0604020202020204" pitchFamily="34" charset="0"/>
            </a:endParaRPr>
          </a:p>
          <a:p>
            <a:pPr algn="ctr"/>
            <a:r>
              <a:rPr lang="en-US" sz="2800" dirty="0"/>
              <a:t>CLUSTERING</a:t>
            </a:r>
          </a:p>
          <a:p>
            <a:pPr algn="r"/>
            <a:endParaRPr lang="en-US" sz="2800" dirty="0">
              <a:solidFill>
                <a:schemeClr val="bg1"/>
              </a:solidFill>
              <a:latin typeface="Arial" panose="020B0604020202020204" pitchFamily="34" charset="0"/>
              <a:cs typeface="Arial" panose="020B0604020202020204" pitchFamily="34" charset="0"/>
            </a:endParaRPr>
          </a:p>
          <a:p>
            <a:pPr algn="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D888-4D6A-1CEA-7022-C232C6ADB228}"/>
              </a:ext>
            </a:extLst>
          </p:cNvPr>
          <p:cNvSpPr>
            <a:spLocks noGrp="1"/>
          </p:cNvSpPr>
          <p:nvPr>
            <p:ph type="title"/>
          </p:nvPr>
        </p:nvSpPr>
        <p:spPr>
          <a:xfrm>
            <a:off x="1154248" y="838200"/>
            <a:ext cx="7989752" cy="1083329"/>
          </a:xfrm>
        </p:spPr>
        <p:txBody>
          <a:bodyPr>
            <a:normAutofit fontScale="90000"/>
          </a:bodyPr>
          <a:lstStyle/>
          <a:p>
            <a:r>
              <a:rPr lang="en-US" b="1" dirty="0"/>
              <a:t>Introduction to Spatial Cluster Analysis</a:t>
            </a:r>
            <a:br>
              <a:rPr lang="en-US" b="1" dirty="0"/>
            </a:br>
            <a:endParaRPr lang="en-US" dirty="0"/>
          </a:p>
        </p:txBody>
      </p:sp>
      <p:sp>
        <p:nvSpPr>
          <p:cNvPr id="3" name="Content Placeholder 2">
            <a:extLst>
              <a:ext uri="{FF2B5EF4-FFF2-40B4-BE49-F238E27FC236}">
                <a16:creationId xmlns:a16="http://schemas.microsoft.com/office/drawing/2014/main" id="{07304C54-35E3-4670-4EFD-F4C13E673AB5}"/>
              </a:ext>
            </a:extLst>
          </p:cNvPr>
          <p:cNvSpPr>
            <a:spLocks noGrp="1"/>
          </p:cNvSpPr>
          <p:nvPr>
            <p:ph idx="1"/>
          </p:nvPr>
        </p:nvSpPr>
        <p:spPr>
          <a:xfrm>
            <a:off x="577124" y="2416714"/>
            <a:ext cx="7989752" cy="3630795"/>
          </a:xfrm>
        </p:spPr>
        <p:txBody>
          <a:bodyPr/>
          <a:lstStyle/>
          <a:p>
            <a:pPr marL="0" indent="0">
              <a:buNone/>
            </a:pPr>
            <a:r>
              <a:rPr lang="en-US" sz="2400" dirty="0"/>
              <a:t>What is Spatial Cluster Analysis?</a:t>
            </a:r>
          </a:p>
          <a:p>
            <a:pPr marL="742950" lvl="1" indent="-285750">
              <a:buFont typeface="Arial" panose="020B0604020202020204" pitchFamily="34" charset="0"/>
              <a:buChar char="•"/>
            </a:pPr>
            <a:r>
              <a:rPr lang="en-US" sz="2400" dirty="0"/>
              <a:t>Definition: Detects patterns in geographic data where similar values are spatially clustered.</a:t>
            </a:r>
          </a:p>
          <a:p>
            <a:pPr marL="742950" lvl="1" indent="-285750">
              <a:buFont typeface="Arial" panose="020B0604020202020204" pitchFamily="34" charset="0"/>
              <a:buChar char="•"/>
            </a:pPr>
            <a:r>
              <a:rPr lang="en-US" sz="2400" dirty="0"/>
              <a:t>Examples: Crime hotspots, disease outbreaks, traffic incidents.</a:t>
            </a:r>
          </a:p>
          <a:p>
            <a:pPr marL="742950" lvl="1" indent="-285750">
              <a:buFont typeface="Arial" panose="020B0604020202020204" pitchFamily="34" charset="0"/>
              <a:buChar char="•"/>
            </a:pPr>
            <a:r>
              <a:rPr lang="en-US" sz="2400" b="1" dirty="0"/>
              <a:t>Why it’s important: Helps identify regions with statistically significant concentrations of events or values</a:t>
            </a:r>
            <a:r>
              <a:rPr lang="en-US" sz="2400" dirty="0"/>
              <a:t>.</a:t>
            </a:r>
          </a:p>
          <a:p>
            <a:endParaRPr lang="en-US" dirty="0"/>
          </a:p>
        </p:txBody>
      </p:sp>
    </p:spTree>
    <p:extLst>
      <p:ext uri="{BB962C8B-B14F-4D97-AF65-F5344CB8AC3E}">
        <p14:creationId xmlns:p14="http://schemas.microsoft.com/office/powerpoint/2010/main" val="714399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9211A-3669-436B-D590-87736D681D85}"/>
              </a:ext>
            </a:extLst>
          </p:cNvPr>
          <p:cNvSpPr>
            <a:spLocks noGrp="1"/>
          </p:cNvSpPr>
          <p:nvPr>
            <p:ph type="title"/>
          </p:nvPr>
        </p:nvSpPr>
        <p:spPr>
          <a:xfrm>
            <a:off x="838200" y="457537"/>
            <a:ext cx="7989752" cy="1083329"/>
          </a:xfrm>
        </p:spPr>
        <p:txBody>
          <a:bodyPr/>
          <a:lstStyle/>
          <a:p>
            <a:r>
              <a:rPr lang="en-US" dirty="0"/>
              <a:t>Types of Spatial Clustering</a:t>
            </a:r>
          </a:p>
        </p:txBody>
      </p:sp>
      <p:sp>
        <p:nvSpPr>
          <p:cNvPr id="3" name="Content Placeholder 2">
            <a:extLst>
              <a:ext uri="{FF2B5EF4-FFF2-40B4-BE49-F238E27FC236}">
                <a16:creationId xmlns:a16="http://schemas.microsoft.com/office/drawing/2014/main" id="{328E1C8F-7B09-B7E1-4260-92262E9F8BD4}"/>
              </a:ext>
            </a:extLst>
          </p:cNvPr>
          <p:cNvSpPr>
            <a:spLocks noGrp="1"/>
          </p:cNvSpPr>
          <p:nvPr>
            <p:ph idx="1"/>
          </p:nvPr>
        </p:nvSpPr>
        <p:spPr/>
        <p:txBody>
          <a:bodyPr/>
          <a:lstStyle/>
          <a:p>
            <a:pPr>
              <a:buFont typeface="Arial" panose="020B0604020202020204" pitchFamily="34" charset="0"/>
              <a:buChar char="•"/>
            </a:pPr>
            <a:r>
              <a:rPr lang="en-US" sz="2400" b="1" dirty="0"/>
              <a:t>Point-based clustering</a:t>
            </a:r>
            <a:r>
              <a:rPr lang="en-US" sz="2400" dirty="0"/>
              <a:t>: Focuses on clustering of individual events (e.g., DBSCAN).</a:t>
            </a:r>
            <a:endParaRPr lang="en-US" sz="2400" b="1" dirty="0"/>
          </a:p>
          <a:p>
            <a:pPr>
              <a:buFont typeface="Arial" panose="020B0604020202020204" pitchFamily="34" charset="0"/>
              <a:buChar char="•"/>
            </a:pPr>
            <a:r>
              <a:rPr lang="en-US" sz="2400" b="1" dirty="0"/>
              <a:t>Global clustering</a:t>
            </a:r>
            <a:r>
              <a:rPr lang="en-US" sz="2400" dirty="0"/>
              <a:t>:  Assesses overall spatial clustering across the dataset (e.g., Moran's I).</a:t>
            </a:r>
          </a:p>
          <a:p>
            <a:pPr>
              <a:buFont typeface="Arial" panose="020B0604020202020204" pitchFamily="34" charset="0"/>
              <a:buChar char="•"/>
            </a:pPr>
            <a:r>
              <a:rPr lang="en-US" sz="2400" b="1" dirty="0"/>
              <a:t>Local clustering</a:t>
            </a:r>
            <a:r>
              <a:rPr lang="en-US" sz="2400" dirty="0"/>
              <a:t>:  Identifies localized clusters of high or low values (e.g., LISA, </a:t>
            </a:r>
            <a:r>
              <a:rPr lang="en-US" sz="2400" dirty="0" err="1"/>
              <a:t>Getis</a:t>
            </a:r>
            <a:r>
              <a:rPr lang="en-US" sz="2400" dirty="0"/>
              <a:t>-Ord Gi*).</a:t>
            </a:r>
          </a:p>
          <a:p>
            <a:endParaRPr lang="en-US" dirty="0"/>
          </a:p>
        </p:txBody>
      </p:sp>
    </p:spTree>
    <p:extLst>
      <p:ext uri="{BB962C8B-B14F-4D97-AF65-F5344CB8AC3E}">
        <p14:creationId xmlns:p14="http://schemas.microsoft.com/office/powerpoint/2010/main" val="2815384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D846-8D11-6BB3-2478-242A42F9727C}"/>
              </a:ext>
            </a:extLst>
          </p:cNvPr>
          <p:cNvSpPr>
            <a:spLocks noGrp="1"/>
          </p:cNvSpPr>
          <p:nvPr>
            <p:ph type="title"/>
          </p:nvPr>
        </p:nvSpPr>
        <p:spPr>
          <a:xfrm>
            <a:off x="1154248" y="762000"/>
            <a:ext cx="7989752" cy="1083329"/>
          </a:xfrm>
        </p:spPr>
        <p:txBody>
          <a:bodyPr/>
          <a:lstStyle/>
          <a:p>
            <a:r>
              <a:rPr lang="en-US" dirty="0"/>
              <a:t>Key Concepts in Spatial Clustering</a:t>
            </a:r>
            <a:br>
              <a:rPr lang="en-US" dirty="0"/>
            </a:br>
            <a:endParaRPr lang="en-US" dirty="0"/>
          </a:p>
        </p:txBody>
      </p:sp>
      <p:sp>
        <p:nvSpPr>
          <p:cNvPr id="3" name="Content Placeholder 2">
            <a:extLst>
              <a:ext uri="{FF2B5EF4-FFF2-40B4-BE49-F238E27FC236}">
                <a16:creationId xmlns:a16="http://schemas.microsoft.com/office/drawing/2014/main" id="{9FFF9EE1-044A-86CE-0282-51ADCE143FF8}"/>
              </a:ext>
            </a:extLst>
          </p:cNvPr>
          <p:cNvSpPr>
            <a:spLocks noGrp="1"/>
          </p:cNvSpPr>
          <p:nvPr>
            <p:ph idx="1"/>
          </p:nvPr>
        </p:nvSpPr>
        <p:spPr/>
        <p:txBody>
          <a:bodyPr/>
          <a:lstStyle/>
          <a:p>
            <a:pPr marL="742950" lvl="1" indent="-285750">
              <a:buFont typeface="Arial" panose="020B0604020202020204" pitchFamily="34" charset="0"/>
              <a:buChar char="•"/>
            </a:pPr>
            <a:r>
              <a:rPr lang="en-US" sz="2400" b="1" dirty="0"/>
              <a:t>Spatial autocorrelation</a:t>
            </a:r>
            <a:r>
              <a:rPr lang="en-US" sz="2400" dirty="0"/>
              <a:t>: The idea that nearby locations are more likely to have similar values.</a:t>
            </a:r>
          </a:p>
          <a:p>
            <a:pPr marL="742950" lvl="1" indent="-285750">
              <a:buFont typeface="Arial" panose="020B0604020202020204" pitchFamily="34" charset="0"/>
              <a:buChar char="•"/>
            </a:pPr>
            <a:r>
              <a:rPr lang="en-US" sz="2400" b="1" dirty="0"/>
              <a:t>Cluster</a:t>
            </a:r>
            <a:r>
              <a:rPr lang="en-US" sz="2400" dirty="0"/>
              <a:t>: Group of spatial data points that are close to each other based on a distance measure.</a:t>
            </a:r>
          </a:p>
          <a:p>
            <a:pPr marL="742950" lvl="1" indent="-285750">
              <a:buFont typeface="Arial" panose="020B0604020202020204" pitchFamily="34" charset="0"/>
              <a:buChar char="•"/>
            </a:pPr>
            <a:r>
              <a:rPr lang="en-US" sz="2400" b="1" dirty="0"/>
              <a:t>Outliers</a:t>
            </a:r>
            <a:r>
              <a:rPr lang="en-US" sz="2400" dirty="0"/>
              <a:t>: Points that don't fit into any cluster or are isolated from clusters.</a:t>
            </a:r>
          </a:p>
          <a:p>
            <a:endParaRPr lang="en-US" dirty="0"/>
          </a:p>
        </p:txBody>
      </p:sp>
    </p:spTree>
    <p:extLst>
      <p:ext uri="{BB962C8B-B14F-4D97-AF65-F5344CB8AC3E}">
        <p14:creationId xmlns:p14="http://schemas.microsoft.com/office/powerpoint/2010/main" val="3519178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AAAA5-2EF2-01C9-8D6F-1757BF477F84}"/>
              </a:ext>
            </a:extLst>
          </p:cNvPr>
          <p:cNvSpPr>
            <a:spLocks noGrp="1"/>
          </p:cNvSpPr>
          <p:nvPr>
            <p:ph type="title"/>
          </p:nvPr>
        </p:nvSpPr>
        <p:spPr>
          <a:xfrm>
            <a:off x="838200" y="609600"/>
            <a:ext cx="8181808" cy="1083329"/>
          </a:xfrm>
        </p:spPr>
        <p:txBody>
          <a:bodyPr/>
          <a:lstStyle/>
          <a:p>
            <a:r>
              <a:rPr lang="en-US" dirty="0"/>
              <a:t>Steps in Conducting Spatial Cluster Analysis (Practical)</a:t>
            </a:r>
          </a:p>
        </p:txBody>
      </p:sp>
      <p:sp>
        <p:nvSpPr>
          <p:cNvPr id="3" name="Content Placeholder 2">
            <a:extLst>
              <a:ext uri="{FF2B5EF4-FFF2-40B4-BE49-F238E27FC236}">
                <a16:creationId xmlns:a16="http://schemas.microsoft.com/office/drawing/2014/main" id="{920D2E6D-FD52-6129-3EB0-FAEB8E115E6D}"/>
              </a:ext>
            </a:extLst>
          </p:cNvPr>
          <p:cNvSpPr>
            <a:spLocks noGrp="1"/>
          </p:cNvSpPr>
          <p:nvPr>
            <p:ph idx="1"/>
          </p:nvPr>
        </p:nvSpPr>
        <p:spPr/>
        <p:txBody>
          <a:bodyPr>
            <a:normAutofit/>
          </a:bodyPr>
          <a:lstStyle/>
          <a:p>
            <a:pPr marL="0" indent="0">
              <a:buNone/>
            </a:pPr>
            <a:r>
              <a:rPr lang="en-US" sz="2400" b="1" dirty="0"/>
              <a:t>1. Data: </a:t>
            </a:r>
            <a:r>
              <a:rPr lang="en-US" sz="2400" dirty="0"/>
              <a:t>Ensure proper geocoding, projection (CRS), and data cleaning.</a:t>
            </a:r>
          </a:p>
          <a:p>
            <a:pPr marL="0" indent="0">
              <a:buNone/>
            </a:pPr>
            <a:r>
              <a:rPr lang="en-US" sz="2400" b="1" dirty="0"/>
              <a:t>2. Define spatial relationships</a:t>
            </a:r>
            <a:r>
              <a:rPr lang="en-US" sz="2400" dirty="0"/>
              <a:t>: Choose an appropriate spatial weights matrix.</a:t>
            </a:r>
          </a:p>
          <a:p>
            <a:pPr marL="0" indent="0">
              <a:buNone/>
            </a:pPr>
            <a:r>
              <a:rPr lang="en-US" sz="2400" b="1" dirty="0"/>
              <a:t>3. Choose a clustering method</a:t>
            </a:r>
            <a:r>
              <a:rPr lang="en-US" sz="2400" dirty="0"/>
              <a:t>: Global (e.g., Moran’s I) vs. local (e.g., </a:t>
            </a:r>
            <a:r>
              <a:rPr lang="en-US" sz="2400" dirty="0" err="1"/>
              <a:t>Getis</a:t>
            </a:r>
            <a:r>
              <a:rPr lang="en-US" sz="2400" dirty="0"/>
              <a:t>-Ord).</a:t>
            </a:r>
          </a:p>
          <a:p>
            <a:pPr marL="0" indent="0">
              <a:buNone/>
            </a:pPr>
            <a:r>
              <a:rPr lang="en-US" sz="2400" b="1" dirty="0"/>
              <a:t>4. Interpretation</a:t>
            </a:r>
            <a:r>
              <a:rPr lang="en-US" sz="2400" dirty="0"/>
              <a:t>: Assess results for statistically significant clusters.</a:t>
            </a:r>
          </a:p>
        </p:txBody>
      </p:sp>
    </p:spTree>
    <p:extLst>
      <p:ext uri="{BB962C8B-B14F-4D97-AF65-F5344CB8AC3E}">
        <p14:creationId xmlns:p14="http://schemas.microsoft.com/office/powerpoint/2010/main" val="3455743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A5AF-8371-857D-AB5F-2C1543A98E65}"/>
              </a:ext>
            </a:extLst>
          </p:cNvPr>
          <p:cNvSpPr>
            <a:spLocks noGrp="1"/>
          </p:cNvSpPr>
          <p:nvPr>
            <p:ph type="title"/>
          </p:nvPr>
        </p:nvSpPr>
        <p:spPr/>
        <p:txBody>
          <a:bodyPr/>
          <a:lstStyle/>
          <a:p>
            <a:r>
              <a:rPr lang="en-US" dirty="0"/>
              <a:t>Spatial Scale</a:t>
            </a:r>
          </a:p>
        </p:txBody>
      </p:sp>
      <p:sp>
        <p:nvSpPr>
          <p:cNvPr id="3" name="Content Placeholder 2">
            <a:extLst>
              <a:ext uri="{FF2B5EF4-FFF2-40B4-BE49-F238E27FC236}">
                <a16:creationId xmlns:a16="http://schemas.microsoft.com/office/drawing/2014/main" id="{FC82D506-37DA-8272-4B76-43E9B5B9E096}"/>
              </a:ext>
            </a:extLst>
          </p:cNvPr>
          <p:cNvSpPr>
            <a:spLocks noGrp="1"/>
          </p:cNvSpPr>
          <p:nvPr>
            <p:ph idx="1"/>
          </p:nvPr>
        </p:nvSpPr>
        <p:spPr/>
        <p:txBody>
          <a:bodyPr>
            <a:normAutofit/>
          </a:bodyPr>
          <a:lstStyle/>
          <a:p>
            <a:r>
              <a:rPr lang="en-US" sz="2400" b="1" dirty="0"/>
              <a:t>Ignoring spatial scale</a:t>
            </a:r>
            <a:r>
              <a:rPr lang="en-US" sz="2400" dirty="0"/>
              <a:t>: Different patterns emerge at different scales.</a:t>
            </a:r>
          </a:p>
          <a:p>
            <a:r>
              <a:rPr lang="en-US" sz="2400" b="1" dirty="0"/>
              <a:t>Choosing wrong spatial weights</a:t>
            </a:r>
            <a:r>
              <a:rPr lang="en-US" sz="2400" dirty="0"/>
              <a:t>: Results depend heavily on how you define spatial relationships.</a:t>
            </a:r>
          </a:p>
          <a:p>
            <a:r>
              <a:rPr lang="en-US" sz="2400" b="1" dirty="0"/>
              <a:t>Not accounting for data quality</a:t>
            </a:r>
            <a:r>
              <a:rPr lang="en-US" sz="2400" dirty="0"/>
              <a:t>: Missing or misaligned data can skew results.</a:t>
            </a:r>
          </a:p>
          <a:p>
            <a:r>
              <a:rPr lang="en-US" sz="2400" b="1" dirty="0"/>
              <a:t>Overinterpreting randomness</a:t>
            </a:r>
            <a:r>
              <a:rPr lang="en-US" sz="2400" dirty="0"/>
              <a:t>: Understand the limits of statistical significance</a:t>
            </a:r>
          </a:p>
        </p:txBody>
      </p:sp>
    </p:spTree>
    <p:extLst>
      <p:ext uri="{BB962C8B-B14F-4D97-AF65-F5344CB8AC3E}">
        <p14:creationId xmlns:p14="http://schemas.microsoft.com/office/powerpoint/2010/main" val="198505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81200" y="379021"/>
            <a:ext cx="8686800" cy="1066800"/>
          </a:xfrm>
        </p:spPr>
        <p:txBody>
          <a:bodyPr>
            <a:normAutofit/>
          </a:bodyPr>
          <a:lstStyle/>
          <a:p>
            <a:r>
              <a:rPr lang="en-US" sz="3200" dirty="0"/>
              <a:t>Types of Distribution</a:t>
            </a:r>
          </a:p>
        </p:txBody>
      </p:sp>
      <p:sp>
        <p:nvSpPr>
          <p:cNvPr id="17411" name="Rectangle 3"/>
          <p:cNvSpPr>
            <a:spLocks noGrp="1" noChangeArrowheads="1"/>
          </p:cNvSpPr>
          <p:nvPr>
            <p:ph type="body" idx="1"/>
          </p:nvPr>
        </p:nvSpPr>
        <p:spPr>
          <a:xfrm>
            <a:off x="404751" y="1981200"/>
            <a:ext cx="8305800" cy="4495800"/>
          </a:xfrm>
        </p:spPr>
        <p:txBody>
          <a:bodyPr>
            <a:normAutofit fontScale="92500"/>
          </a:bodyPr>
          <a:lstStyle/>
          <a:p>
            <a:pPr>
              <a:lnSpc>
                <a:spcPct val="90000"/>
              </a:lnSpc>
            </a:pPr>
            <a:r>
              <a:rPr lang="en-US" sz="2800" dirty="0"/>
              <a:t>Three general patterns:</a:t>
            </a:r>
          </a:p>
          <a:p>
            <a:pPr>
              <a:lnSpc>
                <a:spcPct val="90000"/>
              </a:lnSpc>
              <a:buNone/>
            </a:pPr>
            <a:endParaRPr lang="en-US" sz="2400" dirty="0"/>
          </a:p>
          <a:p>
            <a:pPr lvl="1">
              <a:lnSpc>
                <a:spcPct val="90000"/>
              </a:lnSpc>
            </a:pPr>
            <a:r>
              <a:rPr lang="en-US" sz="2400" b="1" dirty="0"/>
              <a:t>Random</a:t>
            </a:r>
            <a:r>
              <a:rPr lang="en-US" sz="2400" dirty="0"/>
              <a:t> any point is equally likely to occur at any location and the position of any point is not affected by the position of any other point.  There is no apparent ordering of the distribution</a:t>
            </a:r>
          </a:p>
          <a:p>
            <a:pPr lvl="1">
              <a:lnSpc>
                <a:spcPct val="90000"/>
              </a:lnSpc>
            </a:pPr>
            <a:endParaRPr lang="en-US" sz="2400" dirty="0"/>
          </a:p>
          <a:p>
            <a:pPr lvl="1">
              <a:lnSpc>
                <a:spcPct val="90000"/>
              </a:lnSpc>
            </a:pPr>
            <a:r>
              <a:rPr lang="en-US" sz="2400" b="1" dirty="0"/>
              <a:t>Uniform</a:t>
            </a:r>
            <a:r>
              <a:rPr lang="en-US" sz="2400" dirty="0"/>
              <a:t> every point is as far from all of its neighbors as possible</a:t>
            </a:r>
          </a:p>
          <a:p>
            <a:pPr lvl="1">
              <a:lnSpc>
                <a:spcPct val="90000"/>
              </a:lnSpc>
            </a:pPr>
            <a:endParaRPr lang="en-US" sz="2400" dirty="0"/>
          </a:p>
          <a:p>
            <a:pPr lvl="1">
              <a:lnSpc>
                <a:spcPct val="90000"/>
              </a:lnSpc>
            </a:pPr>
            <a:r>
              <a:rPr lang="en-US" sz="2400" b="1" dirty="0"/>
              <a:t>Clustered</a:t>
            </a:r>
            <a:r>
              <a:rPr lang="en-US" sz="2400" dirty="0"/>
              <a:t> many points are concentrated close together, and large areas that contain very few, if any, points</a:t>
            </a: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54F80-CA75-5F65-DA3D-109055F0DAFE}"/>
              </a:ext>
            </a:extLst>
          </p:cNvPr>
          <p:cNvSpPr>
            <a:spLocks noGrp="1"/>
          </p:cNvSpPr>
          <p:nvPr>
            <p:ph type="title"/>
          </p:nvPr>
        </p:nvSpPr>
        <p:spPr>
          <a:xfrm>
            <a:off x="2209800" y="762000"/>
            <a:ext cx="7989752" cy="1083329"/>
          </a:xfrm>
        </p:spPr>
        <p:txBody>
          <a:bodyPr/>
          <a:lstStyle/>
          <a:p>
            <a:r>
              <a:rPr lang="en-US" b="1" dirty="0"/>
              <a:t>K-means Clustering</a:t>
            </a:r>
            <a:br>
              <a:rPr lang="en-US" b="1" dirty="0"/>
            </a:br>
            <a:endParaRPr lang="en-US" dirty="0"/>
          </a:p>
        </p:txBody>
      </p:sp>
      <p:sp>
        <p:nvSpPr>
          <p:cNvPr id="3" name="Content Placeholder 2">
            <a:extLst>
              <a:ext uri="{FF2B5EF4-FFF2-40B4-BE49-F238E27FC236}">
                <a16:creationId xmlns:a16="http://schemas.microsoft.com/office/drawing/2014/main" id="{646DBDA9-F735-A844-854E-A61E9EDEC0B3}"/>
              </a:ext>
            </a:extLst>
          </p:cNvPr>
          <p:cNvSpPr>
            <a:spLocks noGrp="1"/>
          </p:cNvSpPr>
          <p:nvPr>
            <p:ph idx="1"/>
          </p:nvPr>
        </p:nvSpPr>
        <p:spPr>
          <a:xfrm>
            <a:off x="1979" y="1845329"/>
            <a:ext cx="7989752" cy="3877598"/>
          </a:xfrm>
        </p:spPr>
        <p:txBody>
          <a:bodyPr/>
          <a:lstStyle/>
          <a:p>
            <a:pPr marL="742950" lvl="1" indent="-285750">
              <a:buFont typeface="Arial" panose="020B0604020202020204" pitchFamily="34" charset="0"/>
              <a:buChar char="•"/>
            </a:pPr>
            <a:r>
              <a:rPr lang="en-US" sz="2400" b="1" dirty="0"/>
              <a:t>Fixed number of clusters</a:t>
            </a:r>
            <a:r>
              <a:rPr lang="en-US" sz="2400" dirty="0"/>
              <a:t>.</a:t>
            </a:r>
          </a:p>
          <a:p>
            <a:pPr marL="742950" lvl="1" indent="-285750">
              <a:buFont typeface="Arial" panose="020B0604020202020204" pitchFamily="34" charset="0"/>
              <a:buChar char="•"/>
            </a:pPr>
            <a:r>
              <a:rPr lang="en-US" sz="2400" b="1" dirty="0"/>
              <a:t>How it works</a:t>
            </a:r>
            <a:r>
              <a:rPr lang="en-US" sz="2400" dirty="0"/>
              <a:t>: Minimizes variance within clusters and maximizes variance between clusters.</a:t>
            </a:r>
          </a:p>
          <a:p>
            <a:pPr marL="742950" lvl="1" indent="-285750">
              <a:buFont typeface="Arial" panose="020B0604020202020204" pitchFamily="34" charset="0"/>
              <a:buChar char="•"/>
            </a:pPr>
            <a:r>
              <a:rPr lang="en-US" sz="2400" b="1" dirty="0"/>
              <a:t>Limitations</a:t>
            </a:r>
            <a:r>
              <a:rPr lang="en-US" sz="2400" dirty="0"/>
              <a:t>: Requires pre-specifying the number of clusters, not spatially aware.</a:t>
            </a:r>
          </a:p>
          <a:p>
            <a:endParaRPr lang="en-US" dirty="0"/>
          </a:p>
        </p:txBody>
      </p:sp>
    </p:spTree>
    <p:extLst>
      <p:ext uri="{BB962C8B-B14F-4D97-AF65-F5344CB8AC3E}">
        <p14:creationId xmlns:p14="http://schemas.microsoft.com/office/powerpoint/2010/main" val="1261815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77C3C-9FE4-36BC-D3F9-525EF99A06C8}"/>
              </a:ext>
            </a:extLst>
          </p:cNvPr>
          <p:cNvSpPr>
            <a:spLocks noGrp="1"/>
          </p:cNvSpPr>
          <p:nvPr>
            <p:ph type="title"/>
          </p:nvPr>
        </p:nvSpPr>
        <p:spPr/>
        <p:txBody>
          <a:bodyPr/>
          <a:lstStyle/>
          <a:p>
            <a:r>
              <a:rPr lang="en-US" dirty="0"/>
              <a:t>DBSCAN (Density-Based Clustering)</a:t>
            </a:r>
            <a:br>
              <a:rPr lang="en-US" b="1" dirty="0"/>
            </a:br>
            <a:endParaRPr lang="en-US" dirty="0"/>
          </a:p>
        </p:txBody>
      </p:sp>
      <p:sp>
        <p:nvSpPr>
          <p:cNvPr id="3" name="Content Placeholder 2">
            <a:extLst>
              <a:ext uri="{FF2B5EF4-FFF2-40B4-BE49-F238E27FC236}">
                <a16:creationId xmlns:a16="http://schemas.microsoft.com/office/drawing/2014/main" id="{B186E4CC-601D-A3DA-3F18-2612F4B51C05}"/>
              </a:ext>
            </a:extLst>
          </p:cNvPr>
          <p:cNvSpPr>
            <a:spLocks noGrp="1"/>
          </p:cNvSpPr>
          <p:nvPr>
            <p:ph idx="1"/>
          </p:nvPr>
        </p:nvSpPr>
        <p:spPr/>
        <p:txBody>
          <a:bodyPr/>
          <a:lstStyle/>
          <a:p>
            <a:pPr>
              <a:buFont typeface="Arial" panose="020B0604020202020204" pitchFamily="34" charset="0"/>
              <a:buChar char="•"/>
            </a:pPr>
            <a:r>
              <a:rPr lang="en-US" sz="2400" b="1" dirty="0"/>
              <a:t>Identifies clusters based on density</a:t>
            </a:r>
            <a:r>
              <a:rPr lang="en-US" sz="2400" dirty="0"/>
              <a:t> of points.</a:t>
            </a:r>
          </a:p>
          <a:p>
            <a:pPr>
              <a:buFont typeface="Arial" panose="020B0604020202020204" pitchFamily="34" charset="0"/>
              <a:buChar char="•"/>
            </a:pPr>
            <a:r>
              <a:rPr lang="en-US" sz="2400" b="1" dirty="0"/>
              <a:t>Outliers</a:t>
            </a:r>
            <a:r>
              <a:rPr lang="en-US" sz="2400" dirty="0"/>
              <a:t>: Naturally identifies noise and outliers.</a:t>
            </a:r>
          </a:p>
          <a:p>
            <a:pPr>
              <a:buFont typeface="Arial" panose="020B0604020202020204" pitchFamily="34" charset="0"/>
              <a:buChar char="•"/>
            </a:pPr>
            <a:r>
              <a:rPr lang="en-US" sz="2400" b="1" dirty="0"/>
              <a:t>Advantages</a:t>
            </a:r>
            <a:r>
              <a:rPr lang="en-US" sz="2400" dirty="0"/>
              <a:t>: Doesn’t require specifying the number of clusters, handles irregular shapes.</a:t>
            </a:r>
          </a:p>
          <a:p>
            <a:endParaRPr lang="en-US" dirty="0"/>
          </a:p>
        </p:txBody>
      </p:sp>
    </p:spTree>
    <p:extLst>
      <p:ext uri="{BB962C8B-B14F-4D97-AF65-F5344CB8AC3E}">
        <p14:creationId xmlns:p14="http://schemas.microsoft.com/office/powerpoint/2010/main" val="2959850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C33C-7F19-22F4-5D0A-96614F25C7ED}"/>
              </a:ext>
            </a:extLst>
          </p:cNvPr>
          <p:cNvSpPr>
            <a:spLocks noGrp="1"/>
          </p:cNvSpPr>
          <p:nvPr>
            <p:ph type="title"/>
          </p:nvPr>
        </p:nvSpPr>
        <p:spPr/>
        <p:txBody>
          <a:bodyPr/>
          <a:lstStyle/>
          <a:p>
            <a:r>
              <a:rPr lang="en-US" dirty="0"/>
              <a:t>HDBSCAN (Hierarchical Density-Based Spatial Clustering</a:t>
            </a:r>
          </a:p>
        </p:txBody>
      </p:sp>
      <p:sp>
        <p:nvSpPr>
          <p:cNvPr id="3" name="Content Placeholder 2">
            <a:extLst>
              <a:ext uri="{FF2B5EF4-FFF2-40B4-BE49-F238E27FC236}">
                <a16:creationId xmlns:a16="http://schemas.microsoft.com/office/drawing/2014/main" id="{53E610E2-D2B7-2973-B86F-4E761A5C93B7}"/>
              </a:ext>
            </a:extLst>
          </p:cNvPr>
          <p:cNvSpPr>
            <a:spLocks noGrp="1"/>
          </p:cNvSpPr>
          <p:nvPr>
            <p:ph idx="1"/>
          </p:nvPr>
        </p:nvSpPr>
        <p:spPr/>
        <p:txBody>
          <a:bodyPr>
            <a:normAutofit lnSpcReduction="10000"/>
          </a:bodyPr>
          <a:lstStyle/>
          <a:p>
            <a:r>
              <a:rPr lang="en-US" sz="2400" dirty="0"/>
              <a:t>HDBSCAN groups together points that are close to each other, based on how "dense" their neighborhood is.</a:t>
            </a:r>
          </a:p>
          <a:p>
            <a:r>
              <a:rPr lang="en-US" sz="2400" dirty="0"/>
              <a:t>If there are areas with many points packed closely together, HDBSCAN identifies them as a cluster.</a:t>
            </a:r>
          </a:p>
          <a:p>
            <a:pPr>
              <a:buFont typeface="Arial" panose="020B0604020202020204" pitchFamily="34" charset="0"/>
              <a:buChar char="•"/>
            </a:pPr>
            <a:r>
              <a:rPr lang="en-US" sz="2400" dirty="0"/>
              <a:t>Unlike DBSCAN, which struggles when clusters have different densities, HDBSCAN works well even when some clusters are denser than others.</a:t>
            </a:r>
          </a:p>
          <a:p>
            <a:pPr>
              <a:buFont typeface="Arial" panose="020B0604020202020204" pitchFamily="34" charset="0"/>
              <a:buChar char="•"/>
            </a:pPr>
            <a:r>
              <a:rPr lang="en-US" sz="2400" dirty="0"/>
              <a:t>It adjusts itself to detect clusters of varying shapes and densities.</a:t>
            </a:r>
          </a:p>
          <a:p>
            <a:endParaRPr lang="en-US" dirty="0"/>
          </a:p>
        </p:txBody>
      </p:sp>
    </p:spTree>
    <p:extLst>
      <p:ext uri="{BB962C8B-B14F-4D97-AF65-F5344CB8AC3E}">
        <p14:creationId xmlns:p14="http://schemas.microsoft.com/office/powerpoint/2010/main" val="3653824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C7205-B025-6BFA-1915-F7B8D7C02C3C}"/>
              </a:ext>
            </a:extLst>
          </p:cNvPr>
          <p:cNvSpPr>
            <a:spLocks noGrp="1"/>
          </p:cNvSpPr>
          <p:nvPr>
            <p:ph type="title"/>
          </p:nvPr>
        </p:nvSpPr>
        <p:spPr/>
        <p:txBody>
          <a:bodyPr/>
          <a:lstStyle/>
          <a:p>
            <a:r>
              <a:rPr lang="en-US" b="1" dirty="0"/>
              <a:t>Hierarchical</a:t>
            </a:r>
            <a:br>
              <a:rPr lang="en-US" dirty="0"/>
            </a:br>
            <a:endParaRPr lang="en-US" dirty="0"/>
          </a:p>
        </p:txBody>
      </p:sp>
      <p:sp>
        <p:nvSpPr>
          <p:cNvPr id="3" name="Content Placeholder 2">
            <a:extLst>
              <a:ext uri="{FF2B5EF4-FFF2-40B4-BE49-F238E27FC236}">
                <a16:creationId xmlns:a16="http://schemas.microsoft.com/office/drawing/2014/main" id="{83382127-60CB-2948-ACAB-A0FADC75A2B1}"/>
              </a:ext>
            </a:extLst>
          </p:cNvPr>
          <p:cNvSpPr>
            <a:spLocks noGrp="1"/>
          </p:cNvSpPr>
          <p:nvPr>
            <p:ph idx="1"/>
          </p:nvPr>
        </p:nvSpPr>
        <p:spPr/>
        <p:txBody>
          <a:bodyPr/>
          <a:lstStyle/>
          <a:p>
            <a:pPr>
              <a:buFont typeface="Arial" panose="020B0604020202020204" pitchFamily="34" charset="0"/>
              <a:buChar char="•"/>
            </a:pPr>
            <a:r>
              <a:rPr lang="en-US" sz="2400" dirty="0"/>
              <a:t>HDBSCAN builds a hierarchy of clusters from dense core areas to sparser, more diffuse areas.</a:t>
            </a:r>
          </a:p>
          <a:p>
            <a:pPr>
              <a:buFont typeface="Arial" panose="020B0604020202020204" pitchFamily="34" charset="0"/>
              <a:buChar char="•"/>
            </a:pPr>
            <a:r>
              <a:rPr lang="en-US" sz="2400" dirty="0"/>
              <a:t>You can think of it as creating layers of clusters—denser core clusters can have subclusters or merge into larger, less dense clusters.</a:t>
            </a:r>
          </a:p>
          <a:p>
            <a:endParaRPr lang="en-US" dirty="0"/>
          </a:p>
        </p:txBody>
      </p:sp>
    </p:spTree>
    <p:extLst>
      <p:ext uri="{BB962C8B-B14F-4D97-AF65-F5344CB8AC3E}">
        <p14:creationId xmlns:p14="http://schemas.microsoft.com/office/powerpoint/2010/main" val="3176798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9834E-9275-7C80-091B-31C1650098AC}"/>
              </a:ext>
            </a:extLst>
          </p:cNvPr>
          <p:cNvSpPr>
            <a:spLocks noGrp="1"/>
          </p:cNvSpPr>
          <p:nvPr>
            <p:ph type="title"/>
          </p:nvPr>
        </p:nvSpPr>
        <p:spPr>
          <a:xfrm>
            <a:off x="581192" y="685800"/>
            <a:ext cx="8294552" cy="1083329"/>
          </a:xfrm>
        </p:spPr>
        <p:txBody>
          <a:bodyPr>
            <a:normAutofit/>
          </a:bodyPr>
          <a:lstStyle/>
          <a:p>
            <a:r>
              <a:rPr lang="en-US" b="1" dirty="0"/>
              <a:t>Spatial Weights in Cluster Analysis</a:t>
            </a:r>
            <a:br>
              <a:rPr lang="en-US" b="1" dirty="0"/>
            </a:br>
            <a:endParaRPr lang="en-US" dirty="0"/>
          </a:p>
        </p:txBody>
      </p:sp>
      <p:sp>
        <p:nvSpPr>
          <p:cNvPr id="3" name="Content Placeholder 2">
            <a:extLst>
              <a:ext uri="{FF2B5EF4-FFF2-40B4-BE49-F238E27FC236}">
                <a16:creationId xmlns:a16="http://schemas.microsoft.com/office/drawing/2014/main" id="{A67486BE-9F58-678E-2AF2-EE9866729D5C}"/>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sz="2400" dirty="0"/>
              <a:t>The Role of Spatial Weights</a:t>
            </a:r>
          </a:p>
          <a:p>
            <a:pPr marL="742950" lvl="1" indent="-285750">
              <a:buFont typeface="Arial" panose="020B0604020202020204" pitchFamily="34" charset="0"/>
              <a:buChar char="•"/>
            </a:pPr>
            <a:r>
              <a:rPr lang="en-US" sz="2400" b="1" dirty="0"/>
              <a:t>Spatial weight matrix</a:t>
            </a:r>
            <a:r>
              <a:rPr lang="en-US" sz="2400" dirty="0"/>
              <a:t>: A mathematical construct that defines the spatial relationships between locations.</a:t>
            </a:r>
          </a:p>
          <a:p>
            <a:pPr marL="742950" lvl="1" indent="-285750">
              <a:buFont typeface="Arial" panose="020B0604020202020204" pitchFamily="34" charset="0"/>
              <a:buChar char="•"/>
            </a:pPr>
            <a:r>
              <a:rPr lang="en-US" sz="2400" b="1" dirty="0"/>
              <a:t>Types of weights</a:t>
            </a:r>
            <a:r>
              <a:rPr lang="en-US" sz="2400" dirty="0"/>
              <a:t>:</a:t>
            </a:r>
          </a:p>
          <a:p>
            <a:pPr marL="1143000" lvl="2" indent="-228600">
              <a:buFont typeface="Arial" panose="020B0604020202020204" pitchFamily="34" charset="0"/>
              <a:buChar char="•"/>
            </a:pPr>
            <a:r>
              <a:rPr lang="en-US" sz="2400" b="1" dirty="0"/>
              <a:t>Contiguity-based</a:t>
            </a:r>
            <a:r>
              <a:rPr lang="en-US" sz="2400" dirty="0"/>
              <a:t>: Defines neighbors based on shared boundaries.</a:t>
            </a:r>
          </a:p>
          <a:p>
            <a:pPr marL="1143000" lvl="2" indent="-228600">
              <a:buFont typeface="Arial" panose="020B0604020202020204" pitchFamily="34" charset="0"/>
              <a:buChar char="•"/>
            </a:pPr>
            <a:r>
              <a:rPr lang="en-US" sz="2400" b="1" dirty="0"/>
              <a:t>Distance-based</a:t>
            </a:r>
            <a:r>
              <a:rPr lang="en-US" sz="2400" dirty="0"/>
              <a:t>: Defines neighbors based on proximity (Euclidean distance).</a:t>
            </a:r>
          </a:p>
          <a:p>
            <a:pPr marL="742950" lvl="1" indent="-285750">
              <a:buFont typeface="Arial" panose="020B0604020202020204" pitchFamily="34" charset="0"/>
              <a:buChar char="•"/>
            </a:pPr>
            <a:r>
              <a:rPr lang="en-US" sz="2400" b="1" dirty="0"/>
              <a:t>Importance</a:t>
            </a:r>
            <a:r>
              <a:rPr lang="en-US" sz="2400" dirty="0"/>
              <a:t>: Influences how clusters are identified in spatial data.</a:t>
            </a:r>
          </a:p>
          <a:p>
            <a:endParaRPr lang="en-US" dirty="0"/>
          </a:p>
        </p:txBody>
      </p:sp>
    </p:spTree>
    <p:extLst>
      <p:ext uri="{BB962C8B-B14F-4D97-AF65-F5344CB8AC3E}">
        <p14:creationId xmlns:p14="http://schemas.microsoft.com/office/powerpoint/2010/main" val="84313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7D48C-296F-883E-6282-CF241CE55528}"/>
              </a:ext>
            </a:extLst>
          </p:cNvPr>
          <p:cNvSpPr>
            <a:spLocks noGrp="1"/>
          </p:cNvSpPr>
          <p:nvPr>
            <p:ph type="title"/>
          </p:nvPr>
        </p:nvSpPr>
        <p:spPr>
          <a:xfrm>
            <a:off x="1371600" y="304800"/>
            <a:ext cx="7989752" cy="1083329"/>
          </a:xfrm>
        </p:spPr>
        <p:txBody>
          <a:bodyPr/>
          <a:lstStyle/>
          <a:p>
            <a:r>
              <a:rPr lang="en-US" dirty="0"/>
              <a:t>Nearest neighbor analysis (NNA)</a:t>
            </a:r>
          </a:p>
        </p:txBody>
      </p:sp>
      <p:sp>
        <p:nvSpPr>
          <p:cNvPr id="3" name="Content Placeholder 2">
            <a:extLst>
              <a:ext uri="{FF2B5EF4-FFF2-40B4-BE49-F238E27FC236}">
                <a16:creationId xmlns:a16="http://schemas.microsoft.com/office/drawing/2014/main" id="{2DBD49E1-C4A0-C935-AC18-F91C1E7B7055}"/>
              </a:ext>
            </a:extLst>
          </p:cNvPr>
          <p:cNvSpPr>
            <a:spLocks noGrp="1"/>
          </p:cNvSpPr>
          <p:nvPr>
            <p:ph idx="1"/>
          </p:nvPr>
        </p:nvSpPr>
        <p:spPr>
          <a:xfrm>
            <a:off x="228600" y="1828801"/>
            <a:ext cx="8342344" cy="4029998"/>
          </a:xfrm>
        </p:spPr>
        <p:txBody>
          <a:bodyPr>
            <a:normAutofit/>
          </a:bodyPr>
          <a:lstStyle/>
          <a:p>
            <a:r>
              <a:rPr lang="en-US" sz="2400" dirty="0"/>
              <a:t>A spatial statistical method used to assess the distribution and clustering of points in a given space. </a:t>
            </a:r>
          </a:p>
          <a:p>
            <a:r>
              <a:rPr lang="en-US" sz="2400" dirty="0"/>
              <a:t>It helps determine whether the observed pattern of points is random, clustered, or uniformly distributed. </a:t>
            </a:r>
          </a:p>
          <a:p>
            <a:endParaRPr lang="en-US" sz="2400" dirty="0"/>
          </a:p>
          <a:p>
            <a:pPr>
              <a:buFont typeface="Arial" panose="020B0604020202020204" pitchFamily="34" charset="0"/>
              <a:buChar char="•"/>
            </a:pPr>
            <a:r>
              <a:rPr lang="en-US" sz="2400" dirty="0"/>
              <a:t>NNI is calculated as:</a:t>
            </a:r>
          </a:p>
          <a:p>
            <a:endParaRPr lang="en-US" dirty="0"/>
          </a:p>
        </p:txBody>
      </p:sp>
      <p:pic>
        <p:nvPicPr>
          <p:cNvPr id="5" name="Picture 4" descr="A black and white sign with white text&#10;&#10;Description automatically generated">
            <a:extLst>
              <a:ext uri="{FF2B5EF4-FFF2-40B4-BE49-F238E27FC236}">
                <a16:creationId xmlns:a16="http://schemas.microsoft.com/office/drawing/2014/main" id="{7B509A06-D867-F913-B344-E32F0C6726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5257800"/>
            <a:ext cx="5054600" cy="838200"/>
          </a:xfrm>
          <a:prstGeom prst="rect">
            <a:avLst/>
          </a:prstGeom>
        </p:spPr>
      </p:pic>
    </p:spTree>
    <p:extLst>
      <p:ext uri="{BB962C8B-B14F-4D97-AF65-F5344CB8AC3E}">
        <p14:creationId xmlns:p14="http://schemas.microsoft.com/office/powerpoint/2010/main" val="301073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02A99-277E-C92D-8308-DE6DD88B963E}"/>
              </a:ext>
            </a:extLst>
          </p:cNvPr>
          <p:cNvSpPr>
            <a:spLocks noGrp="1"/>
          </p:cNvSpPr>
          <p:nvPr>
            <p:ph type="title"/>
          </p:nvPr>
        </p:nvSpPr>
        <p:spPr>
          <a:xfrm>
            <a:off x="762000" y="914400"/>
            <a:ext cx="7989752" cy="1083329"/>
          </a:xfrm>
        </p:spPr>
        <p:txBody>
          <a:bodyPr>
            <a:normAutofit fontScale="90000"/>
          </a:bodyPr>
          <a:lstStyle/>
          <a:p>
            <a:r>
              <a:rPr lang="en-US" sz="2700" b="1" dirty="0" err="1"/>
              <a:t>HeatMAPS</a:t>
            </a:r>
            <a:r>
              <a:rPr lang="en-US" sz="2700" b="1" dirty="0"/>
              <a:t> &amp; </a:t>
            </a:r>
            <a:r>
              <a:rPr lang="en-US" sz="2700" b="1" dirty="0" err="1"/>
              <a:t>Getis</a:t>
            </a:r>
            <a:r>
              <a:rPr lang="en-US" sz="2700" b="1" dirty="0"/>
              <a:t>-Ord Gi Statistic: Hotspot Analysis</a:t>
            </a:r>
            <a:br>
              <a:rPr lang="en-US" b="1" dirty="0"/>
            </a:br>
            <a:endParaRPr lang="en-US" dirty="0"/>
          </a:p>
        </p:txBody>
      </p:sp>
      <p:sp>
        <p:nvSpPr>
          <p:cNvPr id="3" name="Content Placeholder 2">
            <a:extLst>
              <a:ext uri="{FF2B5EF4-FFF2-40B4-BE49-F238E27FC236}">
                <a16:creationId xmlns:a16="http://schemas.microsoft.com/office/drawing/2014/main" id="{8FF4A71E-A82C-2F09-FEB0-6F3053791B63}"/>
              </a:ext>
            </a:extLst>
          </p:cNvPr>
          <p:cNvSpPr>
            <a:spLocks noGrp="1"/>
          </p:cNvSpPr>
          <p:nvPr>
            <p:ph idx="1"/>
          </p:nvPr>
        </p:nvSpPr>
        <p:spPr/>
        <p:txBody>
          <a:bodyPr/>
          <a:lstStyle/>
          <a:p>
            <a:pPr marL="742950" lvl="1" indent="-285750">
              <a:buFont typeface="Arial" panose="020B0604020202020204" pitchFamily="34" charset="0"/>
              <a:buChar char="•"/>
            </a:pPr>
            <a:r>
              <a:rPr lang="en-US" sz="2400" b="1" dirty="0"/>
              <a:t>Purpose</a:t>
            </a:r>
            <a:r>
              <a:rPr lang="en-US" sz="2400" dirty="0"/>
              <a:t>: Identifies statistically significant hotspots or cold spots based on spatial aggregation of high/low values.</a:t>
            </a:r>
          </a:p>
          <a:p>
            <a:pPr marL="742950" lvl="1" indent="-285750">
              <a:buFont typeface="Arial" panose="020B0604020202020204" pitchFamily="34" charset="0"/>
              <a:buChar char="•"/>
            </a:pPr>
            <a:r>
              <a:rPr lang="en-US" sz="2400" b="1" dirty="0"/>
              <a:t>How it works</a:t>
            </a:r>
            <a:r>
              <a:rPr lang="en-US" sz="2400" dirty="0"/>
              <a:t>: Measures the intensity of clustering around each point relative to neighbors.</a:t>
            </a:r>
          </a:p>
          <a:p>
            <a:pPr marL="742950" lvl="1" indent="-285750">
              <a:buFont typeface="Arial" panose="020B0604020202020204" pitchFamily="34" charset="0"/>
              <a:buChar char="•"/>
            </a:pPr>
            <a:r>
              <a:rPr lang="en-US" sz="2400" b="1" dirty="0"/>
              <a:t>Application</a:t>
            </a:r>
            <a:r>
              <a:rPr lang="en-US" sz="2400" dirty="0"/>
              <a:t>: Crime mapping, disease outbreaks, socioeconomic studies.</a:t>
            </a:r>
          </a:p>
          <a:p>
            <a:endParaRPr lang="en-US" dirty="0"/>
          </a:p>
        </p:txBody>
      </p:sp>
    </p:spTree>
    <p:extLst>
      <p:ext uri="{BB962C8B-B14F-4D97-AF65-F5344CB8AC3E}">
        <p14:creationId xmlns:p14="http://schemas.microsoft.com/office/powerpoint/2010/main" val="1940740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D422A-B66B-C470-3610-06BF7094A206}"/>
              </a:ext>
            </a:extLst>
          </p:cNvPr>
          <p:cNvSpPr>
            <a:spLocks noGrp="1"/>
          </p:cNvSpPr>
          <p:nvPr>
            <p:ph type="title"/>
          </p:nvPr>
        </p:nvSpPr>
        <p:spPr/>
        <p:txBody>
          <a:bodyPr>
            <a:normAutofit fontScale="90000"/>
          </a:bodyPr>
          <a:lstStyle/>
          <a:p>
            <a:r>
              <a:rPr lang="en-US" b="1" dirty="0"/>
              <a:t>Key Functions of Nearest Neighbor Analysis</a:t>
            </a:r>
            <a:br>
              <a:rPr lang="en-US" b="1" dirty="0"/>
            </a:br>
            <a:endParaRPr lang="en-US" dirty="0"/>
          </a:p>
        </p:txBody>
      </p:sp>
      <p:sp>
        <p:nvSpPr>
          <p:cNvPr id="3" name="Content Placeholder 2">
            <a:extLst>
              <a:ext uri="{FF2B5EF4-FFF2-40B4-BE49-F238E27FC236}">
                <a16:creationId xmlns:a16="http://schemas.microsoft.com/office/drawing/2014/main" id="{AFB7BCFC-3A2E-102C-2F41-B26EBBCD3113}"/>
              </a:ext>
            </a:extLst>
          </p:cNvPr>
          <p:cNvSpPr>
            <a:spLocks noGrp="1"/>
          </p:cNvSpPr>
          <p:nvPr>
            <p:ph idx="1"/>
          </p:nvPr>
        </p:nvSpPr>
        <p:spPr/>
        <p:txBody>
          <a:bodyPr>
            <a:normAutofit fontScale="85000" lnSpcReduction="20000"/>
          </a:bodyPr>
          <a:lstStyle/>
          <a:p>
            <a:pPr marL="0" indent="0">
              <a:buNone/>
            </a:pPr>
            <a:r>
              <a:rPr lang="en-US" sz="2400" b="1" dirty="0"/>
              <a:t>Measure Spatial Arrangement</a:t>
            </a:r>
            <a:r>
              <a:rPr lang="en-US" sz="2400" dirty="0"/>
              <a:t>:</a:t>
            </a:r>
          </a:p>
          <a:p>
            <a:pPr marL="742950" lvl="1" indent="-285750">
              <a:buFont typeface="+mj-lt"/>
              <a:buAutoNum type="arabicPeriod"/>
            </a:pPr>
            <a:r>
              <a:rPr lang="en-US" sz="2400" dirty="0"/>
              <a:t>NNA evaluates the distance between a point and its nearest neighbor. </a:t>
            </a:r>
          </a:p>
          <a:p>
            <a:pPr marL="742950" lvl="1" indent="-285750">
              <a:buFont typeface="+mj-lt"/>
              <a:buAutoNum type="arabicPeriod"/>
            </a:pPr>
            <a:r>
              <a:rPr lang="en-US" sz="2400" dirty="0"/>
              <a:t>By analyzing these distances across a dataset, it provides insight into the overall spatial arrangement of points.</a:t>
            </a:r>
          </a:p>
          <a:p>
            <a:pPr marL="0" indent="0">
              <a:buNone/>
            </a:pPr>
            <a:r>
              <a:rPr lang="en-US" sz="2400" b="1" dirty="0"/>
              <a:t>Compare Observed vs. Expected Patterns</a:t>
            </a:r>
            <a:r>
              <a:rPr lang="en-US" sz="2400" dirty="0"/>
              <a:t>:</a:t>
            </a:r>
          </a:p>
          <a:p>
            <a:pPr marL="742950" lvl="1" indent="-285750">
              <a:buFont typeface="+mj-lt"/>
              <a:buAutoNum type="arabicPeriod"/>
            </a:pPr>
            <a:r>
              <a:rPr lang="en-US" sz="2400" dirty="0"/>
              <a:t>It compares the observed average nearest neighbor distance to an expected average distance under the assumption of complete spatial randomness. </a:t>
            </a:r>
          </a:p>
          <a:p>
            <a:pPr marL="742950" lvl="1" indent="-285750">
              <a:buFont typeface="+mj-lt"/>
              <a:buAutoNum type="arabicPeriod"/>
            </a:pPr>
            <a:r>
              <a:rPr lang="en-US" sz="2400" dirty="0"/>
              <a:t>This helps determine if the points are clustered, dispersed, or randomly distributed.</a:t>
            </a:r>
          </a:p>
          <a:p>
            <a:endParaRPr lang="en-US" dirty="0"/>
          </a:p>
        </p:txBody>
      </p:sp>
    </p:spTree>
    <p:extLst>
      <p:ext uri="{BB962C8B-B14F-4D97-AF65-F5344CB8AC3E}">
        <p14:creationId xmlns:p14="http://schemas.microsoft.com/office/powerpoint/2010/main" val="374423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15361-EC8C-A464-0D13-76679AFDDFA7}"/>
              </a:ext>
            </a:extLst>
          </p:cNvPr>
          <p:cNvSpPr>
            <a:spLocks noGrp="1"/>
          </p:cNvSpPr>
          <p:nvPr>
            <p:ph type="title"/>
          </p:nvPr>
        </p:nvSpPr>
        <p:spPr/>
        <p:txBody>
          <a:bodyPr/>
          <a:lstStyle/>
          <a:p>
            <a:r>
              <a:rPr lang="en-US" b="1" dirty="0"/>
              <a:t>Quantify Clustering</a:t>
            </a:r>
            <a:r>
              <a:rPr lang="en-US" dirty="0"/>
              <a:t>:</a:t>
            </a:r>
            <a:br>
              <a:rPr lang="en-US" dirty="0"/>
            </a:br>
            <a:endParaRPr lang="en-US" dirty="0"/>
          </a:p>
        </p:txBody>
      </p:sp>
      <p:sp>
        <p:nvSpPr>
          <p:cNvPr id="3" name="Content Placeholder 2">
            <a:extLst>
              <a:ext uri="{FF2B5EF4-FFF2-40B4-BE49-F238E27FC236}">
                <a16:creationId xmlns:a16="http://schemas.microsoft.com/office/drawing/2014/main" id="{DDBB96AD-A262-9327-527D-8A96E9DD1A0D}"/>
              </a:ext>
            </a:extLst>
          </p:cNvPr>
          <p:cNvSpPr>
            <a:spLocks noGrp="1"/>
          </p:cNvSpPr>
          <p:nvPr>
            <p:ph idx="1"/>
          </p:nvPr>
        </p:nvSpPr>
        <p:spPr/>
        <p:txBody>
          <a:bodyPr/>
          <a:lstStyle/>
          <a:p>
            <a:pPr>
              <a:buFont typeface="Arial" panose="020B0604020202020204" pitchFamily="34" charset="0"/>
              <a:buChar char="•"/>
            </a:pPr>
            <a:r>
              <a:rPr lang="en-US" sz="2400" dirty="0"/>
              <a:t>By calculating the nearest neighbor index (NNI), it quantifies the degree of clustering:</a:t>
            </a:r>
          </a:p>
          <a:p>
            <a:pPr marL="742950" lvl="1" indent="-285750">
              <a:buFont typeface="Arial" panose="020B0604020202020204" pitchFamily="34" charset="0"/>
              <a:buChar char="•"/>
            </a:pPr>
            <a:r>
              <a:rPr lang="en-US" sz="2400" b="1" dirty="0"/>
              <a:t>NNI &lt; 1</a:t>
            </a:r>
            <a:r>
              <a:rPr lang="en-US" sz="2400" dirty="0"/>
              <a:t>: Indicates clustering (points are closer together than expected).</a:t>
            </a:r>
          </a:p>
          <a:p>
            <a:pPr marL="742950" lvl="1" indent="-285750">
              <a:buFont typeface="Arial" panose="020B0604020202020204" pitchFamily="34" charset="0"/>
              <a:buChar char="•"/>
            </a:pPr>
            <a:r>
              <a:rPr lang="en-US" sz="2400" b="1" dirty="0"/>
              <a:t>NNI = 1</a:t>
            </a:r>
            <a:r>
              <a:rPr lang="en-US" sz="2400" dirty="0"/>
              <a:t>: Suggests a random distribution (points are spaced as expected).</a:t>
            </a:r>
          </a:p>
          <a:p>
            <a:pPr marL="742950" lvl="1" indent="-285750">
              <a:buFont typeface="Arial" panose="020B0604020202020204" pitchFamily="34" charset="0"/>
              <a:buChar char="•"/>
            </a:pPr>
            <a:r>
              <a:rPr lang="en-US" sz="2400" b="1" dirty="0"/>
              <a:t>NNI &gt; 1</a:t>
            </a:r>
            <a:r>
              <a:rPr lang="en-US" sz="2400" dirty="0"/>
              <a:t>: Indicates dispersion (points are farther apart than expected).</a:t>
            </a:r>
          </a:p>
          <a:p>
            <a:endParaRPr lang="en-US" dirty="0"/>
          </a:p>
        </p:txBody>
      </p:sp>
    </p:spTree>
    <p:extLst>
      <p:ext uri="{BB962C8B-B14F-4D97-AF65-F5344CB8AC3E}">
        <p14:creationId xmlns:p14="http://schemas.microsoft.com/office/powerpoint/2010/main" val="1976022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B0B5B-B898-0727-A611-B5F7AF85B08C}"/>
              </a:ext>
            </a:extLst>
          </p:cNvPr>
          <p:cNvSpPr>
            <a:spLocks noGrp="1"/>
          </p:cNvSpPr>
          <p:nvPr>
            <p:ph type="title"/>
          </p:nvPr>
        </p:nvSpPr>
        <p:spPr>
          <a:xfrm>
            <a:off x="1171071" y="914400"/>
            <a:ext cx="7989752" cy="1083329"/>
          </a:xfrm>
        </p:spPr>
        <p:txBody>
          <a:bodyPr>
            <a:normAutofit fontScale="90000"/>
          </a:bodyPr>
          <a:lstStyle/>
          <a:p>
            <a:r>
              <a:rPr lang="en-US" b="1" dirty="0"/>
              <a:t>Applications of Nearest Neighbor Analysis</a:t>
            </a:r>
            <a:br>
              <a:rPr lang="en-US" b="1" dirty="0"/>
            </a:br>
            <a:endParaRPr lang="en-US" dirty="0"/>
          </a:p>
        </p:txBody>
      </p:sp>
      <p:sp>
        <p:nvSpPr>
          <p:cNvPr id="3" name="Content Placeholder 2">
            <a:extLst>
              <a:ext uri="{FF2B5EF4-FFF2-40B4-BE49-F238E27FC236}">
                <a16:creationId xmlns:a16="http://schemas.microsoft.com/office/drawing/2014/main" id="{03A443C5-C1F5-644F-363B-56B9DD6FE41E}"/>
              </a:ext>
            </a:extLst>
          </p:cNvPr>
          <p:cNvSpPr>
            <a:spLocks noGrp="1"/>
          </p:cNvSpPr>
          <p:nvPr>
            <p:ph idx="1"/>
          </p:nvPr>
        </p:nvSpPr>
        <p:spPr>
          <a:xfrm>
            <a:off x="581192" y="2228003"/>
            <a:ext cx="7989752" cy="4172797"/>
          </a:xfrm>
        </p:spPr>
        <p:txBody>
          <a:bodyPr>
            <a:normAutofit fontScale="62500" lnSpcReduction="20000"/>
          </a:bodyPr>
          <a:lstStyle/>
          <a:p>
            <a:pPr>
              <a:buFont typeface="+mj-lt"/>
              <a:buAutoNum type="arabicPeriod"/>
            </a:pPr>
            <a:r>
              <a:rPr lang="en-US" sz="3100" b="1" dirty="0"/>
              <a:t>Urban Planning</a:t>
            </a:r>
            <a:r>
              <a:rPr lang="en-US" sz="3100" dirty="0"/>
              <a:t>:</a:t>
            </a:r>
          </a:p>
          <a:p>
            <a:pPr marL="457200" lvl="1" indent="0">
              <a:buNone/>
            </a:pPr>
            <a:r>
              <a:rPr lang="en-US" sz="3100" dirty="0"/>
              <a:t>Helps analyze the distribution of facilities, such as schools, parks, or hospitals, to ensure equitable access and optimal placement.</a:t>
            </a:r>
          </a:p>
          <a:p>
            <a:pPr>
              <a:buFont typeface="+mj-lt"/>
              <a:buAutoNum type="arabicPeriod"/>
            </a:pPr>
            <a:r>
              <a:rPr lang="en-US" sz="3100" b="1" dirty="0"/>
              <a:t>Crime Analysis</a:t>
            </a:r>
            <a:r>
              <a:rPr lang="en-US" sz="3100" dirty="0"/>
              <a:t>:</a:t>
            </a:r>
          </a:p>
          <a:p>
            <a:pPr marL="457200" lvl="1" indent="0">
              <a:buNone/>
            </a:pPr>
            <a:r>
              <a:rPr lang="en-US" sz="3100" dirty="0"/>
              <a:t>Assists in understanding the spatial patterns of criminal incidents, which can help law enforcement agencies target resources effectively.</a:t>
            </a:r>
          </a:p>
          <a:p>
            <a:pPr>
              <a:buFont typeface="+mj-lt"/>
              <a:buAutoNum type="arabicPeriod"/>
            </a:pPr>
            <a:r>
              <a:rPr lang="en-US" sz="3100" b="1" dirty="0"/>
              <a:t>Epidemiology</a:t>
            </a:r>
            <a:r>
              <a:rPr lang="en-US" sz="3100" dirty="0"/>
              <a:t>:</a:t>
            </a:r>
          </a:p>
          <a:p>
            <a:pPr marL="457200" lvl="1" indent="0">
              <a:buNone/>
            </a:pPr>
            <a:r>
              <a:rPr lang="en-US" sz="3100" dirty="0"/>
              <a:t>Useful for studying the spread of diseases by analyzing the spatial distribution of disease cases to identify clusters.</a:t>
            </a:r>
          </a:p>
          <a:p>
            <a:pPr>
              <a:buFont typeface="+mj-lt"/>
              <a:buAutoNum type="arabicPeriod"/>
            </a:pPr>
            <a:r>
              <a:rPr lang="en-US" sz="3100" b="1" dirty="0"/>
              <a:t>Real Estate and Market Analysis</a:t>
            </a:r>
            <a:r>
              <a:rPr lang="en-US" sz="3100" dirty="0"/>
              <a:t>:</a:t>
            </a:r>
          </a:p>
          <a:p>
            <a:pPr marL="457200" lvl="1" indent="0">
              <a:buNone/>
            </a:pPr>
            <a:r>
              <a:rPr lang="en-US" sz="3100" dirty="0"/>
              <a:t>Used to assess the spatial distribution of properties, businesses, or other entities, informing investment decisions and marketing strategies.</a:t>
            </a:r>
          </a:p>
          <a:p>
            <a:endParaRPr lang="en-US" dirty="0"/>
          </a:p>
        </p:txBody>
      </p:sp>
    </p:spTree>
    <p:extLst>
      <p:ext uri="{BB962C8B-B14F-4D97-AF65-F5344CB8AC3E}">
        <p14:creationId xmlns:p14="http://schemas.microsoft.com/office/powerpoint/2010/main" val="1358571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1"/>
          </p:nvPr>
        </p:nvSpPr>
        <p:spPr>
          <a:xfrm>
            <a:off x="228600" y="1219200"/>
            <a:ext cx="8610600" cy="1905000"/>
          </a:xfrm>
        </p:spPr>
        <p:txBody>
          <a:bodyPr>
            <a:normAutofit fontScale="92500"/>
          </a:bodyPr>
          <a:lstStyle/>
          <a:p>
            <a:r>
              <a:rPr lang="en-US" sz="2800" dirty="0">
                <a:solidFill>
                  <a:schemeClr val="bg1"/>
                </a:solidFill>
              </a:rPr>
              <a:t>commonly used to “visually enhance” a point pattern</a:t>
            </a:r>
          </a:p>
          <a:p>
            <a:endParaRPr lang="en-US" sz="3000" dirty="0">
              <a:solidFill>
                <a:schemeClr val="bg1"/>
              </a:solidFill>
            </a:endParaRPr>
          </a:p>
          <a:p>
            <a:r>
              <a:rPr lang="en-US" sz="2800" dirty="0"/>
              <a:t>Is an example of “exploratory spatial data analysis” (ESDA)  </a:t>
            </a:r>
          </a:p>
        </p:txBody>
      </p:sp>
      <p:sp>
        <p:nvSpPr>
          <p:cNvPr id="34821" name="Slide Number Placeholder 4"/>
          <p:cNvSpPr>
            <a:spLocks noGrp="1"/>
          </p:cNvSpPr>
          <p:nvPr>
            <p:ph type="sldNum" sz="quarter" idx="12"/>
          </p:nvPr>
        </p:nvSpPr>
        <p:spPr>
          <a:noFill/>
        </p:spPr>
        <p:txBody>
          <a:bodyPr/>
          <a:lstStyle/>
          <a:p>
            <a:fld id="{852237D5-C551-4941-8FA6-1E1C83110941}" type="slidenum">
              <a:rPr lang="en-US" smtClean="0"/>
              <a:pPr/>
              <a:t>18</a:t>
            </a:fld>
            <a:endParaRPr lang="en-US"/>
          </a:p>
        </p:txBody>
      </p:sp>
      <p:sp>
        <p:nvSpPr>
          <p:cNvPr id="34818" name="Title 1"/>
          <p:cNvSpPr>
            <a:spLocks noGrp="1"/>
          </p:cNvSpPr>
          <p:nvPr>
            <p:ph type="title"/>
          </p:nvPr>
        </p:nvSpPr>
        <p:spPr>
          <a:xfrm>
            <a:off x="617537" y="445325"/>
            <a:ext cx="9144000" cy="914400"/>
          </a:xfrm>
        </p:spPr>
        <p:txBody>
          <a:bodyPr>
            <a:normAutofit/>
          </a:bodyPr>
          <a:lstStyle/>
          <a:p>
            <a:r>
              <a:rPr lang="en-US" sz="3200" dirty="0"/>
              <a:t>Density Kernel Estimation</a:t>
            </a:r>
          </a:p>
        </p:txBody>
      </p:sp>
      <p:pic>
        <p:nvPicPr>
          <p:cNvPr id="34822" name="Picture 3"/>
          <p:cNvPicPr>
            <a:picLocks noChangeAspect="1" noChangeArrowheads="1"/>
          </p:cNvPicPr>
          <p:nvPr/>
        </p:nvPicPr>
        <p:blipFill>
          <a:blip r:embed="rId3" cstate="print"/>
          <a:srcRect/>
          <a:stretch>
            <a:fillRect/>
          </a:stretch>
        </p:blipFill>
        <p:spPr bwMode="auto">
          <a:xfrm>
            <a:off x="0" y="3429000"/>
            <a:ext cx="3121025" cy="2971800"/>
          </a:xfrm>
          <a:prstGeom prst="rect">
            <a:avLst/>
          </a:prstGeom>
          <a:noFill/>
          <a:ln w="9525">
            <a:solidFill>
              <a:schemeClr val="tx1"/>
            </a:solidFill>
            <a:miter lim="800000"/>
            <a:headEnd/>
            <a:tailEnd/>
          </a:ln>
        </p:spPr>
      </p:pic>
      <p:pic>
        <p:nvPicPr>
          <p:cNvPr id="34823" name="Picture 4"/>
          <p:cNvPicPr>
            <a:picLocks noChangeAspect="1" noChangeArrowheads="1"/>
          </p:cNvPicPr>
          <p:nvPr/>
        </p:nvPicPr>
        <p:blipFill>
          <a:blip r:embed="rId4" cstate="print"/>
          <a:srcRect/>
          <a:stretch>
            <a:fillRect/>
          </a:stretch>
        </p:blipFill>
        <p:spPr bwMode="auto">
          <a:xfrm>
            <a:off x="3124200" y="3429000"/>
            <a:ext cx="3084513" cy="2971800"/>
          </a:xfrm>
          <a:prstGeom prst="rect">
            <a:avLst/>
          </a:prstGeom>
          <a:noFill/>
          <a:ln w="9525">
            <a:solidFill>
              <a:schemeClr val="tx1"/>
            </a:solidFill>
            <a:miter lim="800000"/>
            <a:headEnd/>
            <a:tailEnd/>
          </a:ln>
        </p:spPr>
      </p:pic>
      <p:pic>
        <p:nvPicPr>
          <p:cNvPr id="34824" name="Picture 5"/>
          <p:cNvPicPr>
            <a:picLocks noChangeAspect="1" noChangeArrowheads="1"/>
          </p:cNvPicPr>
          <p:nvPr/>
        </p:nvPicPr>
        <p:blipFill>
          <a:blip r:embed="rId5" cstate="print"/>
          <a:srcRect/>
          <a:stretch>
            <a:fillRect/>
          </a:stretch>
        </p:blipFill>
        <p:spPr bwMode="auto">
          <a:xfrm>
            <a:off x="6022975" y="3429000"/>
            <a:ext cx="3121025" cy="2971800"/>
          </a:xfrm>
          <a:prstGeom prst="rect">
            <a:avLst/>
          </a:prstGeom>
          <a:noFill/>
          <a:ln w="9525">
            <a:solidFill>
              <a:schemeClr val="tx1"/>
            </a:solidFill>
            <a:miter lim="800000"/>
            <a:headEnd/>
            <a:tailEnd/>
          </a:ln>
        </p:spPr>
      </p:pic>
      <p:sp>
        <p:nvSpPr>
          <p:cNvPr id="34825" name="TextBox 5"/>
          <p:cNvSpPr txBox="1">
            <a:spLocks noChangeArrowheads="1"/>
          </p:cNvSpPr>
          <p:nvPr/>
        </p:nvSpPr>
        <p:spPr bwMode="auto">
          <a:xfrm>
            <a:off x="4343400" y="6019800"/>
            <a:ext cx="1692275" cy="369888"/>
          </a:xfrm>
          <a:prstGeom prst="rect">
            <a:avLst/>
          </a:prstGeom>
          <a:noFill/>
          <a:ln w="9525">
            <a:noFill/>
            <a:miter lim="800000"/>
            <a:headEnd/>
            <a:tailEnd/>
          </a:ln>
        </p:spPr>
        <p:txBody>
          <a:bodyPr wrap="none">
            <a:spAutoFit/>
          </a:bodyPr>
          <a:lstStyle/>
          <a:p>
            <a:r>
              <a:rPr lang="en-US"/>
              <a:t>Kernel=10,000</a:t>
            </a:r>
          </a:p>
        </p:txBody>
      </p:sp>
      <p:sp>
        <p:nvSpPr>
          <p:cNvPr id="34826" name="TextBox 6"/>
          <p:cNvSpPr txBox="1">
            <a:spLocks noChangeArrowheads="1"/>
          </p:cNvSpPr>
          <p:nvPr/>
        </p:nvSpPr>
        <p:spPr bwMode="auto">
          <a:xfrm>
            <a:off x="7580313" y="6019800"/>
            <a:ext cx="1563687" cy="369888"/>
          </a:xfrm>
          <a:prstGeom prst="rect">
            <a:avLst/>
          </a:prstGeom>
          <a:noFill/>
          <a:ln w="9525">
            <a:noFill/>
            <a:miter lim="800000"/>
            <a:headEnd/>
            <a:tailEnd/>
          </a:ln>
        </p:spPr>
        <p:txBody>
          <a:bodyPr wrap="none">
            <a:spAutoFit/>
          </a:bodyPr>
          <a:lstStyle/>
          <a:p>
            <a:r>
              <a:rPr lang="en-US"/>
              <a:t>Kernel=5,000</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1"/>
          </p:nvPr>
        </p:nvSpPr>
        <p:spPr>
          <a:xfrm>
            <a:off x="266700" y="1752600"/>
            <a:ext cx="8610600" cy="4800600"/>
          </a:xfrm>
        </p:spPr>
        <p:txBody>
          <a:bodyPr>
            <a:normAutofit fontScale="92500" lnSpcReduction="20000"/>
          </a:bodyPr>
          <a:lstStyle/>
          <a:p>
            <a:r>
              <a:rPr lang="en-US" sz="2800" dirty="0">
                <a:solidFill>
                  <a:schemeClr val="tx1"/>
                </a:solidFill>
              </a:rPr>
              <a:t>Radii surrounding each point are based on a quadratic formula with the highest value of observations assumed to be at the center (the point location), then tapering to zero at the radius distance. </a:t>
            </a:r>
          </a:p>
          <a:p>
            <a:endParaRPr lang="en-US" sz="2800" dirty="0">
              <a:solidFill>
                <a:schemeClr val="tx1"/>
              </a:solidFill>
            </a:endParaRPr>
          </a:p>
          <a:p>
            <a:r>
              <a:rPr lang="en-US" sz="2800" dirty="0"/>
              <a:t>Kernel density calculates a "magnitude per search radius" from a point using a kernel function to fit a smoothly tapered surface to each point.</a:t>
            </a:r>
          </a:p>
          <a:p>
            <a:pPr marL="109728" indent="0">
              <a:buNone/>
            </a:pPr>
            <a:endParaRPr lang="en-US" sz="2800" dirty="0"/>
          </a:p>
          <a:p>
            <a:pPr lvl="1"/>
            <a:r>
              <a:rPr lang="en-US" sz="2400" dirty="0"/>
              <a:t>Note that while density maps can show where clusters exist in your data, they do not indicate whether there are statistically significant differences between clusters.</a:t>
            </a:r>
          </a:p>
        </p:txBody>
      </p:sp>
      <p:sp>
        <p:nvSpPr>
          <p:cNvPr id="34821" name="Slide Number Placeholder 4"/>
          <p:cNvSpPr>
            <a:spLocks noGrp="1"/>
          </p:cNvSpPr>
          <p:nvPr>
            <p:ph type="sldNum" sz="quarter" idx="12"/>
          </p:nvPr>
        </p:nvSpPr>
        <p:spPr>
          <a:noFill/>
        </p:spPr>
        <p:txBody>
          <a:bodyPr/>
          <a:lstStyle/>
          <a:p>
            <a:fld id="{852237D5-C551-4941-8FA6-1E1C83110941}" type="slidenum">
              <a:rPr lang="en-US" smtClean="0"/>
              <a:pPr/>
              <a:t>19</a:t>
            </a:fld>
            <a:endParaRPr lang="en-US"/>
          </a:p>
        </p:txBody>
      </p:sp>
      <p:sp>
        <p:nvSpPr>
          <p:cNvPr id="34818" name="Title 1"/>
          <p:cNvSpPr>
            <a:spLocks noGrp="1"/>
          </p:cNvSpPr>
          <p:nvPr>
            <p:ph type="title"/>
          </p:nvPr>
        </p:nvSpPr>
        <p:spPr>
          <a:xfrm>
            <a:off x="1219200" y="536739"/>
            <a:ext cx="9144000" cy="914400"/>
          </a:xfrm>
        </p:spPr>
        <p:txBody>
          <a:bodyPr>
            <a:normAutofit/>
          </a:bodyPr>
          <a:lstStyle/>
          <a:p>
            <a:r>
              <a:rPr lang="en-US" sz="3200" dirty="0"/>
              <a:t>Density Kernel Estimation</a:t>
            </a:r>
          </a:p>
        </p:txBody>
      </p:sp>
    </p:spTree>
    <p:extLst>
      <p:ext uri="{BB962C8B-B14F-4D97-AF65-F5344CB8AC3E}">
        <p14:creationId xmlns:p14="http://schemas.microsoft.com/office/powerpoint/2010/main" val="139857356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C8D2-9C5B-00BC-69AF-C806281F6DFB}"/>
              </a:ext>
            </a:extLst>
          </p:cNvPr>
          <p:cNvSpPr>
            <a:spLocks noGrp="1"/>
          </p:cNvSpPr>
          <p:nvPr>
            <p:ph type="title"/>
          </p:nvPr>
        </p:nvSpPr>
        <p:spPr/>
        <p:txBody>
          <a:bodyPr>
            <a:normAutofit/>
          </a:bodyPr>
          <a:lstStyle/>
          <a:p>
            <a:r>
              <a:rPr lang="en-US" dirty="0"/>
              <a:t>Heatmaps (Kernel Density Estimation)</a:t>
            </a:r>
          </a:p>
        </p:txBody>
      </p:sp>
      <p:sp>
        <p:nvSpPr>
          <p:cNvPr id="3" name="Content Placeholder 2">
            <a:extLst>
              <a:ext uri="{FF2B5EF4-FFF2-40B4-BE49-F238E27FC236}">
                <a16:creationId xmlns:a16="http://schemas.microsoft.com/office/drawing/2014/main" id="{DD8F583C-A239-1500-980B-FBE235539ADC}"/>
              </a:ext>
            </a:extLst>
          </p:cNvPr>
          <p:cNvSpPr>
            <a:spLocks noGrp="1"/>
          </p:cNvSpPr>
          <p:nvPr>
            <p:ph idx="1"/>
          </p:nvPr>
        </p:nvSpPr>
        <p:spPr/>
        <p:txBody>
          <a:bodyPr>
            <a:normAutofit/>
          </a:bodyPr>
          <a:lstStyle/>
          <a:p>
            <a:pPr marL="0" indent="0">
              <a:buNone/>
            </a:pPr>
            <a:r>
              <a:rPr lang="en-US" sz="2400" dirty="0"/>
              <a:t>Visualize the concentration of points by calculating the density of points in a given area. </a:t>
            </a:r>
          </a:p>
          <a:p>
            <a:pPr marL="0" indent="0">
              <a:buNone/>
            </a:pPr>
            <a:r>
              <a:rPr lang="en-US" sz="2400" dirty="0"/>
              <a:t>This is a </a:t>
            </a:r>
            <a:r>
              <a:rPr lang="en-US" sz="2400" b="1" dirty="0"/>
              <a:t>non-clustering</a:t>
            </a:r>
            <a:r>
              <a:rPr lang="en-US" sz="2400" dirty="0"/>
              <a:t> method but helps visualize where clusters of points are located.</a:t>
            </a:r>
          </a:p>
          <a:p>
            <a:pPr marL="0" indent="0">
              <a:buNone/>
            </a:pPr>
            <a:endParaRPr lang="en-US" sz="2400" b="1" dirty="0"/>
          </a:p>
          <a:p>
            <a:pPr marL="0" indent="0">
              <a:buNone/>
            </a:pPr>
            <a:r>
              <a:rPr lang="en-US" sz="2400" b="1" dirty="0"/>
              <a:t>Use Case</a:t>
            </a:r>
            <a:r>
              <a:rPr lang="en-US" sz="2400" dirty="0"/>
              <a:t>: This is used to find areas of high concentration of arrests, even if they are not formal clusters.</a:t>
            </a:r>
          </a:p>
        </p:txBody>
      </p:sp>
    </p:spTree>
    <p:extLst>
      <p:ext uri="{BB962C8B-B14F-4D97-AF65-F5344CB8AC3E}">
        <p14:creationId xmlns:p14="http://schemas.microsoft.com/office/powerpoint/2010/main" val="1622603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Slide Number Placeholder 4"/>
          <p:cNvSpPr>
            <a:spLocks noGrp="1"/>
          </p:cNvSpPr>
          <p:nvPr>
            <p:ph type="sldNum" sz="quarter" idx="12"/>
          </p:nvPr>
        </p:nvSpPr>
        <p:spPr>
          <a:noFill/>
        </p:spPr>
        <p:txBody>
          <a:bodyPr/>
          <a:lstStyle/>
          <a:p>
            <a:fld id="{852237D5-C551-4941-8FA6-1E1C83110941}" type="slidenum">
              <a:rPr lang="en-US" smtClean="0"/>
              <a:pPr/>
              <a:t>21</a:t>
            </a:fld>
            <a:endParaRPr lang="en-US"/>
          </a:p>
        </p:txBody>
      </p:sp>
      <p:sp>
        <p:nvSpPr>
          <p:cNvPr id="34818" name="Title 1"/>
          <p:cNvSpPr>
            <a:spLocks noGrp="1"/>
          </p:cNvSpPr>
          <p:nvPr>
            <p:ph type="title"/>
          </p:nvPr>
        </p:nvSpPr>
        <p:spPr>
          <a:xfrm>
            <a:off x="1189881" y="384340"/>
            <a:ext cx="9144000" cy="914400"/>
          </a:xfrm>
        </p:spPr>
        <p:txBody>
          <a:bodyPr>
            <a:normAutofit/>
          </a:bodyPr>
          <a:lstStyle/>
          <a:p>
            <a:r>
              <a:rPr lang="en-US" sz="3200" dirty="0"/>
              <a:t>Density Kernel Estimation</a:t>
            </a:r>
          </a:p>
        </p:txBody>
      </p:sp>
      <p:sp>
        <p:nvSpPr>
          <p:cNvPr id="2" name="Content Placeholder 1"/>
          <p:cNvSpPr>
            <a:spLocks noGrp="1"/>
          </p:cNvSpPr>
          <p:nvPr>
            <p:ph idx="1"/>
          </p:nvPr>
        </p:nvSpPr>
        <p:spPr>
          <a:xfrm>
            <a:off x="581192" y="1613602"/>
            <a:ext cx="7989752" cy="3630795"/>
          </a:xfrm>
        </p:spPr>
        <p:txBody>
          <a:bodyPr/>
          <a:lstStyle/>
          <a:p>
            <a:r>
              <a:rPr lang="en-US" dirty="0"/>
              <a:t>Pop is equal to one unless we want to weight results to a column value</a:t>
            </a:r>
          </a:p>
          <a:p>
            <a:r>
              <a:rPr lang="en-US" dirty="0">
                <a:solidFill>
                  <a:schemeClr val="tx1"/>
                </a:solidFill>
              </a:rPr>
              <a:t>We choose the radius</a:t>
            </a:r>
          </a:p>
          <a:p>
            <a:r>
              <a:rPr lang="en-US" dirty="0" err="1"/>
              <a:t>Dist</a:t>
            </a:r>
            <a:r>
              <a:rPr lang="en-US" dirty="0"/>
              <a:t> is the distance from a point in a grid cell and any points within the radius…</a:t>
            </a:r>
          </a:p>
        </p:txBody>
      </p:sp>
      <p:sp>
        <p:nvSpPr>
          <p:cNvPr id="8" name="Content Placeholder 2"/>
          <p:cNvSpPr txBox="1">
            <a:spLocks/>
          </p:cNvSpPr>
          <p:nvPr/>
        </p:nvSpPr>
        <p:spPr>
          <a:xfrm>
            <a:off x="266700" y="1905000"/>
            <a:ext cx="8610600" cy="480060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fontAlgn="auto"/>
            <a:r>
              <a:rPr lang="en-US" sz="3200" dirty="0"/>
              <a:t>Formula:</a:t>
            </a:r>
          </a:p>
          <a:p>
            <a:pPr fontAlgn="auto"/>
            <a:endParaRPr lang="en-US" sz="2400" dirty="0"/>
          </a:p>
          <a:p>
            <a:pPr lvl="1" fontAlgn="auto">
              <a:spcAft>
                <a:spcPts val="0"/>
              </a:spcAft>
            </a:pPr>
            <a:endParaRPr lang="en-US" sz="2000" dirty="0"/>
          </a:p>
        </p:txBody>
      </p:sp>
      <p:pic>
        <p:nvPicPr>
          <p:cNvPr id="9" name="Picture 4" descr="Predicted density formul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943" y="4407436"/>
            <a:ext cx="6529287"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83565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362200" y="685800"/>
            <a:ext cx="8229600" cy="838200"/>
          </a:xfrm>
        </p:spPr>
        <p:txBody>
          <a:bodyPr>
            <a:normAutofit/>
          </a:bodyPr>
          <a:lstStyle/>
          <a:p>
            <a:r>
              <a:rPr lang="en-US" sz="3200" dirty="0"/>
              <a:t>Quadrat Analysis</a:t>
            </a:r>
          </a:p>
        </p:txBody>
      </p:sp>
      <p:sp>
        <p:nvSpPr>
          <p:cNvPr id="19459" name="Rectangle 3"/>
          <p:cNvSpPr>
            <a:spLocks noGrp="1" noChangeArrowheads="1"/>
          </p:cNvSpPr>
          <p:nvPr>
            <p:ph type="body" idx="1"/>
          </p:nvPr>
        </p:nvSpPr>
        <p:spPr>
          <a:xfrm>
            <a:off x="628650" y="2133600"/>
            <a:ext cx="7886700" cy="4267200"/>
          </a:xfrm>
        </p:spPr>
        <p:txBody>
          <a:bodyPr>
            <a:normAutofit fontScale="92500" lnSpcReduction="10000"/>
          </a:bodyPr>
          <a:lstStyle/>
          <a:p>
            <a:pPr>
              <a:lnSpc>
                <a:spcPct val="90000"/>
              </a:lnSpc>
            </a:pPr>
            <a:r>
              <a:rPr lang="en-US" sz="2400" dirty="0"/>
              <a:t>Based on a measure derived from data obtained after a uniform grid network is drawn over a map of the distribution of interest</a:t>
            </a:r>
          </a:p>
          <a:p>
            <a:pPr>
              <a:lnSpc>
                <a:spcPct val="90000"/>
              </a:lnSpc>
            </a:pPr>
            <a:endParaRPr lang="en-US" sz="2400" dirty="0"/>
          </a:p>
          <a:p>
            <a:pPr>
              <a:lnSpc>
                <a:spcPct val="90000"/>
              </a:lnSpc>
            </a:pPr>
            <a:r>
              <a:rPr lang="en-US" sz="2400" dirty="0"/>
              <a:t>The frequency count, the number of points occurring within each </a:t>
            </a:r>
            <a:r>
              <a:rPr lang="en-US" sz="2400" dirty="0" err="1"/>
              <a:t>quadrat</a:t>
            </a:r>
            <a:r>
              <a:rPr lang="en-US" sz="2400" dirty="0"/>
              <a:t> is recorded first</a:t>
            </a:r>
          </a:p>
          <a:p>
            <a:pPr>
              <a:lnSpc>
                <a:spcPct val="90000"/>
              </a:lnSpc>
            </a:pPr>
            <a:endParaRPr lang="en-US" sz="2400" dirty="0"/>
          </a:p>
          <a:p>
            <a:pPr>
              <a:lnSpc>
                <a:spcPct val="90000"/>
              </a:lnSpc>
            </a:pPr>
            <a:r>
              <a:rPr lang="en-US" sz="2400" dirty="0"/>
              <a:t>These data are then used to compute a measure called the variance</a:t>
            </a:r>
          </a:p>
          <a:p>
            <a:pPr>
              <a:lnSpc>
                <a:spcPct val="90000"/>
              </a:lnSpc>
            </a:pPr>
            <a:r>
              <a:rPr lang="en-US" sz="2400" dirty="0"/>
              <a:t>The variance compares the number of points in each grid cell with the average number of points over </a:t>
            </a:r>
            <a:r>
              <a:rPr lang="en-US" sz="2400" i="1" dirty="0"/>
              <a:t>all</a:t>
            </a:r>
            <a:r>
              <a:rPr lang="en-US" sz="2400" dirty="0"/>
              <a:t> of the cells</a:t>
            </a:r>
          </a:p>
          <a:p>
            <a:pPr>
              <a:lnSpc>
                <a:spcPct val="90000"/>
              </a:lnSpc>
            </a:pPr>
            <a:r>
              <a:rPr lang="en-US" sz="2400" dirty="0"/>
              <a:t>The variance of the distribution is compared to the characteristics of a random distribution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572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5" name="Rectangle 3"/>
          <p:cNvSpPr>
            <a:spLocks noChangeArrowheads="1"/>
          </p:cNvSpPr>
          <p:nvPr/>
        </p:nvSpPr>
        <p:spPr bwMode="auto">
          <a:xfrm>
            <a:off x="15240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6" name="Rectangle 4"/>
          <p:cNvSpPr>
            <a:spLocks noChangeArrowheads="1"/>
          </p:cNvSpPr>
          <p:nvPr/>
        </p:nvSpPr>
        <p:spPr bwMode="auto">
          <a:xfrm>
            <a:off x="4572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7" name="Rectangle 5"/>
          <p:cNvSpPr>
            <a:spLocks noChangeArrowheads="1"/>
          </p:cNvSpPr>
          <p:nvPr/>
        </p:nvSpPr>
        <p:spPr bwMode="auto">
          <a:xfrm>
            <a:off x="15240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8" name="Rectangle 6"/>
          <p:cNvSpPr>
            <a:spLocks noChangeArrowheads="1"/>
          </p:cNvSpPr>
          <p:nvPr/>
        </p:nvSpPr>
        <p:spPr bwMode="auto">
          <a:xfrm>
            <a:off x="4572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9" name="Rectangle 7"/>
          <p:cNvSpPr>
            <a:spLocks noChangeArrowheads="1"/>
          </p:cNvSpPr>
          <p:nvPr/>
        </p:nvSpPr>
        <p:spPr bwMode="auto">
          <a:xfrm>
            <a:off x="15240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0" name="Rectangle 8"/>
          <p:cNvSpPr>
            <a:spLocks noChangeArrowheads="1"/>
          </p:cNvSpPr>
          <p:nvPr/>
        </p:nvSpPr>
        <p:spPr bwMode="auto">
          <a:xfrm>
            <a:off x="4572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1" name="Rectangle 9"/>
          <p:cNvSpPr>
            <a:spLocks noChangeArrowheads="1"/>
          </p:cNvSpPr>
          <p:nvPr/>
        </p:nvSpPr>
        <p:spPr bwMode="auto">
          <a:xfrm>
            <a:off x="15240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2" name="Rectangle 10"/>
          <p:cNvSpPr>
            <a:spLocks noChangeArrowheads="1"/>
          </p:cNvSpPr>
          <p:nvPr/>
        </p:nvSpPr>
        <p:spPr bwMode="auto">
          <a:xfrm>
            <a:off x="4572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3" name="Rectangle 11"/>
          <p:cNvSpPr>
            <a:spLocks noChangeArrowheads="1"/>
          </p:cNvSpPr>
          <p:nvPr/>
        </p:nvSpPr>
        <p:spPr bwMode="auto">
          <a:xfrm>
            <a:off x="15240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4" name="Rectangle 12"/>
          <p:cNvSpPr>
            <a:spLocks noChangeArrowheads="1"/>
          </p:cNvSpPr>
          <p:nvPr/>
        </p:nvSpPr>
        <p:spPr bwMode="auto">
          <a:xfrm>
            <a:off x="31242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5" name="Rectangle 13"/>
          <p:cNvSpPr>
            <a:spLocks noChangeArrowheads="1"/>
          </p:cNvSpPr>
          <p:nvPr/>
        </p:nvSpPr>
        <p:spPr bwMode="auto">
          <a:xfrm>
            <a:off x="41910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6" name="Rectangle 14"/>
          <p:cNvSpPr>
            <a:spLocks noChangeArrowheads="1"/>
          </p:cNvSpPr>
          <p:nvPr/>
        </p:nvSpPr>
        <p:spPr bwMode="auto">
          <a:xfrm>
            <a:off x="31242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7" name="Rectangle 15"/>
          <p:cNvSpPr>
            <a:spLocks noChangeArrowheads="1"/>
          </p:cNvSpPr>
          <p:nvPr/>
        </p:nvSpPr>
        <p:spPr bwMode="auto">
          <a:xfrm>
            <a:off x="41910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8" name="Rectangle 16"/>
          <p:cNvSpPr>
            <a:spLocks noChangeArrowheads="1"/>
          </p:cNvSpPr>
          <p:nvPr/>
        </p:nvSpPr>
        <p:spPr bwMode="auto">
          <a:xfrm>
            <a:off x="31242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9" name="Rectangle 17"/>
          <p:cNvSpPr>
            <a:spLocks noChangeArrowheads="1"/>
          </p:cNvSpPr>
          <p:nvPr/>
        </p:nvSpPr>
        <p:spPr bwMode="auto">
          <a:xfrm>
            <a:off x="41910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0" name="Rectangle 18"/>
          <p:cNvSpPr>
            <a:spLocks noChangeArrowheads="1"/>
          </p:cNvSpPr>
          <p:nvPr/>
        </p:nvSpPr>
        <p:spPr bwMode="auto">
          <a:xfrm>
            <a:off x="31242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1" name="Rectangle 19"/>
          <p:cNvSpPr>
            <a:spLocks noChangeArrowheads="1"/>
          </p:cNvSpPr>
          <p:nvPr/>
        </p:nvSpPr>
        <p:spPr bwMode="auto">
          <a:xfrm>
            <a:off x="41910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2" name="Rectangle 20"/>
          <p:cNvSpPr>
            <a:spLocks noChangeArrowheads="1"/>
          </p:cNvSpPr>
          <p:nvPr/>
        </p:nvSpPr>
        <p:spPr bwMode="auto">
          <a:xfrm>
            <a:off x="31242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3" name="Rectangle 21"/>
          <p:cNvSpPr>
            <a:spLocks noChangeArrowheads="1"/>
          </p:cNvSpPr>
          <p:nvPr/>
        </p:nvSpPr>
        <p:spPr bwMode="auto">
          <a:xfrm>
            <a:off x="41910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4" name="Rectangle 22"/>
          <p:cNvSpPr>
            <a:spLocks noChangeArrowheads="1"/>
          </p:cNvSpPr>
          <p:nvPr/>
        </p:nvSpPr>
        <p:spPr bwMode="auto">
          <a:xfrm>
            <a:off x="57150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5" name="Rectangle 23"/>
          <p:cNvSpPr>
            <a:spLocks noChangeArrowheads="1"/>
          </p:cNvSpPr>
          <p:nvPr/>
        </p:nvSpPr>
        <p:spPr bwMode="auto">
          <a:xfrm>
            <a:off x="67818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6" name="Rectangle 24"/>
          <p:cNvSpPr>
            <a:spLocks noChangeArrowheads="1"/>
          </p:cNvSpPr>
          <p:nvPr/>
        </p:nvSpPr>
        <p:spPr bwMode="auto">
          <a:xfrm>
            <a:off x="57150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7" name="Rectangle 25"/>
          <p:cNvSpPr>
            <a:spLocks noChangeArrowheads="1"/>
          </p:cNvSpPr>
          <p:nvPr/>
        </p:nvSpPr>
        <p:spPr bwMode="auto">
          <a:xfrm>
            <a:off x="67818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8" name="Rectangle 26"/>
          <p:cNvSpPr>
            <a:spLocks noChangeArrowheads="1"/>
          </p:cNvSpPr>
          <p:nvPr/>
        </p:nvSpPr>
        <p:spPr bwMode="auto">
          <a:xfrm>
            <a:off x="57150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9" name="Rectangle 27"/>
          <p:cNvSpPr>
            <a:spLocks noChangeArrowheads="1"/>
          </p:cNvSpPr>
          <p:nvPr/>
        </p:nvSpPr>
        <p:spPr bwMode="auto">
          <a:xfrm>
            <a:off x="67818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0" name="Rectangle 28"/>
          <p:cNvSpPr>
            <a:spLocks noChangeArrowheads="1"/>
          </p:cNvSpPr>
          <p:nvPr/>
        </p:nvSpPr>
        <p:spPr bwMode="auto">
          <a:xfrm>
            <a:off x="57150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1" name="Rectangle 29"/>
          <p:cNvSpPr>
            <a:spLocks noChangeArrowheads="1"/>
          </p:cNvSpPr>
          <p:nvPr/>
        </p:nvSpPr>
        <p:spPr bwMode="auto">
          <a:xfrm>
            <a:off x="67818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2" name="Rectangle 30"/>
          <p:cNvSpPr>
            <a:spLocks noChangeArrowheads="1"/>
          </p:cNvSpPr>
          <p:nvPr/>
        </p:nvSpPr>
        <p:spPr bwMode="auto">
          <a:xfrm>
            <a:off x="57150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3" name="Rectangle 31"/>
          <p:cNvSpPr>
            <a:spLocks noChangeArrowheads="1"/>
          </p:cNvSpPr>
          <p:nvPr/>
        </p:nvSpPr>
        <p:spPr bwMode="auto">
          <a:xfrm>
            <a:off x="67818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4" name="Oval 32"/>
          <p:cNvSpPr>
            <a:spLocks noChangeArrowheads="1"/>
          </p:cNvSpPr>
          <p:nvPr/>
        </p:nvSpPr>
        <p:spPr bwMode="auto">
          <a:xfrm>
            <a:off x="685799" y="1676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5" name="Oval 33"/>
          <p:cNvSpPr>
            <a:spLocks noChangeArrowheads="1"/>
          </p:cNvSpPr>
          <p:nvPr/>
        </p:nvSpPr>
        <p:spPr bwMode="auto">
          <a:xfrm>
            <a:off x="838199" y="1981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6" name="Oval 34"/>
          <p:cNvSpPr>
            <a:spLocks noChangeArrowheads="1"/>
          </p:cNvSpPr>
          <p:nvPr/>
        </p:nvSpPr>
        <p:spPr bwMode="auto">
          <a:xfrm>
            <a:off x="1066799" y="1676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7" name="Oval 35"/>
          <p:cNvSpPr>
            <a:spLocks noChangeArrowheads="1"/>
          </p:cNvSpPr>
          <p:nvPr/>
        </p:nvSpPr>
        <p:spPr bwMode="auto">
          <a:xfrm>
            <a:off x="838199" y="2438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8" name="Oval 36"/>
          <p:cNvSpPr>
            <a:spLocks noChangeArrowheads="1"/>
          </p:cNvSpPr>
          <p:nvPr/>
        </p:nvSpPr>
        <p:spPr bwMode="auto">
          <a:xfrm>
            <a:off x="1142999" y="2590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9" name="Oval 37"/>
          <p:cNvSpPr>
            <a:spLocks noChangeArrowheads="1"/>
          </p:cNvSpPr>
          <p:nvPr/>
        </p:nvSpPr>
        <p:spPr bwMode="auto">
          <a:xfrm>
            <a:off x="685799" y="2667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0" name="Oval 38"/>
          <p:cNvSpPr>
            <a:spLocks noChangeArrowheads="1"/>
          </p:cNvSpPr>
          <p:nvPr/>
        </p:nvSpPr>
        <p:spPr bwMode="auto">
          <a:xfrm>
            <a:off x="990599" y="2819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1" name="Oval 39"/>
          <p:cNvSpPr>
            <a:spLocks noChangeArrowheads="1"/>
          </p:cNvSpPr>
          <p:nvPr/>
        </p:nvSpPr>
        <p:spPr bwMode="auto">
          <a:xfrm>
            <a:off x="1219199" y="2362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2" name="Oval 40"/>
          <p:cNvSpPr>
            <a:spLocks noChangeArrowheads="1"/>
          </p:cNvSpPr>
          <p:nvPr/>
        </p:nvSpPr>
        <p:spPr bwMode="auto">
          <a:xfrm>
            <a:off x="10667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3" name="Oval 41"/>
          <p:cNvSpPr>
            <a:spLocks noChangeArrowheads="1"/>
          </p:cNvSpPr>
          <p:nvPr/>
        </p:nvSpPr>
        <p:spPr bwMode="auto">
          <a:xfrm>
            <a:off x="685799" y="3505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4" name="Oval 42"/>
          <p:cNvSpPr>
            <a:spLocks noChangeArrowheads="1"/>
          </p:cNvSpPr>
          <p:nvPr/>
        </p:nvSpPr>
        <p:spPr bwMode="auto">
          <a:xfrm>
            <a:off x="914399" y="4114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5" name="Oval 43"/>
          <p:cNvSpPr>
            <a:spLocks noChangeArrowheads="1"/>
          </p:cNvSpPr>
          <p:nvPr/>
        </p:nvSpPr>
        <p:spPr bwMode="auto">
          <a:xfrm>
            <a:off x="6857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6" name="Oval 44"/>
          <p:cNvSpPr>
            <a:spLocks noChangeArrowheads="1"/>
          </p:cNvSpPr>
          <p:nvPr/>
        </p:nvSpPr>
        <p:spPr bwMode="auto">
          <a:xfrm>
            <a:off x="838199" y="5181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7" name="Oval 45"/>
          <p:cNvSpPr>
            <a:spLocks noChangeArrowheads="1"/>
          </p:cNvSpPr>
          <p:nvPr/>
        </p:nvSpPr>
        <p:spPr bwMode="auto">
          <a:xfrm>
            <a:off x="11429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8" name="Oval 46"/>
          <p:cNvSpPr>
            <a:spLocks noChangeArrowheads="1"/>
          </p:cNvSpPr>
          <p:nvPr/>
        </p:nvSpPr>
        <p:spPr bwMode="auto">
          <a:xfrm>
            <a:off x="2057399" y="1828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9" name="Oval 47"/>
          <p:cNvSpPr>
            <a:spLocks noChangeArrowheads="1"/>
          </p:cNvSpPr>
          <p:nvPr/>
        </p:nvSpPr>
        <p:spPr bwMode="auto">
          <a:xfrm>
            <a:off x="2057399" y="3352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0" name="Oval 48"/>
          <p:cNvSpPr>
            <a:spLocks noChangeArrowheads="1"/>
          </p:cNvSpPr>
          <p:nvPr/>
        </p:nvSpPr>
        <p:spPr bwMode="auto">
          <a:xfrm>
            <a:off x="2209799" y="4038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1" name="Oval 49"/>
          <p:cNvSpPr>
            <a:spLocks noChangeArrowheads="1"/>
          </p:cNvSpPr>
          <p:nvPr/>
        </p:nvSpPr>
        <p:spPr bwMode="auto">
          <a:xfrm>
            <a:off x="2057399" y="4419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2" name="Oval 50"/>
          <p:cNvSpPr>
            <a:spLocks noChangeArrowheads="1"/>
          </p:cNvSpPr>
          <p:nvPr/>
        </p:nvSpPr>
        <p:spPr bwMode="auto">
          <a:xfrm>
            <a:off x="1752599" y="4038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3" name="Oval 51"/>
          <p:cNvSpPr>
            <a:spLocks noChangeArrowheads="1"/>
          </p:cNvSpPr>
          <p:nvPr/>
        </p:nvSpPr>
        <p:spPr bwMode="auto">
          <a:xfrm>
            <a:off x="2133599" y="5029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4" name="Oval 52"/>
          <p:cNvSpPr>
            <a:spLocks noChangeArrowheads="1"/>
          </p:cNvSpPr>
          <p:nvPr/>
        </p:nvSpPr>
        <p:spPr bwMode="auto">
          <a:xfrm>
            <a:off x="3276599" y="1981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5" name="Oval 53"/>
          <p:cNvSpPr>
            <a:spLocks noChangeArrowheads="1"/>
          </p:cNvSpPr>
          <p:nvPr/>
        </p:nvSpPr>
        <p:spPr bwMode="auto">
          <a:xfrm>
            <a:off x="2362199" y="4191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6" name="Oval 54"/>
          <p:cNvSpPr>
            <a:spLocks noChangeArrowheads="1"/>
          </p:cNvSpPr>
          <p:nvPr/>
        </p:nvSpPr>
        <p:spPr bwMode="auto">
          <a:xfrm>
            <a:off x="3809999" y="152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7" name="Oval 55"/>
          <p:cNvSpPr>
            <a:spLocks noChangeArrowheads="1"/>
          </p:cNvSpPr>
          <p:nvPr/>
        </p:nvSpPr>
        <p:spPr bwMode="auto">
          <a:xfrm>
            <a:off x="3962399" y="2362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8" name="Oval 56"/>
          <p:cNvSpPr>
            <a:spLocks noChangeArrowheads="1"/>
          </p:cNvSpPr>
          <p:nvPr/>
        </p:nvSpPr>
        <p:spPr bwMode="auto">
          <a:xfrm>
            <a:off x="3276599" y="2819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9" name="Oval 57"/>
          <p:cNvSpPr>
            <a:spLocks noChangeArrowheads="1"/>
          </p:cNvSpPr>
          <p:nvPr/>
        </p:nvSpPr>
        <p:spPr bwMode="auto">
          <a:xfrm>
            <a:off x="32765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0" name="Oval 58"/>
          <p:cNvSpPr>
            <a:spLocks noChangeArrowheads="1"/>
          </p:cNvSpPr>
          <p:nvPr/>
        </p:nvSpPr>
        <p:spPr bwMode="auto">
          <a:xfrm>
            <a:off x="38861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1" name="Oval 59"/>
          <p:cNvSpPr>
            <a:spLocks noChangeArrowheads="1"/>
          </p:cNvSpPr>
          <p:nvPr/>
        </p:nvSpPr>
        <p:spPr bwMode="auto">
          <a:xfrm>
            <a:off x="3276599" y="4419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2" name="Oval 60"/>
          <p:cNvSpPr>
            <a:spLocks noChangeArrowheads="1"/>
          </p:cNvSpPr>
          <p:nvPr/>
        </p:nvSpPr>
        <p:spPr bwMode="auto">
          <a:xfrm>
            <a:off x="3886199" y="3962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3" name="Oval 61"/>
          <p:cNvSpPr>
            <a:spLocks noChangeArrowheads="1"/>
          </p:cNvSpPr>
          <p:nvPr/>
        </p:nvSpPr>
        <p:spPr bwMode="auto">
          <a:xfrm>
            <a:off x="39623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4" name="Oval 62"/>
          <p:cNvSpPr>
            <a:spLocks noChangeArrowheads="1"/>
          </p:cNvSpPr>
          <p:nvPr/>
        </p:nvSpPr>
        <p:spPr bwMode="auto">
          <a:xfrm>
            <a:off x="3276599" y="533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5" name="Oval 63"/>
          <p:cNvSpPr>
            <a:spLocks noChangeArrowheads="1"/>
          </p:cNvSpPr>
          <p:nvPr/>
        </p:nvSpPr>
        <p:spPr bwMode="auto">
          <a:xfrm>
            <a:off x="4343399" y="1981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6" name="Oval 64"/>
          <p:cNvSpPr>
            <a:spLocks noChangeArrowheads="1"/>
          </p:cNvSpPr>
          <p:nvPr/>
        </p:nvSpPr>
        <p:spPr bwMode="auto">
          <a:xfrm>
            <a:off x="4876799" y="152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7" name="Oval 65"/>
          <p:cNvSpPr>
            <a:spLocks noChangeArrowheads="1"/>
          </p:cNvSpPr>
          <p:nvPr/>
        </p:nvSpPr>
        <p:spPr bwMode="auto">
          <a:xfrm>
            <a:off x="5029199" y="2362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8" name="Oval 66"/>
          <p:cNvSpPr>
            <a:spLocks noChangeArrowheads="1"/>
          </p:cNvSpPr>
          <p:nvPr/>
        </p:nvSpPr>
        <p:spPr bwMode="auto">
          <a:xfrm>
            <a:off x="4343399" y="2819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9" name="Oval 67"/>
          <p:cNvSpPr>
            <a:spLocks noChangeArrowheads="1"/>
          </p:cNvSpPr>
          <p:nvPr/>
        </p:nvSpPr>
        <p:spPr bwMode="auto">
          <a:xfrm>
            <a:off x="43433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0" name="Oval 68"/>
          <p:cNvSpPr>
            <a:spLocks noChangeArrowheads="1"/>
          </p:cNvSpPr>
          <p:nvPr/>
        </p:nvSpPr>
        <p:spPr bwMode="auto">
          <a:xfrm>
            <a:off x="49529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1" name="Oval 69"/>
          <p:cNvSpPr>
            <a:spLocks noChangeArrowheads="1"/>
          </p:cNvSpPr>
          <p:nvPr/>
        </p:nvSpPr>
        <p:spPr bwMode="auto">
          <a:xfrm>
            <a:off x="4343399" y="4419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2" name="Oval 70"/>
          <p:cNvSpPr>
            <a:spLocks noChangeArrowheads="1"/>
          </p:cNvSpPr>
          <p:nvPr/>
        </p:nvSpPr>
        <p:spPr bwMode="auto">
          <a:xfrm>
            <a:off x="4952999" y="3962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3" name="Oval 71"/>
          <p:cNvSpPr>
            <a:spLocks noChangeArrowheads="1"/>
          </p:cNvSpPr>
          <p:nvPr/>
        </p:nvSpPr>
        <p:spPr bwMode="auto">
          <a:xfrm>
            <a:off x="50291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4" name="Oval 72"/>
          <p:cNvSpPr>
            <a:spLocks noChangeArrowheads="1"/>
          </p:cNvSpPr>
          <p:nvPr/>
        </p:nvSpPr>
        <p:spPr bwMode="auto">
          <a:xfrm>
            <a:off x="4343399" y="533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5" name="Oval 73"/>
          <p:cNvSpPr>
            <a:spLocks noChangeArrowheads="1"/>
          </p:cNvSpPr>
          <p:nvPr/>
        </p:nvSpPr>
        <p:spPr bwMode="auto">
          <a:xfrm>
            <a:off x="69341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6" name="Oval 74"/>
          <p:cNvSpPr>
            <a:spLocks noChangeArrowheads="1"/>
          </p:cNvSpPr>
          <p:nvPr/>
        </p:nvSpPr>
        <p:spPr bwMode="auto">
          <a:xfrm>
            <a:off x="7086599" y="3429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7" name="Oval 75"/>
          <p:cNvSpPr>
            <a:spLocks noChangeArrowheads="1"/>
          </p:cNvSpPr>
          <p:nvPr/>
        </p:nvSpPr>
        <p:spPr bwMode="auto">
          <a:xfrm>
            <a:off x="72389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8" name="Oval 76"/>
          <p:cNvSpPr>
            <a:spLocks noChangeArrowheads="1"/>
          </p:cNvSpPr>
          <p:nvPr/>
        </p:nvSpPr>
        <p:spPr bwMode="auto">
          <a:xfrm>
            <a:off x="68579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9" name="Oval 77"/>
          <p:cNvSpPr>
            <a:spLocks noChangeArrowheads="1"/>
          </p:cNvSpPr>
          <p:nvPr/>
        </p:nvSpPr>
        <p:spPr bwMode="auto">
          <a:xfrm>
            <a:off x="7467599" y="3352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0" name="Oval 78"/>
          <p:cNvSpPr>
            <a:spLocks noChangeArrowheads="1"/>
          </p:cNvSpPr>
          <p:nvPr/>
        </p:nvSpPr>
        <p:spPr bwMode="auto">
          <a:xfrm>
            <a:off x="70865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1" name="Oval 79"/>
          <p:cNvSpPr>
            <a:spLocks noChangeArrowheads="1"/>
          </p:cNvSpPr>
          <p:nvPr/>
        </p:nvSpPr>
        <p:spPr bwMode="auto">
          <a:xfrm>
            <a:off x="73151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2" name="Oval 80"/>
          <p:cNvSpPr>
            <a:spLocks noChangeArrowheads="1"/>
          </p:cNvSpPr>
          <p:nvPr/>
        </p:nvSpPr>
        <p:spPr bwMode="auto">
          <a:xfrm>
            <a:off x="75437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3" name="Oval 81"/>
          <p:cNvSpPr>
            <a:spLocks noChangeArrowheads="1"/>
          </p:cNvSpPr>
          <p:nvPr/>
        </p:nvSpPr>
        <p:spPr bwMode="auto">
          <a:xfrm>
            <a:off x="76199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4" name="Oval 82"/>
          <p:cNvSpPr>
            <a:spLocks noChangeArrowheads="1"/>
          </p:cNvSpPr>
          <p:nvPr/>
        </p:nvSpPr>
        <p:spPr bwMode="auto">
          <a:xfrm>
            <a:off x="7086599" y="3048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5" name="Oval 83"/>
          <p:cNvSpPr>
            <a:spLocks noChangeArrowheads="1"/>
          </p:cNvSpPr>
          <p:nvPr/>
        </p:nvSpPr>
        <p:spPr bwMode="auto">
          <a:xfrm>
            <a:off x="58673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6" name="Oval 84"/>
          <p:cNvSpPr>
            <a:spLocks noChangeArrowheads="1"/>
          </p:cNvSpPr>
          <p:nvPr/>
        </p:nvSpPr>
        <p:spPr bwMode="auto">
          <a:xfrm>
            <a:off x="6019799" y="3429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7" name="Oval 85"/>
          <p:cNvSpPr>
            <a:spLocks noChangeArrowheads="1"/>
          </p:cNvSpPr>
          <p:nvPr/>
        </p:nvSpPr>
        <p:spPr bwMode="auto">
          <a:xfrm>
            <a:off x="61721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8" name="Oval 86"/>
          <p:cNvSpPr>
            <a:spLocks noChangeArrowheads="1"/>
          </p:cNvSpPr>
          <p:nvPr/>
        </p:nvSpPr>
        <p:spPr bwMode="auto">
          <a:xfrm>
            <a:off x="57911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9" name="Oval 87"/>
          <p:cNvSpPr>
            <a:spLocks noChangeArrowheads="1"/>
          </p:cNvSpPr>
          <p:nvPr/>
        </p:nvSpPr>
        <p:spPr bwMode="auto">
          <a:xfrm>
            <a:off x="6400799" y="3352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0" name="Oval 88"/>
          <p:cNvSpPr>
            <a:spLocks noChangeArrowheads="1"/>
          </p:cNvSpPr>
          <p:nvPr/>
        </p:nvSpPr>
        <p:spPr bwMode="auto">
          <a:xfrm>
            <a:off x="60197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1" name="Oval 89"/>
          <p:cNvSpPr>
            <a:spLocks noChangeArrowheads="1"/>
          </p:cNvSpPr>
          <p:nvPr/>
        </p:nvSpPr>
        <p:spPr bwMode="auto">
          <a:xfrm>
            <a:off x="62483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2" name="Oval 90"/>
          <p:cNvSpPr>
            <a:spLocks noChangeArrowheads="1"/>
          </p:cNvSpPr>
          <p:nvPr/>
        </p:nvSpPr>
        <p:spPr bwMode="auto">
          <a:xfrm>
            <a:off x="64769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3" name="Oval 91"/>
          <p:cNvSpPr>
            <a:spLocks noChangeArrowheads="1"/>
          </p:cNvSpPr>
          <p:nvPr/>
        </p:nvSpPr>
        <p:spPr bwMode="auto">
          <a:xfrm>
            <a:off x="65531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4" name="Oval 92"/>
          <p:cNvSpPr>
            <a:spLocks noChangeArrowheads="1"/>
          </p:cNvSpPr>
          <p:nvPr/>
        </p:nvSpPr>
        <p:spPr bwMode="auto">
          <a:xfrm>
            <a:off x="6019799" y="3048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5" name="Text Box 93"/>
          <p:cNvSpPr txBox="1">
            <a:spLocks noChangeArrowheads="1"/>
          </p:cNvSpPr>
          <p:nvPr/>
        </p:nvSpPr>
        <p:spPr bwMode="auto">
          <a:xfrm>
            <a:off x="609600" y="5641975"/>
            <a:ext cx="1905000" cy="400110"/>
          </a:xfrm>
          <a:prstGeom prst="rect">
            <a:avLst/>
          </a:prstGeom>
          <a:noFill/>
          <a:ln w="9525">
            <a:noFill/>
            <a:miter lim="800000"/>
            <a:headEnd/>
            <a:tailEnd/>
          </a:ln>
          <a:effectLst/>
        </p:spPr>
        <p:txBody>
          <a:bodyPr wrap="square">
            <a:spAutoFit/>
          </a:bodyPr>
          <a:lstStyle/>
          <a:p>
            <a:pPr algn="ctr"/>
            <a:r>
              <a:rPr lang="en-US" dirty="0">
                <a:latin typeface="Arial Unicode MS" pitchFamily="34" charset="-128"/>
              </a:rPr>
              <a:t>RANDOM</a:t>
            </a:r>
          </a:p>
        </p:txBody>
      </p:sp>
      <p:sp>
        <p:nvSpPr>
          <p:cNvPr id="18526" name="Text Box 94"/>
          <p:cNvSpPr txBox="1">
            <a:spLocks noChangeArrowheads="1"/>
          </p:cNvSpPr>
          <p:nvPr/>
        </p:nvSpPr>
        <p:spPr bwMode="auto">
          <a:xfrm>
            <a:off x="3306763" y="5638800"/>
            <a:ext cx="1828486" cy="400110"/>
          </a:xfrm>
          <a:prstGeom prst="rect">
            <a:avLst/>
          </a:prstGeom>
          <a:noFill/>
          <a:ln w="9525">
            <a:noFill/>
            <a:miter lim="800000"/>
            <a:headEnd/>
            <a:tailEnd/>
          </a:ln>
          <a:effectLst/>
        </p:spPr>
        <p:txBody>
          <a:bodyPr wrap="square">
            <a:spAutoFit/>
          </a:bodyPr>
          <a:lstStyle/>
          <a:p>
            <a:pPr algn="ctr"/>
            <a:r>
              <a:rPr lang="en-US" dirty="0">
                <a:latin typeface="Arial Unicode MS" pitchFamily="34" charset="-128"/>
              </a:rPr>
              <a:t>UNIFORM</a:t>
            </a:r>
          </a:p>
        </p:txBody>
      </p:sp>
      <p:sp>
        <p:nvSpPr>
          <p:cNvPr id="18527" name="Text Box 95"/>
          <p:cNvSpPr txBox="1">
            <a:spLocks noChangeArrowheads="1"/>
          </p:cNvSpPr>
          <p:nvPr/>
        </p:nvSpPr>
        <p:spPr bwMode="auto">
          <a:xfrm>
            <a:off x="5761037" y="5638800"/>
            <a:ext cx="2312709" cy="400110"/>
          </a:xfrm>
          <a:prstGeom prst="rect">
            <a:avLst/>
          </a:prstGeom>
          <a:noFill/>
          <a:ln w="9525">
            <a:noFill/>
            <a:miter lim="800000"/>
            <a:headEnd/>
            <a:tailEnd/>
          </a:ln>
          <a:effectLst/>
        </p:spPr>
        <p:txBody>
          <a:bodyPr wrap="square">
            <a:spAutoFit/>
          </a:bodyPr>
          <a:lstStyle/>
          <a:p>
            <a:pPr algn="ctr"/>
            <a:r>
              <a:rPr lang="en-US" dirty="0">
                <a:latin typeface="Arial Unicode MS" pitchFamily="34" charset="-128"/>
              </a:rPr>
              <a:t>CLUSTERED</a:t>
            </a:r>
          </a:p>
        </p:txBody>
      </p:sp>
      <p:sp>
        <p:nvSpPr>
          <p:cNvPr id="96" name="Title 95"/>
          <p:cNvSpPr>
            <a:spLocks noGrp="1"/>
          </p:cNvSpPr>
          <p:nvPr>
            <p:ph type="title"/>
          </p:nvPr>
        </p:nvSpPr>
        <p:spPr>
          <a:xfrm>
            <a:off x="3124199" y="161502"/>
            <a:ext cx="8686800" cy="990600"/>
          </a:xfrm>
        </p:spPr>
        <p:txBody>
          <a:bodyPr>
            <a:normAutofit/>
          </a:bodyPr>
          <a:lstStyle/>
          <a:p>
            <a:r>
              <a:rPr lang="en-US" sz="3200" dirty="0"/>
              <a:t>Quadrats</a:t>
            </a:r>
          </a:p>
        </p:txBody>
      </p:sp>
      <p:sp>
        <p:nvSpPr>
          <p:cNvPr id="97" name="Content Placeholder 96"/>
          <p:cNvSpPr>
            <a:spLocks noGrp="1"/>
          </p:cNvSpPr>
          <p:nvPr>
            <p:ph idx="1"/>
          </p:nvPr>
        </p:nvSpPr>
        <p:spPr>
          <a:xfrm>
            <a:off x="685799" y="2628900"/>
            <a:ext cx="7989752" cy="3630795"/>
          </a:xfrm>
        </p:spPr>
        <p:txBody>
          <a:bodyPr/>
          <a:lstStyle/>
          <a:p>
            <a:pPr>
              <a:buNone/>
            </a:pPr>
            <a:r>
              <a:rPr lang="en-US"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1057275" y="1219200"/>
          <a:ext cx="2227263" cy="3962400"/>
        </p:xfrm>
        <a:graphic>
          <a:graphicData uri="http://schemas.openxmlformats.org/presentationml/2006/ole">
            <mc:AlternateContent xmlns:mc="http://schemas.openxmlformats.org/markup-compatibility/2006">
              <mc:Choice xmlns:v="urn:schemas-microsoft-com:vml" Requires="v">
                <p:oleObj name="Worksheet" r:id="rId3" imgW="2373840" imgH="4792680" progId="Excel.Sheet.8">
                  <p:embed/>
                </p:oleObj>
              </mc:Choice>
              <mc:Fallback>
                <p:oleObj name="Worksheet" r:id="rId3" imgW="2373840" imgH="4792680" progId="Excel.Sheet.8">
                  <p:embed/>
                  <p:pic>
                    <p:nvPicPr>
                      <p:cNvPr id="2048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275" y="1219200"/>
                        <a:ext cx="2227263"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0483" name="Object 3"/>
          <p:cNvGraphicFramePr>
            <a:graphicFrameLocks noChangeAspect="1"/>
          </p:cNvGraphicFramePr>
          <p:nvPr/>
        </p:nvGraphicFramePr>
        <p:xfrm>
          <a:off x="3568700" y="1257300"/>
          <a:ext cx="2146300" cy="3848100"/>
        </p:xfrm>
        <a:graphic>
          <a:graphicData uri="http://schemas.openxmlformats.org/presentationml/2006/ole">
            <mc:AlternateContent xmlns:mc="http://schemas.openxmlformats.org/markup-compatibility/2006">
              <mc:Choice xmlns:v="urn:schemas-microsoft-com:vml" Requires="v">
                <p:oleObj name="Worksheet" r:id="rId5" imgW="1971545" imgH="4057769" progId="Excel.Sheet.8">
                  <p:embed/>
                </p:oleObj>
              </mc:Choice>
              <mc:Fallback>
                <p:oleObj name="Worksheet" r:id="rId5" imgW="1971545" imgH="4057769" progId="Excel.Sheet.8">
                  <p:embed/>
                  <p:pic>
                    <p:nvPicPr>
                      <p:cNvPr id="2048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8700" y="1257300"/>
                        <a:ext cx="2146300" cy="384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0484" name="Object 4"/>
          <p:cNvGraphicFramePr>
            <a:graphicFrameLocks noChangeAspect="1"/>
          </p:cNvGraphicFramePr>
          <p:nvPr/>
        </p:nvGraphicFramePr>
        <p:xfrm>
          <a:off x="5934075" y="1295400"/>
          <a:ext cx="2143125" cy="3886200"/>
        </p:xfrm>
        <a:graphic>
          <a:graphicData uri="http://schemas.openxmlformats.org/presentationml/2006/ole">
            <mc:AlternateContent xmlns:mc="http://schemas.openxmlformats.org/markup-compatibility/2006">
              <mc:Choice xmlns:v="urn:schemas-microsoft-com:vml" Requires="v">
                <p:oleObj name="Worksheet" r:id="rId7" imgW="2283840" imgH="4792680" progId="Excel.Sheet.8">
                  <p:embed/>
                </p:oleObj>
              </mc:Choice>
              <mc:Fallback>
                <p:oleObj name="Worksheet" r:id="rId7" imgW="2283840" imgH="4792680" progId="Excel.Sheet.8">
                  <p:embed/>
                  <p:pic>
                    <p:nvPicPr>
                      <p:cNvPr id="2048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34075" y="1295400"/>
                        <a:ext cx="2143125"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0485" name="Object 5"/>
          <p:cNvGraphicFramePr>
            <a:graphicFrameLocks noChangeAspect="1"/>
          </p:cNvGraphicFramePr>
          <p:nvPr/>
        </p:nvGraphicFramePr>
        <p:xfrm>
          <a:off x="3271091" y="5282363"/>
          <a:ext cx="3087688" cy="1601787"/>
        </p:xfrm>
        <a:graphic>
          <a:graphicData uri="http://schemas.openxmlformats.org/presentationml/2006/ole">
            <mc:AlternateContent xmlns:mc="http://schemas.openxmlformats.org/markup-compatibility/2006">
              <mc:Choice xmlns:v="urn:schemas-microsoft-com:vml" Requires="v">
                <p:oleObj name="Equation" r:id="rId9" imgW="2108160" imgH="1091880" progId="Equation.3">
                  <p:embed/>
                </p:oleObj>
              </mc:Choice>
              <mc:Fallback>
                <p:oleObj name="Equation" r:id="rId9" imgW="2108160" imgH="1091880" progId="Equation.3">
                  <p:embed/>
                  <p:pic>
                    <p:nvPicPr>
                      <p:cNvPr id="20485"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1091" y="5282363"/>
                        <a:ext cx="3087688" cy="160178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7" name="Title 6"/>
          <p:cNvSpPr>
            <a:spLocks noGrp="1"/>
          </p:cNvSpPr>
          <p:nvPr>
            <p:ph type="title"/>
          </p:nvPr>
        </p:nvSpPr>
        <p:spPr>
          <a:xfrm>
            <a:off x="1905000" y="193848"/>
            <a:ext cx="8686800" cy="914400"/>
          </a:xfrm>
        </p:spPr>
        <p:txBody>
          <a:bodyPr>
            <a:normAutofit/>
          </a:bodyPr>
          <a:lstStyle/>
          <a:p>
            <a:r>
              <a:rPr lang="en-US" sz="3200" dirty="0"/>
              <a:t>Quadrat Calculation</a:t>
            </a:r>
          </a:p>
        </p:txBody>
      </p:sp>
      <p:sp>
        <p:nvSpPr>
          <p:cNvPr id="8" name="Content Placeholder 7"/>
          <p:cNvSpPr>
            <a:spLocks noGrp="1"/>
          </p:cNvSpPr>
          <p:nvPr>
            <p:ph idx="1"/>
          </p:nvPr>
        </p:nvSpPr>
        <p:spPr/>
        <p:txBody>
          <a:bodyPr/>
          <a:lstStyle/>
          <a:p>
            <a:pPr>
              <a:buNone/>
            </a:pPr>
            <a:r>
              <a:rPr lang="en-US" dirty="0"/>
              <a:t> </a:t>
            </a:r>
          </a:p>
        </p:txBody>
      </p:sp>
      <p:sp>
        <p:nvSpPr>
          <p:cNvPr id="2" name="TextBox 1"/>
          <p:cNvSpPr txBox="1"/>
          <p:nvPr/>
        </p:nvSpPr>
        <p:spPr>
          <a:xfrm>
            <a:off x="230606" y="5201591"/>
            <a:ext cx="2921794" cy="707886"/>
          </a:xfrm>
          <a:prstGeom prst="rect">
            <a:avLst/>
          </a:prstGeom>
          <a:noFill/>
        </p:spPr>
        <p:txBody>
          <a:bodyPr wrap="square" rtlCol="0">
            <a:spAutoFit/>
          </a:bodyPr>
          <a:lstStyle/>
          <a:p>
            <a:r>
              <a:rPr lang="en-US" dirty="0"/>
              <a:t>Mean = # of points   / # of quadrats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828800"/>
            <a:ext cx="8534400" cy="4940491"/>
          </a:xfrm>
        </p:spPr>
        <p:txBody>
          <a:bodyPr/>
          <a:lstStyle/>
          <a:p>
            <a:r>
              <a:rPr lang="en-US" sz="2800" dirty="0"/>
              <a:t>A random distribution would indicate that that the variance and mean are the same.  Therefore, we would expect a variance-mean ratio around 1</a:t>
            </a:r>
          </a:p>
          <a:p>
            <a:pPr>
              <a:buNone/>
            </a:pPr>
            <a:endParaRPr lang="en-US" dirty="0"/>
          </a:p>
          <a:p>
            <a:r>
              <a:rPr lang="en-US" sz="2800" dirty="0"/>
              <a:t>Values other than 1 would indicate a non-random distribution.  </a:t>
            </a:r>
          </a:p>
          <a:p>
            <a:endParaRPr lang="en-US" dirty="0"/>
          </a:p>
        </p:txBody>
      </p:sp>
      <p:sp>
        <p:nvSpPr>
          <p:cNvPr id="4" name="Slide Number Placeholder 3"/>
          <p:cNvSpPr>
            <a:spLocks noGrp="1"/>
          </p:cNvSpPr>
          <p:nvPr>
            <p:ph type="sldNum" sz="quarter" idx="12"/>
          </p:nvPr>
        </p:nvSpPr>
        <p:spPr/>
        <p:txBody>
          <a:bodyPr/>
          <a:lstStyle/>
          <a:p>
            <a:pPr>
              <a:defRPr/>
            </a:pPr>
            <a:fld id="{10040BF0-8023-45DB-AFB0-81FB57F04FB9}" type="slidenum">
              <a:rPr lang="en-US" smtClean="0"/>
              <a:pPr>
                <a:defRPr/>
              </a:pPr>
              <a:t>25</a:t>
            </a:fld>
            <a:endParaRPr lang="en-US"/>
          </a:p>
        </p:txBody>
      </p:sp>
      <p:sp>
        <p:nvSpPr>
          <p:cNvPr id="5" name="Title 4"/>
          <p:cNvSpPr>
            <a:spLocks noGrp="1"/>
          </p:cNvSpPr>
          <p:nvPr>
            <p:ph type="title"/>
          </p:nvPr>
        </p:nvSpPr>
        <p:spPr>
          <a:xfrm>
            <a:off x="990600" y="532425"/>
            <a:ext cx="8686800" cy="838200"/>
          </a:xfrm>
        </p:spPr>
        <p:txBody>
          <a:bodyPr>
            <a:noAutofit/>
          </a:bodyPr>
          <a:lstStyle/>
          <a:p>
            <a:r>
              <a:rPr lang="en-US" sz="3200" dirty="0"/>
              <a:t>Quadrat Calculation Results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66800" y="381000"/>
            <a:ext cx="8686800" cy="990600"/>
          </a:xfrm>
        </p:spPr>
        <p:txBody>
          <a:bodyPr>
            <a:normAutofit/>
          </a:bodyPr>
          <a:lstStyle/>
          <a:p>
            <a:r>
              <a:rPr lang="en-US" sz="3200" dirty="0"/>
              <a:t>Weakness of Quadrat Analysis</a:t>
            </a:r>
          </a:p>
        </p:txBody>
      </p:sp>
      <p:sp>
        <p:nvSpPr>
          <p:cNvPr id="22531" name="Rectangle 3"/>
          <p:cNvSpPr>
            <a:spLocks noGrp="1" noChangeArrowheads="1"/>
          </p:cNvSpPr>
          <p:nvPr>
            <p:ph type="body" idx="1"/>
          </p:nvPr>
        </p:nvSpPr>
        <p:spPr>
          <a:xfrm>
            <a:off x="304800" y="1874956"/>
            <a:ext cx="8229600" cy="4940491"/>
          </a:xfrm>
        </p:spPr>
        <p:txBody>
          <a:bodyPr/>
          <a:lstStyle/>
          <a:p>
            <a:r>
              <a:rPr lang="en-US" sz="2800" dirty="0"/>
              <a:t>Quadrat size and orientation</a:t>
            </a:r>
          </a:p>
          <a:p>
            <a:endParaRPr lang="en-US" sz="2600" dirty="0"/>
          </a:p>
          <a:p>
            <a:pPr lvl="1"/>
            <a:r>
              <a:rPr lang="en-US" sz="2400" dirty="0"/>
              <a:t>If the quadrats are too small, they may contain only a couple of points.  If they are too large, they may contain too many points – a scale issue.</a:t>
            </a:r>
            <a:endParaRPr lang="en-US" sz="2200" dirty="0"/>
          </a:p>
          <a:p>
            <a:pPr lvl="1">
              <a:buNone/>
            </a:pPr>
            <a:endParaRPr lang="en-US" sz="2200" dirty="0"/>
          </a:p>
          <a:p>
            <a:pPr lvl="2">
              <a:buClr>
                <a:srgbClr val="00B0F0"/>
              </a:buClr>
              <a:buNone/>
            </a:pPr>
            <a:endParaRPr lang="en-US" sz="1800" dirty="0"/>
          </a:p>
          <a:p>
            <a:pPr lvl="2">
              <a:buClr>
                <a:srgbClr val="00B0F0"/>
              </a:buClr>
            </a:pPr>
            <a:r>
              <a:rPr lang="en-US" sz="1800" dirty="0"/>
              <a:t>Test different sizes to determine the effects of each test on the results</a:t>
            </a:r>
          </a:p>
          <a:p>
            <a:pPr lvl="1"/>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447800" y="355409"/>
            <a:ext cx="8686800" cy="990600"/>
          </a:xfrm>
        </p:spPr>
        <p:txBody>
          <a:bodyPr>
            <a:normAutofit/>
          </a:bodyPr>
          <a:lstStyle/>
          <a:p>
            <a:r>
              <a:rPr lang="en-US" sz="3200" dirty="0"/>
              <a:t>Nearest-Neighbor Analysis</a:t>
            </a:r>
          </a:p>
        </p:txBody>
      </p:sp>
      <p:sp>
        <p:nvSpPr>
          <p:cNvPr id="24579" name="Rectangle 3"/>
          <p:cNvSpPr>
            <a:spLocks noGrp="1" noChangeArrowheads="1"/>
          </p:cNvSpPr>
          <p:nvPr>
            <p:ph type="body" idx="1"/>
          </p:nvPr>
        </p:nvSpPr>
        <p:spPr>
          <a:xfrm>
            <a:off x="304800" y="1502723"/>
            <a:ext cx="8534400" cy="5016691"/>
          </a:xfrm>
        </p:spPr>
        <p:txBody>
          <a:bodyPr/>
          <a:lstStyle/>
          <a:p>
            <a:r>
              <a:rPr lang="en-US" sz="2800" dirty="0"/>
              <a:t>Unlike quadrat analysis, uses distances between points as its basis.  </a:t>
            </a:r>
          </a:p>
          <a:p>
            <a:endParaRPr lang="en-US" dirty="0"/>
          </a:p>
          <a:p>
            <a:r>
              <a:rPr lang="en-US" sz="2800" dirty="0"/>
              <a:t>The mean of the distance observed between each point and its nearest neighbor is compared with the expected mean distance that would occur if the distribution were random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647700" y="1175174"/>
            <a:ext cx="2362200" cy="411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5603" name="Rectangle 3"/>
          <p:cNvSpPr>
            <a:spLocks noChangeArrowheads="1"/>
          </p:cNvSpPr>
          <p:nvPr/>
        </p:nvSpPr>
        <p:spPr bwMode="auto">
          <a:xfrm>
            <a:off x="3276600" y="1143000"/>
            <a:ext cx="2286000" cy="411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5604" name="Rectangle 4"/>
          <p:cNvSpPr>
            <a:spLocks noChangeArrowheads="1"/>
          </p:cNvSpPr>
          <p:nvPr/>
        </p:nvSpPr>
        <p:spPr bwMode="auto">
          <a:xfrm>
            <a:off x="6019800" y="1143000"/>
            <a:ext cx="2286000" cy="411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5605" name="Oval 5"/>
          <p:cNvSpPr>
            <a:spLocks noChangeArrowheads="1"/>
          </p:cNvSpPr>
          <p:nvPr/>
        </p:nvSpPr>
        <p:spPr bwMode="auto">
          <a:xfrm>
            <a:off x="990600" y="1371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6" name="Oval 6"/>
          <p:cNvSpPr>
            <a:spLocks noChangeArrowheads="1"/>
          </p:cNvSpPr>
          <p:nvPr/>
        </p:nvSpPr>
        <p:spPr bwMode="auto">
          <a:xfrm>
            <a:off x="1752600" y="4038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7" name="Oval 7"/>
          <p:cNvSpPr>
            <a:spLocks noChangeArrowheads="1"/>
          </p:cNvSpPr>
          <p:nvPr/>
        </p:nvSpPr>
        <p:spPr bwMode="auto">
          <a:xfrm>
            <a:off x="1371600" y="1371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8" name="Oval 8"/>
          <p:cNvSpPr>
            <a:spLocks noChangeArrowheads="1"/>
          </p:cNvSpPr>
          <p:nvPr/>
        </p:nvSpPr>
        <p:spPr bwMode="auto">
          <a:xfrm>
            <a:off x="1143000" y="2133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9" name="Oval 9"/>
          <p:cNvSpPr>
            <a:spLocks noChangeArrowheads="1"/>
          </p:cNvSpPr>
          <p:nvPr/>
        </p:nvSpPr>
        <p:spPr bwMode="auto">
          <a:xfrm>
            <a:off x="2438400" y="2286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0" name="Oval 10"/>
          <p:cNvSpPr>
            <a:spLocks noChangeArrowheads="1"/>
          </p:cNvSpPr>
          <p:nvPr/>
        </p:nvSpPr>
        <p:spPr bwMode="auto">
          <a:xfrm>
            <a:off x="990600" y="2590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1" name="Oval 11"/>
          <p:cNvSpPr>
            <a:spLocks noChangeArrowheads="1"/>
          </p:cNvSpPr>
          <p:nvPr/>
        </p:nvSpPr>
        <p:spPr bwMode="auto">
          <a:xfrm>
            <a:off x="1600200" y="2514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2" name="Oval 12"/>
          <p:cNvSpPr>
            <a:spLocks noChangeArrowheads="1"/>
          </p:cNvSpPr>
          <p:nvPr/>
        </p:nvSpPr>
        <p:spPr bwMode="auto">
          <a:xfrm>
            <a:off x="1828800" y="2057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3" name="Oval 13"/>
          <p:cNvSpPr>
            <a:spLocks noChangeArrowheads="1"/>
          </p:cNvSpPr>
          <p:nvPr/>
        </p:nvSpPr>
        <p:spPr bwMode="auto">
          <a:xfrm>
            <a:off x="1600200" y="3124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4" name="Oval 14"/>
          <p:cNvSpPr>
            <a:spLocks noChangeArrowheads="1"/>
          </p:cNvSpPr>
          <p:nvPr/>
        </p:nvSpPr>
        <p:spPr bwMode="auto">
          <a:xfrm>
            <a:off x="990600" y="3200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5" name="Oval 15"/>
          <p:cNvSpPr>
            <a:spLocks noChangeArrowheads="1"/>
          </p:cNvSpPr>
          <p:nvPr/>
        </p:nvSpPr>
        <p:spPr bwMode="auto">
          <a:xfrm>
            <a:off x="1219200" y="3810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6" name="Oval 16"/>
          <p:cNvSpPr>
            <a:spLocks noChangeArrowheads="1"/>
          </p:cNvSpPr>
          <p:nvPr/>
        </p:nvSpPr>
        <p:spPr bwMode="auto">
          <a:xfrm>
            <a:off x="9906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7" name="Oval 17"/>
          <p:cNvSpPr>
            <a:spLocks noChangeArrowheads="1"/>
          </p:cNvSpPr>
          <p:nvPr/>
        </p:nvSpPr>
        <p:spPr bwMode="auto">
          <a:xfrm>
            <a:off x="1143000" y="4876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8" name="Oval 18"/>
          <p:cNvSpPr>
            <a:spLocks noChangeArrowheads="1"/>
          </p:cNvSpPr>
          <p:nvPr/>
        </p:nvSpPr>
        <p:spPr bwMode="auto">
          <a:xfrm>
            <a:off x="14478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9" name="Oval 19"/>
          <p:cNvSpPr>
            <a:spLocks noChangeArrowheads="1"/>
          </p:cNvSpPr>
          <p:nvPr/>
        </p:nvSpPr>
        <p:spPr bwMode="auto">
          <a:xfrm>
            <a:off x="2362200" y="1524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0" name="Oval 20"/>
          <p:cNvSpPr>
            <a:spLocks noChangeArrowheads="1"/>
          </p:cNvSpPr>
          <p:nvPr/>
        </p:nvSpPr>
        <p:spPr bwMode="auto">
          <a:xfrm>
            <a:off x="2362200" y="3048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1" name="Oval 21"/>
          <p:cNvSpPr>
            <a:spLocks noChangeArrowheads="1"/>
          </p:cNvSpPr>
          <p:nvPr/>
        </p:nvSpPr>
        <p:spPr bwMode="auto">
          <a:xfrm>
            <a:off x="2286000" y="3505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2" name="Oval 22"/>
          <p:cNvSpPr>
            <a:spLocks noChangeArrowheads="1"/>
          </p:cNvSpPr>
          <p:nvPr/>
        </p:nvSpPr>
        <p:spPr bwMode="auto">
          <a:xfrm>
            <a:off x="2362200" y="4114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3" name="Oval 23"/>
          <p:cNvSpPr>
            <a:spLocks noChangeArrowheads="1"/>
          </p:cNvSpPr>
          <p:nvPr/>
        </p:nvSpPr>
        <p:spPr bwMode="auto">
          <a:xfrm>
            <a:off x="2057400" y="3733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4" name="Oval 24"/>
          <p:cNvSpPr>
            <a:spLocks noChangeArrowheads="1"/>
          </p:cNvSpPr>
          <p:nvPr/>
        </p:nvSpPr>
        <p:spPr bwMode="auto">
          <a:xfrm>
            <a:off x="2438400" y="4724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5" name="Oval 25"/>
          <p:cNvSpPr>
            <a:spLocks noChangeArrowheads="1"/>
          </p:cNvSpPr>
          <p:nvPr/>
        </p:nvSpPr>
        <p:spPr bwMode="auto">
          <a:xfrm>
            <a:off x="3581400" y="1676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6" name="Oval 26"/>
          <p:cNvSpPr>
            <a:spLocks noChangeArrowheads="1"/>
          </p:cNvSpPr>
          <p:nvPr/>
        </p:nvSpPr>
        <p:spPr bwMode="auto">
          <a:xfrm>
            <a:off x="2667000" y="3886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7" name="Oval 27"/>
          <p:cNvSpPr>
            <a:spLocks noChangeArrowheads="1"/>
          </p:cNvSpPr>
          <p:nvPr/>
        </p:nvSpPr>
        <p:spPr bwMode="auto">
          <a:xfrm>
            <a:off x="4114800" y="121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8" name="Oval 28"/>
          <p:cNvSpPr>
            <a:spLocks noChangeArrowheads="1"/>
          </p:cNvSpPr>
          <p:nvPr/>
        </p:nvSpPr>
        <p:spPr bwMode="auto">
          <a:xfrm>
            <a:off x="4267200" y="2057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9" name="Oval 29"/>
          <p:cNvSpPr>
            <a:spLocks noChangeArrowheads="1"/>
          </p:cNvSpPr>
          <p:nvPr/>
        </p:nvSpPr>
        <p:spPr bwMode="auto">
          <a:xfrm>
            <a:off x="3581400" y="2514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0" name="Oval 30"/>
          <p:cNvSpPr>
            <a:spLocks noChangeArrowheads="1"/>
          </p:cNvSpPr>
          <p:nvPr/>
        </p:nvSpPr>
        <p:spPr bwMode="auto">
          <a:xfrm>
            <a:off x="35814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1" name="Oval 31"/>
          <p:cNvSpPr>
            <a:spLocks noChangeArrowheads="1"/>
          </p:cNvSpPr>
          <p:nvPr/>
        </p:nvSpPr>
        <p:spPr bwMode="auto">
          <a:xfrm>
            <a:off x="41910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2" name="Oval 32"/>
          <p:cNvSpPr>
            <a:spLocks noChangeArrowheads="1"/>
          </p:cNvSpPr>
          <p:nvPr/>
        </p:nvSpPr>
        <p:spPr bwMode="auto">
          <a:xfrm>
            <a:off x="3581400" y="4114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3" name="Oval 33"/>
          <p:cNvSpPr>
            <a:spLocks noChangeArrowheads="1"/>
          </p:cNvSpPr>
          <p:nvPr/>
        </p:nvSpPr>
        <p:spPr bwMode="auto">
          <a:xfrm>
            <a:off x="4191000" y="3657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4" name="Oval 34"/>
          <p:cNvSpPr>
            <a:spLocks noChangeArrowheads="1"/>
          </p:cNvSpPr>
          <p:nvPr/>
        </p:nvSpPr>
        <p:spPr bwMode="auto">
          <a:xfrm>
            <a:off x="42672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5" name="Oval 35"/>
          <p:cNvSpPr>
            <a:spLocks noChangeArrowheads="1"/>
          </p:cNvSpPr>
          <p:nvPr/>
        </p:nvSpPr>
        <p:spPr bwMode="auto">
          <a:xfrm>
            <a:off x="3581400" y="502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6" name="Oval 36"/>
          <p:cNvSpPr>
            <a:spLocks noChangeArrowheads="1"/>
          </p:cNvSpPr>
          <p:nvPr/>
        </p:nvSpPr>
        <p:spPr bwMode="auto">
          <a:xfrm>
            <a:off x="4648200" y="1676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7" name="Oval 37"/>
          <p:cNvSpPr>
            <a:spLocks noChangeArrowheads="1"/>
          </p:cNvSpPr>
          <p:nvPr/>
        </p:nvSpPr>
        <p:spPr bwMode="auto">
          <a:xfrm>
            <a:off x="5181600" y="121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8" name="Oval 38"/>
          <p:cNvSpPr>
            <a:spLocks noChangeArrowheads="1"/>
          </p:cNvSpPr>
          <p:nvPr/>
        </p:nvSpPr>
        <p:spPr bwMode="auto">
          <a:xfrm>
            <a:off x="5334000" y="2057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9" name="Oval 39"/>
          <p:cNvSpPr>
            <a:spLocks noChangeArrowheads="1"/>
          </p:cNvSpPr>
          <p:nvPr/>
        </p:nvSpPr>
        <p:spPr bwMode="auto">
          <a:xfrm>
            <a:off x="4648200" y="2514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0" name="Oval 40"/>
          <p:cNvSpPr>
            <a:spLocks noChangeArrowheads="1"/>
          </p:cNvSpPr>
          <p:nvPr/>
        </p:nvSpPr>
        <p:spPr bwMode="auto">
          <a:xfrm>
            <a:off x="46482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1" name="Oval 41"/>
          <p:cNvSpPr>
            <a:spLocks noChangeArrowheads="1"/>
          </p:cNvSpPr>
          <p:nvPr/>
        </p:nvSpPr>
        <p:spPr bwMode="auto">
          <a:xfrm>
            <a:off x="52578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2" name="Oval 42"/>
          <p:cNvSpPr>
            <a:spLocks noChangeArrowheads="1"/>
          </p:cNvSpPr>
          <p:nvPr/>
        </p:nvSpPr>
        <p:spPr bwMode="auto">
          <a:xfrm>
            <a:off x="4648200" y="4114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3" name="Oval 43"/>
          <p:cNvSpPr>
            <a:spLocks noChangeArrowheads="1"/>
          </p:cNvSpPr>
          <p:nvPr/>
        </p:nvSpPr>
        <p:spPr bwMode="auto">
          <a:xfrm>
            <a:off x="5257800" y="3657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4" name="Oval 44"/>
          <p:cNvSpPr>
            <a:spLocks noChangeArrowheads="1"/>
          </p:cNvSpPr>
          <p:nvPr/>
        </p:nvSpPr>
        <p:spPr bwMode="auto">
          <a:xfrm>
            <a:off x="53340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5" name="Oval 45"/>
          <p:cNvSpPr>
            <a:spLocks noChangeArrowheads="1"/>
          </p:cNvSpPr>
          <p:nvPr/>
        </p:nvSpPr>
        <p:spPr bwMode="auto">
          <a:xfrm>
            <a:off x="4648200" y="502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6" name="Oval 46"/>
          <p:cNvSpPr>
            <a:spLocks noChangeArrowheads="1"/>
          </p:cNvSpPr>
          <p:nvPr/>
        </p:nvSpPr>
        <p:spPr bwMode="auto">
          <a:xfrm>
            <a:off x="72390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7" name="Oval 47"/>
          <p:cNvSpPr>
            <a:spLocks noChangeArrowheads="1"/>
          </p:cNvSpPr>
          <p:nvPr/>
        </p:nvSpPr>
        <p:spPr bwMode="auto">
          <a:xfrm>
            <a:off x="7391400" y="3124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8" name="Oval 48"/>
          <p:cNvSpPr>
            <a:spLocks noChangeArrowheads="1"/>
          </p:cNvSpPr>
          <p:nvPr/>
        </p:nvSpPr>
        <p:spPr bwMode="auto">
          <a:xfrm>
            <a:off x="75438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9" name="Oval 49"/>
          <p:cNvSpPr>
            <a:spLocks noChangeArrowheads="1"/>
          </p:cNvSpPr>
          <p:nvPr/>
        </p:nvSpPr>
        <p:spPr bwMode="auto">
          <a:xfrm>
            <a:off x="71628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0" name="Oval 50"/>
          <p:cNvSpPr>
            <a:spLocks noChangeArrowheads="1"/>
          </p:cNvSpPr>
          <p:nvPr/>
        </p:nvSpPr>
        <p:spPr bwMode="auto">
          <a:xfrm>
            <a:off x="7772400" y="3048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1" name="Oval 51"/>
          <p:cNvSpPr>
            <a:spLocks noChangeArrowheads="1"/>
          </p:cNvSpPr>
          <p:nvPr/>
        </p:nvSpPr>
        <p:spPr bwMode="auto">
          <a:xfrm>
            <a:off x="73914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2" name="Oval 52"/>
          <p:cNvSpPr>
            <a:spLocks noChangeArrowheads="1"/>
          </p:cNvSpPr>
          <p:nvPr/>
        </p:nvSpPr>
        <p:spPr bwMode="auto">
          <a:xfrm>
            <a:off x="76200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3" name="Oval 53"/>
          <p:cNvSpPr>
            <a:spLocks noChangeArrowheads="1"/>
          </p:cNvSpPr>
          <p:nvPr/>
        </p:nvSpPr>
        <p:spPr bwMode="auto">
          <a:xfrm>
            <a:off x="78486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4" name="Oval 54"/>
          <p:cNvSpPr>
            <a:spLocks noChangeArrowheads="1"/>
          </p:cNvSpPr>
          <p:nvPr/>
        </p:nvSpPr>
        <p:spPr bwMode="auto">
          <a:xfrm>
            <a:off x="79248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5" name="Oval 55"/>
          <p:cNvSpPr>
            <a:spLocks noChangeArrowheads="1"/>
          </p:cNvSpPr>
          <p:nvPr/>
        </p:nvSpPr>
        <p:spPr bwMode="auto">
          <a:xfrm>
            <a:off x="7391400" y="2743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6" name="Oval 56"/>
          <p:cNvSpPr>
            <a:spLocks noChangeArrowheads="1"/>
          </p:cNvSpPr>
          <p:nvPr/>
        </p:nvSpPr>
        <p:spPr bwMode="auto">
          <a:xfrm>
            <a:off x="61722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7" name="Oval 57"/>
          <p:cNvSpPr>
            <a:spLocks noChangeArrowheads="1"/>
          </p:cNvSpPr>
          <p:nvPr/>
        </p:nvSpPr>
        <p:spPr bwMode="auto">
          <a:xfrm>
            <a:off x="6324600" y="3124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8" name="Oval 58"/>
          <p:cNvSpPr>
            <a:spLocks noChangeArrowheads="1"/>
          </p:cNvSpPr>
          <p:nvPr/>
        </p:nvSpPr>
        <p:spPr bwMode="auto">
          <a:xfrm>
            <a:off x="64770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9" name="Oval 59"/>
          <p:cNvSpPr>
            <a:spLocks noChangeArrowheads="1"/>
          </p:cNvSpPr>
          <p:nvPr/>
        </p:nvSpPr>
        <p:spPr bwMode="auto">
          <a:xfrm>
            <a:off x="60960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0" name="Oval 60"/>
          <p:cNvSpPr>
            <a:spLocks noChangeArrowheads="1"/>
          </p:cNvSpPr>
          <p:nvPr/>
        </p:nvSpPr>
        <p:spPr bwMode="auto">
          <a:xfrm>
            <a:off x="6705600" y="3048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1" name="Oval 61"/>
          <p:cNvSpPr>
            <a:spLocks noChangeArrowheads="1"/>
          </p:cNvSpPr>
          <p:nvPr/>
        </p:nvSpPr>
        <p:spPr bwMode="auto">
          <a:xfrm>
            <a:off x="63246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2" name="Oval 62"/>
          <p:cNvSpPr>
            <a:spLocks noChangeArrowheads="1"/>
          </p:cNvSpPr>
          <p:nvPr/>
        </p:nvSpPr>
        <p:spPr bwMode="auto">
          <a:xfrm>
            <a:off x="65532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3" name="Oval 63"/>
          <p:cNvSpPr>
            <a:spLocks noChangeArrowheads="1"/>
          </p:cNvSpPr>
          <p:nvPr/>
        </p:nvSpPr>
        <p:spPr bwMode="auto">
          <a:xfrm>
            <a:off x="67818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4" name="Oval 64"/>
          <p:cNvSpPr>
            <a:spLocks noChangeArrowheads="1"/>
          </p:cNvSpPr>
          <p:nvPr/>
        </p:nvSpPr>
        <p:spPr bwMode="auto">
          <a:xfrm>
            <a:off x="68580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5" name="Oval 65"/>
          <p:cNvSpPr>
            <a:spLocks noChangeArrowheads="1"/>
          </p:cNvSpPr>
          <p:nvPr/>
        </p:nvSpPr>
        <p:spPr bwMode="auto">
          <a:xfrm>
            <a:off x="6324600" y="2743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6" name="Text Box 66"/>
          <p:cNvSpPr txBox="1">
            <a:spLocks noChangeArrowheads="1"/>
          </p:cNvSpPr>
          <p:nvPr/>
        </p:nvSpPr>
        <p:spPr bwMode="auto">
          <a:xfrm>
            <a:off x="1021335" y="5337175"/>
            <a:ext cx="1326004" cy="400110"/>
          </a:xfrm>
          <a:prstGeom prst="rect">
            <a:avLst/>
          </a:prstGeom>
          <a:noFill/>
          <a:ln w="9525">
            <a:noFill/>
            <a:miter lim="800000"/>
            <a:headEnd/>
            <a:tailEnd/>
          </a:ln>
          <a:effectLst/>
        </p:spPr>
        <p:txBody>
          <a:bodyPr wrap="none">
            <a:spAutoFit/>
          </a:bodyPr>
          <a:lstStyle/>
          <a:p>
            <a:pPr algn="ctr"/>
            <a:r>
              <a:rPr lang="en-US" dirty="0">
                <a:solidFill>
                  <a:srgbClr val="080808"/>
                </a:solidFill>
                <a:latin typeface="Arial Unicode MS" pitchFamily="34" charset="-128"/>
              </a:rPr>
              <a:t>RANDOM</a:t>
            </a:r>
          </a:p>
        </p:txBody>
      </p:sp>
      <p:sp>
        <p:nvSpPr>
          <p:cNvPr id="25667" name="Text Box 67"/>
          <p:cNvSpPr txBox="1">
            <a:spLocks noChangeArrowheads="1"/>
          </p:cNvSpPr>
          <p:nvPr/>
        </p:nvSpPr>
        <p:spPr bwMode="auto">
          <a:xfrm>
            <a:off x="3723783" y="5334000"/>
            <a:ext cx="1382110" cy="400110"/>
          </a:xfrm>
          <a:prstGeom prst="rect">
            <a:avLst/>
          </a:prstGeom>
          <a:noFill/>
          <a:ln w="9525">
            <a:noFill/>
            <a:miter lim="800000"/>
            <a:headEnd/>
            <a:tailEnd/>
          </a:ln>
          <a:effectLst/>
        </p:spPr>
        <p:txBody>
          <a:bodyPr wrap="none">
            <a:spAutoFit/>
          </a:bodyPr>
          <a:lstStyle/>
          <a:p>
            <a:pPr algn="ctr"/>
            <a:r>
              <a:rPr lang="en-US" dirty="0">
                <a:solidFill>
                  <a:srgbClr val="080808"/>
                </a:solidFill>
                <a:latin typeface="Arial Unicode MS" pitchFamily="34" charset="-128"/>
              </a:rPr>
              <a:t>UNIFORM</a:t>
            </a:r>
          </a:p>
        </p:txBody>
      </p:sp>
      <p:sp>
        <p:nvSpPr>
          <p:cNvPr id="25668" name="Text Box 68"/>
          <p:cNvSpPr txBox="1">
            <a:spLocks noChangeArrowheads="1"/>
          </p:cNvSpPr>
          <p:nvPr/>
        </p:nvSpPr>
        <p:spPr bwMode="auto">
          <a:xfrm>
            <a:off x="6210445" y="5334000"/>
            <a:ext cx="1742785" cy="400110"/>
          </a:xfrm>
          <a:prstGeom prst="rect">
            <a:avLst/>
          </a:prstGeom>
          <a:noFill/>
          <a:ln w="9525">
            <a:noFill/>
            <a:miter lim="800000"/>
            <a:headEnd/>
            <a:tailEnd/>
          </a:ln>
          <a:effectLst/>
        </p:spPr>
        <p:txBody>
          <a:bodyPr wrap="none">
            <a:spAutoFit/>
          </a:bodyPr>
          <a:lstStyle/>
          <a:p>
            <a:pPr algn="ctr"/>
            <a:r>
              <a:rPr lang="en-US" dirty="0">
                <a:solidFill>
                  <a:srgbClr val="080808"/>
                </a:solidFill>
                <a:latin typeface="Arial Unicode MS" pitchFamily="34" charset="-128"/>
              </a:rPr>
              <a:t>CLUSTERED</a:t>
            </a:r>
          </a:p>
        </p:txBody>
      </p:sp>
      <p:sp>
        <p:nvSpPr>
          <p:cNvPr id="69" name="Title 68"/>
          <p:cNvSpPr>
            <a:spLocks noGrp="1"/>
          </p:cNvSpPr>
          <p:nvPr>
            <p:ph type="title"/>
          </p:nvPr>
        </p:nvSpPr>
        <p:spPr>
          <a:xfrm>
            <a:off x="1020345" y="239140"/>
            <a:ext cx="8686800" cy="914400"/>
          </a:xfrm>
        </p:spPr>
        <p:txBody>
          <a:bodyPr>
            <a:normAutofit/>
          </a:bodyPr>
          <a:lstStyle/>
          <a:p>
            <a:r>
              <a:rPr lang="en-US" sz="3200" dirty="0"/>
              <a:t>Nearest-Neighbor Analysis</a:t>
            </a:r>
          </a:p>
        </p:txBody>
      </p:sp>
      <p:sp>
        <p:nvSpPr>
          <p:cNvPr id="70" name="Content Placeholder 69"/>
          <p:cNvSpPr>
            <a:spLocks noGrp="1"/>
          </p:cNvSpPr>
          <p:nvPr>
            <p:ph idx="1"/>
          </p:nvPr>
        </p:nvSpPr>
        <p:spPr/>
        <p:txBody>
          <a:bodyPr/>
          <a:lstStyle/>
          <a:p>
            <a:pPr>
              <a:buNone/>
            </a:pPr>
            <a:r>
              <a:rPr lang="en-US"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p:cNvGraphicFramePr>
            <a:graphicFrameLocks noChangeAspect="1"/>
          </p:cNvGraphicFramePr>
          <p:nvPr/>
        </p:nvGraphicFramePr>
        <p:xfrm>
          <a:off x="250825" y="1131889"/>
          <a:ext cx="2590800" cy="3897312"/>
        </p:xfrm>
        <a:graphic>
          <a:graphicData uri="http://schemas.openxmlformats.org/presentationml/2006/ole">
            <mc:AlternateContent xmlns:mc="http://schemas.openxmlformats.org/markup-compatibility/2006">
              <mc:Choice xmlns:v="urn:schemas-microsoft-com:vml" Requires="v">
                <p:oleObj name="Worksheet" r:id="rId3" imgW="1943105" imgH="3695711" progId="Excel.Sheet.8">
                  <p:embed/>
                </p:oleObj>
              </mc:Choice>
              <mc:Fallback>
                <p:oleObj name="Worksheet" r:id="rId3" imgW="1943105" imgH="3695711" progId="Excel.Sheet.8">
                  <p:embed/>
                  <p:pic>
                    <p:nvPicPr>
                      <p:cNvPr id="266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131889"/>
                        <a:ext cx="2590800" cy="3897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6627" name="Object 3"/>
          <p:cNvGraphicFramePr>
            <a:graphicFrameLocks noChangeAspect="1"/>
          </p:cNvGraphicFramePr>
          <p:nvPr/>
        </p:nvGraphicFramePr>
        <p:xfrm>
          <a:off x="6011863" y="1208089"/>
          <a:ext cx="2590800" cy="3744912"/>
        </p:xfrm>
        <a:graphic>
          <a:graphicData uri="http://schemas.openxmlformats.org/presentationml/2006/ole">
            <mc:AlternateContent xmlns:mc="http://schemas.openxmlformats.org/markup-compatibility/2006">
              <mc:Choice xmlns:v="urn:schemas-microsoft-com:vml" Requires="v">
                <p:oleObj name="Worksheet" r:id="rId5" imgW="1943105" imgH="3695711" progId="Excel.Sheet.8">
                  <p:embed/>
                </p:oleObj>
              </mc:Choice>
              <mc:Fallback>
                <p:oleObj name="Worksheet" r:id="rId5" imgW="1943105" imgH="3695711" progId="Excel.Sheet.8">
                  <p:embed/>
                  <p:pic>
                    <p:nvPicPr>
                      <p:cNvPr id="2662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1863" y="1208089"/>
                        <a:ext cx="2590800" cy="374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6628" name="Object 4"/>
          <p:cNvGraphicFramePr>
            <a:graphicFrameLocks noChangeAspect="1"/>
          </p:cNvGraphicFramePr>
          <p:nvPr/>
        </p:nvGraphicFramePr>
        <p:xfrm>
          <a:off x="3132138" y="1208088"/>
          <a:ext cx="2590800" cy="3744912"/>
        </p:xfrm>
        <a:graphic>
          <a:graphicData uri="http://schemas.openxmlformats.org/presentationml/2006/ole">
            <mc:AlternateContent xmlns:mc="http://schemas.openxmlformats.org/markup-compatibility/2006">
              <mc:Choice xmlns:v="urn:schemas-microsoft-com:vml" Requires="v">
                <p:oleObj name="Worksheet" r:id="rId7" imgW="1943105" imgH="3695711" progId="Excel.Sheet.8">
                  <p:embed/>
                </p:oleObj>
              </mc:Choice>
              <mc:Fallback>
                <p:oleObj name="Worksheet" r:id="rId7" imgW="1943105" imgH="3695711" progId="Excel.Sheet.8">
                  <p:embed/>
                  <p:pic>
                    <p:nvPicPr>
                      <p:cNvPr id="2662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1208088"/>
                        <a:ext cx="2590800" cy="374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6629" name="Object 5"/>
          <p:cNvGraphicFramePr>
            <a:graphicFrameLocks noChangeAspect="1"/>
          </p:cNvGraphicFramePr>
          <p:nvPr/>
        </p:nvGraphicFramePr>
        <p:xfrm>
          <a:off x="3733800" y="5029200"/>
          <a:ext cx="1219200" cy="1828800"/>
        </p:xfrm>
        <a:graphic>
          <a:graphicData uri="http://schemas.openxmlformats.org/presentationml/2006/ole">
            <mc:AlternateContent xmlns:mc="http://schemas.openxmlformats.org/markup-compatibility/2006">
              <mc:Choice xmlns:v="urn:schemas-microsoft-com:vml" Requires="v">
                <p:oleObj name="Equation" r:id="rId9" imgW="685800" imgH="1269720" progId="Equation.3">
                  <p:embed/>
                </p:oleObj>
              </mc:Choice>
              <mc:Fallback>
                <p:oleObj name="Equation" r:id="rId9" imgW="685800" imgH="1269720" progId="Equation.3">
                  <p:embed/>
                  <p:pic>
                    <p:nvPicPr>
                      <p:cNvPr id="26629"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33800" y="5029200"/>
                        <a:ext cx="1219200" cy="1828800"/>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aphicFrame>
        <p:nvGraphicFramePr>
          <p:cNvPr id="26630" name="Object 6"/>
          <p:cNvGraphicFramePr>
            <a:graphicFrameLocks noChangeAspect="1"/>
          </p:cNvGraphicFramePr>
          <p:nvPr/>
        </p:nvGraphicFramePr>
        <p:xfrm>
          <a:off x="5715000" y="5292725"/>
          <a:ext cx="1346200" cy="1200150"/>
        </p:xfrm>
        <a:graphic>
          <a:graphicData uri="http://schemas.openxmlformats.org/presentationml/2006/ole">
            <mc:AlternateContent xmlns:mc="http://schemas.openxmlformats.org/markup-compatibility/2006">
              <mc:Choice xmlns:v="urn:schemas-microsoft-com:vml" Requires="v">
                <p:oleObj name="Equation" r:id="rId11" imgW="583920" imgH="520560" progId="Equation.3">
                  <p:embed/>
                </p:oleObj>
              </mc:Choice>
              <mc:Fallback>
                <p:oleObj name="Equation" r:id="rId11" imgW="583920" imgH="520560" progId="Equation.3">
                  <p:embed/>
                  <p:pic>
                    <p:nvPicPr>
                      <p:cNvPr id="2663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0" y="5292725"/>
                        <a:ext cx="1346200" cy="1200150"/>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7" name="Title 6"/>
          <p:cNvSpPr>
            <a:spLocks noGrp="1"/>
          </p:cNvSpPr>
          <p:nvPr>
            <p:ph type="title"/>
          </p:nvPr>
        </p:nvSpPr>
        <p:spPr>
          <a:xfrm>
            <a:off x="838200" y="176915"/>
            <a:ext cx="8686800" cy="914400"/>
          </a:xfrm>
        </p:spPr>
        <p:txBody>
          <a:bodyPr>
            <a:normAutofit/>
          </a:bodyPr>
          <a:lstStyle/>
          <a:p>
            <a:r>
              <a:rPr lang="en-US" sz="3200" dirty="0"/>
              <a:t>Nearest-Neighbor Calculation</a:t>
            </a:r>
          </a:p>
        </p:txBody>
      </p:sp>
      <p:sp>
        <p:nvSpPr>
          <p:cNvPr id="8" name="Content Placeholder 7"/>
          <p:cNvSpPr>
            <a:spLocks noGrp="1"/>
          </p:cNvSpPr>
          <p:nvPr>
            <p:ph idx="1"/>
          </p:nvPr>
        </p:nvSpPr>
        <p:spPr/>
        <p:txBody>
          <a:bodyPr/>
          <a:lstStyle/>
          <a:p>
            <a:pPr>
              <a:buNone/>
            </a:pPr>
            <a:r>
              <a:rPr lang="en-US" dirty="0"/>
              <a:t> </a:t>
            </a:r>
          </a:p>
        </p:txBody>
      </p:sp>
      <p:sp>
        <p:nvSpPr>
          <p:cNvPr id="9" name="TextBox 8"/>
          <p:cNvSpPr txBox="1"/>
          <p:nvPr/>
        </p:nvSpPr>
        <p:spPr>
          <a:xfrm>
            <a:off x="7772400" y="5029200"/>
            <a:ext cx="1066800" cy="830997"/>
          </a:xfrm>
          <a:prstGeom prst="rect">
            <a:avLst/>
          </a:prstGeom>
          <a:noFill/>
        </p:spPr>
        <p:txBody>
          <a:bodyPr wrap="square" rtlCol="0">
            <a:spAutoFit/>
          </a:bodyPr>
          <a:lstStyle/>
          <a:p>
            <a:r>
              <a:rPr lang="en-US" sz="1200" dirty="0">
                <a:latin typeface="+mn-lt"/>
              </a:rPr>
              <a:t>Clustered</a:t>
            </a:r>
          </a:p>
          <a:p>
            <a:r>
              <a:rPr lang="en-US" sz="1200" dirty="0">
                <a:latin typeface="+mn-lt"/>
              </a:rPr>
              <a:t>Patterns are </a:t>
            </a:r>
          </a:p>
          <a:p>
            <a:r>
              <a:rPr lang="en-US" sz="1200" dirty="0">
                <a:latin typeface="+mn-lt"/>
              </a:rPr>
              <a:t>Closer to 0 on </a:t>
            </a:r>
            <a:r>
              <a:rPr lang="en-US" sz="1200" i="1" dirty="0">
                <a:latin typeface="+mn-lt"/>
              </a:rPr>
              <a:t>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33400" y="457200"/>
            <a:ext cx="8686800" cy="1143000"/>
          </a:xfrm>
        </p:spPr>
        <p:txBody>
          <a:bodyPr>
            <a:normAutofit fontScale="90000"/>
          </a:bodyPr>
          <a:lstStyle/>
          <a:p>
            <a:r>
              <a:rPr lang="en-US" sz="3600" dirty="0"/>
              <a:t>Advantages of Nearest Neighbor over Quadrat Analysis</a:t>
            </a:r>
          </a:p>
        </p:txBody>
      </p:sp>
      <p:sp>
        <p:nvSpPr>
          <p:cNvPr id="28675" name="Rectangle 3"/>
          <p:cNvSpPr>
            <a:spLocks noGrp="1" noChangeArrowheads="1"/>
          </p:cNvSpPr>
          <p:nvPr>
            <p:ph type="body" idx="1"/>
          </p:nvPr>
        </p:nvSpPr>
        <p:spPr>
          <a:xfrm>
            <a:off x="457200" y="1828800"/>
            <a:ext cx="8229600" cy="4864291"/>
          </a:xfrm>
        </p:spPr>
        <p:txBody>
          <a:bodyPr>
            <a:normAutofit fontScale="92500" lnSpcReduction="10000"/>
          </a:bodyPr>
          <a:lstStyle/>
          <a:p>
            <a:r>
              <a:rPr lang="en-US" sz="2400" dirty="0"/>
              <a:t>No </a:t>
            </a:r>
            <a:r>
              <a:rPr lang="en-US" sz="2400" dirty="0" err="1"/>
              <a:t>quadrat</a:t>
            </a:r>
            <a:r>
              <a:rPr lang="en-US" sz="2400" dirty="0"/>
              <a:t> size problem to be concerned with</a:t>
            </a:r>
          </a:p>
          <a:p>
            <a:r>
              <a:rPr lang="en-US" sz="2400" dirty="0"/>
              <a:t>Takes distance into account</a:t>
            </a:r>
          </a:p>
          <a:p>
            <a:endParaRPr lang="en-US" sz="2400" dirty="0"/>
          </a:p>
          <a:p>
            <a:r>
              <a:rPr lang="en-US" sz="2400" dirty="0"/>
              <a:t>Problems:</a:t>
            </a:r>
          </a:p>
          <a:p>
            <a:endParaRPr lang="en-US" sz="2400" dirty="0"/>
          </a:p>
          <a:p>
            <a:pPr lvl="1"/>
            <a:r>
              <a:rPr lang="en-US" sz="2200" dirty="0"/>
              <a:t>Related to the entire boundary size</a:t>
            </a:r>
          </a:p>
          <a:p>
            <a:pPr lvl="1"/>
            <a:endParaRPr lang="en-US" sz="2200" dirty="0"/>
          </a:p>
          <a:p>
            <a:pPr lvl="1"/>
            <a:r>
              <a:rPr lang="en-US" sz="2200" dirty="0"/>
              <a:t>Must consider how to measure the boundary</a:t>
            </a:r>
          </a:p>
          <a:p>
            <a:pPr lvl="2">
              <a:buClr>
                <a:srgbClr val="00B0F0"/>
              </a:buClr>
              <a:buFont typeface="Arial" pitchFamily="34" charset="0"/>
              <a:buChar char="•"/>
            </a:pPr>
            <a:r>
              <a:rPr lang="en-US" sz="2000" dirty="0"/>
              <a:t>	Arbitrary or some natural boundary (need theory)</a:t>
            </a:r>
          </a:p>
          <a:p>
            <a:pPr lvl="2">
              <a:buNone/>
            </a:pPr>
            <a:endParaRPr lang="en-US" sz="2000" dirty="0"/>
          </a:p>
          <a:p>
            <a:pPr lvl="1"/>
            <a:r>
              <a:rPr lang="en-US" sz="2200" dirty="0"/>
              <a:t>May not consider a possible adjacent boundary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0040BF0-8023-45DB-AFB0-81FB57F04FB9}" type="slidenum">
              <a:rPr lang="en-US" smtClean="0"/>
              <a:pPr>
                <a:defRPr/>
              </a:pPr>
              <a:t>31</a:t>
            </a:fld>
            <a:endParaRPr lang="en-US"/>
          </a:p>
        </p:txBody>
      </p:sp>
      <p:sp>
        <p:nvSpPr>
          <p:cNvPr id="5" name="Title 4"/>
          <p:cNvSpPr>
            <a:spLocks noGrp="1"/>
          </p:cNvSpPr>
          <p:nvPr>
            <p:ph type="title"/>
          </p:nvPr>
        </p:nvSpPr>
        <p:spPr>
          <a:xfrm>
            <a:off x="2743200" y="152400"/>
            <a:ext cx="8686800" cy="1143000"/>
          </a:xfrm>
        </p:spPr>
        <p:txBody>
          <a:bodyPr>
            <a:normAutofit/>
          </a:bodyPr>
          <a:lstStyle/>
          <a:p>
            <a:r>
              <a:rPr lang="en-US" sz="3200" dirty="0"/>
              <a:t>Is it clustered?</a:t>
            </a:r>
          </a:p>
        </p:txBody>
      </p:sp>
      <p:pic>
        <p:nvPicPr>
          <p:cNvPr id="6" name="Picture 3"/>
          <p:cNvPicPr>
            <a:picLocks noGrp="1" noChangeAspect="1" noChangeArrowheads="1"/>
          </p:cNvPicPr>
          <p:nvPr>
            <p:ph idx="1"/>
          </p:nvPr>
        </p:nvPicPr>
        <p:blipFill>
          <a:blip r:embed="rId2" cstate="print"/>
          <a:srcRect/>
          <a:stretch>
            <a:fillRect/>
          </a:stretch>
        </p:blipFill>
        <p:spPr bwMode="auto">
          <a:xfrm>
            <a:off x="2329617" y="2057400"/>
            <a:ext cx="4754014" cy="4525962"/>
          </a:xfrm>
          <a:prstGeom prst="rect">
            <a:avLst/>
          </a:prstGeom>
          <a:noFill/>
          <a:ln w="9525">
            <a:solidFill>
              <a:schemeClr val="tx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8139-D20B-8B16-EF2A-CF7957A2051D}"/>
              </a:ext>
            </a:extLst>
          </p:cNvPr>
          <p:cNvSpPr>
            <a:spLocks noGrp="1"/>
          </p:cNvSpPr>
          <p:nvPr>
            <p:ph type="title"/>
          </p:nvPr>
        </p:nvSpPr>
        <p:spPr/>
        <p:txBody>
          <a:bodyPr>
            <a:normAutofit/>
          </a:bodyPr>
          <a:lstStyle/>
          <a:p>
            <a:r>
              <a:rPr lang="en-US" b="1" dirty="0"/>
              <a:t>Choosing the Right Method:</a:t>
            </a:r>
            <a:br>
              <a:rPr lang="en-US" b="1" dirty="0"/>
            </a:br>
            <a:endParaRPr lang="en-US" dirty="0"/>
          </a:p>
        </p:txBody>
      </p:sp>
      <p:sp>
        <p:nvSpPr>
          <p:cNvPr id="3" name="Content Placeholder 2">
            <a:extLst>
              <a:ext uri="{FF2B5EF4-FFF2-40B4-BE49-F238E27FC236}">
                <a16:creationId xmlns:a16="http://schemas.microsoft.com/office/drawing/2014/main" id="{8ADF9795-F6CA-26C9-D3D8-6AEFAEB7E94F}"/>
              </a:ext>
            </a:extLst>
          </p:cNvPr>
          <p:cNvSpPr>
            <a:spLocks noGrp="1"/>
          </p:cNvSpPr>
          <p:nvPr>
            <p:ph idx="1"/>
          </p:nvPr>
        </p:nvSpPr>
        <p:spPr>
          <a:xfrm>
            <a:off x="457200" y="2039816"/>
            <a:ext cx="8229600" cy="4818184"/>
          </a:xfrm>
        </p:spPr>
        <p:txBody>
          <a:bodyPr>
            <a:normAutofit lnSpcReduction="10000"/>
          </a:bodyPr>
          <a:lstStyle/>
          <a:p>
            <a:pPr>
              <a:buFont typeface="Arial" panose="020B0604020202020204" pitchFamily="34" charset="0"/>
              <a:buChar char="•"/>
            </a:pPr>
            <a:r>
              <a:rPr lang="en-US" sz="2400" b="1" dirty="0"/>
              <a:t>DBSCAN or HDBSCAN</a:t>
            </a:r>
            <a:r>
              <a:rPr lang="en-US" sz="2400" dirty="0"/>
              <a:t>: For data with </a:t>
            </a:r>
            <a:r>
              <a:rPr lang="en-US" sz="2400" b="1" dirty="0"/>
              <a:t>uneven density</a:t>
            </a:r>
            <a:r>
              <a:rPr lang="en-US" sz="2400" dirty="0"/>
              <a:t> and </a:t>
            </a:r>
            <a:r>
              <a:rPr lang="en-US" sz="2400" b="1" dirty="0"/>
              <a:t>outliers</a:t>
            </a:r>
            <a:r>
              <a:rPr lang="en-US" sz="2400" dirty="0"/>
              <a:t>.</a:t>
            </a:r>
          </a:p>
          <a:p>
            <a:pPr>
              <a:buFont typeface="Arial" panose="020B0604020202020204" pitchFamily="34" charset="0"/>
              <a:buChar char="•"/>
            </a:pPr>
            <a:r>
              <a:rPr lang="en-US" sz="2400" b="1" dirty="0"/>
              <a:t>K-means</a:t>
            </a:r>
            <a:r>
              <a:rPr lang="en-US" sz="2400" dirty="0"/>
              <a:t>: If you want a </a:t>
            </a:r>
            <a:r>
              <a:rPr lang="en-US" sz="2400" b="1" dirty="0"/>
              <a:t>fixed number of clusters</a:t>
            </a:r>
            <a:r>
              <a:rPr lang="en-US" sz="2400" dirty="0"/>
              <a:t>.</a:t>
            </a:r>
          </a:p>
          <a:p>
            <a:pPr>
              <a:buFont typeface="Arial" panose="020B0604020202020204" pitchFamily="34" charset="0"/>
              <a:buChar char="•"/>
            </a:pPr>
            <a:r>
              <a:rPr lang="en-US" sz="2400" dirty="0"/>
              <a:t>*</a:t>
            </a:r>
            <a:r>
              <a:rPr lang="en-US" sz="2400" i="1" dirty="0" err="1"/>
              <a:t>Getis</a:t>
            </a:r>
            <a:r>
              <a:rPr lang="en-US" sz="2400" i="1" dirty="0"/>
              <a:t>-Ord Gi</a:t>
            </a:r>
            <a:r>
              <a:rPr lang="en-US" sz="2400" dirty="0"/>
              <a:t> (Hotspot)**: To identify </a:t>
            </a:r>
            <a:r>
              <a:rPr lang="en-US" sz="2400" b="1" dirty="0"/>
              <a:t>statistically significant hotspots</a:t>
            </a:r>
            <a:r>
              <a:rPr lang="en-US" sz="2400" dirty="0"/>
              <a:t>.</a:t>
            </a:r>
          </a:p>
          <a:p>
            <a:pPr>
              <a:buFont typeface="Arial" panose="020B0604020202020204" pitchFamily="34" charset="0"/>
              <a:buChar char="•"/>
            </a:pPr>
            <a:r>
              <a:rPr lang="en-US" sz="2400" b="1" dirty="0"/>
              <a:t>Heatmap</a:t>
            </a:r>
            <a:r>
              <a:rPr lang="en-US" sz="2400" dirty="0"/>
              <a:t>: To visualize </a:t>
            </a:r>
            <a:r>
              <a:rPr lang="en-US" sz="2400" b="1" dirty="0"/>
              <a:t>concentration</a:t>
            </a:r>
            <a:r>
              <a:rPr lang="en-US" sz="2400" dirty="0"/>
              <a:t> without actual cluster boundaries.</a:t>
            </a:r>
          </a:p>
          <a:p>
            <a:pPr>
              <a:buFont typeface="Arial" panose="020B0604020202020204" pitchFamily="34" charset="0"/>
              <a:buChar char="•"/>
            </a:pPr>
            <a:r>
              <a:rPr lang="en-US" sz="2400" b="1" dirty="0"/>
              <a:t>Moran’s I and LISA</a:t>
            </a:r>
            <a:r>
              <a:rPr lang="en-US" sz="2400" dirty="0"/>
              <a:t>: To analyze </a:t>
            </a:r>
            <a:r>
              <a:rPr lang="en-US" sz="2400" b="1" dirty="0"/>
              <a:t>spatial autocorrelation</a:t>
            </a:r>
            <a:r>
              <a:rPr lang="en-US" sz="2400" dirty="0"/>
              <a:t> and </a:t>
            </a:r>
            <a:r>
              <a:rPr lang="en-US" sz="2400" b="1" dirty="0"/>
              <a:t>localized clusters</a:t>
            </a:r>
            <a:r>
              <a:rPr lang="en-US" sz="2400" dirty="0"/>
              <a:t>.</a:t>
            </a:r>
          </a:p>
          <a:p>
            <a:pPr>
              <a:buFont typeface="Arial" panose="020B0604020202020204" pitchFamily="34" charset="0"/>
              <a:buChar char="•"/>
            </a:pPr>
            <a:r>
              <a:rPr lang="en-US" sz="2400" b="1" dirty="0"/>
              <a:t>Quadrat Analysis</a:t>
            </a:r>
            <a:r>
              <a:rPr lang="en-US" sz="2400" dirty="0"/>
              <a:t>: For </a:t>
            </a:r>
            <a:r>
              <a:rPr lang="en-US" sz="2400" b="1" dirty="0"/>
              <a:t>uniform area analysis</a:t>
            </a:r>
            <a:r>
              <a:rPr lang="en-US" sz="2400" dirty="0"/>
              <a:t> and grid-based clustering</a:t>
            </a:r>
            <a:r>
              <a:rPr lang="en-US" dirty="0"/>
              <a:t>.</a:t>
            </a:r>
          </a:p>
          <a:p>
            <a:endParaRPr lang="en-US" dirty="0"/>
          </a:p>
        </p:txBody>
      </p:sp>
    </p:spTree>
    <p:extLst>
      <p:ext uri="{BB962C8B-B14F-4D97-AF65-F5344CB8AC3E}">
        <p14:creationId xmlns:p14="http://schemas.microsoft.com/office/powerpoint/2010/main" val="3706981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877" y="0"/>
            <a:ext cx="8229600" cy="1143000"/>
          </a:xfrm>
        </p:spPr>
        <p:txBody>
          <a:bodyPr/>
          <a:lstStyle/>
          <a:p>
            <a:r>
              <a:rPr dirty="0"/>
              <a:t>1. Spatial Autocorrelation</a:t>
            </a:r>
          </a:p>
        </p:txBody>
      </p:sp>
      <p:sp>
        <p:nvSpPr>
          <p:cNvPr id="3" name="Content Placeholder 2"/>
          <p:cNvSpPr>
            <a:spLocks noGrp="1"/>
          </p:cNvSpPr>
          <p:nvPr>
            <p:ph idx="1"/>
          </p:nvPr>
        </p:nvSpPr>
        <p:spPr>
          <a:xfrm>
            <a:off x="457200" y="1470818"/>
            <a:ext cx="8686800" cy="5387182"/>
          </a:xfrm>
        </p:spPr>
        <p:txBody>
          <a:bodyPr>
            <a:normAutofit/>
          </a:bodyPr>
          <a:lstStyle/>
          <a:p>
            <a:r>
              <a:rPr sz="2400" dirty="0"/>
              <a:t>Definition: Spatial autocorrelation refers to the degree to which a set of spatial data points resemble or differ from each other based on their location.</a:t>
            </a:r>
          </a:p>
          <a:p>
            <a:r>
              <a:rPr sz="2400" dirty="0"/>
              <a:t>Types of Spatial Autocorrelation:</a:t>
            </a:r>
          </a:p>
          <a:p>
            <a:r>
              <a:rPr sz="2400" dirty="0"/>
              <a:t>- Positive: Similar values cluster together.</a:t>
            </a:r>
          </a:p>
          <a:p>
            <a:r>
              <a:rPr sz="2400" dirty="0"/>
              <a:t>- Negative: Dissimilar values are near each other.</a:t>
            </a:r>
          </a:p>
          <a:p>
            <a:r>
              <a:rPr sz="2400" dirty="0"/>
              <a:t>- No Autocorrelation: Random distribution.</a:t>
            </a:r>
          </a:p>
          <a:p>
            <a:r>
              <a:rPr sz="2400" dirty="0"/>
              <a:t>Importance: Helps identify patterns and understand spatial processes.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154" y="0"/>
            <a:ext cx="8229600" cy="1143000"/>
          </a:xfrm>
        </p:spPr>
        <p:txBody>
          <a:bodyPr/>
          <a:lstStyle/>
          <a:p>
            <a:r>
              <a:rPr dirty="0"/>
              <a:t>2. Moran's I</a:t>
            </a:r>
          </a:p>
        </p:txBody>
      </p:sp>
      <p:sp>
        <p:nvSpPr>
          <p:cNvPr id="3" name="Content Placeholder 2"/>
          <p:cNvSpPr>
            <a:spLocks noGrp="1"/>
          </p:cNvSpPr>
          <p:nvPr>
            <p:ph idx="1"/>
          </p:nvPr>
        </p:nvSpPr>
        <p:spPr>
          <a:xfrm>
            <a:off x="685800" y="1905000"/>
            <a:ext cx="8229600" cy="4525963"/>
          </a:xfrm>
        </p:spPr>
        <p:txBody>
          <a:bodyPr>
            <a:normAutofit/>
          </a:bodyPr>
          <a:lstStyle/>
          <a:p>
            <a:r>
              <a:rPr sz="2400" dirty="0"/>
              <a:t>Definition: Moran's I quantifies spatial autocorrelation, indicating whether values are randomly distributed or show clustering.</a:t>
            </a:r>
          </a:p>
          <a:p>
            <a:r>
              <a:rPr sz="2400" dirty="0"/>
              <a:t>Formula:</a:t>
            </a:r>
          </a:p>
          <a:p>
            <a:r>
              <a:rPr sz="2400" dirty="0"/>
              <a:t>I = (n/W) * (</a:t>
            </a:r>
            <a:r>
              <a:rPr sz="2400" dirty="0" err="1"/>
              <a:t>ΣΣw_ij</a:t>
            </a:r>
            <a:r>
              <a:rPr sz="2400" dirty="0"/>
              <a:t>(</a:t>
            </a:r>
            <a:r>
              <a:rPr sz="2400" dirty="0" err="1"/>
              <a:t>x_i</a:t>
            </a:r>
            <a:r>
              <a:rPr sz="2400" dirty="0"/>
              <a:t> - x̄)(</a:t>
            </a:r>
            <a:r>
              <a:rPr sz="2400" dirty="0" err="1"/>
              <a:t>x_j</a:t>
            </a:r>
            <a:r>
              <a:rPr sz="2400" dirty="0"/>
              <a:t> - x̄)) / </a:t>
            </a:r>
            <a:r>
              <a:rPr sz="2400" dirty="0" err="1"/>
              <a:t>Σ</a:t>
            </a:r>
            <a:r>
              <a:rPr sz="2400" dirty="0"/>
              <a:t>(</a:t>
            </a:r>
            <a:r>
              <a:rPr sz="2400" dirty="0" err="1"/>
              <a:t>x_i</a:t>
            </a:r>
            <a:r>
              <a:rPr sz="2400" dirty="0"/>
              <a:t> - x̄)^2</a:t>
            </a:r>
          </a:p>
          <a:p>
            <a:r>
              <a:rPr sz="2400" dirty="0"/>
              <a:t>Interpretation:</a:t>
            </a:r>
          </a:p>
          <a:p>
            <a:r>
              <a:rPr sz="2400" dirty="0"/>
              <a:t>- I = +1: Perfect positive autocorrelation.</a:t>
            </a:r>
          </a:p>
          <a:p>
            <a:r>
              <a:rPr sz="2400" dirty="0"/>
              <a:t>- I = 0: No autocorrelation.</a:t>
            </a:r>
          </a:p>
          <a:p>
            <a:r>
              <a:rPr sz="2400" dirty="0"/>
              <a:t>- I = -1: Perfect negative autocorrelation.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3. Example of Moran's I</a:t>
            </a:r>
          </a:p>
        </p:txBody>
      </p:sp>
      <p:sp>
        <p:nvSpPr>
          <p:cNvPr id="3" name="Content Placeholder 2"/>
          <p:cNvSpPr>
            <a:spLocks noGrp="1"/>
          </p:cNvSpPr>
          <p:nvPr>
            <p:ph idx="1"/>
          </p:nvPr>
        </p:nvSpPr>
        <p:spPr/>
        <p:txBody>
          <a:bodyPr>
            <a:normAutofit/>
          </a:bodyPr>
          <a:lstStyle/>
          <a:p>
            <a:r>
              <a:rPr sz="2800" dirty="0"/>
              <a:t>Scenario: Analyze crime rates across neighborhoods in a city.</a:t>
            </a:r>
          </a:p>
          <a:p>
            <a:r>
              <a:rPr sz="2800" dirty="0"/>
              <a:t>Using Moran’s I, determine whether neighborhoods with high crime rates are clustered (positive) or randomly distributed (no autocorrelation).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4. Steps to Calculate Moran's I in QGIS</a:t>
            </a:r>
          </a:p>
        </p:txBody>
      </p:sp>
      <p:sp>
        <p:nvSpPr>
          <p:cNvPr id="3" name="Content Placeholder 2"/>
          <p:cNvSpPr>
            <a:spLocks noGrp="1"/>
          </p:cNvSpPr>
          <p:nvPr>
            <p:ph idx="1"/>
          </p:nvPr>
        </p:nvSpPr>
        <p:spPr/>
        <p:txBody>
          <a:bodyPr>
            <a:normAutofit/>
          </a:bodyPr>
          <a:lstStyle/>
          <a:p>
            <a:r>
              <a:rPr sz="2400" dirty="0"/>
              <a:t>1. Prepare the Data: Ensure spatial dataset has the variable of interest.</a:t>
            </a:r>
          </a:p>
          <a:p>
            <a:r>
              <a:rPr sz="2400" dirty="0"/>
              <a:t>2. Spatial Weights Matrix: Define how locations are related.</a:t>
            </a:r>
          </a:p>
          <a:p>
            <a:r>
              <a:rPr sz="2400" dirty="0"/>
              <a:t>3. Moran’s I Tool: Use QGIS to analyze.</a:t>
            </a:r>
          </a:p>
          <a:p>
            <a:r>
              <a:rPr sz="2400" dirty="0"/>
              <a:t>4. Interpret Results: Review the output for Moran’s I, z-score, and p-value.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Significance Testing for Moran’s I</a:t>
            </a:r>
          </a:p>
        </p:txBody>
      </p:sp>
      <p:sp>
        <p:nvSpPr>
          <p:cNvPr id="3" name="Content Placeholder 2"/>
          <p:cNvSpPr>
            <a:spLocks noGrp="1"/>
          </p:cNvSpPr>
          <p:nvPr>
            <p:ph idx="1"/>
          </p:nvPr>
        </p:nvSpPr>
        <p:spPr/>
        <p:txBody>
          <a:bodyPr>
            <a:normAutofit/>
          </a:bodyPr>
          <a:lstStyle/>
          <a:p>
            <a:r>
              <a:rPr sz="2800" dirty="0"/>
              <a:t>Z-score: Measures standard deviations from the mean; indicates clustering or dispersion.</a:t>
            </a:r>
          </a:p>
          <a:p>
            <a:r>
              <a:rPr sz="2800" dirty="0"/>
              <a:t>P-value: Indicates statistical significance (p &lt; 0.05).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Applications</a:t>
            </a:r>
          </a:p>
        </p:txBody>
      </p:sp>
      <p:sp>
        <p:nvSpPr>
          <p:cNvPr id="3" name="Content Placeholder 2"/>
          <p:cNvSpPr>
            <a:spLocks noGrp="1"/>
          </p:cNvSpPr>
          <p:nvPr>
            <p:ph idx="1"/>
          </p:nvPr>
        </p:nvSpPr>
        <p:spPr/>
        <p:txBody>
          <a:bodyPr>
            <a:normAutofit/>
          </a:bodyPr>
          <a:lstStyle/>
          <a:p>
            <a:r>
              <a:rPr sz="2800" dirty="0"/>
              <a:t>- Urban Studies: Identify clusters of socioeconomic status.</a:t>
            </a:r>
          </a:p>
          <a:p>
            <a:r>
              <a:rPr sz="2800" dirty="0"/>
              <a:t>- Public Health: Detect disease hotspots.</a:t>
            </a:r>
          </a:p>
          <a:p>
            <a:r>
              <a:rPr sz="2800" dirty="0"/>
              <a:t>- Crime Analysis: Analyze spatial patterns of crime.</a:t>
            </a:r>
          </a:p>
          <a:p>
            <a:r>
              <a:rPr sz="2800" dirty="0"/>
              <a:t>- Environmental Science: Understand spatial relationships in pollution or biodiversity.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Limitations of Moran’s I</a:t>
            </a:r>
          </a:p>
        </p:txBody>
      </p:sp>
      <p:sp>
        <p:nvSpPr>
          <p:cNvPr id="3" name="Content Placeholder 2"/>
          <p:cNvSpPr>
            <a:spLocks noGrp="1"/>
          </p:cNvSpPr>
          <p:nvPr>
            <p:ph idx="1"/>
          </p:nvPr>
        </p:nvSpPr>
        <p:spPr/>
        <p:txBody>
          <a:bodyPr>
            <a:normAutofit/>
          </a:bodyPr>
          <a:lstStyle/>
          <a:p>
            <a:r>
              <a:rPr sz="2800" dirty="0"/>
              <a:t>- Scale Dependency: Sensitive to the scale of analysis.</a:t>
            </a:r>
          </a:p>
          <a:p>
            <a:r>
              <a:rPr sz="2800" dirty="0"/>
              <a:t>- Edge Effects: Affected by study area edges.</a:t>
            </a:r>
          </a:p>
          <a:p>
            <a:r>
              <a:rPr sz="2800" dirty="0"/>
              <a:t>- Assumption of Linear Relationship: May not always be appropriate.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3523-CB0C-A03E-17EA-30C306582AFD}"/>
              </a:ext>
            </a:extLst>
          </p:cNvPr>
          <p:cNvSpPr>
            <a:spLocks noGrp="1"/>
          </p:cNvSpPr>
          <p:nvPr>
            <p:ph type="title"/>
          </p:nvPr>
        </p:nvSpPr>
        <p:spPr/>
        <p:txBody>
          <a:bodyPr/>
          <a:lstStyle/>
          <a:p>
            <a:r>
              <a:rPr lang="en-US" dirty="0"/>
              <a:t>Programs for Spatial Autocorrelation</a:t>
            </a:r>
          </a:p>
        </p:txBody>
      </p:sp>
      <p:sp>
        <p:nvSpPr>
          <p:cNvPr id="3" name="Content Placeholder 2">
            <a:extLst>
              <a:ext uri="{FF2B5EF4-FFF2-40B4-BE49-F238E27FC236}">
                <a16:creationId xmlns:a16="http://schemas.microsoft.com/office/drawing/2014/main" id="{A7A9A7A5-6EAA-59BF-5A65-1DA117F328EB}"/>
              </a:ext>
            </a:extLst>
          </p:cNvPr>
          <p:cNvSpPr>
            <a:spLocks noGrp="1"/>
          </p:cNvSpPr>
          <p:nvPr>
            <p:ph idx="1"/>
          </p:nvPr>
        </p:nvSpPr>
        <p:spPr/>
        <p:txBody>
          <a:bodyPr/>
          <a:lstStyle/>
          <a:p>
            <a:r>
              <a:rPr lang="en-US" sz="2800" dirty="0"/>
              <a:t>QGIS</a:t>
            </a:r>
          </a:p>
          <a:p>
            <a:r>
              <a:rPr lang="en-US" sz="2800" dirty="0" err="1"/>
              <a:t>GeoDa</a:t>
            </a:r>
            <a:endParaRPr lang="en-US" sz="2800" dirty="0"/>
          </a:p>
          <a:p>
            <a:r>
              <a:rPr lang="en-US" sz="2800" dirty="0"/>
              <a:t>R</a:t>
            </a:r>
          </a:p>
          <a:p>
            <a:r>
              <a:rPr lang="en-US" sz="2800" dirty="0"/>
              <a:t>Python</a:t>
            </a:r>
          </a:p>
          <a:p>
            <a:endParaRPr lang="en-US" dirty="0"/>
          </a:p>
        </p:txBody>
      </p:sp>
    </p:spTree>
    <p:extLst>
      <p:ext uri="{BB962C8B-B14F-4D97-AF65-F5344CB8AC3E}">
        <p14:creationId xmlns:p14="http://schemas.microsoft.com/office/powerpoint/2010/main" val="4037806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04E82175-3FC0-AB59-4FCD-55595D0648E5}"/>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419100" y="533400"/>
            <a:ext cx="8305800" cy="6917974"/>
          </a:xfrm>
        </p:spPr>
      </p:pic>
    </p:spTree>
    <p:extLst>
      <p:ext uri="{BB962C8B-B14F-4D97-AF65-F5344CB8AC3E}">
        <p14:creationId xmlns:p14="http://schemas.microsoft.com/office/powerpoint/2010/main" val="1118936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france with red and blue colors&#10;&#10;AI-generated content may be incorrect.">
            <a:extLst>
              <a:ext uri="{FF2B5EF4-FFF2-40B4-BE49-F238E27FC236}">
                <a16:creationId xmlns:a16="http://schemas.microsoft.com/office/drawing/2014/main" id="{4B91389A-F64B-CAB7-0777-04C88BD4F1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3400"/>
            <a:ext cx="9574441" cy="5979576"/>
          </a:xfrm>
          <a:prstGeom prst="rect">
            <a:avLst/>
          </a:prstGeom>
        </p:spPr>
      </p:pic>
    </p:spTree>
    <p:extLst>
      <p:ext uri="{BB962C8B-B14F-4D97-AF65-F5344CB8AC3E}">
        <p14:creationId xmlns:p14="http://schemas.microsoft.com/office/powerpoint/2010/main" val="3396755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the united states&#10;&#10;AI-generated content may be incorrect.">
            <a:extLst>
              <a:ext uri="{FF2B5EF4-FFF2-40B4-BE49-F238E27FC236}">
                <a16:creationId xmlns:a16="http://schemas.microsoft.com/office/drawing/2014/main" id="{FE71E521-F594-A36B-2EF4-9446726EC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685800"/>
            <a:ext cx="8478660" cy="6041766"/>
          </a:xfrm>
          <a:prstGeom prst="rect">
            <a:avLst/>
          </a:prstGeom>
        </p:spPr>
      </p:pic>
    </p:spTree>
    <p:extLst>
      <p:ext uri="{BB962C8B-B14F-4D97-AF65-F5344CB8AC3E}">
        <p14:creationId xmlns:p14="http://schemas.microsoft.com/office/powerpoint/2010/main" val="257510457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49347</TotalTime>
  <Words>2185</Words>
  <Application>Microsoft Macintosh PowerPoint</Application>
  <PresentationFormat>On-screen Show (4:3)</PresentationFormat>
  <Paragraphs>232</Paragraphs>
  <Slides>43</Slides>
  <Notes>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43</vt:i4>
      </vt:variant>
    </vt:vector>
  </HeadingPairs>
  <TitlesOfParts>
    <vt:vector size="52" baseType="lpstr">
      <vt:lpstr>Arial Unicode MS</vt:lpstr>
      <vt:lpstr>Arial</vt:lpstr>
      <vt:lpstr>Calibri</vt:lpstr>
      <vt:lpstr>Gill Sans MT</vt:lpstr>
      <vt:lpstr>Times New Roman</vt:lpstr>
      <vt:lpstr>Wingdings 2</vt:lpstr>
      <vt:lpstr>Dividend</vt:lpstr>
      <vt:lpstr>Worksheet</vt:lpstr>
      <vt:lpstr>Equation</vt:lpstr>
      <vt:lpstr>GIS Analytics</vt:lpstr>
      <vt:lpstr>Introduction to Spatial Cluster Analysis </vt:lpstr>
      <vt:lpstr>Types of Spatial Clustering</vt:lpstr>
      <vt:lpstr>Key Concepts in Spatial Clustering </vt:lpstr>
      <vt:lpstr>Steps in Conducting Spatial Cluster Analysis (Practical)</vt:lpstr>
      <vt:lpstr>Spatial Scale</vt:lpstr>
      <vt:lpstr>Types of Distribution</vt:lpstr>
      <vt:lpstr>K-means Clustering </vt:lpstr>
      <vt:lpstr>DBSCAN (Density-Based Clustering) </vt:lpstr>
      <vt:lpstr>HDBSCAN (Hierarchical Density-Based Spatial Clustering</vt:lpstr>
      <vt:lpstr>Hierarchical </vt:lpstr>
      <vt:lpstr>Spatial Weights in Cluster Analysis </vt:lpstr>
      <vt:lpstr>Nearest neighbor analysis (NNA)</vt:lpstr>
      <vt:lpstr>HeatMAPS &amp; Getis-Ord Gi Statistic: Hotspot Analysis </vt:lpstr>
      <vt:lpstr>Key Functions of Nearest Neighbor Analysis </vt:lpstr>
      <vt:lpstr>Quantify Clustering: </vt:lpstr>
      <vt:lpstr>Applications of Nearest Neighbor Analysis </vt:lpstr>
      <vt:lpstr>Density Kernel Estimation</vt:lpstr>
      <vt:lpstr>Density Kernel Estimation</vt:lpstr>
      <vt:lpstr>Heatmaps (Kernel Density Estimation)</vt:lpstr>
      <vt:lpstr>Density Kernel Estimation</vt:lpstr>
      <vt:lpstr>Quadrat Analysis</vt:lpstr>
      <vt:lpstr>Quadrats</vt:lpstr>
      <vt:lpstr>Quadrat Calculation</vt:lpstr>
      <vt:lpstr>Quadrat Calculation Results</vt:lpstr>
      <vt:lpstr>Weakness of Quadrat Analysis</vt:lpstr>
      <vt:lpstr>Nearest-Neighbor Analysis</vt:lpstr>
      <vt:lpstr>Nearest-Neighbor Analysis</vt:lpstr>
      <vt:lpstr>Nearest-Neighbor Calculation</vt:lpstr>
      <vt:lpstr>Advantages of Nearest Neighbor over Quadrat Analysis</vt:lpstr>
      <vt:lpstr>Is it clustered?</vt:lpstr>
      <vt:lpstr>Choosing the Right Method: </vt:lpstr>
      <vt:lpstr>1. Spatial Autocorrelation</vt:lpstr>
      <vt:lpstr>2. Moran's I</vt:lpstr>
      <vt:lpstr>3. Example of Moran's I</vt:lpstr>
      <vt:lpstr>4. Steps to Calculate Moran's I in QGIS</vt:lpstr>
      <vt:lpstr>5. Significance Testing for Moran’s I</vt:lpstr>
      <vt:lpstr>6. Applications</vt:lpstr>
      <vt:lpstr>7. Limitations of Moran’s I</vt:lpstr>
      <vt:lpstr>Programs for Spatial Autocorrelation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Gimpel</dc:creator>
  <cp:lastModifiedBy>Edwin Grimsley</cp:lastModifiedBy>
  <cp:revision>71</cp:revision>
  <dcterms:created xsi:type="dcterms:W3CDTF">2011-09-13T13:49:46Z</dcterms:created>
  <dcterms:modified xsi:type="dcterms:W3CDTF">2025-04-01T14:09:04Z</dcterms:modified>
</cp:coreProperties>
</file>