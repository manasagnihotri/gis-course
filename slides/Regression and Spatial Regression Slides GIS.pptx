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8" r:id="rId16"/>
    <p:sldId id="284" r:id="rId17"/>
    <p:sldId id="285" r:id="rId18"/>
    <p:sldId id="286" r:id="rId19"/>
    <p:sldId id="283" r:id="rId20"/>
    <p:sldId id="275" r:id="rId21"/>
    <p:sldId id="276" r:id="rId22"/>
    <p:sldId id="277" r:id="rId23"/>
    <p:sldId id="260" r:id="rId24"/>
    <p:sldId id="261" r:id="rId25"/>
    <p:sldId id="262" r:id="rId26"/>
    <p:sldId id="263" r:id="rId27"/>
    <p:sldId id="279" r:id="rId28"/>
    <p:sldId id="280" r:id="rId29"/>
    <p:sldId id="281" r:id="rId30"/>
    <p:sldId id="282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95"/>
  </p:normalViewPr>
  <p:slideViewPr>
    <p:cSldViewPr snapToGrid="0" snapToObjects="1">
      <p:cViewPr varScale="1">
        <p:scale>
          <a:sx n="120" d="100"/>
          <a:sy n="120" d="100"/>
        </p:scale>
        <p:origin x="19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Regression Analyses and Spatial Regression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OLS vs. Spatial Methods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202" y="0"/>
            <a:ext cx="8229600" cy="1143000"/>
          </a:xfrm>
        </p:spPr>
        <p:txBody>
          <a:bodyPr/>
          <a:lstStyle/>
          <a:p>
            <a:r>
              <a:rPr dirty="0"/>
              <a:t>What is Regression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0032"/>
            <a:ext cx="8229600" cy="4986132"/>
          </a:xfrm>
        </p:spPr>
        <p:txBody>
          <a:bodyPr>
            <a:normAutofit lnSpcReduction="10000"/>
          </a:bodyPr>
          <a:lstStyle/>
          <a:p>
            <a:r>
              <a:rPr dirty="0"/>
              <a:t>Regression analysis is a statistical technique for estimating relationships between variables.</a:t>
            </a:r>
          </a:p>
          <a:p>
            <a:r>
              <a:rPr dirty="0"/>
              <a:t>It helps to understand the influence of independent variables on a dependent variable.</a:t>
            </a:r>
          </a:p>
          <a:p>
            <a:r>
              <a:rPr dirty="0"/>
              <a:t>Types of regression include:</a:t>
            </a:r>
          </a:p>
          <a:p>
            <a:r>
              <a:rPr dirty="0"/>
              <a:t>- Simple Linear Regression</a:t>
            </a:r>
          </a:p>
          <a:p>
            <a:r>
              <a:rPr dirty="0"/>
              <a:t>- Multiple Linear Regression</a:t>
            </a:r>
          </a:p>
          <a:p>
            <a:r>
              <a:rPr dirty="0"/>
              <a:t>- Logistic Regression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Ordinary Least Squares (OLS)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OLS is the most common method of regression analysis.</a:t>
            </a:r>
          </a:p>
          <a:p>
            <a:r>
              <a:t>It minimizes the sum of squared differences between observed and predicted values.</a:t>
            </a:r>
          </a:p>
          <a:p>
            <a:r>
              <a:t>Assumes independence of observations and homoscedasticity.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OLS assumes independence of observations, which may not hold in spatial data.</a:t>
            </a:r>
          </a:p>
          <a:p>
            <a:r>
              <a:t>OLS does not account for spatial autocorrelation (e.g., nearby regions might have similar values).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What is Regression Analysis?</a:t>
            </a:r>
          </a:p>
          <a:p>
            <a:r>
              <a:rPr dirty="0"/>
              <a:t>Ordinary Least Squares (OLS) Regression: Basics and Assumptions</a:t>
            </a:r>
          </a:p>
          <a:p>
            <a:r>
              <a:rPr dirty="0"/>
              <a:t>Spatial Regression Methods: Key Concepts</a:t>
            </a:r>
          </a:p>
          <a:p>
            <a:r>
              <a:rPr dirty="0"/>
              <a:t>  - Spatial Lag Model</a:t>
            </a:r>
          </a:p>
          <a:p>
            <a:r>
              <a:rPr dirty="0"/>
              <a:t>  - Spatial Error Model</a:t>
            </a:r>
          </a:p>
          <a:p>
            <a:r>
              <a:rPr dirty="0"/>
              <a:t>Why Use Spatial Regression?</a:t>
            </a:r>
          </a:p>
          <a:p>
            <a:r>
              <a:rPr dirty="0"/>
              <a:t>Comparison of OLS vs. Spatial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Regression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831" y="1166018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Definition: A statistical technique used to examine the relationship between a dependent variable and one or more independent variables.</a:t>
            </a:r>
          </a:p>
          <a:p>
            <a:r>
              <a:rPr dirty="0"/>
              <a:t>Purpose:</a:t>
            </a:r>
          </a:p>
          <a:p>
            <a:r>
              <a:rPr dirty="0"/>
              <a:t>  - Predict outcomes from independent variables.</a:t>
            </a:r>
          </a:p>
          <a:p>
            <a:r>
              <a:rPr dirty="0"/>
              <a:t>  - Assess the relationship strength and direction.</a:t>
            </a:r>
          </a:p>
          <a:p>
            <a:r>
              <a:rPr dirty="0"/>
              <a:t>  - Identify key predictors.</a:t>
            </a:r>
          </a:p>
          <a:p>
            <a:r>
              <a:rPr dirty="0"/>
              <a:t>Types:</a:t>
            </a:r>
          </a:p>
          <a:p>
            <a:r>
              <a:rPr dirty="0"/>
              <a:t>  - Simple Linear Regression (1 independent variable)</a:t>
            </a:r>
          </a:p>
          <a:p>
            <a:r>
              <a:rPr dirty="0"/>
              <a:t>  - Multiple Regression (more than 1 independent variable)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Regression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General form of regression model:</a:t>
            </a:r>
          </a:p>
          <a:p>
            <a:r>
              <a:t>Y = β₀ + β₁X₁ + β₂X₂ + ... + βₙXₙ + ϵ</a:t>
            </a:r>
          </a:p>
          <a:p>
            <a:r>
              <a:t>• Y = Dependent variable</a:t>
            </a:r>
          </a:p>
          <a:p>
            <a:r>
              <a:t>• X₁, X₂, ... Xₙ = Independent variables</a:t>
            </a:r>
          </a:p>
          <a:p>
            <a:r>
              <a:t>• β₀ = Intercept</a:t>
            </a:r>
          </a:p>
          <a:p>
            <a:r>
              <a:t>• β₁, β₂, ... βₙ = Coefficients</a:t>
            </a:r>
          </a:p>
          <a:p>
            <a:r>
              <a:t>• ϵ = Error term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Interpreting Regression Coefficients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 Coefficients measure how much Y changes for every unit increase in an independent variable.</a:t>
            </a:r>
          </a:p>
          <a:p>
            <a:r>
              <a:rPr dirty="0"/>
              <a:t> Positive β: Increase in independent variable → increase in Y.</a:t>
            </a:r>
          </a:p>
          <a:p>
            <a:r>
              <a:rPr dirty="0"/>
              <a:t>• Negative β: Increase in independent variable → decrease in Y.</a:t>
            </a:r>
          </a:p>
          <a:p>
            <a:r>
              <a:rPr dirty="0"/>
              <a:t>• Example:</a:t>
            </a:r>
          </a:p>
          <a:p>
            <a:r>
              <a:rPr dirty="0"/>
              <a:t>  If β₁ = 0.5, a 1-unit increase in X₁ leads to a 0.5-unit increase in 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Ordinary Least Squares (OLS)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Objective: Minimize the sum of squared residuals for the best linear fit.</a:t>
            </a:r>
          </a:p>
          <a:p>
            <a:r>
              <a:t>• Key Assumptions:</a:t>
            </a:r>
          </a:p>
          <a:p>
            <a:r>
              <a:t>  - No spatial autocorrelation in errors.</a:t>
            </a:r>
          </a:p>
          <a:p>
            <a:r>
              <a:t>  - Homoscedasticity (constant error variance).</a:t>
            </a:r>
          </a:p>
          <a:p>
            <a:r>
              <a:t>  - No multicollinearity.</a:t>
            </a:r>
          </a:p>
          <a:p>
            <a:r>
              <a:t>• Equation:</a:t>
            </a:r>
          </a:p>
          <a:p>
            <a:r>
              <a:t>Y = β₀ + β₁X₁ + β₂X₂ + ... + βₙXₙ + 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OLS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Independence Assumption: OLS assumes observations are independent—this is not true for spatial data.</a:t>
            </a:r>
          </a:p>
          <a:p>
            <a:r>
              <a:t>• Potential Bias: Ignoring spatial dependence may lead to biased or inconsistent estimates.</a:t>
            </a:r>
          </a:p>
          <a:p>
            <a:r>
              <a:t>• Examples: Housing prices, crime rates, etc.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Spatial Dependence?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Definition: When values at one location depend on neighboring locations.</a:t>
            </a:r>
          </a:p>
          <a:p>
            <a:r>
              <a:t>  - Positive Spatial Autocorrelation: Similar values in nearby areas.</a:t>
            </a:r>
          </a:p>
          <a:p>
            <a:r>
              <a:t>  - Negative Spatial Autocorrelation: Dissimilar values in nearby areas.</a:t>
            </a:r>
          </a:p>
          <a:p>
            <a:r>
              <a:t>• Implication: Ignoring spatial dependence can lead to incorrect conclusions.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Spatial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Purpose: Accounts for spatial dependence by incorporating spatial structures.</a:t>
            </a:r>
          </a:p>
          <a:p>
            <a:r>
              <a:t>• Main Models:</a:t>
            </a:r>
          </a:p>
          <a:p>
            <a:r>
              <a:t>  - Spatial Lag Model (SLM)</a:t>
            </a:r>
          </a:p>
          <a:p>
            <a:r>
              <a:t>  - Spatial Error Model (SEM)</a:t>
            </a:r>
          </a:p>
          <a:p>
            <a:r>
              <a:t>• Why Use Spatial Regression? Better predictive accuracy through acknowledgment of spatial relationships.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Lag Model (SLM)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When to Use: The dependent variable is influenced by its neighboring values.</a:t>
            </a:r>
          </a:p>
          <a:p>
            <a:r>
              <a:t>• Key Concept: Incorporates neighboring dependent variables as predictors.</a:t>
            </a:r>
          </a:p>
          <a:p>
            <a:r>
              <a:t>• Equation: Y = ρWY + Xβ + ϵ</a:t>
            </a:r>
          </a:p>
          <a:p>
            <a:r>
              <a:t>  - ρ: Spatial autoregressive parameter</a:t>
            </a:r>
          </a:p>
          <a:p>
            <a:r>
              <a:t>  - W: Spatial weights matrix</a:t>
            </a:r>
          </a:p>
          <a:p>
            <a:r>
              <a:t>  - WY: Spatially lagged dependent variable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Error Model (SEM)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• When to Use: When spatial dependence is present in the error terms.</a:t>
            </a:r>
          </a:p>
          <a:p>
            <a:r>
              <a:t>• Key Concept: Models spatially correlated errors to avoid bias.</a:t>
            </a:r>
          </a:p>
          <a:p>
            <a:r>
              <a:t>• Equation: Y = Xβ + ϵ</a:t>
            </a:r>
          </a:p>
          <a:p>
            <a:r>
              <a:t>ϵ = λWϵ + u</a:t>
            </a:r>
          </a:p>
          <a:p>
            <a:r>
              <a:t>  - λ: Spatial autoregressive parameter for the error term</a:t>
            </a:r>
          </a:p>
          <a:p>
            <a:r>
              <a:t>  - W: Spatial weights matrix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and white table with white text&#10;&#10;Description automatically generated">
            <a:extLst>
              <a:ext uri="{FF2B5EF4-FFF2-40B4-BE49-F238E27FC236}">
                <a16:creationId xmlns:a16="http://schemas.microsoft.com/office/drawing/2014/main" id="{F3BC104A-0B1C-44C7-32C8-56D8CF8A4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143" y="1128156"/>
            <a:ext cx="8488194" cy="4815021"/>
          </a:xfrm>
        </p:spPr>
      </p:pic>
    </p:spTree>
    <p:extLst>
      <p:ext uri="{BB962C8B-B14F-4D97-AF65-F5344CB8AC3E}">
        <p14:creationId xmlns:p14="http://schemas.microsoft.com/office/powerpoint/2010/main" val="1919664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4147-000B-2F68-C0A2-9C7E144C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Use the Spatial Durbin Model?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FDB98-B44D-6969-E7E8-B0F804E91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Captures both local and spillover effects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How your neighbors’ characteristics (WX) influence your outcome.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Direct effects</a:t>
            </a:r>
            <a:r>
              <a:rPr lang="en-US" dirty="0"/>
              <a:t>: the effect of X on Y </a:t>
            </a:r>
            <a:r>
              <a:rPr lang="en-US" i="1" dirty="0"/>
              <a:t>within</a:t>
            </a:r>
            <a:r>
              <a:rPr lang="en-US" dirty="0"/>
              <a:t> a unit.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Indirect (spillover) effects</a:t>
            </a:r>
            <a:r>
              <a:rPr lang="en-US" dirty="0"/>
              <a:t>: how X in neighboring units affects Y in your unit.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when policy interventions or behaviors </a:t>
            </a:r>
            <a:r>
              <a:rPr lang="en-US" b="1" dirty="0"/>
              <a:t>spill across borders</a:t>
            </a:r>
            <a:r>
              <a:rPr lang="en-US" dirty="0"/>
              <a:t> (e.g., housing, crime, commuting patterns).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790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CEAF3-6F24-82EE-C8BE-88365471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Interpreting Effects in SDM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CD6DB-E475-B767-244E-ED7B42EDA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Direct effect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E.g., the % of residents working from home in Tract A increases as broadband access in Tract A increases.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Indirect effect (spillover)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E.g., broadband access in neighboring tracts also increases work-from-home rates in Tract 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effect</a:t>
            </a:r>
            <a:r>
              <a:rPr lang="en-US" dirty="0"/>
              <a:t> = Direct + Indirect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70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197D-485A-1C0D-DBDB-56218A16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Should I Use SDM?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CF8B-65BB-942C-53A9-E2D84581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believe: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Y is influenced by neighbors' Y (spatial lag)</a:t>
            </a:r>
            <a:r>
              <a:rPr lang="en-US" dirty="0"/>
              <a:t>, 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X in neighbors influence Y (spatial X)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Crime: A crackdown in one neighborhood pushes activity into adjacent areas.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Health behaviors: Vaccination rates or drug use cluster geographically.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Housing prices: Gentrification in one tract drives up prices nearby.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290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086C8-47D6-FC97-A16B-35E9BE3AF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Spatial Models?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C0527-3C33-0187-1022-8645E7710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Traditional regression assumes independence between observations.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spatial data, </a:t>
            </a:r>
            <a:r>
              <a:rPr lang="en-US" b="1" dirty="0"/>
              <a:t>nearby units are often correlated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e.g., neighboring census tracts may have similar work-from-home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Ignoring spatial dependence can bias estimates and understate standard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347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Spatial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Corrects for Spatial Dependence: Provides more accurate models.</a:t>
            </a:r>
          </a:p>
          <a:p>
            <a:r>
              <a:t>• Better Model Fit: Spatial models often show better performance (higher R², lower AIC/BIC).</a:t>
            </a:r>
          </a:p>
          <a:p>
            <a:r>
              <a:t>• Policy Implications: Particularly useful in housing, health, and other areas where location matters.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Dependent Variable: Work from Home</a:t>
            </a:r>
          </a:p>
          <a:p>
            <a:r>
              <a:t>• OLS Model: Does not account for spatial autocorrelation.</a:t>
            </a:r>
          </a:p>
          <a:p>
            <a:r>
              <a:t>• Spatial Lag Model: Improves model fit by including neighboring regions' influence.</a:t>
            </a:r>
          </a:p>
          <a:p>
            <a:r>
              <a:t>• Spatial Error Model: Corrects for local spatial dependencies in the error terms.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• OLS regression is a powerful tool but has limitations when dealing with spatial data.</a:t>
            </a:r>
          </a:p>
          <a:p>
            <a:r>
              <a:t>• Spatial regression models (SLM, SEM) improve accuracy by accounting for spatial dependencies.</a:t>
            </a:r>
          </a:p>
          <a:p>
            <a:r>
              <a:t>• Choosing the right model depends on the type of spatial relationship (in Y or errors).</a:t>
            </a:r>
          </a:p>
          <a:p>
            <a:r>
              <a:t>• Spatial regression is critical for studies involving geography, housing, environment, and public policy.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Regression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Spatial regression addresses the limitations of OLS with spatial data.</a:t>
            </a:r>
          </a:p>
          <a:p>
            <a:r>
              <a:t>Two common types of spatial regression models:</a:t>
            </a:r>
          </a:p>
          <a:p>
            <a:r>
              <a:t>- Spatial Lag Model</a:t>
            </a:r>
          </a:p>
          <a:p>
            <a:r>
              <a:t>- Spatial Error Model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Lag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spatial lag model includes the influence of neighboring observations in the regression.</a:t>
            </a:r>
          </a:p>
          <a:p>
            <a:r>
              <a:t>It assumes that the value of the dependent variable in one location depends on the values in nearby locations.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Error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spatial error model accounts for spatial autocorrelation in the error terms.</a:t>
            </a:r>
          </a:p>
          <a:p>
            <a:r>
              <a:t>It assumes that unobserved factors in nearby locations are correlated, impacting the regression errors.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OLS vs Spatial Regression: 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OLS assumes independent observations and works well when spatial autocorrelation is absent.</a:t>
            </a:r>
          </a:p>
          <a:p>
            <a:r>
              <a:t>Spatial regression accounts for spatial dependence, crucial when nearby areas influence each other.</a:t>
            </a:r>
          </a:p>
          <a:p>
            <a:r>
              <a:t>OLS is simpler, but spatial models are better suited for geographically structured data.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7C837-F799-C51C-F555-74A63E5B4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Public Health and Environmental Justice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E7BF9-C644-E7FC-E2EA-2AD061994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Research Question:</a:t>
            </a:r>
            <a:r>
              <a:rPr lang="en-US" dirty="0"/>
              <a:t> How does proximity to industrial pollution sites (independent variable) affect the spatial distribution of asthma rates (dependent variable) in urban neighborhoods?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Dependent Variable (Spatial Term):</a:t>
            </a:r>
            <a:r>
              <a:rPr lang="en-US" dirty="0"/>
              <a:t> Asthma rates by neighborhood or census tract.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Independent Variable (Spatial Term):</a:t>
            </a:r>
            <a:r>
              <a:rPr lang="en-US" dirty="0"/>
              <a:t> Distance to pollution sites, or concentration of pollutants in nearby areas.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73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E8AE-1104-F2D9-344B-45680A61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Housing Market Dynamics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2503F-24E3-E196-8D77-3421A4D23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Research Question:</a:t>
            </a:r>
            <a:r>
              <a:rPr lang="en-US" dirty="0"/>
              <a:t> How do housing prices in a city (dependent variable) get influenced by the spatial proximity to high-income neighborhoods (independent variable)?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Dependent Variable (Spatial Term):</a:t>
            </a:r>
            <a:r>
              <a:rPr lang="en-US" dirty="0"/>
              <a:t> Housing prices across different neighborhoods.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Independent Variable (Spatial Term):</a:t>
            </a:r>
            <a:r>
              <a:rPr lang="en-US" dirty="0"/>
              <a:t> Distance to high-income neighborhoods or spatial lag of housing prices in neighboring areas.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664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DAA7D-9406-5E5F-A84A-7726B8A1E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Transportation and Land Use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28014-3741-5B07-2A1B-34F5C53CA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Research Question:</a:t>
            </a:r>
            <a:r>
              <a:rPr lang="en-US" dirty="0"/>
              <a:t> How do public transit accessibility (independent variable) and the spatial concentration of business districts affect car ownership rates (dependent variable) across the metropolitan area?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Dependent Variable (Spatial Term):</a:t>
            </a:r>
            <a:r>
              <a:rPr lang="en-US" dirty="0"/>
              <a:t> Car ownership rates by geographic location.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Independent Variable (Spatial Term):</a:t>
            </a:r>
            <a:r>
              <a:rPr lang="en-US" dirty="0"/>
              <a:t> Distance to transit stations or density of business districts.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290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A3D3-461A-7B04-4F1A-F2A2F7AD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Education and School District Performance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41573-2F96-3815-B5A2-C869962C6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Research Question:</a:t>
            </a:r>
            <a:r>
              <a:rPr lang="en-US" dirty="0"/>
              <a:t> How does the spatial distribution of school quality (independent variable) influence educational attainment (dependent variable) across neighboring school districts?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Dependent Variable (Spatial Term):</a:t>
            </a:r>
            <a:r>
              <a:rPr lang="en-US" dirty="0"/>
              <a:t> Educational attainment levels across school districts.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Independent Variable (Spatial Term):</a:t>
            </a:r>
            <a:r>
              <a:rPr lang="en-US" dirty="0"/>
              <a:t> Average school quality in surrounding districts.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287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1572</Words>
  <Application>Microsoft Macintosh PowerPoint</Application>
  <PresentationFormat>On-screen Show (4:3)</PresentationFormat>
  <Paragraphs>154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Regression Analyses and Spatial Regression Methods</vt:lpstr>
      <vt:lpstr>What is Regression Analysis?</vt:lpstr>
      <vt:lpstr>Ordinary Least Squares (OLS) Regression</vt:lpstr>
      <vt:lpstr>Limitations of OLS</vt:lpstr>
      <vt:lpstr>Overview of the Presentation</vt:lpstr>
      <vt:lpstr>What is Regression Analysis?</vt:lpstr>
      <vt:lpstr>Basic Regression Equation</vt:lpstr>
      <vt:lpstr>Interpreting Regression Coefficients</vt:lpstr>
      <vt:lpstr>Ordinary Least Squares (OLS) Regression</vt:lpstr>
      <vt:lpstr>Limitations of OLS Regression</vt:lpstr>
      <vt:lpstr>What is Spatial Dependence?</vt:lpstr>
      <vt:lpstr>Introduction to Spatial Regression</vt:lpstr>
      <vt:lpstr>Spatial Lag Model (SLM)</vt:lpstr>
      <vt:lpstr>Spatial Error Model (SEM)</vt:lpstr>
      <vt:lpstr>PowerPoint Presentation</vt:lpstr>
      <vt:lpstr>Why Use the Spatial Durbin Model? </vt:lpstr>
      <vt:lpstr>Interpreting Effects in SDM </vt:lpstr>
      <vt:lpstr>When Should I Use SDM? </vt:lpstr>
      <vt:lpstr>Why Spatial Models? </vt:lpstr>
      <vt:lpstr>Why Use Spatial Regression?</vt:lpstr>
      <vt:lpstr>Application Example</vt:lpstr>
      <vt:lpstr>Conclusion</vt:lpstr>
      <vt:lpstr>Spatial Regression Models</vt:lpstr>
      <vt:lpstr>Spatial Lag Model</vt:lpstr>
      <vt:lpstr>Spatial Error Model</vt:lpstr>
      <vt:lpstr>OLS vs Spatial Regression: Key Differences</vt:lpstr>
      <vt:lpstr>Public Health and Environmental Justice </vt:lpstr>
      <vt:lpstr>Housing Market Dynamics </vt:lpstr>
      <vt:lpstr>Transportation and Land Use </vt:lpstr>
      <vt:lpstr>Education and School District Performance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Edwin Grimsley</cp:lastModifiedBy>
  <cp:revision>4</cp:revision>
  <dcterms:created xsi:type="dcterms:W3CDTF">2013-01-27T09:14:16Z</dcterms:created>
  <dcterms:modified xsi:type="dcterms:W3CDTF">2025-04-08T14:16:24Z</dcterms:modified>
  <cp:category/>
</cp:coreProperties>
</file>