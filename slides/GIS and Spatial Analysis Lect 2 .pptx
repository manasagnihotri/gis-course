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notesMasterIdLst>
    <p:notesMasterId r:id="rId37"/>
  </p:notesMasterIdLst>
  <p:sldIdLst>
    <p:sldId id="256" r:id="rId2"/>
    <p:sldId id="335" r:id="rId3"/>
    <p:sldId id="280" r:id="rId4"/>
    <p:sldId id="345" r:id="rId5"/>
    <p:sldId id="292" r:id="rId6"/>
    <p:sldId id="281" r:id="rId7"/>
    <p:sldId id="342" r:id="rId8"/>
    <p:sldId id="343" r:id="rId9"/>
    <p:sldId id="344" r:id="rId10"/>
    <p:sldId id="294" r:id="rId11"/>
    <p:sldId id="308" r:id="rId12"/>
    <p:sldId id="347" r:id="rId13"/>
    <p:sldId id="348" r:id="rId14"/>
    <p:sldId id="312" r:id="rId15"/>
    <p:sldId id="349" r:id="rId16"/>
    <p:sldId id="350" r:id="rId17"/>
    <p:sldId id="351" r:id="rId18"/>
    <p:sldId id="317" r:id="rId19"/>
    <p:sldId id="318" r:id="rId20"/>
    <p:sldId id="316" r:id="rId21"/>
    <p:sldId id="323" r:id="rId22"/>
    <p:sldId id="319" r:id="rId23"/>
    <p:sldId id="320" r:id="rId24"/>
    <p:sldId id="321" r:id="rId25"/>
    <p:sldId id="324" r:id="rId26"/>
    <p:sldId id="278" r:id="rId27"/>
    <p:sldId id="263" r:id="rId28"/>
    <p:sldId id="267" r:id="rId29"/>
    <p:sldId id="260" r:id="rId30"/>
    <p:sldId id="272" r:id="rId31"/>
    <p:sldId id="266" r:id="rId32"/>
    <p:sldId id="338" r:id="rId33"/>
    <p:sldId id="283" r:id="rId34"/>
    <p:sldId id="340" r:id="rId35"/>
    <p:sldId id="284"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51"/>
    <p:restoredTop sz="94694"/>
  </p:normalViewPr>
  <p:slideViewPr>
    <p:cSldViewPr>
      <p:cViewPr varScale="1">
        <p:scale>
          <a:sx n="121" d="100"/>
          <a:sy n="121" d="100"/>
        </p:scale>
        <p:origin x="2112" y="176"/>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153FF9-58DC-4866-BA34-588FC57ECD05}" type="datetimeFigureOut">
              <a:rPr lang="en-US" smtClean="0"/>
              <a:t>1/28/25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889072-7365-4511-AB37-D013CF61EF89}" type="slidenum">
              <a:rPr lang="en-US" smtClean="0"/>
              <a:t>‹#›</a:t>
            </a:fld>
            <a:endParaRPr lang="en-US"/>
          </a:p>
        </p:txBody>
      </p:sp>
    </p:spTree>
    <p:extLst>
      <p:ext uri="{BB962C8B-B14F-4D97-AF65-F5344CB8AC3E}">
        <p14:creationId xmlns:p14="http://schemas.microsoft.com/office/powerpoint/2010/main" val="2332681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Rot="1" noChangeAspect="1" noChangeArrowheads="1" noTextEdit="1"/>
          </p:cNvSpPr>
          <p:nvPr>
            <p:ph type="sldImg"/>
          </p:nvPr>
        </p:nvSpPr>
        <p:spPr>
          <a:ln/>
        </p:spPr>
      </p:sp>
      <p:sp>
        <p:nvSpPr>
          <p:cNvPr id="390147" name="Rectangle 3"/>
          <p:cNvSpPr>
            <a:spLocks noGrp="1" noChangeArrowheads="1"/>
          </p:cNvSpPr>
          <p:nvPr>
            <p:ph type="body" idx="1"/>
          </p:nvPr>
        </p:nvSpPr>
        <p:spPr/>
        <p:txBody>
          <a:bodyPr/>
          <a:lstStyle/>
          <a:p>
            <a:r>
              <a:rPr lang="en-US"/>
              <a:t>The natural breaks classification is based on each unique data set; the GIS finds the best fit based on the number of class breaks selected by the user.  This classification is the default in most GIS programs and is used most frequently by crime analysts.  It is most useful for exploratory or descriptive analysis, not for making comparisons across time.</a:t>
            </a:r>
          </a:p>
        </p:txBody>
      </p:sp>
    </p:spTree>
    <p:extLst>
      <p:ext uri="{BB962C8B-B14F-4D97-AF65-F5344CB8AC3E}">
        <p14:creationId xmlns:p14="http://schemas.microsoft.com/office/powerpoint/2010/main" val="695706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spect="1" noChangeArrowheads="1" noTextEdit="1"/>
          </p:cNvSpPr>
          <p:nvPr>
            <p:ph type="sldImg"/>
          </p:nvPr>
        </p:nvSpPr>
        <p:spPr>
          <a:ln/>
        </p:spPr>
      </p:sp>
      <p:sp>
        <p:nvSpPr>
          <p:cNvPr id="392195" name="Rectangle 3"/>
          <p:cNvSpPr>
            <a:spLocks noGrp="1" noChangeArrowheads="1"/>
          </p:cNvSpPr>
          <p:nvPr>
            <p:ph type="body" idx="1"/>
          </p:nvPr>
        </p:nvSpPr>
        <p:spPr/>
        <p:txBody>
          <a:bodyPr/>
          <a:lstStyle/>
          <a:p>
            <a:r>
              <a:rPr lang="en-US"/>
              <a:t>While most classifications are based on values in the data, quantile is concerned with the number of cases.  First the data are sorted by frequency, then they are broken into classes containing an equal number of cases based on the number of classification ranges.  It may be useful to illustrate this classification method with a simple example.  To follow is a list of frequencies, if we use five classification ranges, then each class will have two cases.</a:t>
            </a:r>
          </a:p>
          <a:p>
            <a:r>
              <a:rPr lang="en-US" u="sng"/>
              <a:t>Frequency</a:t>
            </a:r>
          </a:p>
          <a:p>
            <a:r>
              <a:rPr lang="en-US"/>
              <a:t>1</a:t>
            </a:r>
          </a:p>
          <a:p>
            <a:r>
              <a:rPr lang="en-US"/>
              <a:t>3</a:t>
            </a:r>
          </a:p>
          <a:p>
            <a:r>
              <a:rPr lang="en-US"/>
              <a:t>--</a:t>
            </a:r>
          </a:p>
          <a:p>
            <a:r>
              <a:rPr lang="en-US"/>
              <a:t>6</a:t>
            </a:r>
          </a:p>
          <a:p>
            <a:r>
              <a:rPr lang="en-US"/>
              <a:t>24</a:t>
            </a:r>
          </a:p>
          <a:p>
            <a:r>
              <a:rPr lang="en-US"/>
              <a:t>--</a:t>
            </a:r>
          </a:p>
          <a:p>
            <a:r>
              <a:rPr lang="en-US"/>
              <a:t>25</a:t>
            </a:r>
          </a:p>
          <a:p>
            <a:r>
              <a:rPr lang="en-US"/>
              <a:t>32</a:t>
            </a:r>
          </a:p>
          <a:p>
            <a:r>
              <a:rPr lang="en-US"/>
              <a:t>--</a:t>
            </a:r>
          </a:p>
          <a:p>
            <a:r>
              <a:rPr lang="en-US"/>
              <a:t>38</a:t>
            </a:r>
          </a:p>
          <a:p>
            <a:r>
              <a:rPr lang="en-US"/>
              <a:t>44</a:t>
            </a:r>
          </a:p>
          <a:p>
            <a:r>
              <a:rPr lang="en-US"/>
              <a:t>--</a:t>
            </a:r>
          </a:p>
          <a:p>
            <a:r>
              <a:rPr lang="en-US"/>
              <a:t>59</a:t>
            </a:r>
          </a:p>
          <a:p>
            <a:r>
              <a:rPr lang="en-US"/>
              <a:t>112</a:t>
            </a:r>
          </a:p>
        </p:txBody>
      </p:sp>
    </p:spTree>
    <p:extLst>
      <p:ext uri="{BB962C8B-B14F-4D97-AF65-F5344CB8AC3E}">
        <p14:creationId xmlns:p14="http://schemas.microsoft.com/office/powerpoint/2010/main" val="365900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1/28/25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3803838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201523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1/28/25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286933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1D416C-15FF-42A3-8E36-5C91A35E9801}"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423356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1D416C-15FF-42A3-8E36-5C91A35E9801}" type="datetimeFigureOut">
              <a:rPr lang="en-US" smtClean="0"/>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153652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1D416C-15FF-42A3-8E36-5C91A35E9801}" type="datetimeFigureOut">
              <a:rPr lang="en-US" smtClean="0"/>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6971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1D416C-15FF-42A3-8E36-5C91A35E9801}" type="datetimeFigureOut">
              <a:rPr lang="en-US" smtClean="0"/>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72843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1/28/25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137616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1D416C-15FF-42A3-8E36-5C91A35E9801}"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7293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35796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E81D416C-15FF-42A3-8E36-5C91A35E9801}" type="datetimeFigureOut">
              <a:rPr lang="en-US" smtClean="0"/>
              <a:t>1/28/25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712073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E81D416C-15FF-42A3-8E36-5C91A35E9801}" type="datetimeFigureOut">
              <a:rPr lang="en-US" smtClean="0"/>
              <a:t>1/28/25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1F4645AA-C0DC-42CB-B806-075F3A6970AF}"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01913010"/>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2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jpg"/><Relationship Id="rId7" Type="http://schemas.openxmlformats.org/officeDocument/2006/relationships/image" Target="../media/image43.png"/><Relationship Id="rId2" Type="http://schemas.openxmlformats.org/officeDocument/2006/relationships/image" Target="../media/image38.jpg"/><Relationship Id="rId1" Type="http://schemas.openxmlformats.org/officeDocument/2006/relationships/slideLayout" Target="../slideLayouts/slideLayout7.xml"/><Relationship Id="rId6" Type="http://schemas.openxmlformats.org/officeDocument/2006/relationships/image" Target="../media/image42.jpg"/><Relationship Id="rId5" Type="http://schemas.openxmlformats.org/officeDocument/2006/relationships/image" Target="../media/image41.jpg"/><Relationship Id="rId4" Type="http://schemas.openxmlformats.org/officeDocument/2006/relationships/image" Target="../media/image40.jpg"/></Relationships>
</file>

<file path=ppt/slides/_rels/slide25.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2.png"/><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51.png"/><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36185" y="0"/>
            <a:ext cx="5471630" cy="3703320"/>
          </a:xfrm>
        </p:spPr>
        <p:txBody>
          <a:bodyPr anchor="ctr">
            <a:normAutofit/>
          </a:bodyPr>
          <a:lstStyle/>
          <a:p>
            <a:pPr algn="ctr"/>
            <a:r>
              <a:rPr lang="en-US" sz="4200" dirty="0"/>
              <a:t>GIS and Spatial Analytics</a:t>
            </a:r>
            <a:br>
              <a:rPr lang="en-US" sz="4200" dirty="0"/>
            </a:br>
            <a:r>
              <a:rPr lang="en-US" sz="4200" dirty="0"/>
              <a:t>QMSS 5070</a:t>
            </a:r>
          </a:p>
        </p:txBody>
      </p:sp>
      <p:sp>
        <p:nvSpPr>
          <p:cNvPr id="3" name="Subtitle 2"/>
          <p:cNvSpPr>
            <a:spLocks noGrp="1"/>
          </p:cNvSpPr>
          <p:nvPr>
            <p:ph type="subTitle" idx="1"/>
          </p:nvPr>
        </p:nvSpPr>
        <p:spPr>
          <a:xfrm>
            <a:off x="1981200" y="2819400"/>
            <a:ext cx="3810000" cy="3703320"/>
          </a:xfrm>
          <a:ln w="57150">
            <a:noFill/>
          </a:ln>
        </p:spPr>
        <p:txBody>
          <a:bodyPr anchor="ctr">
            <a:normAutofit/>
          </a:bodyPr>
          <a:lstStyle/>
          <a:p>
            <a:pPr algn="r"/>
            <a:r>
              <a:rPr lang="en-US" sz="2800" dirty="0">
                <a:solidFill>
                  <a:schemeClr val="bg1"/>
                </a:solidFill>
                <a:latin typeface="Arial" panose="020B0604020202020204" pitchFamily="34" charset="0"/>
                <a:cs typeface="Arial" panose="020B0604020202020204" pitchFamily="34" charset="0"/>
              </a:rPr>
              <a:t>Lecture 2</a:t>
            </a:r>
          </a:p>
          <a:p>
            <a:pPr algn="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3.png" descr="A close up of a map&#10;&#10;Description automatically generated">
            <a:extLst>
              <a:ext uri="{FF2B5EF4-FFF2-40B4-BE49-F238E27FC236}">
                <a16:creationId xmlns:a16="http://schemas.microsoft.com/office/drawing/2014/main" id="{378DDF0A-3B22-B1CD-B6A8-32F14575F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271" y="2130342"/>
            <a:ext cx="3233162" cy="4615765"/>
          </a:xfrm>
          <a:prstGeom prst="rect">
            <a:avLst/>
          </a:prstGeom>
          <a:noFill/>
          <a:extLst>
            <a:ext uri="{909E8E84-426E-40DD-AFC4-6F175D3DCCD1}">
              <a14:hiddenFill xmlns:a14="http://schemas.microsoft.com/office/drawing/2010/main">
                <a:solidFill>
                  <a:srgbClr val="FFFFFF"/>
                </a:solidFill>
              </a14:hiddenFill>
            </a:ext>
          </a:extLst>
        </p:spPr>
      </p:pic>
      <p:pic>
        <p:nvPicPr>
          <p:cNvPr id="2050" name="image2.png" descr="A close up of a map&#10;&#10;Description automatically generated">
            <a:extLst>
              <a:ext uri="{FF2B5EF4-FFF2-40B4-BE49-F238E27FC236}">
                <a16:creationId xmlns:a16="http://schemas.microsoft.com/office/drawing/2014/main" id="{825740C5-A385-9800-3E1E-09EFF07AB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4604" y="2084896"/>
            <a:ext cx="3254433" cy="461576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FE81FB5C-7D0E-DC9C-50D2-2126ABC5F137}"/>
              </a:ext>
            </a:extLst>
          </p:cNvPr>
          <p:cNvSpPr>
            <a:spLocks noChangeArrowheads="1"/>
          </p:cNvSpPr>
          <p:nvPr/>
        </p:nvSpPr>
        <p:spPr bwMode="auto">
          <a:xfrm>
            <a:off x="568510" y="868454"/>
            <a:ext cx="8019329" cy="623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ctr" defTabSz="685800" eaLnBrk="0" fontAlgn="base" hangingPunct="0">
              <a:spcBef>
                <a:spcPct val="0"/>
              </a:spcBef>
              <a:spcAft>
                <a:spcPct val="0"/>
              </a:spcAft>
            </a:pPr>
            <a:r>
              <a:rPr lang="en-US" altLang="en-US" u="sng" dirty="0">
                <a:solidFill>
                  <a:schemeClr val="bg1"/>
                </a:solidFill>
                <a:latin typeface="Arial" panose="020B0604020202020204" pitchFamily="34" charset="0"/>
                <a:ea typeface="Times New Roman" panose="02020603050405020304" pitchFamily="18" charset="0"/>
              </a:rPr>
              <a:t>Geographical Distributions of Deportations and Misdemeanor Arrests, New York City 2006-2020</a:t>
            </a:r>
            <a:endParaRPr lang="en-US" altLang="en-US" dirty="0">
              <a:solidFill>
                <a:schemeClr val="bg1"/>
              </a:solidFill>
              <a:latin typeface="Arial" panose="020B0604020202020204" pitchFamily="34" charset="0"/>
            </a:endParaRPr>
          </a:p>
        </p:txBody>
      </p:sp>
      <p:sp>
        <p:nvSpPr>
          <p:cNvPr id="5" name="Rectangle 5">
            <a:extLst>
              <a:ext uri="{FF2B5EF4-FFF2-40B4-BE49-F238E27FC236}">
                <a16:creationId xmlns:a16="http://schemas.microsoft.com/office/drawing/2014/main" id="{4CA55EFC-37B0-5EA7-DD73-F54A299FCAC1}"/>
              </a:ext>
            </a:extLst>
          </p:cNvPr>
          <p:cNvSpPr>
            <a:spLocks noChangeArrowheads="1"/>
          </p:cNvSpPr>
          <p:nvPr/>
        </p:nvSpPr>
        <p:spPr bwMode="auto">
          <a:xfrm>
            <a:off x="1143001" y="51955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7" name="TextBox 6">
            <a:extLst>
              <a:ext uri="{FF2B5EF4-FFF2-40B4-BE49-F238E27FC236}">
                <a16:creationId xmlns:a16="http://schemas.microsoft.com/office/drawing/2014/main" id="{FC3F0B3E-C1D5-812E-06F7-55C3817DDB3D}"/>
              </a:ext>
            </a:extLst>
          </p:cNvPr>
          <p:cNvSpPr txBox="1"/>
          <p:nvPr/>
        </p:nvSpPr>
        <p:spPr>
          <a:xfrm>
            <a:off x="7056850" y="2084896"/>
            <a:ext cx="1200168" cy="1754326"/>
          </a:xfrm>
          <a:prstGeom prst="rect">
            <a:avLst/>
          </a:prstGeom>
          <a:noFill/>
        </p:spPr>
        <p:txBody>
          <a:bodyPr wrap="square">
            <a:spAutoFit/>
          </a:bodyPr>
          <a:lstStyle/>
          <a:p>
            <a:r>
              <a:rPr lang="en-US" sz="1350" dirty="0">
                <a:solidFill>
                  <a:srgbClr val="000000"/>
                </a:solidFill>
                <a:latin typeface="Times New Roman" panose="02020603050405020304" pitchFamily="18" charset="0"/>
                <a:ea typeface="Times New Roman" panose="02020603050405020304" pitchFamily="18" charset="0"/>
              </a:rPr>
              <a:t>South/Central Bronx: 37.5% Dominican; 13% Jamaican; 22% of African descent</a:t>
            </a:r>
            <a:r>
              <a:rPr lang="en-US" sz="1350" dirty="0"/>
              <a:t> </a:t>
            </a:r>
          </a:p>
        </p:txBody>
      </p:sp>
      <p:sp>
        <p:nvSpPr>
          <p:cNvPr id="9" name="TextBox 8">
            <a:extLst>
              <a:ext uri="{FF2B5EF4-FFF2-40B4-BE49-F238E27FC236}">
                <a16:creationId xmlns:a16="http://schemas.microsoft.com/office/drawing/2014/main" id="{7C1C20C9-4A9D-2B9F-F5E8-385B8EA92DC2}"/>
              </a:ext>
            </a:extLst>
          </p:cNvPr>
          <p:cNvSpPr txBox="1"/>
          <p:nvPr/>
        </p:nvSpPr>
        <p:spPr>
          <a:xfrm>
            <a:off x="6633117" y="4768460"/>
            <a:ext cx="1702068" cy="1131079"/>
          </a:xfrm>
          <a:prstGeom prst="rect">
            <a:avLst/>
          </a:prstGeom>
          <a:noFill/>
        </p:spPr>
        <p:txBody>
          <a:bodyPr wrap="square">
            <a:spAutoFit/>
          </a:bodyPr>
          <a:lstStyle/>
          <a:p>
            <a:r>
              <a:rPr lang="en-US" sz="1350" dirty="0">
                <a:solidFill>
                  <a:srgbClr val="000000"/>
                </a:solidFill>
                <a:latin typeface="Times New Roman" panose="02020603050405020304" pitchFamily="18" charset="0"/>
                <a:ea typeface="Times New Roman" panose="02020603050405020304" pitchFamily="18" charset="0"/>
              </a:rPr>
              <a:t>Cen. Brooklyn: 17% Jamaican; 29% Trinidadian, Haitian, or Guyanese; 11.8% Dominican </a:t>
            </a:r>
            <a:endParaRPr lang="en-US" sz="1350" dirty="0"/>
          </a:p>
        </p:txBody>
      </p:sp>
      <p:sp>
        <p:nvSpPr>
          <p:cNvPr id="11" name="TextBox 10">
            <a:extLst>
              <a:ext uri="{FF2B5EF4-FFF2-40B4-BE49-F238E27FC236}">
                <a16:creationId xmlns:a16="http://schemas.microsoft.com/office/drawing/2014/main" id="{D8B55E59-0064-4ECB-AC1B-80F2B23CFE1B}"/>
              </a:ext>
            </a:extLst>
          </p:cNvPr>
          <p:cNvSpPr txBox="1"/>
          <p:nvPr/>
        </p:nvSpPr>
        <p:spPr>
          <a:xfrm>
            <a:off x="304800" y="1981200"/>
            <a:ext cx="2842406" cy="507831"/>
          </a:xfrm>
          <a:prstGeom prst="rect">
            <a:avLst/>
          </a:prstGeom>
          <a:noFill/>
        </p:spPr>
        <p:txBody>
          <a:bodyPr wrap="square">
            <a:spAutoFit/>
          </a:bodyPr>
          <a:lstStyle/>
          <a:p>
            <a:r>
              <a:rPr lang="en-US" sz="1350" dirty="0">
                <a:solidFill>
                  <a:srgbClr val="000000"/>
                </a:solidFill>
                <a:latin typeface="Times New Roman" panose="02020603050405020304" pitchFamily="18" charset="0"/>
                <a:ea typeface="Times New Roman" panose="02020603050405020304" pitchFamily="18" charset="0"/>
              </a:rPr>
              <a:t>Harlem: 60.6% Dominican; 19.2% of African descent </a:t>
            </a:r>
            <a:r>
              <a:rPr lang="en-US" sz="1350" dirty="0"/>
              <a:t> </a:t>
            </a:r>
          </a:p>
        </p:txBody>
      </p:sp>
    </p:spTree>
    <p:extLst>
      <p:ext uri="{BB962C8B-B14F-4D97-AF65-F5344CB8AC3E}">
        <p14:creationId xmlns:p14="http://schemas.microsoft.com/office/powerpoint/2010/main" val="4226659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7124" y="866151"/>
            <a:ext cx="7989752" cy="505267"/>
          </a:xfrm>
          <a:prstGeom prst="rect">
            <a:avLst/>
          </a:prstGeom>
        </p:spPr>
        <p:txBody>
          <a:bodyPr vert="horz" wrap="square" lIns="0" tIns="12700" rIns="0" bIns="0" rtlCol="0">
            <a:spAutoFit/>
          </a:bodyPr>
          <a:lstStyle/>
          <a:p>
            <a:pPr marL="363855">
              <a:lnSpc>
                <a:spcPct val="100000"/>
              </a:lnSpc>
              <a:spcBef>
                <a:spcPts val="100"/>
              </a:spcBef>
            </a:pPr>
            <a:r>
              <a:rPr sz="3200" spc="-260" dirty="0">
                <a:latin typeface="Arial" panose="020B0604020202020204" pitchFamily="34" charset="0"/>
                <a:cs typeface="Arial" panose="020B0604020202020204" pitchFamily="34" charset="0"/>
              </a:rPr>
              <a:t>Data</a:t>
            </a:r>
            <a:r>
              <a:rPr sz="3200" spc="-195" dirty="0">
                <a:latin typeface="Arial" panose="020B0604020202020204" pitchFamily="34" charset="0"/>
                <a:cs typeface="Arial" panose="020B0604020202020204" pitchFamily="34" charset="0"/>
              </a:rPr>
              <a:t> </a:t>
            </a:r>
            <a:r>
              <a:rPr sz="3200" spc="-325" dirty="0">
                <a:latin typeface="Arial" panose="020B0604020202020204" pitchFamily="34" charset="0"/>
                <a:cs typeface="Arial" panose="020B0604020202020204" pitchFamily="34" charset="0"/>
              </a:rPr>
              <a:t>Types:</a:t>
            </a:r>
            <a:r>
              <a:rPr sz="3200" spc="-215" dirty="0">
                <a:latin typeface="Arial" panose="020B0604020202020204" pitchFamily="34" charset="0"/>
                <a:cs typeface="Arial" panose="020B0604020202020204" pitchFamily="34" charset="0"/>
              </a:rPr>
              <a:t> </a:t>
            </a:r>
            <a:r>
              <a:rPr sz="3200" spc="-204" dirty="0">
                <a:latin typeface="Arial" panose="020B0604020202020204" pitchFamily="34" charset="0"/>
                <a:cs typeface="Arial" panose="020B0604020202020204" pitchFamily="34" charset="0"/>
              </a:rPr>
              <a:t>Vector</a:t>
            </a:r>
            <a:r>
              <a:rPr sz="3200" spc="-200" dirty="0">
                <a:latin typeface="Arial" panose="020B0604020202020204" pitchFamily="34" charset="0"/>
                <a:cs typeface="Arial" panose="020B0604020202020204" pitchFamily="34" charset="0"/>
              </a:rPr>
              <a:t> </a:t>
            </a:r>
            <a:r>
              <a:rPr sz="3200" spc="-285" dirty="0">
                <a:latin typeface="Arial" panose="020B0604020202020204" pitchFamily="34" charset="0"/>
                <a:cs typeface="Arial" panose="020B0604020202020204" pitchFamily="34" charset="0"/>
              </a:rPr>
              <a:t>examples</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3</a:t>
            </a:fld>
            <a:endParaRPr spc="-25" dirty="0"/>
          </a:p>
        </p:txBody>
      </p:sp>
      <p:sp>
        <p:nvSpPr>
          <p:cNvPr id="3" name="object 3"/>
          <p:cNvSpPr txBox="1"/>
          <p:nvPr/>
        </p:nvSpPr>
        <p:spPr>
          <a:xfrm>
            <a:off x="1026262" y="1926118"/>
            <a:ext cx="721360" cy="360680"/>
          </a:xfrm>
          <a:prstGeom prst="rect">
            <a:avLst/>
          </a:prstGeom>
        </p:spPr>
        <p:txBody>
          <a:bodyPr vert="horz" wrap="square" lIns="0" tIns="12700" rIns="0" bIns="0" rtlCol="0">
            <a:spAutoFit/>
          </a:bodyPr>
          <a:lstStyle/>
          <a:p>
            <a:pPr marL="12700">
              <a:lnSpc>
                <a:spcPct val="100000"/>
              </a:lnSpc>
              <a:spcBef>
                <a:spcPts val="100"/>
              </a:spcBef>
            </a:pPr>
            <a:r>
              <a:rPr sz="2200" spc="-105" dirty="0">
                <a:latin typeface="Arial"/>
                <a:cs typeface="Arial"/>
              </a:rPr>
              <a:t>Points</a:t>
            </a:r>
            <a:endParaRPr sz="2200" dirty="0">
              <a:latin typeface="Arial"/>
              <a:cs typeface="Arial"/>
            </a:endParaRPr>
          </a:p>
        </p:txBody>
      </p:sp>
      <p:sp>
        <p:nvSpPr>
          <p:cNvPr id="4" name="object 4"/>
          <p:cNvSpPr txBox="1"/>
          <p:nvPr/>
        </p:nvSpPr>
        <p:spPr>
          <a:xfrm>
            <a:off x="3126867" y="1926118"/>
            <a:ext cx="601980" cy="360680"/>
          </a:xfrm>
          <a:prstGeom prst="rect">
            <a:avLst/>
          </a:prstGeom>
        </p:spPr>
        <p:txBody>
          <a:bodyPr vert="horz" wrap="square" lIns="0" tIns="12700" rIns="0" bIns="0" rtlCol="0">
            <a:spAutoFit/>
          </a:bodyPr>
          <a:lstStyle/>
          <a:p>
            <a:pPr marL="12700">
              <a:lnSpc>
                <a:spcPct val="100000"/>
              </a:lnSpc>
              <a:spcBef>
                <a:spcPts val="100"/>
              </a:spcBef>
            </a:pPr>
            <a:r>
              <a:rPr sz="2200" spc="-140" dirty="0">
                <a:latin typeface="Arial"/>
                <a:cs typeface="Arial"/>
              </a:rPr>
              <a:t>Lines</a:t>
            </a:r>
            <a:endParaRPr sz="2200" dirty="0">
              <a:latin typeface="Arial"/>
              <a:cs typeface="Arial"/>
            </a:endParaRPr>
          </a:p>
        </p:txBody>
      </p:sp>
      <p:sp>
        <p:nvSpPr>
          <p:cNvPr id="5" name="object 5"/>
          <p:cNvSpPr txBox="1"/>
          <p:nvPr/>
        </p:nvSpPr>
        <p:spPr>
          <a:xfrm>
            <a:off x="5108092" y="1948687"/>
            <a:ext cx="1031875" cy="360680"/>
          </a:xfrm>
          <a:prstGeom prst="rect">
            <a:avLst/>
          </a:prstGeom>
        </p:spPr>
        <p:txBody>
          <a:bodyPr vert="horz" wrap="square" lIns="0" tIns="12700" rIns="0" bIns="0" rtlCol="0">
            <a:spAutoFit/>
          </a:bodyPr>
          <a:lstStyle/>
          <a:p>
            <a:pPr marL="12700">
              <a:lnSpc>
                <a:spcPct val="100000"/>
              </a:lnSpc>
              <a:spcBef>
                <a:spcPts val="100"/>
              </a:spcBef>
            </a:pPr>
            <a:r>
              <a:rPr sz="2200" spc="-140" dirty="0">
                <a:latin typeface="Arial"/>
                <a:cs typeface="Arial"/>
              </a:rPr>
              <a:t>Polygons</a:t>
            </a:r>
            <a:endParaRPr sz="2200" dirty="0">
              <a:latin typeface="Arial"/>
              <a:cs typeface="Arial"/>
            </a:endParaRPr>
          </a:p>
        </p:txBody>
      </p:sp>
      <p:sp>
        <p:nvSpPr>
          <p:cNvPr id="6" name="object 6"/>
          <p:cNvSpPr txBox="1"/>
          <p:nvPr/>
        </p:nvSpPr>
        <p:spPr>
          <a:xfrm>
            <a:off x="7038656" y="1917587"/>
            <a:ext cx="1356360" cy="360680"/>
          </a:xfrm>
          <a:prstGeom prst="rect">
            <a:avLst/>
          </a:prstGeom>
        </p:spPr>
        <p:txBody>
          <a:bodyPr vert="horz" wrap="square" lIns="0" tIns="12700" rIns="0" bIns="0" rtlCol="0">
            <a:spAutoFit/>
          </a:bodyPr>
          <a:lstStyle/>
          <a:p>
            <a:pPr marL="12700">
              <a:lnSpc>
                <a:spcPct val="100000"/>
              </a:lnSpc>
              <a:spcBef>
                <a:spcPts val="100"/>
              </a:spcBef>
            </a:pPr>
            <a:r>
              <a:rPr sz="2200" spc="-105" dirty="0">
                <a:latin typeface="Arial"/>
                <a:cs typeface="Arial"/>
              </a:rPr>
              <a:t>(Combined)</a:t>
            </a:r>
            <a:endParaRPr sz="2200" dirty="0">
              <a:latin typeface="Arial"/>
              <a:cs typeface="Arial"/>
            </a:endParaRPr>
          </a:p>
        </p:txBody>
      </p:sp>
      <p:pic>
        <p:nvPicPr>
          <p:cNvPr id="7" name="object 7"/>
          <p:cNvPicPr/>
          <p:nvPr/>
        </p:nvPicPr>
        <p:blipFill>
          <a:blip r:embed="rId2" cstate="print"/>
          <a:stretch>
            <a:fillRect/>
          </a:stretch>
        </p:blipFill>
        <p:spPr>
          <a:xfrm>
            <a:off x="358242" y="2667000"/>
            <a:ext cx="2057400" cy="2207839"/>
          </a:xfrm>
          <a:prstGeom prst="rect">
            <a:avLst/>
          </a:prstGeom>
        </p:spPr>
      </p:pic>
      <p:pic>
        <p:nvPicPr>
          <p:cNvPr id="8" name="object 8"/>
          <p:cNvPicPr/>
          <p:nvPr/>
        </p:nvPicPr>
        <p:blipFill>
          <a:blip r:embed="rId3" cstate="print"/>
          <a:stretch>
            <a:fillRect/>
          </a:stretch>
        </p:blipFill>
        <p:spPr>
          <a:xfrm>
            <a:off x="2541321" y="2573730"/>
            <a:ext cx="1981200" cy="2211609"/>
          </a:xfrm>
          <a:prstGeom prst="rect">
            <a:avLst/>
          </a:prstGeom>
        </p:spPr>
      </p:pic>
      <p:pic>
        <p:nvPicPr>
          <p:cNvPr id="9" name="object 9"/>
          <p:cNvPicPr/>
          <p:nvPr/>
        </p:nvPicPr>
        <p:blipFill>
          <a:blip r:embed="rId4" cstate="print"/>
          <a:stretch>
            <a:fillRect/>
          </a:stretch>
        </p:blipFill>
        <p:spPr>
          <a:xfrm>
            <a:off x="4633429" y="2573730"/>
            <a:ext cx="1981200" cy="2204364"/>
          </a:xfrm>
          <a:prstGeom prst="rect">
            <a:avLst/>
          </a:prstGeom>
        </p:spPr>
      </p:pic>
      <p:pic>
        <p:nvPicPr>
          <p:cNvPr id="10" name="object 10"/>
          <p:cNvPicPr/>
          <p:nvPr/>
        </p:nvPicPr>
        <p:blipFill>
          <a:blip r:embed="rId5" cstate="print"/>
          <a:stretch>
            <a:fillRect/>
          </a:stretch>
        </p:blipFill>
        <p:spPr>
          <a:xfrm>
            <a:off x="6724211" y="2561817"/>
            <a:ext cx="1985251" cy="2216277"/>
          </a:xfrm>
          <a:prstGeom prst="rect">
            <a:avLst/>
          </a:prstGeom>
        </p:spPr>
      </p:pic>
      <p:pic>
        <p:nvPicPr>
          <p:cNvPr id="11" name="object 11"/>
          <p:cNvPicPr/>
          <p:nvPr/>
        </p:nvPicPr>
        <p:blipFill>
          <a:blip r:embed="rId6" cstate="print"/>
          <a:stretch>
            <a:fillRect/>
          </a:stretch>
        </p:blipFill>
        <p:spPr>
          <a:xfrm>
            <a:off x="0" y="6400800"/>
            <a:ext cx="9144000" cy="4571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4421" y="458723"/>
            <a:ext cx="6978015" cy="695960"/>
          </a:xfrm>
          <a:prstGeom prst="rect">
            <a:avLst/>
          </a:prstGeom>
        </p:spPr>
        <p:txBody>
          <a:bodyPr vert="horz" wrap="square" lIns="0" tIns="12700" rIns="0" bIns="0" rtlCol="0">
            <a:spAutoFit/>
          </a:bodyPr>
          <a:lstStyle/>
          <a:p>
            <a:pPr marL="12700">
              <a:lnSpc>
                <a:spcPct val="100000"/>
              </a:lnSpc>
              <a:spcBef>
                <a:spcPts val="100"/>
              </a:spcBef>
            </a:pPr>
            <a:r>
              <a:rPr spc="-260" dirty="0"/>
              <a:t>Data</a:t>
            </a:r>
            <a:r>
              <a:rPr spc="-215" dirty="0"/>
              <a:t> </a:t>
            </a:r>
            <a:r>
              <a:rPr spc="-325" dirty="0"/>
              <a:t>Types:</a:t>
            </a:r>
            <a:r>
              <a:rPr spc="-229" dirty="0"/>
              <a:t> </a:t>
            </a:r>
            <a:r>
              <a:rPr spc="-204" dirty="0"/>
              <a:t>Vector</a:t>
            </a:r>
            <a:r>
              <a:rPr spc="-220" dirty="0"/>
              <a:t> </a:t>
            </a:r>
            <a:r>
              <a:rPr spc="-10" dirty="0"/>
              <a:t>file</a:t>
            </a:r>
            <a:r>
              <a:rPr spc="-240" dirty="0"/>
              <a:t> </a:t>
            </a:r>
            <a:r>
              <a:rPr spc="-75" dirty="0"/>
              <a:t>formats</a:t>
            </a: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4</a:t>
            </a:fld>
            <a:endParaRPr spc="-25" dirty="0"/>
          </a:p>
        </p:txBody>
      </p:sp>
      <p:sp>
        <p:nvSpPr>
          <p:cNvPr id="3" name="object 3"/>
          <p:cNvSpPr txBox="1"/>
          <p:nvPr/>
        </p:nvSpPr>
        <p:spPr>
          <a:xfrm>
            <a:off x="545685" y="1861069"/>
            <a:ext cx="7867650" cy="2077085"/>
          </a:xfrm>
          <a:prstGeom prst="rect">
            <a:avLst/>
          </a:prstGeom>
        </p:spPr>
        <p:txBody>
          <a:bodyPr vert="horz" wrap="square" lIns="0" tIns="33655" rIns="0" bIns="0" rtlCol="0">
            <a:spAutoFit/>
          </a:bodyPr>
          <a:lstStyle/>
          <a:p>
            <a:pPr marL="355600" marR="98425" indent="-342900">
              <a:lnSpc>
                <a:spcPts val="3790"/>
              </a:lnSpc>
              <a:spcBef>
                <a:spcPts val="265"/>
              </a:spcBef>
              <a:buChar char="•"/>
              <a:tabLst>
                <a:tab pos="355600" algn="l"/>
              </a:tabLst>
            </a:pPr>
            <a:r>
              <a:rPr sz="3200" spc="-245" dirty="0">
                <a:latin typeface="Arial"/>
                <a:cs typeface="Arial"/>
              </a:rPr>
              <a:t>The</a:t>
            </a:r>
            <a:r>
              <a:rPr sz="3200" spc="-155" dirty="0">
                <a:latin typeface="Arial"/>
                <a:cs typeface="Arial"/>
              </a:rPr>
              <a:t> </a:t>
            </a:r>
            <a:r>
              <a:rPr sz="3200" spc="-130" dirty="0">
                <a:latin typeface="Arial"/>
                <a:cs typeface="Arial"/>
              </a:rPr>
              <a:t>shapefile</a:t>
            </a:r>
            <a:r>
              <a:rPr sz="3200" spc="-155" dirty="0">
                <a:latin typeface="Arial"/>
                <a:cs typeface="Arial"/>
              </a:rPr>
              <a:t> </a:t>
            </a:r>
            <a:r>
              <a:rPr sz="3200" spc="-180" dirty="0">
                <a:latin typeface="Arial"/>
                <a:cs typeface="Arial"/>
              </a:rPr>
              <a:t>is</a:t>
            </a:r>
            <a:r>
              <a:rPr sz="3200" spc="-150" dirty="0">
                <a:latin typeface="Arial"/>
                <a:cs typeface="Arial"/>
              </a:rPr>
              <a:t> </a:t>
            </a:r>
            <a:r>
              <a:rPr sz="3200" spc="-40" dirty="0">
                <a:latin typeface="Arial"/>
                <a:cs typeface="Arial"/>
              </a:rPr>
              <a:t>the</a:t>
            </a:r>
            <a:r>
              <a:rPr sz="3200" spc="-150" dirty="0">
                <a:latin typeface="Arial"/>
                <a:cs typeface="Arial"/>
              </a:rPr>
              <a:t> </a:t>
            </a:r>
            <a:r>
              <a:rPr sz="3200" spc="-114" dirty="0">
                <a:latin typeface="Arial"/>
                <a:cs typeface="Arial"/>
              </a:rPr>
              <a:t>most</a:t>
            </a:r>
            <a:r>
              <a:rPr sz="3200" spc="-145" dirty="0">
                <a:latin typeface="Arial"/>
                <a:cs typeface="Arial"/>
              </a:rPr>
              <a:t> common</a:t>
            </a:r>
            <a:r>
              <a:rPr sz="3200" spc="-140" dirty="0">
                <a:latin typeface="Arial"/>
                <a:cs typeface="Arial"/>
              </a:rPr>
              <a:t> </a:t>
            </a:r>
            <a:r>
              <a:rPr sz="3200" spc="-90" dirty="0">
                <a:latin typeface="Arial"/>
                <a:cs typeface="Arial"/>
              </a:rPr>
              <a:t>vector</a:t>
            </a:r>
            <a:r>
              <a:rPr sz="3200" spc="-155" dirty="0">
                <a:latin typeface="Arial"/>
                <a:cs typeface="Arial"/>
              </a:rPr>
              <a:t> </a:t>
            </a:r>
            <a:r>
              <a:rPr sz="3200" spc="-20" dirty="0">
                <a:latin typeface="Arial"/>
                <a:cs typeface="Arial"/>
              </a:rPr>
              <a:t>file </a:t>
            </a:r>
            <a:r>
              <a:rPr sz="3200" spc="-10" dirty="0">
                <a:latin typeface="Arial"/>
                <a:cs typeface="Arial"/>
              </a:rPr>
              <a:t>format.</a:t>
            </a:r>
            <a:endParaRPr sz="3200" dirty="0">
              <a:latin typeface="Arial"/>
              <a:cs typeface="Arial"/>
            </a:endParaRPr>
          </a:p>
          <a:p>
            <a:pPr marL="355600" marR="5080" indent="-343535">
              <a:lnSpc>
                <a:spcPct val="101800"/>
              </a:lnSpc>
              <a:spcBef>
                <a:spcPts val="585"/>
              </a:spcBef>
              <a:buChar char="•"/>
              <a:tabLst>
                <a:tab pos="355600" algn="l"/>
              </a:tabLst>
            </a:pPr>
            <a:r>
              <a:rPr sz="3200" spc="-50" dirty="0">
                <a:latin typeface="Arial"/>
                <a:cs typeface="Arial"/>
              </a:rPr>
              <a:t>“A”</a:t>
            </a:r>
            <a:r>
              <a:rPr sz="3200" spc="-155" dirty="0">
                <a:latin typeface="Arial"/>
                <a:cs typeface="Arial"/>
              </a:rPr>
              <a:t> </a:t>
            </a:r>
            <a:r>
              <a:rPr sz="3200" spc="-135" dirty="0">
                <a:latin typeface="Arial"/>
                <a:cs typeface="Arial"/>
              </a:rPr>
              <a:t>shapefile</a:t>
            </a:r>
            <a:r>
              <a:rPr sz="3200" spc="-155" dirty="0">
                <a:latin typeface="Arial"/>
                <a:cs typeface="Arial"/>
              </a:rPr>
              <a:t> </a:t>
            </a:r>
            <a:r>
              <a:rPr sz="3200" spc="-180" dirty="0">
                <a:latin typeface="Arial"/>
                <a:cs typeface="Arial"/>
              </a:rPr>
              <a:t>is</a:t>
            </a:r>
            <a:r>
              <a:rPr sz="3200" spc="-155" dirty="0">
                <a:latin typeface="Arial"/>
                <a:cs typeface="Arial"/>
              </a:rPr>
              <a:t> </a:t>
            </a:r>
            <a:r>
              <a:rPr sz="3200" spc="-100" dirty="0">
                <a:latin typeface="Arial"/>
                <a:cs typeface="Arial"/>
              </a:rPr>
              <a:t>actually</a:t>
            </a:r>
            <a:r>
              <a:rPr sz="3200" spc="-150" dirty="0">
                <a:latin typeface="Arial"/>
                <a:cs typeface="Arial"/>
              </a:rPr>
              <a:t> </a:t>
            </a:r>
            <a:r>
              <a:rPr sz="3200" spc="-254" dirty="0">
                <a:latin typeface="Arial"/>
                <a:cs typeface="Arial"/>
              </a:rPr>
              <a:t>a</a:t>
            </a:r>
            <a:r>
              <a:rPr sz="3200" spc="-140" dirty="0">
                <a:latin typeface="Arial"/>
                <a:cs typeface="Arial"/>
              </a:rPr>
              <a:t> </a:t>
            </a:r>
            <a:r>
              <a:rPr sz="3200" spc="-80" dirty="0">
                <a:latin typeface="Arial"/>
                <a:cs typeface="Arial"/>
              </a:rPr>
              <a:t>collection</a:t>
            </a:r>
            <a:r>
              <a:rPr sz="3200" spc="-145" dirty="0">
                <a:latin typeface="Arial"/>
                <a:cs typeface="Arial"/>
              </a:rPr>
              <a:t> </a:t>
            </a:r>
            <a:r>
              <a:rPr sz="3200" dirty="0">
                <a:latin typeface="Arial"/>
                <a:cs typeface="Arial"/>
              </a:rPr>
              <a:t>of</a:t>
            </a:r>
            <a:r>
              <a:rPr sz="3200" spc="-155" dirty="0">
                <a:latin typeface="Arial"/>
                <a:cs typeface="Arial"/>
              </a:rPr>
              <a:t> </a:t>
            </a:r>
            <a:r>
              <a:rPr sz="3200" spc="-125" dirty="0">
                <a:latin typeface="Arial"/>
                <a:cs typeface="Arial"/>
              </a:rPr>
              <a:t>several </a:t>
            </a:r>
            <a:r>
              <a:rPr sz="3200" spc="-40" dirty="0">
                <a:latin typeface="Arial"/>
                <a:cs typeface="Arial"/>
              </a:rPr>
              <a:t>different</a:t>
            </a:r>
            <a:r>
              <a:rPr sz="3200" spc="-145" dirty="0">
                <a:latin typeface="Arial"/>
                <a:cs typeface="Arial"/>
              </a:rPr>
              <a:t> </a:t>
            </a:r>
            <a:r>
              <a:rPr sz="3200" spc="-95" dirty="0">
                <a:latin typeface="Arial"/>
                <a:cs typeface="Arial"/>
              </a:rPr>
              <a:t>files</a:t>
            </a:r>
            <a:r>
              <a:rPr sz="3200" spc="-150" dirty="0">
                <a:latin typeface="Arial"/>
                <a:cs typeface="Arial"/>
              </a:rPr>
              <a:t> </a:t>
            </a:r>
            <a:r>
              <a:rPr sz="3200" dirty="0">
                <a:latin typeface="Arial"/>
                <a:cs typeface="Arial"/>
              </a:rPr>
              <a:t>with</a:t>
            </a:r>
            <a:r>
              <a:rPr sz="3200" spc="-140" dirty="0">
                <a:latin typeface="Arial"/>
                <a:cs typeface="Arial"/>
              </a:rPr>
              <a:t> </a:t>
            </a:r>
            <a:r>
              <a:rPr sz="3200" spc="-40" dirty="0">
                <a:latin typeface="Arial"/>
                <a:cs typeface="Arial"/>
              </a:rPr>
              <a:t>different</a:t>
            </a:r>
            <a:r>
              <a:rPr sz="3200" spc="-145" dirty="0">
                <a:latin typeface="Arial"/>
                <a:cs typeface="Arial"/>
              </a:rPr>
              <a:t> </a:t>
            </a:r>
            <a:r>
              <a:rPr sz="3200" spc="-45" dirty="0">
                <a:latin typeface="Arial"/>
                <a:cs typeface="Arial"/>
              </a:rPr>
              <a:t>extensions.</a:t>
            </a:r>
            <a:endParaRPr sz="3200" dirty="0">
              <a:latin typeface="Arial"/>
              <a:cs typeface="Arial"/>
            </a:endParaRPr>
          </a:p>
        </p:txBody>
      </p:sp>
      <p:sp>
        <p:nvSpPr>
          <p:cNvPr id="4" name="object 4"/>
          <p:cNvSpPr txBox="1"/>
          <p:nvPr/>
        </p:nvSpPr>
        <p:spPr>
          <a:xfrm>
            <a:off x="6787268" y="4601971"/>
            <a:ext cx="2005330" cy="845185"/>
          </a:xfrm>
          <a:prstGeom prst="rect">
            <a:avLst/>
          </a:prstGeom>
        </p:spPr>
        <p:txBody>
          <a:bodyPr vert="horz" wrap="square" lIns="0" tIns="13970" rIns="0" bIns="0" rtlCol="0">
            <a:spAutoFit/>
          </a:bodyPr>
          <a:lstStyle/>
          <a:p>
            <a:pPr marL="12700" marR="5080" algn="ctr">
              <a:lnSpc>
                <a:spcPct val="99400"/>
              </a:lnSpc>
              <a:spcBef>
                <a:spcPts val="110"/>
              </a:spcBef>
            </a:pPr>
            <a:r>
              <a:rPr sz="1800" spc="-100" dirty="0">
                <a:latin typeface="Arial"/>
                <a:cs typeface="Arial"/>
              </a:rPr>
              <a:t>Make</a:t>
            </a:r>
            <a:r>
              <a:rPr sz="1800" spc="-65" dirty="0">
                <a:latin typeface="Arial"/>
                <a:cs typeface="Arial"/>
              </a:rPr>
              <a:t> </a:t>
            </a:r>
            <a:r>
              <a:rPr sz="1800" spc="-100" dirty="0">
                <a:latin typeface="Arial"/>
                <a:cs typeface="Arial"/>
              </a:rPr>
              <a:t>sure</a:t>
            </a:r>
            <a:r>
              <a:rPr sz="1800" spc="-60" dirty="0">
                <a:latin typeface="Arial"/>
                <a:cs typeface="Arial"/>
              </a:rPr>
              <a:t> </a:t>
            </a:r>
            <a:r>
              <a:rPr sz="1800" dirty="0">
                <a:latin typeface="Arial"/>
                <a:cs typeface="Arial"/>
              </a:rPr>
              <a:t>to</a:t>
            </a:r>
            <a:r>
              <a:rPr sz="1800" spc="-65" dirty="0">
                <a:latin typeface="Arial"/>
                <a:cs typeface="Arial"/>
              </a:rPr>
              <a:t> </a:t>
            </a:r>
            <a:r>
              <a:rPr sz="1800" spc="-114" dirty="0">
                <a:latin typeface="Arial"/>
                <a:cs typeface="Arial"/>
              </a:rPr>
              <a:t>keep</a:t>
            </a:r>
            <a:r>
              <a:rPr sz="1800" spc="-60" dirty="0">
                <a:latin typeface="Arial"/>
                <a:cs typeface="Arial"/>
              </a:rPr>
              <a:t> </a:t>
            </a:r>
            <a:r>
              <a:rPr sz="1800" spc="-25" dirty="0">
                <a:latin typeface="Arial"/>
                <a:cs typeface="Arial"/>
              </a:rPr>
              <a:t>all </a:t>
            </a:r>
            <a:r>
              <a:rPr sz="1800" spc="-50" dirty="0">
                <a:latin typeface="Arial"/>
                <a:cs typeface="Arial"/>
              </a:rPr>
              <a:t>files</a:t>
            </a:r>
            <a:r>
              <a:rPr sz="1800" spc="-80" dirty="0">
                <a:latin typeface="Arial"/>
                <a:cs typeface="Arial"/>
              </a:rPr>
              <a:t> </a:t>
            </a:r>
            <a:r>
              <a:rPr sz="1800" spc="-45" dirty="0">
                <a:latin typeface="Arial"/>
                <a:cs typeface="Arial"/>
              </a:rPr>
              <a:t>together</a:t>
            </a:r>
            <a:r>
              <a:rPr sz="1800" spc="-70" dirty="0">
                <a:latin typeface="Arial"/>
                <a:cs typeface="Arial"/>
              </a:rPr>
              <a:t> </a:t>
            </a:r>
            <a:r>
              <a:rPr sz="1800" spc="-20" dirty="0">
                <a:latin typeface="Arial"/>
                <a:cs typeface="Arial"/>
              </a:rPr>
              <a:t>when </a:t>
            </a:r>
            <a:r>
              <a:rPr sz="1800" spc="-10" dirty="0">
                <a:latin typeface="Arial"/>
                <a:cs typeface="Arial"/>
              </a:rPr>
              <a:t>moving.</a:t>
            </a:r>
            <a:endParaRPr sz="1800">
              <a:latin typeface="Arial"/>
              <a:cs typeface="Arial"/>
            </a:endParaRPr>
          </a:p>
        </p:txBody>
      </p:sp>
      <p:grpSp>
        <p:nvGrpSpPr>
          <p:cNvPr id="5" name="object 5"/>
          <p:cNvGrpSpPr/>
          <p:nvPr/>
        </p:nvGrpSpPr>
        <p:grpSpPr>
          <a:xfrm>
            <a:off x="252438" y="3938154"/>
            <a:ext cx="6157595" cy="2152015"/>
            <a:chOff x="292097" y="3834383"/>
            <a:chExt cx="6157595" cy="2152015"/>
          </a:xfrm>
        </p:grpSpPr>
        <p:sp>
          <p:nvSpPr>
            <p:cNvPr id="6" name="object 6"/>
            <p:cNvSpPr/>
            <p:nvPr/>
          </p:nvSpPr>
          <p:spPr>
            <a:xfrm>
              <a:off x="304797" y="4378722"/>
              <a:ext cx="2437765" cy="1327785"/>
            </a:xfrm>
            <a:custGeom>
              <a:avLst/>
              <a:gdLst/>
              <a:ahLst/>
              <a:cxnLst/>
              <a:rect l="l" t="t" r="r" b="b"/>
              <a:pathLst>
                <a:path w="2437765" h="1327785">
                  <a:moveTo>
                    <a:pt x="0" y="221228"/>
                  </a:moveTo>
                  <a:lnTo>
                    <a:pt x="4494" y="176643"/>
                  </a:lnTo>
                  <a:lnTo>
                    <a:pt x="17385" y="135116"/>
                  </a:lnTo>
                  <a:lnTo>
                    <a:pt x="37782" y="97537"/>
                  </a:lnTo>
                  <a:lnTo>
                    <a:pt x="64796" y="64796"/>
                  </a:lnTo>
                  <a:lnTo>
                    <a:pt x="97537" y="37782"/>
                  </a:lnTo>
                  <a:lnTo>
                    <a:pt x="135116" y="17385"/>
                  </a:lnTo>
                  <a:lnTo>
                    <a:pt x="176643" y="4494"/>
                  </a:lnTo>
                  <a:lnTo>
                    <a:pt x="221228" y="0"/>
                  </a:lnTo>
                  <a:lnTo>
                    <a:pt x="2215928" y="0"/>
                  </a:lnTo>
                  <a:lnTo>
                    <a:pt x="2260513" y="4494"/>
                  </a:lnTo>
                  <a:lnTo>
                    <a:pt x="2302040" y="17385"/>
                  </a:lnTo>
                  <a:lnTo>
                    <a:pt x="2339619" y="37782"/>
                  </a:lnTo>
                  <a:lnTo>
                    <a:pt x="2372360" y="64796"/>
                  </a:lnTo>
                  <a:lnTo>
                    <a:pt x="2399374" y="97537"/>
                  </a:lnTo>
                  <a:lnTo>
                    <a:pt x="2419771" y="135116"/>
                  </a:lnTo>
                  <a:lnTo>
                    <a:pt x="2432661" y="176643"/>
                  </a:lnTo>
                  <a:lnTo>
                    <a:pt x="2437156" y="221228"/>
                  </a:lnTo>
                  <a:lnTo>
                    <a:pt x="2437156" y="1106116"/>
                  </a:lnTo>
                  <a:lnTo>
                    <a:pt x="2432661" y="1150702"/>
                  </a:lnTo>
                  <a:lnTo>
                    <a:pt x="2419771" y="1192229"/>
                  </a:lnTo>
                  <a:lnTo>
                    <a:pt x="2399374" y="1229807"/>
                  </a:lnTo>
                  <a:lnTo>
                    <a:pt x="2372360" y="1262549"/>
                  </a:lnTo>
                  <a:lnTo>
                    <a:pt x="2339619" y="1289563"/>
                  </a:lnTo>
                  <a:lnTo>
                    <a:pt x="2302040" y="1309960"/>
                  </a:lnTo>
                  <a:lnTo>
                    <a:pt x="2260513" y="1322851"/>
                  </a:lnTo>
                  <a:lnTo>
                    <a:pt x="2215928" y="1327345"/>
                  </a:lnTo>
                  <a:lnTo>
                    <a:pt x="221228" y="1327345"/>
                  </a:lnTo>
                  <a:lnTo>
                    <a:pt x="176643" y="1322851"/>
                  </a:lnTo>
                  <a:lnTo>
                    <a:pt x="135116" y="1309960"/>
                  </a:lnTo>
                  <a:lnTo>
                    <a:pt x="97537" y="1289563"/>
                  </a:lnTo>
                  <a:lnTo>
                    <a:pt x="64796" y="1262549"/>
                  </a:lnTo>
                  <a:lnTo>
                    <a:pt x="37782" y="1229807"/>
                  </a:lnTo>
                  <a:lnTo>
                    <a:pt x="17385" y="1192229"/>
                  </a:lnTo>
                  <a:lnTo>
                    <a:pt x="4494" y="1150702"/>
                  </a:lnTo>
                  <a:lnTo>
                    <a:pt x="0" y="1106116"/>
                  </a:lnTo>
                  <a:lnTo>
                    <a:pt x="0" y="221228"/>
                  </a:lnTo>
                  <a:close/>
                </a:path>
              </a:pathLst>
            </a:custGeom>
            <a:ln w="25387">
              <a:solidFill>
                <a:srgbClr val="B9401B"/>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734056" y="3834383"/>
              <a:ext cx="3715512" cy="2151888"/>
            </a:xfrm>
            <a:prstGeom prst="rect">
              <a:avLst/>
            </a:prstGeom>
          </p:spPr>
        </p:pic>
      </p:grpSp>
      <p:sp>
        <p:nvSpPr>
          <p:cNvPr id="8" name="object 8"/>
          <p:cNvSpPr txBox="1"/>
          <p:nvPr/>
        </p:nvSpPr>
        <p:spPr>
          <a:xfrm>
            <a:off x="3250234" y="3981196"/>
            <a:ext cx="2491105" cy="1625600"/>
          </a:xfrm>
          <a:prstGeom prst="rect">
            <a:avLst/>
          </a:prstGeom>
        </p:spPr>
        <p:txBody>
          <a:bodyPr vert="horz" wrap="square" lIns="0" tIns="119380" rIns="0" bIns="0" rtlCol="0">
            <a:spAutoFit/>
          </a:bodyPr>
          <a:lstStyle/>
          <a:p>
            <a:pPr algn="ctr">
              <a:lnSpc>
                <a:spcPct val="100000"/>
              </a:lnSpc>
              <a:spcBef>
                <a:spcPts val="940"/>
              </a:spcBef>
            </a:pPr>
            <a:r>
              <a:rPr sz="2800" spc="-150" dirty="0">
                <a:latin typeface="Arial"/>
                <a:cs typeface="Arial"/>
              </a:rPr>
              <a:t>Shapefile</a:t>
            </a:r>
            <a:r>
              <a:rPr sz="2800" spc="-110" dirty="0">
                <a:latin typeface="Arial"/>
                <a:cs typeface="Arial"/>
              </a:rPr>
              <a:t> </a:t>
            </a:r>
            <a:r>
              <a:rPr sz="2800" spc="-50" dirty="0">
                <a:latin typeface="Arial"/>
                <a:cs typeface="Arial"/>
              </a:rPr>
              <a:t>=</a:t>
            </a:r>
            <a:endParaRPr sz="2800">
              <a:latin typeface="Arial"/>
              <a:cs typeface="Arial"/>
            </a:endParaRPr>
          </a:p>
          <a:p>
            <a:pPr algn="ctr">
              <a:lnSpc>
                <a:spcPct val="100000"/>
              </a:lnSpc>
              <a:spcBef>
                <a:spcPts val="840"/>
              </a:spcBef>
              <a:tabLst>
                <a:tab pos="928369" algn="l"/>
                <a:tab pos="1901189" algn="l"/>
              </a:tabLst>
            </a:pPr>
            <a:r>
              <a:rPr sz="2800" spc="-20" dirty="0">
                <a:latin typeface="Arial"/>
                <a:cs typeface="Arial"/>
              </a:rPr>
              <a:t>.shp</a:t>
            </a:r>
            <a:r>
              <a:rPr sz="2800" dirty="0">
                <a:latin typeface="Arial"/>
                <a:cs typeface="Arial"/>
              </a:rPr>
              <a:t>	</a:t>
            </a:r>
            <a:r>
              <a:rPr sz="2800" spc="-20" dirty="0">
                <a:latin typeface="Arial"/>
                <a:cs typeface="Arial"/>
              </a:rPr>
              <a:t>.shx</a:t>
            </a:r>
            <a:r>
              <a:rPr sz="2800" dirty="0">
                <a:latin typeface="Arial"/>
                <a:cs typeface="Arial"/>
              </a:rPr>
              <a:t>	</a:t>
            </a:r>
            <a:r>
              <a:rPr sz="2800" spc="-145" dirty="0">
                <a:latin typeface="Arial"/>
                <a:cs typeface="Arial"/>
              </a:rPr>
              <a:t>.sbx</a:t>
            </a:r>
            <a:endParaRPr sz="2800" dirty="0">
              <a:latin typeface="Arial"/>
              <a:cs typeface="Arial"/>
            </a:endParaRPr>
          </a:p>
          <a:p>
            <a:pPr algn="ctr">
              <a:lnSpc>
                <a:spcPct val="100000"/>
              </a:lnSpc>
              <a:spcBef>
                <a:spcPts val="840"/>
              </a:spcBef>
              <a:tabLst>
                <a:tab pos="974090" algn="l"/>
              </a:tabLst>
            </a:pPr>
            <a:r>
              <a:rPr sz="2800" spc="-20" dirty="0">
                <a:latin typeface="Arial"/>
                <a:cs typeface="Arial"/>
              </a:rPr>
              <a:t>.dbf</a:t>
            </a:r>
            <a:r>
              <a:rPr sz="2800" dirty="0">
                <a:latin typeface="Arial"/>
                <a:cs typeface="Arial"/>
              </a:rPr>
              <a:t>	</a:t>
            </a:r>
            <a:r>
              <a:rPr sz="2800" spc="-20" dirty="0">
                <a:latin typeface="Arial"/>
                <a:cs typeface="Arial"/>
              </a:rPr>
              <a:t>.prj</a:t>
            </a:r>
            <a:endParaRPr sz="2800" dirty="0">
              <a:latin typeface="Arial"/>
              <a:cs typeface="Arial"/>
            </a:endParaRPr>
          </a:p>
        </p:txBody>
      </p:sp>
      <p:sp>
        <p:nvSpPr>
          <p:cNvPr id="9" name="object 9"/>
          <p:cNvSpPr/>
          <p:nvPr/>
        </p:nvSpPr>
        <p:spPr>
          <a:xfrm>
            <a:off x="304797" y="4378727"/>
            <a:ext cx="2438400" cy="1328420"/>
          </a:xfrm>
          <a:custGeom>
            <a:avLst/>
            <a:gdLst/>
            <a:ahLst/>
            <a:cxnLst/>
            <a:rect l="l" t="t" r="r" b="b"/>
            <a:pathLst>
              <a:path w="2438400" h="1328420">
                <a:moveTo>
                  <a:pt x="2217064" y="0"/>
                </a:moveTo>
                <a:lnTo>
                  <a:pt x="221335" y="0"/>
                </a:lnTo>
                <a:lnTo>
                  <a:pt x="176729" y="4496"/>
                </a:lnTo>
                <a:lnTo>
                  <a:pt x="135182" y="17394"/>
                </a:lnTo>
                <a:lnTo>
                  <a:pt x="97585" y="37801"/>
                </a:lnTo>
                <a:lnTo>
                  <a:pt x="64828" y="64828"/>
                </a:lnTo>
                <a:lnTo>
                  <a:pt x="37801" y="97585"/>
                </a:lnTo>
                <a:lnTo>
                  <a:pt x="17394" y="135182"/>
                </a:lnTo>
                <a:lnTo>
                  <a:pt x="4496" y="176729"/>
                </a:lnTo>
                <a:lnTo>
                  <a:pt x="0" y="221335"/>
                </a:lnTo>
                <a:lnTo>
                  <a:pt x="0" y="1106678"/>
                </a:lnTo>
                <a:lnTo>
                  <a:pt x="4496" y="1151284"/>
                </a:lnTo>
                <a:lnTo>
                  <a:pt x="17394" y="1192830"/>
                </a:lnTo>
                <a:lnTo>
                  <a:pt x="37801" y="1230427"/>
                </a:lnTo>
                <a:lnTo>
                  <a:pt x="64828" y="1263184"/>
                </a:lnTo>
                <a:lnTo>
                  <a:pt x="97585" y="1290212"/>
                </a:lnTo>
                <a:lnTo>
                  <a:pt x="135182" y="1310619"/>
                </a:lnTo>
                <a:lnTo>
                  <a:pt x="176729" y="1323516"/>
                </a:lnTo>
                <a:lnTo>
                  <a:pt x="221335" y="1328013"/>
                </a:lnTo>
                <a:lnTo>
                  <a:pt x="2217064" y="1328013"/>
                </a:lnTo>
                <a:lnTo>
                  <a:pt x="2261670" y="1323516"/>
                </a:lnTo>
                <a:lnTo>
                  <a:pt x="2303217" y="1310619"/>
                </a:lnTo>
                <a:lnTo>
                  <a:pt x="2340814" y="1290212"/>
                </a:lnTo>
                <a:lnTo>
                  <a:pt x="2373571" y="1263184"/>
                </a:lnTo>
                <a:lnTo>
                  <a:pt x="2400598" y="1230427"/>
                </a:lnTo>
                <a:lnTo>
                  <a:pt x="2421005" y="1192830"/>
                </a:lnTo>
                <a:lnTo>
                  <a:pt x="2433903" y="1151284"/>
                </a:lnTo>
                <a:lnTo>
                  <a:pt x="2438400" y="1106678"/>
                </a:lnTo>
                <a:lnTo>
                  <a:pt x="2438400" y="221335"/>
                </a:lnTo>
                <a:lnTo>
                  <a:pt x="2433903" y="176729"/>
                </a:lnTo>
                <a:lnTo>
                  <a:pt x="2421005" y="135182"/>
                </a:lnTo>
                <a:lnTo>
                  <a:pt x="2400598" y="97585"/>
                </a:lnTo>
                <a:lnTo>
                  <a:pt x="2373571" y="64828"/>
                </a:lnTo>
                <a:lnTo>
                  <a:pt x="2340814" y="37801"/>
                </a:lnTo>
                <a:lnTo>
                  <a:pt x="2303217" y="17394"/>
                </a:lnTo>
                <a:lnTo>
                  <a:pt x="2261670" y="4496"/>
                </a:lnTo>
                <a:lnTo>
                  <a:pt x="2217064" y="0"/>
                </a:lnTo>
                <a:close/>
              </a:path>
            </a:pathLst>
          </a:custGeom>
          <a:solidFill>
            <a:srgbClr val="FFFFFF"/>
          </a:solidFill>
        </p:spPr>
        <p:txBody>
          <a:bodyPr wrap="square" lIns="0" tIns="0" rIns="0" bIns="0" rtlCol="0"/>
          <a:lstStyle/>
          <a:p>
            <a:endParaRPr/>
          </a:p>
        </p:txBody>
      </p:sp>
      <p:sp>
        <p:nvSpPr>
          <p:cNvPr id="10" name="object 10"/>
          <p:cNvSpPr txBox="1"/>
          <p:nvPr/>
        </p:nvSpPr>
        <p:spPr>
          <a:xfrm>
            <a:off x="539747" y="4464811"/>
            <a:ext cx="1969770" cy="1126490"/>
          </a:xfrm>
          <a:prstGeom prst="rect">
            <a:avLst/>
          </a:prstGeom>
        </p:spPr>
        <p:txBody>
          <a:bodyPr vert="horz" wrap="square" lIns="0" tIns="11430" rIns="0" bIns="0" rtlCol="0">
            <a:spAutoFit/>
          </a:bodyPr>
          <a:lstStyle/>
          <a:p>
            <a:pPr marL="12065" marR="5080" indent="-1905" algn="ctr">
              <a:lnSpc>
                <a:spcPct val="100400"/>
              </a:lnSpc>
              <a:spcBef>
                <a:spcPts val="90"/>
              </a:spcBef>
            </a:pPr>
            <a:r>
              <a:rPr sz="1800" spc="-90" dirty="0">
                <a:latin typeface="Arial"/>
                <a:cs typeface="Arial"/>
              </a:rPr>
              <a:t>When</a:t>
            </a:r>
            <a:r>
              <a:rPr sz="1800" spc="-80" dirty="0">
                <a:latin typeface="Arial"/>
                <a:cs typeface="Arial"/>
              </a:rPr>
              <a:t> adding </a:t>
            </a:r>
            <a:r>
              <a:rPr sz="1800" spc="-50" dirty="0">
                <a:latin typeface="Arial"/>
                <a:cs typeface="Arial"/>
              </a:rPr>
              <a:t>files</a:t>
            </a:r>
            <a:r>
              <a:rPr sz="1800" spc="-85" dirty="0">
                <a:latin typeface="Arial"/>
                <a:cs typeface="Arial"/>
              </a:rPr>
              <a:t> </a:t>
            </a:r>
            <a:r>
              <a:rPr sz="1800" spc="-25" dirty="0">
                <a:latin typeface="Arial"/>
                <a:cs typeface="Arial"/>
              </a:rPr>
              <a:t>to </a:t>
            </a:r>
            <a:r>
              <a:rPr lang="en-US" spc="-120" dirty="0">
                <a:latin typeface="Arial"/>
                <a:cs typeface="Arial"/>
              </a:rPr>
              <a:t>QGIS</a:t>
            </a:r>
            <a:r>
              <a:rPr sz="1800" spc="-120" dirty="0">
                <a:latin typeface="Arial"/>
                <a:cs typeface="Arial"/>
              </a:rPr>
              <a:t>,</a:t>
            </a:r>
            <a:r>
              <a:rPr sz="1800" spc="-65" dirty="0">
                <a:latin typeface="Arial"/>
                <a:cs typeface="Arial"/>
              </a:rPr>
              <a:t> </a:t>
            </a:r>
            <a:r>
              <a:rPr sz="1800" spc="-85" dirty="0">
                <a:latin typeface="Arial"/>
                <a:cs typeface="Arial"/>
              </a:rPr>
              <a:t>you</a:t>
            </a:r>
            <a:r>
              <a:rPr sz="1800" spc="-55" dirty="0">
                <a:latin typeface="Arial"/>
                <a:cs typeface="Arial"/>
              </a:rPr>
              <a:t> </a:t>
            </a:r>
            <a:r>
              <a:rPr sz="1800" spc="-20" dirty="0">
                <a:latin typeface="Arial"/>
                <a:cs typeface="Arial"/>
              </a:rPr>
              <a:t>will </a:t>
            </a:r>
            <a:r>
              <a:rPr sz="1800" spc="-50" dirty="0">
                <a:latin typeface="Arial"/>
                <a:cs typeface="Arial"/>
              </a:rPr>
              <a:t>only</a:t>
            </a:r>
            <a:r>
              <a:rPr sz="1800" spc="-80" dirty="0">
                <a:latin typeface="Arial"/>
                <a:cs typeface="Arial"/>
              </a:rPr>
              <a:t> </a:t>
            </a:r>
            <a:r>
              <a:rPr sz="1800" spc="-150" dirty="0">
                <a:latin typeface="Arial"/>
                <a:cs typeface="Arial"/>
              </a:rPr>
              <a:t>see</a:t>
            </a:r>
            <a:r>
              <a:rPr sz="1800" spc="-70" dirty="0">
                <a:latin typeface="Arial"/>
                <a:cs typeface="Arial"/>
              </a:rPr>
              <a:t> </a:t>
            </a:r>
            <a:r>
              <a:rPr sz="1800" spc="-85" dirty="0">
                <a:latin typeface="Arial"/>
                <a:cs typeface="Arial"/>
              </a:rPr>
              <a:t>one</a:t>
            </a:r>
            <a:r>
              <a:rPr sz="1800" spc="-70" dirty="0">
                <a:latin typeface="Arial"/>
                <a:cs typeface="Arial"/>
              </a:rPr>
              <a:t> </a:t>
            </a:r>
            <a:r>
              <a:rPr sz="1800" spc="-20" dirty="0">
                <a:latin typeface="Arial"/>
                <a:cs typeface="Arial"/>
              </a:rPr>
              <a:t>file,</a:t>
            </a:r>
            <a:r>
              <a:rPr sz="1800" spc="-80" dirty="0">
                <a:latin typeface="Arial"/>
                <a:cs typeface="Arial"/>
              </a:rPr>
              <a:t> </a:t>
            </a:r>
            <a:r>
              <a:rPr sz="1800" spc="-25" dirty="0">
                <a:latin typeface="Arial"/>
                <a:cs typeface="Arial"/>
              </a:rPr>
              <a:t>not </a:t>
            </a:r>
            <a:r>
              <a:rPr sz="1800" spc="-85" dirty="0">
                <a:latin typeface="Arial"/>
                <a:cs typeface="Arial"/>
              </a:rPr>
              <a:t>every</a:t>
            </a:r>
            <a:r>
              <a:rPr sz="1800" spc="-75" dirty="0">
                <a:latin typeface="Arial"/>
                <a:cs typeface="Arial"/>
              </a:rPr>
              <a:t> </a:t>
            </a:r>
            <a:r>
              <a:rPr sz="1800" spc="-10" dirty="0">
                <a:latin typeface="Arial"/>
                <a:cs typeface="Arial"/>
              </a:rPr>
              <a:t>extension.</a:t>
            </a:r>
            <a:endParaRPr sz="1800" dirty="0">
              <a:latin typeface="Arial"/>
              <a:cs typeface="Arial"/>
            </a:endParaRPr>
          </a:p>
        </p:txBody>
      </p:sp>
      <p:sp>
        <p:nvSpPr>
          <p:cNvPr id="11" name="object 11"/>
          <p:cNvSpPr/>
          <p:nvPr/>
        </p:nvSpPr>
        <p:spPr>
          <a:xfrm>
            <a:off x="6570130" y="4531954"/>
            <a:ext cx="2437765" cy="1021080"/>
          </a:xfrm>
          <a:custGeom>
            <a:avLst/>
            <a:gdLst/>
            <a:ahLst/>
            <a:cxnLst/>
            <a:rect l="l" t="t" r="r" b="b"/>
            <a:pathLst>
              <a:path w="2437765" h="1021079">
                <a:moveTo>
                  <a:pt x="0" y="170174"/>
                </a:moveTo>
                <a:lnTo>
                  <a:pt x="6078" y="124935"/>
                </a:lnTo>
                <a:lnTo>
                  <a:pt x="23233" y="84284"/>
                </a:lnTo>
                <a:lnTo>
                  <a:pt x="49842" y="49843"/>
                </a:lnTo>
                <a:lnTo>
                  <a:pt x="84284" y="23233"/>
                </a:lnTo>
                <a:lnTo>
                  <a:pt x="124935" y="6078"/>
                </a:lnTo>
                <a:lnTo>
                  <a:pt x="170174" y="0"/>
                </a:lnTo>
                <a:lnTo>
                  <a:pt x="2266982" y="0"/>
                </a:lnTo>
                <a:lnTo>
                  <a:pt x="2312221" y="6078"/>
                </a:lnTo>
                <a:lnTo>
                  <a:pt x="2352872" y="23233"/>
                </a:lnTo>
                <a:lnTo>
                  <a:pt x="2387313" y="49843"/>
                </a:lnTo>
                <a:lnTo>
                  <a:pt x="2413922" y="84284"/>
                </a:lnTo>
                <a:lnTo>
                  <a:pt x="2431077" y="124935"/>
                </a:lnTo>
                <a:lnTo>
                  <a:pt x="2437156" y="170174"/>
                </a:lnTo>
                <a:lnTo>
                  <a:pt x="2437156" y="850860"/>
                </a:lnTo>
                <a:lnTo>
                  <a:pt x="2431077" y="896099"/>
                </a:lnTo>
                <a:lnTo>
                  <a:pt x="2413922" y="936750"/>
                </a:lnTo>
                <a:lnTo>
                  <a:pt x="2387313" y="971192"/>
                </a:lnTo>
                <a:lnTo>
                  <a:pt x="2352872" y="997801"/>
                </a:lnTo>
                <a:lnTo>
                  <a:pt x="2312221" y="1014956"/>
                </a:lnTo>
                <a:lnTo>
                  <a:pt x="2266982" y="1021035"/>
                </a:lnTo>
                <a:lnTo>
                  <a:pt x="170174" y="1021035"/>
                </a:lnTo>
                <a:lnTo>
                  <a:pt x="124935" y="1014956"/>
                </a:lnTo>
                <a:lnTo>
                  <a:pt x="84284" y="997801"/>
                </a:lnTo>
                <a:lnTo>
                  <a:pt x="49842" y="971192"/>
                </a:lnTo>
                <a:lnTo>
                  <a:pt x="23233" y="936750"/>
                </a:lnTo>
                <a:lnTo>
                  <a:pt x="6078" y="896099"/>
                </a:lnTo>
                <a:lnTo>
                  <a:pt x="0" y="850860"/>
                </a:lnTo>
                <a:lnTo>
                  <a:pt x="0" y="170174"/>
                </a:lnTo>
                <a:close/>
              </a:path>
            </a:pathLst>
          </a:custGeom>
          <a:ln w="25387">
            <a:solidFill>
              <a:srgbClr val="B9401B"/>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8495" y="967044"/>
            <a:ext cx="7989752" cy="443711"/>
          </a:xfrm>
          <a:prstGeom prst="rect">
            <a:avLst/>
          </a:prstGeom>
        </p:spPr>
        <p:txBody>
          <a:bodyPr vert="horz" wrap="square" lIns="0" tIns="12700" rIns="0" bIns="0" rtlCol="0">
            <a:spAutoFit/>
          </a:bodyPr>
          <a:lstStyle/>
          <a:p>
            <a:pPr marL="32384">
              <a:lnSpc>
                <a:spcPct val="100000"/>
              </a:lnSpc>
              <a:spcBef>
                <a:spcPts val="100"/>
              </a:spcBef>
            </a:pPr>
            <a:r>
              <a:rPr spc="-260" dirty="0">
                <a:latin typeface="Arial" panose="020B0604020202020204" pitchFamily="34" charset="0"/>
                <a:cs typeface="Arial" panose="020B0604020202020204" pitchFamily="34" charset="0"/>
              </a:rPr>
              <a:t>Data</a:t>
            </a:r>
            <a:r>
              <a:rPr spc="-21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29" dirty="0">
                <a:latin typeface="Arial" panose="020B0604020202020204" pitchFamily="34" charset="0"/>
                <a:cs typeface="Arial" panose="020B0604020202020204" pitchFamily="34" charset="0"/>
              </a:rPr>
              <a:t> </a:t>
            </a:r>
            <a:r>
              <a:rPr spc="-254" dirty="0">
                <a:latin typeface="Arial" panose="020B0604020202020204" pitchFamily="34" charset="0"/>
                <a:cs typeface="Arial" panose="020B0604020202020204" pitchFamily="34" charset="0"/>
              </a:rPr>
              <a:t>Tabular</a:t>
            </a:r>
            <a:r>
              <a:rPr spc="-220"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file</a:t>
            </a:r>
            <a:r>
              <a:rPr spc="-270" dirty="0">
                <a:latin typeface="Arial" panose="020B0604020202020204" pitchFamily="34" charset="0"/>
                <a:cs typeface="Arial" panose="020B0604020202020204" pitchFamily="34" charset="0"/>
              </a:rPr>
              <a:t> </a:t>
            </a:r>
            <a:r>
              <a:rPr spc="-80" dirty="0">
                <a:latin typeface="Arial" panose="020B0604020202020204" pitchFamily="34" charset="0"/>
                <a:cs typeface="Arial" panose="020B0604020202020204" pitchFamily="34" charset="0"/>
              </a:rPr>
              <a:t>formats</a:t>
            </a:r>
          </a:p>
        </p:txBody>
      </p:sp>
      <p:sp>
        <p:nvSpPr>
          <p:cNvPr id="21" name="object 21"/>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5</a:t>
            </a:fld>
            <a:endParaRPr spc="-25" dirty="0"/>
          </a:p>
        </p:txBody>
      </p:sp>
      <p:sp>
        <p:nvSpPr>
          <p:cNvPr id="3" name="object 3"/>
          <p:cNvSpPr txBox="1"/>
          <p:nvPr/>
        </p:nvSpPr>
        <p:spPr>
          <a:xfrm>
            <a:off x="482225" y="1962023"/>
            <a:ext cx="7900670" cy="806450"/>
          </a:xfrm>
          <a:prstGeom prst="rect">
            <a:avLst/>
          </a:prstGeom>
        </p:spPr>
        <p:txBody>
          <a:bodyPr vert="horz" wrap="square" lIns="0" tIns="59690" rIns="0" bIns="0" rtlCol="0">
            <a:spAutoFit/>
          </a:bodyPr>
          <a:lstStyle/>
          <a:p>
            <a:pPr marL="12700" marR="5080">
              <a:lnSpc>
                <a:spcPts val="2910"/>
              </a:lnSpc>
              <a:spcBef>
                <a:spcPts val="470"/>
              </a:spcBef>
            </a:pPr>
            <a:r>
              <a:rPr sz="2700" spc="-360" dirty="0">
                <a:latin typeface="Arial"/>
                <a:cs typeface="Arial"/>
              </a:rPr>
              <a:t>GIS</a:t>
            </a:r>
            <a:r>
              <a:rPr sz="2700" spc="-130" dirty="0">
                <a:latin typeface="Arial"/>
                <a:cs typeface="Arial"/>
              </a:rPr>
              <a:t> </a:t>
            </a:r>
            <a:r>
              <a:rPr sz="2700" spc="-85" dirty="0">
                <a:latin typeface="Arial"/>
                <a:cs typeface="Arial"/>
              </a:rPr>
              <a:t>software</a:t>
            </a:r>
            <a:r>
              <a:rPr sz="2700" spc="-125" dirty="0">
                <a:latin typeface="Arial"/>
                <a:cs typeface="Arial"/>
              </a:rPr>
              <a:t> </a:t>
            </a:r>
            <a:r>
              <a:rPr sz="2700" spc="-195" dirty="0">
                <a:latin typeface="Arial"/>
                <a:cs typeface="Arial"/>
              </a:rPr>
              <a:t>can</a:t>
            </a:r>
            <a:r>
              <a:rPr sz="2700" spc="-130" dirty="0">
                <a:latin typeface="Arial"/>
                <a:cs typeface="Arial"/>
              </a:rPr>
              <a:t> read </a:t>
            </a:r>
            <a:r>
              <a:rPr sz="2700" spc="-110" dirty="0">
                <a:latin typeface="Arial"/>
                <a:cs typeface="Arial"/>
              </a:rPr>
              <a:t>commonly</a:t>
            </a:r>
            <a:r>
              <a:rPr sz="2700" spc="-120" dirty="0">
                <a:latin typeface="Arial"/>
                <a:cs typeface="Arial"/>
              </a:rPr>
              <a:t> </a:t>
            </a:r>
            <a:r>
              <a:rPr sz="2700" spc="-175" dirty="0">
                <a:latin typeface="Arial"/>
                <a:cs typeface="Arial"/>
              </a:rPr>
              <a:t>used</a:t>
            </a:r>
            <a:r>
              <a:rPr sz="2700" spc="-130" dirty="0">
                <a:latin typeface="Arial"/>
                <a:cs typeface="Arial"/>
              </a:rPr>
              <a:t> </a:t>
            </a:r>
            <a:r>
              <a:rPr sz="2700" spc="-70" dirty="0">
                <a:latin typeface="Arial"/>
                <a:cs typeface="Arial"/>
              </a:rPr>
              <a:t>tabular</a:t>
            </a:r>
            <a:r>
              <a:rPr sz="2700" spc="-125" dirty="0">
                <a:latin typeface="Arial"/>
                <a:cs typeface="Arial"/>
              </a:rPr>
              <a:t> </a:t>
            </a:r>
            <a:r>
              <a:rPr sz="2700" spc="-80" dirty="0">
                <a:latin typeface="Arial"/>
                <a:cs typeface="Arial"/>
              </a:rPr>
              <a:t>formats</a:t>
            </a:r>
            <a:r>
              <a:rPr sz="2700" spc="-130" dirty="0">
                <a:latin typeface="Arial"/>
                <a:cs typeface="Arial"/>
              </a:rPr>
              <a:t> </a:t>
            </a:r>
            <a:r>
              <a:rPr sz="2700" spc="-25" dirty="0">
                <a:latin typeface="Arial"/>
                <a:cs typeface="Arial"/>
              </a:rPr>
              <a:t>in </a:t>
            </a:r>
            <a:r>
              <a:rPr sz="2700" spc="-65" dirty="0">
                <a:latin typeface="Arial"/>
                <a:cs typeface="Arial"/>
              </a:rPr>
              <a:t>order</a:t>
            </a:r>
            <a:r>
              <a:rPr sz="2700" spc="-140" dirty="0">
                <a:latin typeface="Arial"/>
                <a:cs typeface="Arial"/>
              </a:rPr>
              <a:t> </a:t>
            </a:r>
            <a:r>
              <a:rPr sz="2700" dirty="0">
                <a:latin typeface="Arial"/>
                <a:cs typeface="Arial"/>
              </a:rPr>
              <a:t>to</a:t>
            </a:r>
            <a:r>
              <a:rPr sz="2700" spc="-130" dirty="0">
                <a:latin typeface="Arial"/>
                <a:cs typeface="Arial"/>
              </a:rPr>
              <a:t> </a:t>
            </a:r>
            <a:r>
              <a:rPr sz="2700" spc="-80" dirty="0">
                <a:latin typeface="Arial"/>
                <a:cs typeface="Arial"/>
              </a:rPr>
              <a:t>transform</a:t>
            </a:r>
            <a:r>
              <a:rPr sz="2700" spc="-130" dirty="0">
                <a:latin typeface="Arial"/>
                <a:cs typeface="Arial"/>
              </a:rPr>
              <a:t> </a:t>
            </a:r>
            <a:r>
              <a:rPr sz="2700" spc="-65" dirty="0">
                <a:latin typeface="Arial"/>
                <a:cs typeface="Arial"/>
              </a:rPr>
              <a:t>them</a:t>
            </a:r>
            <a:r>
              <a:rPr sz="2700" spc="-125" dirty="0">
                <a:latin typeface="Arial"/>
                <a:cs typeface="Arial"/>
              </a:rPr>
              <a:t> </a:t>
            </a:r>
            <a:r>
              <a:rPr sz="2700" spc="-10" dirty="0">
                <a:latin typeface="Arial"/>
                <a:cs typeface="Arial"/>
              </a:rPr>
              <a:t>into</a:t>
            </a:r>
            <a:r>
              <a:rPr sz="2700" spc="-130" dirty="0">
                <a:latin typeface="Arial"/>
                <a:cs typeface="Arial"/>
              </a:rPr>
              <a:t> </a:t>
            </a:r>
            <a:r>
              <a:rPr sz="2700" spc="-100" dirty="0">
                <a:latin typeface="Arial"/>
                <a:cs typeface="Arial"/>
              </a:rPr>
              <a:t>spatial</a:t>
            </a:r>
            <a:r>
              <a:rPr sz="2700" spc="-130" dirty="0">
                <a:latin typeface="Arial"/>
                <a:cs typeface="Arial"/>
              </a:rPr>
              <a:t> </a:t>
            </a:r>
            <a:r>
              <a:rPr sz="2700" spc="-10" dirty="0">
                <a:latin typeface="Arial"/>
                <a:cs typeface="Arial"/>
              </a:rPr>
              <a:t>data.</a:t>
            </a:r>
            <a:endParaRPr sz="2700" dirty="0">
              <a:latin typeface="Arial"/>
              <a:cs typeface="Arial"/>
            </a:endParaRPr>
          </a:p>
        </p:txBody>
      </p:sp>
      <p:pic>
        <p:nvPicPr>
          <p:cNvPr id="4" name="object 4"/>
          <p:cNvPicPr/>
          <p:nvPr/>
        </p:nvPicPr>
        <p:blipFill>
          <a:blip r:embed="rId2" cstate="print"/>
          <a:stretch>
            <a:fillRect/>
          </a:stretch>
        </p:blipFill>
        <p:spPr>
          <a:xfrm>
            <a:off x="972311" y="3048000"/>
            <a:ext cx="1167384" cy="1048512"/>
          </a:xfrm>
          <a:prstGeom prst="rect">
            <a:avLst/>
          </a:prstGeom>
        </p:spPr>
      </p:pic>
      <p:sp>
        <p:nvSpPr>
          <p:cNvPr id="5" name="object 5"/>
          <p:cNvSpPr txBox="1"/>
          <p:nvPr/>
        </p:nvSpPr>
        <p:spPr>
          <a:xfrm>
            <a:off x="1292095" y="3322828"/>
            <a:ext cx="561975" cy="452120"/>
          </a:xfrm>
          <a:prstGeom prst="rect">
            <a:avLst/>
          </a:prstGeom>
        </p:spPr>
        <p:txBody>
          <a:bodyPr vert="horz" wrap="square" lIns="0" tIns="12700" rIns="0" bIns="0" rtlCol="0">
            <a:spAutoFit/>
          </a:bodyPr>
          <a:lstStyle/>
          <a:p>
            <a:pPr marL="12700">
              <a:lnSpc>
                <a:spcPct val="100000"/>
              </a:lnSpc>
              <a:spcBef>
                <a:spcPts val="100"/>
              </a:spcBef>
            </a:pPr>
            <a:r>
              <a:rPr sz="2800" spc="-175" dirty="0">
                <a:latin typeface="Arial"/>
                <a:cs typeface="Arial"/>
              </a:rPr>
              <a:t>.csv</a:t>
            </a:r>
            <a:endParaRPr sz="2800">
              <a:latin typeface="Arial"/>
              <a:cs typeface="Arial"/>
            </a:endParaRPr>
          </a:p>
        </p:txBody>
      </p:sp>
      <p:sp>
        <p:nvSpPr>
          <p:cNvPr id="6" name="object 6"/>
          <p:cNvSpPr/>
          <p:nvPr/>
        </p:nvSpPr>
        <p:spPr>
          <a:xfrm>
            <a:off x="6356222" y="3937266"/>
            <a:ext cx="2232025" cy="1940560"/>
          </a:xfrm>
          <a:custGeom>
            <a:avLst/>
            <a:gdLst/>
            <a:ahLst/>
            <a:cxnLst/>
            <a:rect l="l" t="t" r="r" b="b"/>
            <a:pathLst>
              <a:path w="2232025" h="1940560">
                <a:moveTo>
                  <a:pt x="0" y="323334"/>
                </a:moveTo>
                <a:lnTo>
                  <a:pt x="3505" y="275554"/>
                </a:lnTo>
                <a:lnTo>
                  <a:pt x="13689" y="229951"/>
                </a:lnTo>
                <a:lnTo>
                  <a:pt x="30051" y="187024"/>
                </a:lnTo>
                <a:lnTo>
                  <a:pt x="52091" y="147275"/>
                </a:lnTo>
                <a:lnTo>
                  <a:pt x="79308" y="111203"/>
                </a:lnTo>
                <a:lnTo>
                  <a:pt x="111203" y="79308"/>
                </a:lnTo>
                <a:lnTo>
                  <a:pt x="147275" y="52091"/>
                </a:lnTo>
                <a:lnTo>
                  <a:pt x="187024" y="30051"/>
                </a:lnTo>
                <a:lnTo>
                  <a:pt x="229951" y="13689"/>
                </a:lnTo>
                <a:lnTo>
                  <a:pt x="275554" y="3505"/>
                </a:lnTo>
                <a:lnTo>
                  <a:pt x="323334" y="0"/>
                </a:lnTo>
                <a:lnTo>
                  <a:pt x="1908242" y="0"/>
                </a:lnTo>
                <a:lnTo>
                  <a:pt x="1956022" y="3505"/>
                </a:lnTo>
                <a:lnTo>
                  <a:pt x="2001625" y="13689"/>
                </a:lnTo>
                <a:lnTo>
                  <a:pt x="2044552" y="30051"/>
                </a:lnTo>
                <a:lnTo>
                  <a:pt x="2084301" y="52091"/>
                </a:lnTo>
                <a:lnTo>
                  <a:pt x="2120373" y="79308"/>
                </a:lnTo>
                <a:lnTo>
                  <a:pt x="2152268" y="111203"/>
                </a:lnTo>
                <a:lnTo>
                  <a:pt x="2179486" y="147275"/>
                </a:lnTo>
                <a:lnTo>
                  <a:pt x="2201525" y="187024"/>
                </a:lnTo>
                <a:lnTo>
                  <a:pt x="2217887" y="229951"/>
                </a:lnTo>
                <a:lnTo>
                  <a:pt x="2228071" y="275554"/>
                </a:lnTo>
                <a:lnTo>
                  <a:pt x="2231577" y="323334"/>
                </a:lnTo>
                <a:lnTo>
                  <a:pt x="2231577" y="1616632"/>
                </a:lnTo>
                <a:lnTo>
                  <a:pt x="2228071" y="1664412"/>
                </a:lnTo>
                <a:lnTo>
                  <a:pt x="2217887" y="1710015"/>
                </a:lnTo>
                <a:lnTo>
                  <a:pt x="2201525" y="1752941"/>
                </a:lnTo>
                <a:lnTo>
                  <a:pt x="2179486" y="1792691"/>
                </a:lnTo>
                <a:lnTo>
                  <a:pt x="2152268" y="1828763"/>
                </a:lnTo>
                <a:lnTo>
                  <a:pt x="2120373" y="1860658"/>
                </a:lnTo>
                <a:lnTo>
                  <a:pt x="2084301" y="1887875"/>
                </a:lnTo>
                <a:lnTo>
                  <a:pt x="2044552" y="1909915"/>
                </a:lnTo>
                <a:lnTo>
                  <a:pt x="2001625" y="1926277"/>
                </a:lnTo>
                <a:lnTo>
                  <a:pt x="1956022" y="1936461"/>
                </a:lnTo>
                <a:lnTo>
                  <a:pt x="1908242" y="1939967"/>
                </a:lnTo>
                <a:lnTo>
                  <a:pt x="323334" y="1939967"/>
                </a:lnTo>
                <a:lnTo>
                  <a:pt x="275554" y="1936461"/>
                </a:lnTo>
                <a:lnTo>
                  <a:pt x="229951" y="1926277"/>
                </a:lnTo>
                <a:lnTo>
                  <a:pt x="187024" y="1909915"/>
                </a:lnTo>
                <a:lnTo>
                  <a:pt x="147275" y="1887875"/>
                </a:lnTo>
                <a:lnTo>
                  <a:pt x="111203" y="1860658"/>
                </a:lnTo>
                <a:lnTo>
                  <a:pt x="79308" y="1828763"/>
                </a:lnTo>
                <a:lnTo>
                  <a:pt x="52091" y="1792691"/>
                </a:lnTo>
                <a:lnTo>
                  <a:pt x="30051" y="1752941"/>
                </a:lnTo>
                <a:lnTo>
                  <a:pt x="13689" y="1710015"/>
                </a:lnTo>
                <a:lnTo>
                  <a:pt x="3505" y="1664412"/>
                </a:lnTo>
                <a:lnTo>
                  <a:pt x="0" y="1616632"/>
                </a:lnTo>
                <a:lnTo>
                  <a:pt x="0" y="323334"/>
                </a:lnTo>
                <a:close/>
              </a:path>
            </a:pathLst>
          </a:custGeom>
          <a:ln w="25387">
            <a:solidFill>
              <a:srgbClr val="B9401B"/>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703576" y="3072383"/>
            <a:ext cx="1231391" cy="1021080"/>
          </a:xfrm>
          <a:prstGeom prst="rect">
            <a:avLst/>
          </a:prstGeom>
        </p:spPr>
      </p:pic>
      <p:sp>
        <p:nvSpPr>
          <p:cNvPr id="8" name="object 8"/>
          <p:cNvSpPr txBox="1"/>
          <p:nvPr/>
        </p:nvSpPr>
        <p:spPr>
          <a:xfrm>
            <a:off x="2971497" y="3374644"/>
            <a:ext cx="640715" cy="452120"/>
          </a:xfrm>
          <a:prstGeom prst="rect">
            <a:avLst/>
          </a:prstGeom>
        </p:spPr>
        <p:txBody>
          <a:bodyPr vert="horz" wrap="square" lIns="0" tIns="12700" rIns="0" bIns="0" rtlCol="0">
            <a:spAutoFit/>
          </a:bodyPr>
          <a:lstStyle/>
          <a:p>
            <a:pPr marL="12700">
              <a:lnSpc>
                <a:spcPct val="100000"/>
              </a:lnSpc>
              <a:spcBef>
                <a:spcPts val="100"/>
              </a:spcBef>
            </a:pPr>
            <a:r>
              <a:rPr sz="2800" spc="-150" dirty="0">
                <a:latin typeface="Arial"/>
                <a:cs typeface="Arial"/>
              </a:rPr>
              <a:t>.xlsx</a:t>
            </a:r>
            <a:endParaRPr sz="2800">
              <a:latin typeface="Arial"/>
              <a:cs typeface="Arial"/>
            </a:endParaRPr>
          </a:p>
        </p:txBody>
      </p:sp>
      <p:pic>
        <p:nvPicPr>
          <p:cNvPr id="9" name="object 9"/>
          <p:cNvPicPr/>
          <p:nvPr/>
        </p:nvPicPr>
        <p:blipFill>
          <a:blip r:embed="rId4" cstate="print"/>
          <a:stretch>
            <a:fillRect/>
          </a:stretch>
        </p:blipFill>
        <p:spPr>
          <a:xfrm>
            <a:off x="4450079" y="3054095"/>
            <a:ext cx="1228344" cy="1024127"/>
          </a:xfrm>
          <a:prstGeom prst="rect">
            <a:avLst/>
          </a:prstGeom>
        </p:spPr>
      </p:pic>
      <p:sp>
        <p:nvSpPr>
          <p:cNvPr id="10" name="object 10"/>
          <p:cNvSpPr txBox="1"/>
          <p:nvPr/>
        </p:nvSpPr>
        <p:spPr>
          <a:xfrm>
            <a:off x="4738952" y="3356355"/>
            <a:ext cx="596265" cy="452120"/>
          </a:xfrm>
          <a:prstGeom prst="rect">
            <a:avLst/>
          </a:prstGeom>
        </p:spPr>
        <p:txBody>
          <a:bodyPr vert="horz" wrap="square" lIns="0" tIns="12700" rIns="0" bIns="0" rtlCol="0">
            <a:spAutoFit/>
          </a:bodyPr>
          <a:lstStyle/>
          <a:p>
            <a:pPr marL="12700">
              <a:lnSpc>
                <a:spcPct val="100000"/>
              </a:lnSpc>
              <a:spcBef>
                <a:spcPts val="100"/>
              </a:spcBef>
            </a:pPr>
            <a:r>
              <a:rPr sz="2800" spc="-40" dirty="0">
                <a:latin typeface="Arial"/>
                <a:cs typeface="Arial"/>
              </a:rPr>
              <a:t>.dbf</a:t>
            </a:r>
            <a:endParaRPr sz="2800">
              <a:latin typeface="Arial"/>
              <a:cs typeface="Arial"/>
            </a:endParaRPr>
          </a:p>
        </p:txBody>
      </p:sp>
      <p:grpSp>
        <p:nvGrpSpPr>
          <p:cNvPr id="11" name="object 11"/>
          <p:cNvGrpSpPr/>
          <p:nvPr/>
        </p:nvGrpSpPr>
        <p:grpSpPr>
          <a:xfrm>
            <a:off x="3070806" y="4170085"/>
            <a:ext cx="459105" cy="711200"/>
            <a:chOff x="3070806" y="4170085"/>
            <a:chExt cx="459105" cy="711200"/>
          </a:xfrm>
        </p:grpSpPr>
        <p:sp>
          <p:nvSpPr>
            <p:cNvPr id="12" name="object 12"/>
            <p:cNvSpPr/>
            <p:nvPr/>
          </p:nvSpPr>
          <p:spPr>
            <a:xfrm>
              <a:off x="3083500" y="4182785"/>
              <a:ext cx="433705" cy="686435"/>
            </a:xfrm>
            <a:custGeom>
              <a:avLst/>
              <a:gdLst/>
              <a:ahLst/>
              <a:cxnLst/>
              <a:rect l="l" t="t" r="r" b="b"/>
              <a:pathLst>
                <a:path w="433704" h="686435">
                  <a:moveTo>
                    <a:pt x="325145" y="0"/>
                  </a:moveTo>
                  <a:lnTo>
                    <a:pt x="108381" y="0"/>
                  </a:lnTo>
                  <a:lnTo>
                    <a:pt x="108381" y="469214"/>
                  </a:lnTo>
                  <a:lnTo>
                    <a:pt x="0" y="469214"/>
                  </a:lnTo>
                  <a:lnTo>
                    <a:pt x="216763" y="685977"/>
                  </a:lnTo>
                  <a:lnTo>
                    <a:pt x="433527" y="469214"/>
                  </a:lnTo>
                  <a:lnTo>
                    <a:pt x="325145" y="469214"/>
                  </a:lnTo>
                  <a:lnTo>
                    <a:pt x="325145" y="0"/>
                  </a:lnTo>
                  <a:close/>
                </a:path>
              </a:pathLst>
            </a:custGeom>
            <a:solidFill>
              <a:srgbClr val="0F6FC6"/>
            </a:solidFill>
          </p:spPr>
          <p:txBody>
            <a:bodyPr wrap="square" lIns="0" tIns="0" rIns="0" bIns="0" rtlCol="0"/>
            <a:lstStyle/>
            <a:p>
              <a:endParaRPr/>
            </a:p>
          </p:txBody>
        </p:sp>
        <p:sp>
          <p:nvSpPr>
            <p:cNvPr id="13" name="object 13"/>
            <p:cNvSpPr/>
            <p:nvPr/>
          </p:nvSpPr>
          <p:spPr>
            <a:xfrm>
              <a:off x="3083500" y="4182779"/>
              <a:ext cx="433705" cy="685800"/>
            </a:xfrm>
            <a:custGeom>
              <a:avLst/>
              <a:gdLst/>
              <a:ahLst/>
              <a:cxnLst/>
              <a:rect l="l" t="t" r="r" b="b"/>
              <a:pathLst>
                <a:path w="433704" h="685800">
                  <a:moveTo>
                    <a:pt x="0" y="468980"/>
                  </a:moveTo>
                  <a:lnTo>
                    <a:pt x="108328" y="468980"/>
                  </a:lnTo>
                  <a:lnTo>
                    <a:pt x="108328" y="0"/>
                  </a:lnTo>
                  <a:lnTo>
                    <a:pt x="324983" y="0"/>
                  </a:lnTo>
                  <a:lnTo>
                    <a:pt x="324983" y="468980"/>
                  </a:lnTo>
                  <a:lnTo>
                    <a:pt x="433311" y="468980"/>
                  </a:lnTo>
                  <a:lnTo>
                    <a:pt x="216656" y="685636"/>
                  </a:lnTo>
                  <a:lnTo>
                    <a:pt x="0" y="468980"/>
                  </a:lnTo>
                  <a:close/>
                </a:path>
              </a:pathLst>
            </a:custGeom>
            <a:ln w="25387">
              <a:solidFill>
                <a:srgbClr val="085091"/>
              </a:solidFill>
            </a:ln>
          </p:spPr>
          <p:txBody>
            <a:bodyPr wrap="square" lIns="0" tIns="0" rIns="0" bIns="0" rtlCol="0"/>
            <a:lstStyle/>
            <a:p>
              <a:endParaRPr/>
            </a:p>
          </p:txBody>
        </p:sp>
      </p:grpSp>
      <p:grpSp>
        <p:nvGrpSpPr>
          <p:cNvPr id="14" name="object 14"/>
          <p:cNvGrpSpPr/>
          <p:nvPr/>
        </p:nvGrpSpPr>
        <p:grpSpPr>
          <a:xfrm>
            <a:off x="5695079" y="3583599"/>
            <a:ext cx="589280" cy="587375"/>
            <a:chOff x="5695079" y="3583599"/>
            <a:chExt cx="589280" cy="587375"/>
          </a:xfrm>
        </p:grpSpPr>
        <p:sp>
          <p:nvSpPr>
            <p:cNvPr id="15" name="object 15"/>
            <p:cNvSpPr/>
            <p:nvPr/>
          </p:nvSpPr>
          <p:spPr>
            <a:xfrm>
              <a:off x="5707744" y="3596386"/>
              <a:ext cx="563245" cy="561340"/>
            </a:xfrm>
            <a:custGeom>
              <a:avLst/>
              <a:gdLst/>
              <a:ahLst/>
              <a:cxnLst/>
              <a:rect l="l" t="t" r="r" b="b"/>
              <a:pathLst>
                <a:path w="563245" h="561339">
                  <a:moveTo>
                    <a:pt x="152654" y="0"/>
                  </a:moveTo>
                  <a:lnTo>
                    <a:pt x="0" y="153771"/>
                  </a:lnTo>
                  <a:lnTo>
                    <a:pt x="333070" y="484403"/>
                  </a:lnTo>
                  <a:lnTo>
                    <a:pt x="256743" y="561289"/>
                  </a:lnTo>
                  <a:lnTo>
                    <a:pt x="563168" y="560158"/>
                  </a:lnTo>
                  <a:lnTo>
                    <a:pt x="562051" y="253733"/>
                  </a:lnTo>
                  <a:lnTo>
                    <a:pt x="485724" y="330619"/>
                  </a:lnTo>
                  <a:lnTo>
                    <a:pt x="152654" y="0"/>
                  </a:lnTo>
                  <a:close/>
                </a:path>
              </a:pathLst>
            </a:custGeom>
            <a:solidFill>
              <a:srgbClr val="0F6FC6"/>
            </a:solidFill>
          </p:spPr>
          <p:txBody>
            <a:bodyPr wrap="square" lIns="0" tIns="0" rIns="0" bIns="0" rtlCol="0"/>
            <a:lstStyle/>
            <a:p>
              <a:endParaRPr/>
            </a:p>
          </p:txBody>
        </p:sp>
        <p:sp>
          <p:nvSpPr>
            <p:cNvPr id="16" name="object 16"/>
            <p:cNvSpPr/>
            <p:nvPr/>
          </p:nvSpPr>
          <p:spPr>
            <a:xfrm>
              <a:off x="5707784" y="3596305"/>
              <a:ext cx="563880" cy="561975"/>
            </a:xfrm>
            <a:custGeom>
              <a:avLst/>
              <a:gdLst/>
              <a:ahLst/>
              <a:cxnLst/>
              <a:rect l="l" t="t" r="r" b="b"/>
              <a:pathLst>
                <a:path w="563879" h="561975">
                  <a:moveTo>
                    <a:pt x="256812" y="561531"/>
                  </a:moveTo>
                  <a:lnTo>
                    <a:pt x="333175" y="484618"/>
                  </a:lnTo>
                  <a:lnTo>
                    <a:pt x="0" y="153826"/>
                  </a:lnTo>
                  <a:lnTo>
                    <a:pt x="152725" y="0"/>
                  </a:lnTo>
                  <a:lnTo>
                    <a:pt x="485901" y="330791"/>
                  </a:lnTo>
                  <a:lnTo>
                    <a:pt x="562264" y="253878"/>
                  </a:lnTo>
                  <a:lnTo>
                    <a:pt x="563364" y="560430"/>
                  </a:lnTo>
                  <a:lnTo>
                    <a:pt x="256812" y="561531"/>
                  </a:lnTo>
                  <a:close/>
                </a:path>
              </a:pathLst>
            </a:custGeom>
            <a:ln w="25410">
              <a:solidFill>
                <a:srgbClr val="085091"/>
              </a:solidFill>
            </a:ln>
          </p:spPr>
          <p:txBody>
            <a:bodyPr wrap="square" lIns="0" tIns="0" rIns="0" bIns="0" rtlCol="0"/>
            <a:lstStyle/>
            <a:p>
              <a:endParaRPr/>
            </a:p>
          </p:txBody>
        </p:sp>
      </p:grpSp>
      <p:sp>
        <p:nvSpPr>
          <p:cNvPr id="17" name="object 17"/>
          <p:cNvSpPr txBox="1"/>
          <p:nvPr/>
        </p:nvSpPr>
        <p:spPr>
          <a:xfrm>
            <a:off x="6540941" y="4053332"/>
            <a:ext cx="1863725" cy="1671955"/>
          </a:xfrm>
          <a:prstGeom prst="rect">
            <a:avLst/>
          </a:prstGeom>
        </p:spPr>
        <p:txBody>
          <a:bodyPr vert="horz" wrap="square" lIns="0" tIns="12700" rIns="0" bIns="0" rtlCol="0">
            <a:spAutoFit/>
          </a:bodyPr>
          <a:lstStyle/>
          <a:p>
            <a:pPr algn="ctr">
              <a:lnSpc>
                <a:spcPts val="2125"/>
              </a:lnSpc>
              <a:spcBef>
                <a:spcPts val="100"/>
              </a:spcBef>
            </a:pPr>
            <a:r>
              <a:rPr sz="1800" spc="-105" dirty="0">
                <a:latin typeface="Arial"/>
                <a:cs typeface="Arial"/>
              </a:rPr>
              <a:t>Shapefiles</a:t>
            </a:r>
            <a:r>
              <a:rPr sz="1800" spc="-65" dirty="0">
                <a:latin typeface="Arial"/>
                <a:cs typeface="Arial"/>
              </a:rPr>
              <a:t> </a:t>
            </a:r>
            <a:r>
              <a:rPr sz="1800" spc="-60" dirty="0">
                <a:latin typeface="Arial"/>
                <a:cs typeface="Arial"/>
              </a:rPr>
              <a:t>include</a:t>
            </a:r>
            <a:r>
              <a:rPr sz="1800" spc="-50" dirty="0">
                <a:latin typeface="Arial"/>
                <a:cs typeface="Arial"/>
              </a:rPr>
              <a:t> a</a:t>
            </a:r>
            <a:endParaRPr sz="1800">
              <a:latin typeface="Arial"/>
              <a:cs typeface="Arial"/>
            </a:endParaRPr>
          </a:p>
          <a:p>
            <a:pPr algn="ctr">
              <a:lnSpc>
                <a:spcPts val="2125"/>
              </a:lnSpc>
            </a:pPr>
            <a:r>
              <a:rPr sz="1800" spc="-65" dirty="0">
                <a:latin typeface="Arial"/>
                <a:cs typeface="Arial"/>
              </a:rPr>
              <a:t>.dbf,</a:t>
            </a:r>
            <a:r>
              <a:rPr sz="1800" spc="-75" dirty="0">
                <a:latin typeface="Arial"/>
                <a:cs typeface="Arial"/>
              </a:rPr>
              <a:t> </a:t>
            </a:r>
            <a:r>
              <a:rPr sz="1800" spc="-60" dirty="0">
                <a:latin typeface="Arial"/>
                <a:cs typeface="Arial"/>
              </a:rPr>
              <a:t>which</a:t>
            </a:r>
            <a:r>
              <a:rPr sz="1800" spc="-70" dirty="0">
                <a:latin typeface="Arial"/>
                <a:cs typeface="Arial"/>
              </a:rPr>
              <a:t> </a:t>
            </a:r>
            <a:r>
              <a:rPr sz="1800" spc="-100" dirty="0">
                <a:latin typeface="Arial"/>
                <a:cs typeface="Arial"/>
              </a:rPr>
              <a:t>is</a:t>
            </a:r>
            <a:r>
              <a:rPr sz="1800" spc="-75" dirty="0">
                <a:latin typeface="Arial"/>
                <a:cs typeface="Arial"/>
              </a:rPr>
              <a:t> </a:t>
            </a:r>
            <a:r>
              <a:rPr sz="1800" spc="-50" dirty="0">
                <a:latin typeface="Arial"/>
                <a:cs typeface="Arial"/>
              </a:rPr>
              <a:t>a</a:t>
            </a:r>
            <a:endParaRPr sz="1800">
              <a:latin typeface="Arial"/>
              <a:cs typeface="Arial"/>
            </a:endParaRPr>
          </a:p>
          <a:p>
            <a:pPr marL="29209" marR="21590" algn="ctr">
              <a:lnSpc>
                <a:spcPct val="100400"/>
              </a:lnSpc>
              <a:spcBef>
                <a:spcPts val="40"/>
              </a:spcBef>
            </a:pPr>
            <a:r>
              <a:rPr sz="1800" spc="-45" dirty="0">
                <a:latin typeface="Arial"/>
                <a:cs typeface="Arial"/>
              </a:rPr>
              <a:t>tabular</a:t>
            </a:r>
            <a:r>
              <a:rPr sz="1800" spc="-85" dirty="0">
                <a:latin typeface="Arial"/>
                <a:cs typeface="Arial"/>
              </a:rPr>
              <a:t> </a:t>
            </a:r>
            <a:r>
              <a:rPr sz="1800" spc="-30" dirty="0">
                <a:latin typeface="Arial"/>
                <a:cs typeface="Arial"/>
              </a:rPr>
              <a:t>format</a:t>
            </a:r>
            <a:r>
              <a:rPr sz="1800" spc="-80" dirty="0">
                <a:latin typeface="Arial"/>
                <a:cs typeface="Arial"/>
              </a:rPr>
              <a:t> </a:t>
            </a:r>
            <a:r>
              <a:rPr sz="1800" spc="-20" dirty="0">
                <a:latin typeface="Arial"/>
                <a:cs typeface="Arial"/>
              </a:rPr>
              <a:t>that </a:t>
            </a:r>
            <a:r>
              <a:rPr sz="1800" spc="-120" dirty="0">
                <a:latin typeface="Arial"/>
                <a:cs typeface="Arial"/>
              </a:rPr>
              <a:t>can</a:t>
            </a:r>
            <a:r>
              <a:rPr sz="1800" spc="-80" dirty="0">
                <a:latin typeface="Arial"/>
                <a:cs typeface="Arial"/>
              </a:rPr>
              <a:t> </a:t>
            </a:r>
            <a:r>
              <a:rPr sz="1800" spc="-90" dirty="0">
                <a:latin typeface="Arial"/>
                <a:cs typeface="Arial"/>
              </a:rPr>
              <a:t>be</a:t>
            </a:r>
            <a:r>
              <a:rPr sz="1800" spc="-80" dirty="0">
                <a:latin typeface="Arial"/>
                <a:cs typeface="Arial"/>
              </a:rPr>
              <a:t> </a:t>
            </a:r>
            <a:r>
              <a:rPr sz="1800" spc="-75" dirty="0">
                <a:latin typeface="Arial"/>
                <a:cs typeface="Arial"/>
              </a:rPr>
              <a:t>opened</a:t>
            </a:r>
            <a:r>
              <a:rPr sz="1800" spc="-80" dirty="0">
                <a:latin typeface="Arial"/>
                <a:cs typeface="Arial"/>
              </a:rPr>
              <a:t> </a:t>
            </a:r>
            <a:r>
              <a:rPr sz="1800" spc="-25" dirty="0">
                <a:latin typeface="Arial"/>
                <a:cs typeface="Arial"/>
              </a:rPr>
              <a:t>in other</a:t>
            </a:r>
            <a:r>
              <a:rPr sz="1800" spc="-80" dirty="0">
                <a:latin typeface="Arial"/>
                <a:cs typeface="Arial"/>
              </a:rPr>
              <a:t> </a:t>
            </a:r>
            <a:r>
              <a:rPr sz="1800" spc="-55" dirty="0">
                <a:latin typeface="Arial"/>
                <a:cs typeface="Arial"/>
              </a:rPr>
              <a:t>software,</a:t>
            </a:r>
            <a:r>
              <a:rPr sz="1800" spc="-75" dirty="0">
                <a:latin typeface="Arial"/>
                <a:cs typeface="Arial"/>
              </a:rPr>
              <a:t> </a:t>
            </a:r>
            <a:r>
              <a:rPr sz="1800" spc="-45" dirty="0">
                <a:latin typeface="Arial"/>
                <a:cs typeface="Arial"/>
              </a:rPr>
              <a:t>like </a:t>
            </a:r>
            <a:r>
              <a:rPr sz="1800" spc="-10" dirty="0">
                <a:latin typeface="Arial"/>
                <a:cs typeface="Arial"/>
              </a:rPr>
              <a:t>Excel.</a:t>
            </a:r>
            <a:endParaRPr sz="1800">
              <a:latin typeface="Arial"/>
              <a:cs typeface="Arial"/>
            </a:endParaRPr>
          </a:p>
        </p:txBody>
      </p:sp>
      <p:sp>
        <p:nvSpPr>
          <p:cNvPr id="18" name="object 18"/>
          <p:cNvSpPr txBox="1"/>
          <p:nvPr/>
        </p:nvSpPr>
        <p:spPr>
          <a:xfrm>
            <a:off x="2042549" y="5083632"/>
            <a:ext cx="2516505" cy="568325"/>
          </a:xfrm>
          <a:prstGeom prst="rect">
            <a:avLst/>
          </a:prstGeom>
        </p:spPr>
        <p:txBody>
          <a:bodyPr vert="horz" wrap="square" lIns="0" tIns="26670" rIns="0" bIns="0" rtlCol="0">
            <a:spAutoFit/>
          </a:bodyPr>
          <a:lstStyle/>
          <a:p>
            <a:pPr marL="868680" marR="5080" indent="-856615">
              <a:lnSpc>
                <a:spcPts val="2110"/>
              </a:lnSpc>
              <a:spcBef>
                <a:spcPts val="210"/>
              </a:spcBef>
            </a:pPr>
            <a:r>
              <a:rPr sz="1800" spc="-229" dirty="0">
                <a:latin typeface="Arial"/>
                <a:cs typeface="Arial"/>
              </a:rPr>
              <a:t>QGIS</a:t>
            </a:r>
            <a:r>
              <a:rPr sz="1800" spc="-80" dirty="0">
                <a:latin typeface="Arial"/>
                <a:cs typeface="Arial"/>
              </a:rPr>
              <a:t> </a:t>
            </a:r>
            <a:r>
              <a:rPr sz="1800" spc="-65" dirty="0">
                <a:latin typeface="Arial"/>
                <a:cs typeface="Arial"/>
              </a:rPr>
              <a:t>cannot</a:t>
            </a:r>
            <a:r>
              <a:rPr sz="1800" spc="-75" dirty="0">
                <a:latin typeface="Arial"/>
                <a:cs typeface="Arial"/>
              </a:rPr>
              <a:t> </a:t>
            </a:r>
            <a:r>
              <a:rPr sz="1800" spc="-85" dirty="0">
                <a:latin typeface="Arial"/>
                <a:cs typeface="Arial"/>
              </a:rPr>
              <a:t>read</a:t>
            </a:r>
            <a:r>
              <a:rPr sz="1800" spc="-75" dirty="0">
                <a:latin typeface="Arial"/>
                <a:cs typeface="Arial"/>
              </a:rPr>
              <a:t> </a:t>
            </a:r>
            <a:r>
              <a:rPr sz="1800" spc="-150" dirty="0">
                <a:latin typeface="Arial"/>
                <a:cs typeface="Arial"/>
              </a:rPr>
              <a:t>Excel</a:t>
            </a:r>
            <a:r>
              <a:rPr sz="1800" spc="-75" dirty="0">
                <a:latin typeface="Arial"/>
                <a:cs typeface="Arial"/>
              </a:rPr>
              <a:t> </a:t>
            </a:r>
            <a:r>
              <a:rPr sz="1800" spc="-20" dirty="0">
                <a:latin typeface="Arial"/>
                <a:cs typeface="Arial"/>
              </a:rPr>
              <a:t>file </a:t>
            </a:r>
            <a:r>
              <a:rPr sz="1800" spc="-10" dirty="0">
                <a:latin typeface="Arial"/>
                <a:cs typeface="Arial"/>
              </a:rPr>
              <a:t>formats.</a:t>
            </a:r>
            <a:endParaRPr sz="1800">
              <a:latin typeface="Arial"/>
              <a:cs typeface="Arial"/>
            </a:endParaRPr>
          </a:p>
        </p:txBody>
      </p:sp>
      <p:sp>
        <p:nvSpPr>
          <p:cNvPr id="19" name="object 19"/>
          <p:cNvSpPr/>
          <p:nvPr/>
        </p:nvSpPr>
        <p:spPr>
          <a:xfrm>
            <a:off x="1661966" y="5029200"/>
            <a:ext cx="3275329" cy="715010"/>
          </a:xfrm>
          <a:custGeom>
            <a:avLst/>
            <a:gdLst/>
            <a:ahLst/>
            <a:cxnLst/>
            <a:rect l="l" t="t" r="r" b="b"/>
            <a:pathLst>
              <a:path w="3275329" h="715010">
                <a:moveTo>
                  <a:pt x="0" y="119121"/>
                </a:moveTo>
                <a:lnTo>
                  <a:pt x="9361" y="72753"/>
                </a:lnTo>
                <a:lnTo>
                  <a:pt x="34889" y="34889"/>
                </a:lnTo>
                <a:lnTo>
                  <a:pt x="72753" y="9361"/>
                </a:lnTo>
                <a:lnTo>
                  <a:pt x="119120" y="0"/>
                </a:lnTo>
                <a:lnTo>
                  <a:pt x="3155807" y="0"/>
                </a:lnTo>
                <a:lnTo>
                  <a:pt x="3202175" y="9361"/>
                </a:lnTo>
                <a:lnTo>
                  <a:pt x="3240039" y="34889"/>
                </a:lnTo>
                <a:lnTo>
                  <a:pt x="3265567" y="72753"/>
                </a:lnTo>
                <a:lnTo>
                  <a:pt x="3274929" y="119121"/>
                </a:lnTo>
                <a:lnTo>
                  <a:pt x="3274929" y="595602"/>
                </a:lnTo>
                <a:lnTo>
                  <a:pt x="3265567" y="641970"/>
                </a:lnTo>
                <a:lnTo>
                  <a:pt x="3240039" y="679834"/>
                </a:lnTo>
                <a:lnTo>
                  <a:pt x="3202175" y="705363"/>
                </a:lnTo>
                <a:lnTo>
                  <a:pt x="3155807" y="714724"/>
                </a:lnTo>
                <a:lnTo>
                  <a:pt x="119120" y="714724"/>
                </a:lnTo>
                <a:lnTo>
                  <a:pt x="72753" y="705363"/>
                </a:lnTo>
                <a:lnTo>
                  <a:pt x="34889" y="679834"/>
                </a:lnTo>
                <a:lnTo>
                  <a:pt x="9361" y="641970"/>
                </a:lnTo>
                <a:lnTo>
                  <a:pt x="0" y="595602"/>
                </a:lnTo>
                <a:lnTo>
                  <a:pt x="0" y="119121"/>
                </a:lnTo>
                <a:close/>
              </a:path>
            </a:pathLst>
          </a:custGeom>
          <a:ln w="25387">
            <a:solidFill>
              <a:srgbClr val="B9401B"/>
            </a:solidFill>
          </a:ln>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8110" y="531551"/>
            <a:ext cx="6367780" cy="443711"/>
          </a:xfrm>
          <a:prstGeom prst="rect">
            <a:avLst/>
          </a:prstGeom>
        </p:spPr>
        <p:txBody>
          <a:bodyPr vert="horz" wrap="square" lIns="0" tIns="12700" rIns="0" bIns="0" rtlCol="0">
            <a:spAutoFit/>
          </a:bodyPr>
          <a:lstStyle/>
          <a:p>
            <a:pPr marL="12700">
              <a:lnSpc>
                <a:spcPct val="100000"/>
              </a:lnSpc>
              <a:spcBef>
                <a:spcPts val="100"/>
              </a:spcBef>
            </a:pPr>
            <a:r>
              <a:rPr spc="-260" dirty="0">
                <a:latin typeface="Arial" panose="020B0604020202020204" pitchFamily="34" charset="0"/>
                <a:cs typeface="Arial" panose="020B0604020202020204" pitchFamily="34" charset="0"/>
              </a:rPr>
              <a:t>Data</a:t>
            </a:r>
            <a:r>
              <a:rPr spc="-19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15" dirty="0">
                <a:latin typeface="Arial" panose="020B0604020202020204" pitchFamily="34" charset="0"/>
                <a:cs typeface="Arial" panose="020B0604020202020204" pitchFamily="34" charset="0"/>
              </a:rPr>
              <a:t> </a:t>
            </a:r>
            <a:r>
              <a:rPr lang="en-US" spc="-215" dirty="0">
                <a:latin typeface="Arial" panose="020B0604020202020204" pitchFamily="34" charset="0"/>
                <a:cs typeface="Arial" panose="020B0604020202020204" pitchFamily="34" charset="0"/>
              </a:rPr>
              <a:t> </a:t>
            </a:r>
            <a:r>
              <a:rPr spc="-204" dirty="0">
                <a:latin typeface="Arial" panose="020B0604020202020204" pitchFamily="34" charset="0"/>
                <a:cs typeface="Arial" panose="020B0604020202020204" pitchFamily="34" charset="0"/>
              </a:rPr>
              <a:t>Vector</a:t>
            </a:r>
            <a:r>
              <a:rPr spc="-200" dirty="0">
                <a:latin typeface="Arial" panose="020B0604020202020204" pitchFamily="34" charset="0"/>
                <a:cs typeface="Arial" panose="020B0604020202020204" pitchFamily="34" charset="0"/>
              </a:rPr>
              <a:t> </a:t>
            </a:r>
            <a:r>
              <a:rPr spc="-150" dirty="0">
                <a:latin typeface="Arial" panose="020B0604020202020204" pitchFamily="34" charset="0"/>
                <a:cs typeface="Arial" panose="020B0604020202020204" pitchFamily="34" charset="0"/>
              </a:rPr>
              <a:t>mapping</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6</a:t>
            </a:fld>
            <a:endParaRPr spc="-25" dirty="0"/>
          </a:p>
        </p:txBody>
      </p:sp>
      <p:pic>
        <p:nvPicPr>
          <p:cNvPr id="3" name="object 3"/>
          <p:cNvPicPr/>
          <p:nvPr/>
        </p:nvPicPr>
        <p:blipFill>
          <a:blip r:embed="rId2" cstate="print"/>
          <a:stretch>
            <a:fillRect/>
          </a:stretch>
        </p:blipFill>
        <p:spPr>
          <a:xfrm>
            <a:off x="3791379" y="1905000"/>
            <a:ext cx="5190484" cy="5328922"/>
          </a:xfrm>
          <a:prstGeom prst="rect">
            <a:avLst/>
          </a:prstGeom>
        </p:spPr>
      </p:pic>
      <p:sp>
        <p:nvSpPr>
          <p:cNvPr id="4" name="object 4"/>
          <p:cNvSpPr txBox="1"/>
          <p:nvPr/>
        </p:nvSpPr>
        <p:spPr>
          <a:xfrm>
            <a:off x="162137" y="1905000"/>
            <a:ext cx="4326577" cy="2161488"/>
          </a:xfrm>
          <a:prstGeom prst="rect">
            <a:avLst/>
          </a:prstGeom>
        </p:spPr>
        <p:txBody>
          <a:bodyPr vert="horz" wrap="square" lIns="0" tIns="55244" rIns="0" bIns="0" rtlCol="0">
            <a:spAutoFit/>
          </a:bodyPr>
          <a:lstStyle/>
          <a:p>
            <a:pPr marL="12700">
              <a:lnSpc>
                <a:spcPct val="100000"/>
              </a:lnSpc>
              <a:spcBef>
                <a:spcPts val="434"/>
              </a:spcBef>
            </a:pPr>
            <a:r>
              <a:rPr sz="2800" spc="-165" dirty="0">
                <a:latin typeface="Arial"/>
                <a:cs typeface="Arial"/>
              </a:rPr>
              <a:t>Vectors</a:t>
            </a:r>
            <a:r>
              <a:rPr sz="2800" spc="-95" dirty="0">
                <a:latin typeface="Arial"/>
                <a:cs typeface="Arial"/>
              </a:rPr>
              <a:t> </a:t>
            </a:r>
            <a:r>
              <a:rPr sz="2800" spc="-190" dirty="0">
                <a:latin typeface="Arial"/>
                <a:cs typeface="Arial"/>
              </a:rPr>
              <a:t>have</a:t>
            </a:r>
            <a:r>
              <a:rPr sz="2800" spc="-105" dirty="0">
                <a:latin typeface="Arial"/>
                <a:cs typeface="Arial"/>
              </a:rPr>
              <a:t> </a:t>
            </a:r>
            <a:r>
              <a:rPr sz="2800" spc="-240" dirty="0">
                <a:latin typeface="Arial"/>
                <a:cs typeface="Arial"/>
              </a:rPr>
              <a:t>a</a:t>
            </a:r>
            <a:r>
              <a:rPr sz="2800" spc="-110" dirty="0">
                <a:latin typeface="Arial"/>
                <a:cs typeface="Arial"/>
              </a:rPr>
              <a:t> </a:t>
            </a:r>
            <a:r>
              <a:rPr sz="2800" b="1" spc="-170" dirty="0">
                <a:latin typeface="Arial"/>
                <a:cs typeface="Arial"/>
              </a:rPr>
              <a:t>frontend</a:t>
            </a:r>
            <a:r>
              <a:rPr sz="2800" b="1" spc="-105" dirty="0">
                <a:latin typeface="Arial"/>
                <a:cs typeface="Arial"/>
              </a:rPr>
              <a:t> </a:t>
            </a:r>
            <a:r>
              <a:rPr sz="2800" b="1" spc="-155" dirty="0">
                <a:latin typeface="Arial"/>
                <a:cs typeface="Arial"/>
              </a:rPr>
              <a:t>geometry</a:t>
            </a:r>
            <a:endParaRPr sz="2800" dirty="0">
              <a:latin typeface="Arial"/>
              <a:cs typeface="Arial"/>
            </a:endParaRPr>
          </a:p>
          <a:p>
            <a:pPr marL="354965" marR="407670" indent="-342900">
              <a:lnSpc>
                <a:spcPts val="3000"/>
              </a:lnSpc>
              <a:spcBef>
                <a:spcPts val="735"/>
              </a:spcBef>
              <a:buChar char="•"/>
              <a:tabLst>
                <a:tab pos="354965" algn="l"/>
              </a:tabLst>
            </a:pPr>
            <a:r>
              <a:rPr sz="2800" spc="-90" dirty="0">
                <a:latin typeface="Arial"/>
                <a:cs typeface="Arial"/>
              </a:rPr>
              <a:t>In</a:t>
            </a:r>
            <a:r>
              <a:rPr sz="2800" spc="-114" dirty="0">
                <a:latin typeface="Arial"/>
                <a:cs typeface="Arial"/>
              </a:rPr>
              <a:t> </a:t>
            </a:r>
            <a:r>
              <a:rPr sz="2800" spc="-60" dirty="0">
                <a:latin typeface="Arial"/>
                <a:cs typeface="Arial"/>
              </a:rPr>
              <a:t>this</a:t>
            </a:r>
            <a:r>
              <a:rPr sz="2800" spc="-114" dirty="0">
                <a:latin typeface="Arial"/>
                <a:cs typeface="Arial"/>
              </a:rPr>
              <a:t> </a:t>
            </a:r>
            <a:r>
              <a:rPr sz="2800" spc="-165" dirty="0">
                <a:latin typeface="Arial"/>
                <a:cs typeface="Arial"/>
              </a:rPr>
              <a:t>example</a:t>
            </a:r>
            <a:r>
              <a:rPr sz="2800" spc="-130" dirty="0">
                <a:latin typeface="Arial"/>
                <a:cs typeface="Arial"/>
              </a:rPr>
              <a:t> </a:t>
            </a:r>
            <a:r>
              <a:rPr sz="2800" spc="-35" dirty="0">
                <a:latin typeface="Arial"/>
                <a:cs typeface="Arial"/>
              </a:rPr>
              <a:t>the</a:t>
            </a:r>
            <a:r>
              <a:rPr sz="2800" spc="-130" dirty="0">
                <a:latin typeface="Arial"/>
                <a:cs typeface="Arial"/>
              </a:rPr>
              <a:t> </a:t>
            </a:r>
            <a:r>
              <a:rPr sz="2800" spc="-90" dirty="0">
                <a:latin typeface="Arial"/>
                <a:cs typeface="Arial"/>
              </a:rPr>
              <a:t>geometry </a:t>
            </a:r>
            <a:r>
              <a:rPr sz="2800" spc="-125" dirty="0">
                <a:latin typeface="Arial"/>
                <a:cs typeface="Arial"/>
              </a:rPr>
              <a:t>represents </a:t>
            </a:r>
            <a:r>
              <a:rPr sz="2800" spc="-105" dirty="0">
                <a:latin typeface="Arial"/>
                <a:cs typeface="Arial"/>
              </a:rPr>
              <a:t>state</a:t>
            </a:r>
            <a:r>
              <a:rPr sz="2800" spc="-135" dirty="0">
                <a:latin typeface="Arial"/>
                <a:cs typeface="Arial"/>
              </a:rPr>
              <a:t> </a:t>
            </a:r>
            <a:r>
              <a:rPr sz="2800" spc="-20" dirty="0">
                <a:latin typeface="Arial"/>
                <a:cs typeface="Arial"/>
              </a:rPr>
              <a:t>polygons</a:t>
            </a:r>
            <a:endParaRPr sz="2800"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4191000" y="1966340"/>
            <a:ext cx="5484696" cy="6183439"/>
          </a:xfrm>
          <a:prstGeom prst="rect">
            <a:avLst/>
          </a:prstGeom>
        </p:spPr>
      </p:pic>
      <p:sp>
        <p:nvSpPr>
          <p:cNvPr id="6" name="object 6"/>
          <p:cNvSpPr txBox="1">
            <a:spLocks noGrp="1"/>
          </p:cNvSpPr>
          <p:nvPr>
            <p:ph type="title"/>
          </p:nvPr>
        </p:nvSpPr>
        <p:spPr>
          <a:xfrm>
            <a:off x="2372360" y="960856"/>
            <a:ext cx="6367780" cy="443711"/>
          </a:xfrm>
          <a:prstGeom prst="rect">
            <a:avLst/>
          </a:prstGeom>
        </p:spPr>
        <p:txBody>
          <a:bodyPr vert="horz" wrap="square" lIns="0" tIns="12700" rIns="0" bIns="0" rtlCol="0">
            <a:spAutoFit/>
          </a:bodyPr>
          <a:lstStyle/>
          <a:p>
            <a:pPr marL="12700">
              <a:lnSpc>
                <a:spcPct val="100000"/>
              </a:lnSpc>
              <a:spcBef>
                <a:spcPts val="100"/>
              </a:spcBef>
            </a:pPr>
            <a:r>
              <a:rPr spc="-260" dirty="0">
                <a:latin typeface="Arial" panose="020B0604020202020204" pitchFamily="34" charset="0"/>
                <a:cs typeface="Arial" panose="020B0604020202020204" pitchFamily="34" charset="0"/>
              </a:rPr>
              <a:t>Data</a:t>
            </a:r>
            <a:r>
              <a:rPr spc="-19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15" dirty="0">
                <a:latin typeface="Arial" panose="020B0604020202020204" pitchFamily="34" charset="0"/>
                <a:cs typeface="Arial" panose="020B0604020202020204" pitchFamily="34" charset="0"/>
              </a:rPr>
              <a:t> </a:t>
            </a:r>
            <a:r>
              <a:rPr spc="-204" dirty="0">
                <a:latin typeface="Arial" panose="020B0604020202020204" pitchFamily="34" charset="0"/>
                <a:cs typeface="Arial" panose="020B0604020202020204" pitchFamily="34" charset="0"/>
              </a:rPr>
              <a:t>Vector</a:t>
            </a:r>
            <a:r>
              <a:rPr spc="-200" dirty="0">
                <a:latin typeface="Arial" panose="020B0604020202020204" pitchFamily="34" charset="0"/>
                <a:cs typeface="Arial" panose="020B0604020202020204" pitchFamily="34" charset="0"/>
              </a:rPr>
              <a:t> </a:t>
            </a:r>
            <a:r>
              <a:rPr spc="-150" dirty="0">
                <a:latin typeface="Arial" panose="020B0604020202020204" pitchFamily="34" charset="0"/>
                <a:cs typeface="Arial" panose="020B0604020202020204" pitchFamily="34" charset="0"/>
              </a:rPr>
              <a:t>mapping</a:t>
            </a:r>
          </a:p>
        </p:txBody>
      </p:sp>
      <p:sp>
        <p:nvSpPr>
          <p:cNvPr id="5" name="object 5"/>
          <p:cNvSpPr txBox="1">
            <a:spLocks noGrp="1"/>
          </p:cNvSpPr>
          <p:nvPr>
            <p:ph idx="1"/>
          </p:nvPr>
        </p:nvSpPr>
        <p:spPr>
          <a:xfrm>
            <a:off x="457200" y="2187799"/>
            <a:ext cx="7989752" cy="3065198"/>
          </a:xfrm>
          <a:prstGeom prst="rect">
            <a:avLst/>
          </a:prstGeom>
        </p:spPr>
        <p:txBody>
          <a:bodyPr vert="horz" wrap="square" lIns="0" tIns="63500" rIns="0" bIns="0" rtlCol="0">
            <a:spAutoFit/>
          </a:bodyPr>
          <a:lstStyle/>
          <a:p>
            <a:pPr marL="12700" marR="5080">
              <a:lnSpc>
                <a:spcPts val="3000"/>
              </a:lnSpc>
              <a:spcBef>
                <a:spcPts val="500"/>
              </a:spcBef>
            </a:pPr>
            <a:r>
              <a:rPr sz="2400" spc="-165" dirty="0">
                <a:latin typeface="Arial" panose="020B0604020202020204" pitchFamily="34" charset="0"/>
                <a:cs typeface="Arial" panose="020B0604020202020204" pitchFamily="34" charset="0"/>
              </a:rPr>
              <a:t>Vectors</a:t>
            </a:r>
            <a:r>
              <a:rPr sz="2400" spc="-110" dirty="0">
                <a:latin typeface="Arial" panose="020B0604020202020204" pitchFamily="34" charset="0"/>
                <a:cs typeface="Arial" panose="020B0604020202020204" pitchFamily="34" charset="0"/>
              </a:rPr>
              <a:t> </a:t>
            </a:r>
            <a:r>
              <a:rPr sz="2400" spc="-190" dirty="0">
                <a:latin typeface="Arial" panose="020B0604020202020204" pitchFamily="34" charset="0"/>
                <a:cs typeface="Arial" panose="020B0604020202020204" pitchFamily="34" charset="0"/>
              </a:rPr>
              <a:t>have</a:t>
            </a:r>
            <a:r>
              <a:rPr sz="2400" spc="-125" dirty="0">
                <a:latin typeface="Arial" panose="020B0604020202020204" pitchFamily="34" charset="0"/>
                <a:cs typeface="Arial" panose="020B0604020202020204" pitchFamily="34" charset="0"/>
              </a:rPr>
              <a:t> </a:t>
            </a:r>
            <a:r>
              <a:rPr sz="2400" spc="-240" dirty="0">
                <a:latin typeface="Arial" panose="020B0604020202020204" pitchFamily="34" charset="0"/>
                <a:cs typeface="Arial" panose="020B0604020202020204" pitchFamily="34" charset="0"/>
              </a:rPr>
              <a:t>a</a:t>
            </a:r>
            <a:r>
              <a:rPr sz="2400" spc="-125" dirty="0">
                <a:latin typeface="Arial" panose="020B0604020202020204" pitchFamily="34" charset="0"/>
                <a:cs typeface="Arial" panose="020B0604020202020204" pitchFamily="34" charset="0"/>
              </a:rPr>
              <a:t> </a:t>
            </a:r>
            <a:r>
              <a:rPr sz="2400" b="1" spc="-245" dirty="0">
                <a:latin typeface="Arial" panose="020B0604020202020204" pitchFamily="34" charset="0"/>
                <a:cs typeface="Arial" panose="020B0604020202020204" pitchFamily="34" charset="0"/>
              </a:rPr>
              <a:t>backend</a:t>
            </a:r>
            <a:r>
              <a:rPr sz="2400" b="1" spc="-114" dirty="0">
                <a:latin typeface="Arial" panose="020B0604020202020204" pitchFamily="34" charset="0"/>
                <a:cs typeface="Arial" panose="020B0604020202020204" pitchFamily="34" charset="0"/>
              </a:rPr>
              <a:t> </a:t>
            </a:r>
            <a:r>
              <a:rPr sz="2400" b="1" spc="-135" dirty="0">
                <a:latin typeface="Arial" panose="020B0604020202020204" pitchFamily="34" charset="0"/>
                <a:cs typeface="Arial" panose="020B0604020202020204" pitchFamily="34" charset="0"/>
              </a:rPr>
              <a:t>database</a:t>
            </a:r>
            <a:r>
              <a:rPr sz="2400" spc="-135" dirty="0">
                <a:latin typeface="Arial" panose="020B0604020202020204" pitchFamily="34" charset="0"/>
                <a:cs typeface="Arial" panose="020B0604020202020204" pitchFamily="34" charset="0"/>
              </a:rPr>
              <a:t>, </a:t>
            </a:r>
            <a:r>
              <a:rPr sz="2400" spc="-80" dirty="0">
                <a:latin typeface="Arial" panose="020B0604020202020204" pitchFamily="34" charset="0"/>
                <a:cs typeface="Arial" panose="020B0604020202020204" pitchFamily="34" charset="0"/>
              </a:rPr>
              <a:t>normally</a:t>
            </a:r>
            <a:r>
              <a:rPr sz="2400" spc="-135" dirty="0">
                <a:latin typeface="Arial" panose="020B0604020202020204" pitchFamily="34" charset="0"/>
                <a:cs typeface="Arial" panose="020B0604020202020204" pitchFamily="34" charset="0"/>
              </a:rPr>
              <a:t> </a:t>
            </a:r>
            <a:r>
              <a:rPr sz="2400" spc="-125" dirty="0">
                <a:latin typeface="Arial" panose="020B0604020202020204" pitchFamily="34" charset="0"/>
                <a:cs typeface="Arial" panose="020B0604020202020204" pitchFamily="34" charset="0"/>
              </a:rPr>
              <a:t>called</a:t>
            </a:r>
            <a:r>
              <a:rPr sz="2400" spc="-130" dirty="0">
                <a:latin typeface="Arial" panose="020B0604020202020204" pitchFamily="34" charset="0"/>
                <a:cs typeface="Arial" panose="020B0604020202020204" pitchFamily="34" charset="0"/>
              </a:rPr>
              <a:t> </a:t>
            </a:r>
            <a:r>
              <a:rPr sz="2400" spc="-175" dirty="0">
                <a:latin typeface="Arial" panose="020B0604020202020204" pitchFamily="34" charset="0"/>
                <a:cs typeface="Arial" panose="020B0604020202020204" pitchFamily="34" charset="0"/>
              </a:rPr>
              <a:t>an</a:t>
            </a:r>
            <a:r>
              <a:rPr sz="2400" spc="-125" dirty="0">
                <a:latin typeface="Arial" panose="020B0604020202020204" pitchFamily="34" charset="0"/>
                <a:cs typeface="Arial" panose="020B0604020202020204" pitchFamily="34" charset="0"/>
              </a:rPr>
              <a:t> </a:t>
            </a:r>
            <a:r>
              <a:rPr sz="2400" spc="-20" dirty="0">
                <a:latin typeface="Arial" panose="020B0604020202020204" pitchFamily="34" charset="0"/>
                <a:cs typeface="Arial" panose="020B0604020202020204" pitchFamily="34" charset="0"/>
              </a:rPr>
              <a:t>‘attribute</a:t>
            </a:r>
            <a:r>
              <a:rPr sz="2400" spc="-140" dirty="0">
                <a:latin typeface="Arial" panose="020B0604020202020204" pitchFamily="34" charset="0"/>
                <a:cs typeface="Arial" panose="020B0604020202020204" pitchFamily="34" charset="0"/>
              </a:rPr>
              <a:t> </a:t>
            </a:r>
            <a:r>
              <a:rPr sz="2400" spc="-25" dirty="0">
                <a:latin typeface="Arial" panose="020B0604020202020204" pitchFamily="34" charset="0"/>
                <a:cs typeface="Arial" panose="020B0604020202020204" pitchFamily="34" charset="0"/>
              </a:rPr>
              <a:t>table’</a:t>
            </a:r>
          </a:p>
          <a:p>
            <a:pPr marL="354965" marR="1726564" indent="-342900">
              <a:lnSpc>
                <a:spcPct val="90700"/>
              </a:lnSpc>
              <a:spcBef>
                <a:spcPts val="605"/>
              </a:spcBef>
              <a:buFont typeface="Arial"/>
              <a:buChar char="•"/>
              <a:tabLst>
                <a:tab pos="354965" algn="l"/>
              </a:tabLst>
            </a:pPr>
            <a:r>
              <a:rPr sz="2400" b="1" spc="-240" dirty="0">
                <a:latin typeface="Arial" panose="020B0604020202020204" pitchFamily="34" charset="0"/>
                <a:cs typeface="Arial" panose="020B0604020202020204" pitchFamily="34" charset="0"/>
              </a:rPr>
              <a:t>rows</a:t>
            </a:r>
            <a:r>
              <a:rPr sz="2400" b="1" spc="-125"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represent </a:t>
            </a:r>
            <a:r>
              <a:rPr sz="2400" spc="-100" dirty="0">
                <a:latin typeface="Arial" panose="020B0604020202020204" pitchFamily="34" charset="0"/>
                <a:cs typeface="Arial" panose="020B0604020202020204" pitchFamily="34" charset="0"/>
              </a:rPr>
              <a:t>unique</a:t>
            </a:r>
            <a:r>
              <a:rPr sz="2400" spc="-105" dirty="0">
                <a:latin typeface="Arial" panose="020B0604020202020204" pitchFamily="34" charset="0"/>
                <a:cs typeface="Arial" panose="020B0604020202020204" pitchFamily="34" charset="0"/>
              </a:rPr>
              <a:t> </a:t>
            </a:r>
            <a:r>
              <a:rPr sz="2400" spc="-20" dirty="0">
                <a:latin typeface="Arial" panose="020B0604020202020204" pitchFamily="34" charset="0"/>
                <a:cs typeface="Arial" panose="020B0604020202020204" pitchFamily="34" charset="0"/>
              </a:rPr>
              <a:t>geometries </a:t>
            </a:r>
            <a:r>
              <a:rPr sz="2400" spc="-135" dirty="0">
                <a:latin typeface="Arial" panose="020B0604020202020204" pitchFamily="34" charset="0"/>
                <a:cs typeface="Arial" panose="020B0604020202020204" pitchFamily="34" charset="0"/>
              </a:rPr>
              <a:t>(e.g.</a:t>
            </a:r>
            <a:r>
              <a:rPr sz="2400" spc="-120" dirty="0">
                <a:latin typeface="Arial" panose="020B0604020202020204" pitchFamily="34" charset="0"/>
                <a:cs typeface="Arial" panose="020B0604020202020204" pitchFamily="34" charset="0"/>
              </a:rPr>
              <a:t> </a:t>
            </a:r>
            <a:r>
              <a:rPr sz="2400" spc="-105" dirty="0">
                <a:latin typeface="Arial" panose="020B0604020202020204" pitchFamily="34" charset="0"/>
                <a:cs typeface="Arial" panose="020B0604020202020204" pitchFamily="34" charset="0"/>
              </a:rPr>
              <a:t>state</a:t>
            </a:r>
            <a:r>
              <a:rPr sz="2400" spc="-135" dirty="0">
                <a:latin typeface="Arial" panose="020B0604020202020204" pitchFamily="34" charset="0"/>
                <a:cs typeface="Arial" panose="020B0604020202020204" pitchFamily="34" charset="0"/>
              </a:rPr>
              <a:t> </a:t>
            </a:r>
            <a:r>
              <a:rPr sz="2400" spc="-130" dirty="0">
                <a:latin typeface="Arial" panose="020B0604020202020204" pitchFamily="34" charset="0"/>
                <a:cs typeface="Arial" panose="020B0604020202020204" pitchFamily="34" charset="0"/>
              </a:rPr>
              <a:t>polygons)</a:t>
            </a:r>
          </a:p>
          <a:p>
            <a:pPr marL="354965" indent="-342265">
              <a:lnSpc>
                <a:spcPts val="3229"/>
              </a:lnSpc>
              <a:spcBef>
                <a:spcPts val="240"/>
              </a:spcBef>
              <a:buFont typeface="Arial"/>
              <a:buChar char="•"/>
              <a:tabLst>
                <a:tab pos="354965" algn="l"/>
              </a:tabLst>
            </a:pPr>
            <a:r>
              <a:rPr sz="2400" b="1" spc="-270" dirty="0">
                <a:latin typeface="Arial" panose="020B0604020202020204" pitchFamily="34" charset="0"/>
                <a:cs typeface="Arial" panose="020B0604020202020204" pitchFamily="34" charset="0"/>
              </a:rPr>
              <a:t>columns</a:t>
            </a:r>
            <a:r>
              <a:rPr sz="2400" b="1" spc="-130"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represent</a:t>
            </a:r>
          </a:p>
          <a:p>
            <a:pPr marL="354965" marR="1492250">
              <a:lnSpc>
                <a:spcPts val="3000"/>
              </a:lnSpc>
              <a:spcBef>
                <a:spcPts val="270"/>
              </a:spcBef>
            </a:pPr>
            <a:r>
              <a:rPr sz="2400" spc="-240" dirty="0">
                <a:latin typeface="Arial" panose="020B0604020202020204" pitchFamily="34" charset="0"/>
                <a:cs typeface="Arial" panose="020B0604020202020204" pitchFamily="34" charset="0"/>
              </a:rPr>
              <a:t>a</a:t>
            </a:r>
            <a:r>
              <a:rPr sz="2400" spc="-135" dirty="0">
                <a:latin typeface="Arial" panose="020B0604020202020204" pitchFamily="34" charset="0"/>
                <a:cs typeface="Arial" panose="020B0604020202020204" pitchFamily="34" charset="0"/>
              </a:rPr>
              <a:t> </a:t>
            </a:r>
            <a:r>
              <a:rPr sz="2400" spc="-100" dirty="0">
                <a:latin typeface="Arial" panose="020B0604020202020204" pitchFamily="34" charset="0"/>
                <a:cs typeface="Arial" panose="020B0604020202020204" pitchFamily="34" charset="0"/>
              </a:rPr>
              <a:t>number</a:t>
            </a:r>
            <a:r>
              <a:rPr sz="2400" spc="-1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of</a:t>
            </a:r>
            <a:r>
              <a:rPr sz="2400" spc="-130" dirty="0">
                <a:latin typeface="Arial" panose="020B0604020202020204" pitchFamily="34" charset="0"/>
                <a:cs typeface="Arial" panose="020B0604020202020204" pitchFamily="34" charset="0"/>
              </a:rPr>
              <a:t> </a:t>
            </a:r>
            <a:r>
              <a:rPr sz="2400" spc="-125" dirty="0">
                <a:latin typeface="Arial" panose="020B0604020202020204" pitchFamily="34" charset="0"/>
                <a:cs typeface="Arial" panose="020B0604020202020204" pitchFamily="34" charset="0"/>
              </a:rPr>
              <a:t>variables </a:t>
            </a:r>
            <a:r>
              <a:rPr sz="2400" spc="-75" dirty="0">
                <a:latin typeface="Arial" panose="020B0604020202020204" pitchFamily="34" charset="0"/>
                <a:cs typeface="Arial" panose="020B0604020202020204" pitchFamily="34" charset="0"/>
              </a:rPr>
              <a:t>(theoretically</a:t>
            </a:r>
            <a:r>
              <a:rPr sz="2400" spc="-70"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infinite)</a:t>
            </a:r>
          </a:p>
          <a:p>
            <a:pPr marR="1147445" algn="r">
              <a:lnSpc>
                <a:spcPct val="100000"/>
              </a:lnSpc>
              <a:spcBef>
                <a:spcPts val="320"/>
              </a:spcBef>
            </a:pPr>
            <a:r>
              <a:rPr b="1" spc="-305" dirty="0">
                <a:solidFill>
                  <a:srgbClr val="FFFFFF"/>
                </a:solidFill>
                <a:latin typeface="Arial"/>
                <a:cs typeface="Arial"/>
              </a:rPr>
              <a:t>is</a:t>
            </a:r>
          </a:p>
        </p:txBody>
      </p:sp>
      <p:pic>
        <p:nvPicPr>
          <p:cNvPr id="7" name="object 7"/>
          <p:cNvPicPr/>
          <p:nvPr/>
        </p:nvPicPr>
        <p:blipFill>
          <a:blip r:embed="rId3" cstate="print"/>
          <a:stretch>
            <a:fillRect/>
          </a:stretch>
        </p:blipFill>
        <p:spPr>
          <a:xfrm>
            <a:off x="159385" y="4891660"/>
            <a:ext cx="4145940" cy="2126907"/>
          </a:xfrm>
          <a:prstGeom prst="rect">
            <a:avLst/>
          </a:prstGeom>
        </p:spPr>
      </p:pic>
      <p:sp>
        <p:nvSpPr>
          <p:cNvPr id="8" name="object 8"/>
          <p:cNvSpPr txBox="1"/>
          <p:nvPr/>
        </p:nvSpPr>
        <p:spPr>
          <a:xfrm>
            <a:off x="8740140" y="6325615"/>
            <a:ext cx="244475"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latin typeface="Arial"/>
                <a:cs typeface="Arial"/>
              </a:rPr>
              <a:t>7</a:t>
            </a:fld>
            <a:endParaRPr sz="12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1053874"/>
            <a:ext cx="7989752" cy="443711"/>
          </a:xfrm>
          <a:prstGeom prst="rect">
            <a:avLst/>
          </a:prstGeom>
        </p:spPr>
        <p:txBody>
          <a:bodyPr vert="horz" wrap="square" lIns="0" tIns="12700" rIns="0" bIns="0" rtlCol="0">
            <a:spAutoFit/>
          </a:bodyPr>
          <a:lstStyle/>
          <a:p>
            <a:pPr marL="12700">
              <a:lnSpc>
                <a:spcPct val="100000"/>
              </a:lnSpc>
              <a:spcBef>
                <a:spcPts val="100"/>
              </a:spcBef>
            </a:pPr>
            <a:r>
              <a:rPr spc="-260" dirty="0">
                <a:latin typeface="Arial" panose="020B0604020202020204" pitchFamily="34" charset="0"/>
                <a:cs typeface="Arial" panose="020B0604020202020204" pitchFamily="34" charset="0"/>
              </a:rPr>
              <a:t>Data</a:t>
            </a:r>
            <a:r>
              <a:rPr spc="-195" dirty="0">
                <a:latin typeface="Arial" panose="020B0604020202020204" pitchFamily="34" charset="0"/>
                <a:cs typeface="Arial" panose="020B0604020202020204" pitchFamily="34" charset="0"/>
              </a:rPr>
              <a:t> </a:t>
            </a:r>
            <a:r>
              <a:rPr spc="-325" dirty="0">
                <a:latin typeface="Arial" panose="020B0604020202020204" pitchFamily="34" charset="0"/>
                <a:cs typeface="Arial" panose="020B0604020202020204" pitchFamily="34" charset="0"/>
              </a:rPr>
              <a:t>Types:</a:t>
            </a:r>
            <a:r>
              <a:rPr spc="-215" dirty="0">
                <a:latin typeface="Arial" panose="020B0604020202020204" pitchFamily="34" charset="0"/>
                <a:cs typeface="Arial" panose="020B0604020202020204" pitchFamily="34" charset="0"/>
              </a:rPr>
              <a:t> </a:t>
            </a:r>
            <a:r>
              <a:rPr spc="-204" dirty="0">
                <a:latin typeface="Arial" panose="020B0604020202020204" pitchFamily="34" charset="0"/>
                <a:cs typeface="Arial" panose="020B0604020202020204" pitchFamily="34" charset="0"/>
              </a:rPr>
              <a:t>Vector</a:t>
            </a:r>
            <a:r>
              <a:rPr spc="-200" dirty="0">
                <a:latin typeface="Arial" panose="020B0604020202020204" pitchFamily="34" charset="0"/>
                <a:cs typeface="Arial" panose="020B0604020202020204" pitchFamily="34" charset="0"/>
              </a:rPr>
              <a:t> </a:t>
            </a:r>
            <a:r>
              <a:rPr spc="-150" dirty="0">
                <a:latin typeface="Arial" panose="020B0604020202020204" pitchFamily="34" charset="0"/>
                <a:cs typeface="Arial" panose="020B0604020202020204" pitchFamily="34" charset="0"/>
              </a:rPr>
              <a:t>mapping</a:t>
            </a:r>
          </a:p>
        </p:txBody>
      </p:sp>
      <p:sp>
        <p:nvSpPr>
          <p:cNvPr id="5" name="object 5"/>
          <p:cNvSpPr txBox="1">
            <a:spLocks noGrp="1"/>
          </p:cNvSpPr>
          <p:nvPr>
            <p:ph idx="1"/>
          </p:nvPr>
        </p:nvSpPr>
        <p:spPr>
          <a:xfrm>
            <a:off x="426060" y="750803"/>
            <a:ext cx="7989752" cy="3630795"/>
          </a:xfrm>
          <a:prstGeom prst="rect">
            <a:avLst/>
          </a:prstGeom>
        </p:spPr>
        <p:txBody>
          <a:bodyPr vert="horz" wrap="square" lIns="0" tIns="63500" rIns="0" bIns="0" rtlCol="0">
            <a:spAutoFit/>
          </a:bodyPr>
          <a:lstStyle/>
          <a:p>
            <a:pPr marL="12700" marR="5080">
              <a:lnSpc>
                <a:spcPts val="3000"/>
              </a:lnSpc>
              <a:spcBef>
                <a:spcPts val="500"/>
              </a:spcBef>
            </a:pPr>
            <a:r>
              <a:rPr spc="-165" dirty="0"/>
              <a:t>Vectors</a:t>
            </a:r>
            <a:r>
              <a:rPr spc="-110" dirty="0"/>
              <a:t> </a:t>
            </a:r>
            <a:r>
              <a:rPr spc="-190" dirty="0"/>
              <a:t>have</a:t>
            </a:r>
            <a:r>
              <a:rPr spc="-125" dirty="0"/>
              <a:t> </a:t>
            </a:r>
            <a:r>
              <a:rPr spc="-240" dirty="0"/>
              <a:t>a</a:t>
            </a:r>
            <a:r>
              <a:rPr spc="-125" dirty="0"/>
              <a:t> </a:t>
            </a:r>
            <a:r>
              <a:rPr b="1" spc="-245" dirty="0">
                <a:latin typeface="Arial"/>
                <a:cs typeface="Arial"/>
              </a:rPr>
              <a:t>backend</a:t>
            </a:r>
            <a:r>
              <a:rPr b="1" spc="-114" dirty="0">
                <a:latin typeface="Arial"/>
                <a:cs typeface="Arial"/>
              </a:rPr>
              <a:t> </a:t>
            </a:r>
            <a:r>
              <a:rPr b="1" spc="-135" dirty="0">
                <a:latin typeface="Arial"/>
                <a:cs typeface="Arial"/>
              </a:rPr>
              <a:t>database</a:t>
            </a:r>
            <a:r>
              <a:rPr spc="-135" dirty="0"/>
              <a:t>, </a:t>
            </a:r>
            <a:r>
              <a:rPr spc="-80" dirty="0"/>
              <a:t>normally</a:t>
            </a:r>
            <a:r>
              <a:rPr spc="-135" dirty="0"/>
              <a:t> </a:t>
            </a:r>
            <a:r>
              <a:rPr spc="-125" dirty="0"/>
              <a:t>called</a:t>
            </a:r>
            <a:r>
              <a:rPr spc="-130" dirty="0"/>
              <a:t> </a:t>
            </a:r>
            <a:r>
              <a:rPr spc="-175" dirty="0"/>
              <a:t>an</a:t>
            </a:r>
            <a:r>
              <a:rPr spc="-125" dirty="0"/>
              <a:t> </a:t>
            </a:r>
            <a:r>
              <a:rPr spc="-20" dirty="0"/>
              <a:t>‘attribute</a:t>
            </a:r>
            <a:r>
              <a:rPr spc="-140" dirty="0"/>
              <a:t> </a:t>
            </a:r>
            <a:r>
              <a:rPr spc="-25" dirty="0"/>
              <a:t>table’</a:t>
            </a:r>
          </a:p>
          <a:p>
            <a:pPr marL="354965" marR="1641475" indent="-342900">
              <a:lnSpc>
                <a:spcPct val="90700"/>
              </a:lnSpc>
              <a:spcBef>
                <a:spcPts val="605"/>
              </a:spcBef>
              <a:buFont typeface="Arial"/>
              <a:buChar char="•"/>
              <a:tabLst>
                <a:tab pos="354965" algn="l"/>
              </a:tabLst>
            </a:pPr>
            <a:r>
              <a:rPr b="1" spc="-190" dirty="0">
                <a:solidFill>
                  <a:srgbClr val="F3673B"/>
                </a:solidFill>
                <a:latin typeface="Arial"/>
                <a:cs typeface="Arial"/>
              </a:rPr>
              <a:t>Here</a:t>
            </a:r>
            <a:r>
              <a:rPr b="1" spc="-105" dirty="0">
                <a:solidFill>
                  <a:srgbClr val="F3673B"/>
                </a:solidFill>
                <a:latin typeface="Arial"/>
                <a:cs typeface="Arial"/>
              </a:rPr>
              <a:t> </a:t>
            </a:r>
            <a:r>
              <a:rPr b="1" spc="-250" dirty="0">
                <a:solidFill>
                  <a:srgbClr val="F3673B"/>
                </a:solidFill>
                <a:latin typeface="Arial"/>
                <a:cs typeface="Arial"/>
              </a:rPr>
              <a:t>each</a:t>
            </a:r>
            <a:r>
              <a:rPr b="1" spc="-105" dirty="0">
                <a:solidFill>
                  <a:srgbClr val="F3673B"/>
                </a:solidFill>
                <a:latin typeface="Arial"/>
                <a:cs typeface="Arial"/>
              </a:rPr>
              <a:t> </a:t>
            </a:r>
            <a:r>
              <a:rPr b="1" spc="-180" dirty="0">
                <a:solidFill>
                  <a:srgbClr val="F3673B"/>
                </a:solidFill>
                <a:latin typeface="Arial"/>
                <a:cs typeface="Arial"/>
              </a:rPr>
              <a:t>state</a:t>
            </a:r>
            <a:r>
              <a:rPr b="1" spc="-100" dirty="0">
                <a:solidFill>
                  <a:srgbClr val="F3673B"/>
                </a:solidFill>
                <a:latin typeface="Arial"/>
                <a:cs typeface="Arial"/>
              </a:rPr>
              <a:t> </a:t>
            </a:r>
            <a:r>
              <a:rPr b="1" spc="-305" dirty="0">
                <a:solidFill>
                  <a:srgbClr val="F3673B"/>
                </a:solidFill>
                <a:latin typeface="Arial"/>
                <a:cs typeface="Arial"/>
              </a:rPr>
              <a:t>is </a:t>
            </a:r>
            <a:r>
              <a:rPr b="1" spc="-229" dirty="0">
                <a:solidFill>
                  <a:srgbClr val="F3673B"/>
                </a:solidFill>
                <a:latin typeface="Arial"/>
                <a:cs typeface="Arial"/>
              </a:rPr>
              <a:t>being</a:t>
            </a:r>
            <a:r>
              <a:rPr b="1" spc="-105" dirty="0">
                <a:solidFill>
                  <a:srgbClr val="F3673B"/>
                </a:solidFill>
                <a:latin typeface="Arial"/>
                <a:cs typeface="Arial"/>
              </a:rPr>
              <a:t> </a:t>
            </a:r>
            <a:r>
              <a:rPr b="1" spc="-240" dirty="0">
                <a:solidFill>
                  <a:srgbClr val="F3673B"/>
                </a:solidFill>
                <a:latin typeface="Arial"/>
                <a:cs typeface="Arial"/>
              </a:rPr>
              <a:t>symbolized</a:t>
            </a:r>
            <a:r>
              <a:rPr b="1" spc="-105" dirty="0">
                <a:solidFill>
                  <a:srgbClr val="F3673B"/>
                </a:solidFill>
                <a:latin typeface="Arial"/>
                <a:cs typeface="Arial"/>
              </a:rPr>
              <a:t> </a:t>
            </a:r>
            <a:r>
              <a:rPr b="1" spc="-155" dirty="0">
                <a:solidFill>
                  <a:srgbClr val="F3673B"/>
                </a:solidFill>
                <a:latin typeface="Arial"/>
                <a:cs typeface="Arial"/>
              </a:rPr>
              <a:t>by </a:t>
            </a:r>
            <a:r>
              <a:rPr b="1" spc="-10" dirty="0">
                <a:solidFill>
                  <a:srgbClr val="F3673B"/>
                </a:solidFill>
                <a:latin typeface="Arial"/>
                <a:cs typeface="Arial"/>
              </a:rPr>
              <a:t>‘NAME’</a:t>
            </a:r>
          </a:p>
          <a:p>
            <a:pPr marL="354965">
              <a:lnSpc>
                <a:spcPts val="3000"/>
              </a:lnSpc>
            </a:pPr>
            <a:r>
              <a:rPr b="1" spc="-135" dirty="0">
                <a:solidFill>
                  <a:srgbClr val="F3673B"/>
                </a:solidFill>
                <a:latin typeface="Arial"/>
                <a:cs typeface="Arial"/>
              </a:rPr>
              <a:t>(qualitative</a:t>
            </a:r>
            <a:r>
              <a:rPr b="1" spc="-130" dirty="0">
                <a:solidFill>
                  <a:srgbClr val="F3673B"/>
                </a:solidFill>
                <a:latin typeface="Arial"/>
                <a:cs typeface="Arial"/>
              </a:rPr>
              <a:t> </a:t>
            </a:r>
            <a:r>
              <a:rPr b="1" spc="-40" dirty="0">
                <a:solidFill>
                  <a:srgbClr val="F3673B"/>
                </a:solidFill>
                <a:latin typeface="Arial"/>
                <a:cs typeface="Arial"/>
              </a:rPr>
              <a:t>variable)</a:t>
            </a:r>
          </a:p>
        </p:txBody>
      </p:sp>
      <p:pic>
        <p:nvPicPr>
          <p:cNvPr id="4" name="object 4"/>
          <p:cNvPicPr/>
          <p:nvPr/>
        </p:nvPicPr>
        <p:blipFill>
          <a:blip r:embed="rId2" cstate="print"/>
          <a:stretch>
            <a:fillRect/>
          </a:stretch>
        </p:blipFill>
        <p:spPr>
          <a:xfrm>
            <a:off x="4301735" y="1869176"/>
            <a:ext cx="4979220" cy="4760223"/>
          </a:xfrm>
          <a:prstGeom prst="rect">
            <a:avLst/>
          </a:prstGeom>
        </p:spPr>
      </p:pic>
      <p:pic>
        <p:nvPicPr>
          <p:cNvPr id="6" name="object 6"/>
          <p:cNvPicPr/>
          <p:nvPr/>
        </p:nvPicPr>
        <p:blipFill>
          <a:blip r:embed="rId3" cstate="print"/>
          <a:stretch>
            <a:fillRect/>
          </a:stretch>
        </p:blipFill>
        <p:spPr>
          <a:xfrm>
            <a:off x="230502" y="3571348"/>
            <a:ext cx="4145940" cy="2126907"/>
          </a:xfrm>
          <a:prstGeom prst="rect">
            <a:avLst/>
          </a:prstGeom>
        </p:spPr>
      </p:pic>
      <p:sp>
        <p:nvSpPr>
          <p:cNvPr id="7" name="object 7"/>
          <p:cNvSpPr txBox="1"/>
          <p:nvPr/>
        </p:nvSpPr>
        <p:spPr>
          <a:xfrm>
            <a:off x="8740140" y="6325615"/>
            <a:ext cx="244475" cy="177800"/>
          </a:xfrm>
          <a:prstGeom prst="rect">
            <a:avLst/>
          </a:prstGeom>
        </p:spPr>
        <p:txBody>
          <a:bodyPr vert="horz" wrap="square" lIns="0" tIns="0" rIns="0" bIns="0" rtlCol="0">
            <a:spAutoFit/>
          </a:bodyPr>
          <a:lstStyle/>
          <a:p>
            <a:pPr marL="38100">
              <a:lnSpc>
                <a:spcPts val="1240"/>
              </a:lnSpc>
            </a:pPr>
            <a:fld id="{81D60167-4931-47E6-BA6A-407CBD079E47}" type="slidenum">
              <a:rPr sz="1200" spc="-25" dirty="0">
                <a:latin typeface="Arial"/>
                <a:cs typeface="Arial"/>
              </a:rPr>
              <a:t>8</a:t>
            </a:fld>
            <a:endParaRPr sz="12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605" y="1822134"/>
            <a:ext cx="8970790" cy="5067534"/>
            <a:chOff x="-17291" y="1067381"/>
            <a:chExt cx="8970790" cy="5220245"/>
          </a:xfrm>
        </p:grpSpPr>
        <p:pic>
          <p:nvPicPr>
            <p:cNvPr id="3" name="object 3"/>
            <p:cNvPicPr/>
            <p:nvPr/>
          </p:nvPicPr>
          <p:blipFill>
            <a:blip r:embed="rId2" cstate="print"/>
            <a:stretch>
              <a:fillRect/>
            </a:stretch>
          </p:blipFill>
          <p:spPr>
            <a:xfrm>
              <a:off x="3730866" y="1067381"/>
              <a:ext cx="5222633" cy="4942820"/>
            </a:xfrm>
            <a:prstGeom prst="rect">
              <a:avLst/>
            </a:prstGeom>
          </p:spPr>
        </p:pic>
        <p:pic>
          <p:nvPicPr>
            <p:cNvPr id="6" name="object 6"/>
            <p:cNvPicPr/>
            <p:nvPr/>
          </p:nvPicPr>
          <p:blipFill>
            <a:blip r:embed="rId3" cstate="print"/>
            <a:stretch>
              <a:fillRect/>
            </a:stretch>
          </p:blipFill>
          <p:spPr>
            <a:xfrm>
              <a:off x="-17291" y="4160719"/>
              <a:ext cx="4131420" cy="2126907"/>
            </a:xfrm>
            <a:prstGeom prst="rect">
              <a:avLst/>
            </a:prstGeom>
          </p:spPr>
        </p:pic>
      </p:grpSp>
      <p:sp>
        <p:nvSpPr>
          <p:cNvPr id="8" name="object 8"/>
          <p:cNvSpPr txBox="1">
            <a:spLocks noGrp="1"/>
          </p:cNvSpPr>
          <p:nvPr>
            <p:ph type="title"/>
          </p:nvPr>
        </p:nvSpPr>
        <p:spPr>
          <a:xfrm>
            <a:off x="1676400" y="838200"/>
            <a:ext cx="6367780" cy="505267"/>
          </a:xfrm>
          <a:prstGeom prst="rect">
            <a:avLst/>
          </a:prstGeom>
        </p:spPr>
        <p:txBody>
          <a:bodyPr vert="horz" wrap="square" lIns="0" tIns="12700" rIns="0" bIns="0" rtlCol="0">
            <a:spAutoFit/>
          </a:bodyPr>
          <a:lstStyle/>
          <a:p>
            <a:pPr marL="12700">
              <a:lnSpc>
                <a:spcPct val="100000"/>
              </a:lnSpc>
              <a:spcBef>
                <a:spcPts val="100"/>
              </a:spcBef>
            </a:pPr>
            <a:r>
              <a:rPr sz="3200" spc="-260" dirty="0">
                <a:latin typeface="Arial" panose="020B0604020202020204" pitchFamily="34" charset="0"/>
                <a:cs typeface="Arial" panose="020B0604020202020204" pitchFamily="34" charset="0"/>
              </a:rPr>
              <a:t>Data</a:t>
            </a:r>
            <a:r>
              <a:rPr sz="3200" spc="-195" dirty="0">
                <a:latin typeface="Arial" panose="020B0604020202020204" pitchFamily="34" charset="0"/>
                <a:cs typeface="Arial" panose="020B0604020202020204" pitchFamily="34" charset="0"/>
              </a:rPr>
              <a:t> </a:t>
            </a:r>
            <a:r>
              <a:rPr sz="3200" spc="-325" dirty="0">
                <a:latin typeface="Arial" panose="020B0604020202020204" pitchFamily="34" charset="0"/>
                <a:cs typeface="Arial" panose="020B0604020202020204" pitchFamily="34" charset="0"/>
              </a:rPr>
              <a:t>Types:</a:t>
            </a:r>
            <a:r>
              <a:rPr sz="3200" spc="-215" dirty="0">
                <a:latin typeface="Arial" panose="020B0604020202020204" pitchFamily="34" charset="0"/>
                <a:cs typeface="Arial" panose="020B0604020202020204" pitchFamily="34" charset="0"/>
              </a:rPr>
              <a:t> </a:t>
            </a:r>
            <a:r>
              <a:rPr sz="3200" spc="-204" dirty="0">
                <a:latin typeface="Arial" panose="020B0604020202020204" pitchFamily="34" charset="0"/>
                <a:cs typeface="Arial" panose="020B0604020202020204" pitchFamily="34" charset="0"/>
              </a:rPr>
              <a:t>Vector</a:t>
            </a:r>
            <a:r>
              <a:rPr sz="3200" spc="-200" dirty="0">
                <a:latin typeface="Arial" panose="020B0604020202020204" pitchFamily="34" charset="0"/>
                <a:cs typeface="Arial" panose="020B0604020202020204" pitchFamily="34" charset="0"/>
              </a:rPr>
              <a:t> </a:t>
            </a:r>
            <a:r>
              <a:rPr sz="3200" spc="-150" dirty="0">
                <a:latin typeface="Arial" panose="020B0604020202020204" pitchFamily="34" charset="0"/>
                <a:cs typeface="Arial" panose="020B0604020202020204" pitchFamily="34" charset="0"/>
              </a:rPr>
              <a:t>mapping</a:t>
            </a:r>
          </a:p>
        </p:txBody>
      </p:sp>
      <p:sp>
        <p:nvSpPr>
          <p:cNvPr id="7" name="object 7"/>
          <p:cNvSpPr txBox="1">
            <a:spLocks noGrp="1"/>
          </p:cNvSpPr>
          <p:nvPr>
            <p:ph idx="1"/>
          </p:nvPr>
        </p:nvSpPr>
        <p:spPr>
          <a:xfrm>
            <a:off x="457200" y="2068403"/>
            <a:ext cx="3352800" cy="2721194"/>
          </a:xfrm>
          <a:prstGeom prst="rect">
            <a:avLst/>
          </a:prstGeom>
        </p:spPr>
        <p:txBody>
          <a:bodyPr vert="horz" wrap="square" lIns="0" tIns="63500" rIns="0" bIns="0" rtlCol="0">
            <a:spAutoFit/>
          </a:bodyPr>
          <a:lstStyle/>
          <a:p>
            <a:pPr marL="12700" marR="5080">
              <a:lnSpc>
                <a:spcPts val="3000"/>
              </a:lnSpc>
              <a:spcBef>
                <a:spcPts val="500"/>
              </a:spcBef>
            </a:pPr>
            <a:r>
              <a:rPr spc="-165" dirty="0"/>
              <a:t>Vectors</a:t>
            </a:r>
            <a:r>
              <a:rPr spc="-110" dirty="0"/>
              <a:t> </a:t>
            </a:r>
            <a:r>
              <a:rPr spc="-190" dirty="0"/>
              <a:t>have</a:t>
            </a:r>
            <a:r>
              <a:rPr spc="-125" dirty="0"/>
              <a:t> </a:t>
            </a:r>
            <a:r>
              <a:rPr spc="-240" dirty="0"/>
              <a:t>a</a:t>
            </a:r>
            <a:r>
              <a:rPr spc="-125" dirty="0"/>
              <a:t> </a:t>
            </a:r>
            <a:r>
              <a:rPr b="1" spc="-245" dirty="0">
                <a:latin typeface="Arial"/>
                <a:cs typeface="Arial"/>
              </a:rPr>
              <a:t>backend</a:t>
            </a:r>
            <a:r>
              <a:rPr b="1" spc="-114" dirty="0">
                <a:latin typeface="Arial"/>
                <a:cs typeface="Arial"/>
              </a:rPr>
              <a:t> </a:t>
            </a:r>
            <a:r>
              <a:rPr b="1" spc="-135" dirty="0">
                <a:latin typeface="Arial"/>
                <a:cs typeface="Arial"/>
              </a:rPr>
              <a:t>database</a:t>
            </a:r>
            <a:r>
              <a:rPr spc="-135" dirty="0"/>
              <a:t>, </a:t>
            </a:r>
            <a:r>
              <a:rPr spc="-80" dirty="0"/>
              <a:t>normally</a:t>
            </a:r>
            <a:r>
              <a:rPr spc="-135" dirty="0"/>
              <a:t> </a:t>
            </a:r>
            <a:r>
              <a:rPr spc="-125" dirty="0"/>
              <a:t>called</a:t>
            </a:r>
            <a:r>
              <a:rPr spc="-130" dirty="0"/>
              <a:t> </a:t>
            </a:r>
            <a:r>
              <a:rPr spc="-175" dirty="0"/>
              <a:t>an</a:t>
            </a:r>
            <a:r>
              <a:rPr spc="-125" dirty="0"/>
              <a:t> </a:t>
            </a:r>
            <a:r>
              <a:rPr spc="-20" dirty="0"/>
              <a:t>‘attribute</a:t>
            </a:r>
            <a:r>
              <a:rPr spc="-140" dirty="0"/>
              <a:t> </a:t>
            </a:r>
            <a:r>
              <a:rPr spc="-25" dirty="0"/>
              <a:t>table’</a:t>
            </a:r>
          </a:p>
          <a:p>
            <a:pPr marL="354965" marR="1641475" indent="-342900">
              <a:lnSpc>
                <a:spcPct val="90700"/>
              </a:lnSpc>
              <a:spcBef>
                <a:spcPts val="605"/>
              </a:spcBef>
              <a:buFont typeface="Arial"/>
              <a:buChar char="•"/>
              <a:tabLst>
                <a:tab pos="354965" algn="l"/>
              </a:tabLst>
            </a:pPr>
            <a:r>
              <a:rPr b="1" spc="-190" dirty="0">
                <a:solidFill>
                  <a:srgbClr val="F3673B"/>
                </a:solidFill>
                <a:latin typeface="Arial"/>
                <a:cs typeface="Arial"/>
              </a:rPr>
              <a:t>Here</a:t>
            </a:r>
            <a:r>
              <a:rPr b="1" spc="-105" dirty="0">
                <a:solidFill>
                  <a:srgbClr val="F3673B"/>
                </a:solidFill>
                <a:latin typeface="Arial"/>
                <a:cs typeface="Arial"/>
              </a:rPr>
              <a:t> </a:t>
            </a:r>
            <a:r>
              <a:rPr b="1" spc="-250" dirty="0">
                <a:solidFill>
                  <a:srgbClr val="F3673B"/>
                </a:solidFill>
                <a:latin typeface="Arial"/>
                <a:cs typeface="Arial"/>
              </a:rPr>
              <a:t>each</a:t>
            </a:r>
            <a:r>
              <a:rPr b="1" spc="-105" dirty="0">
                <a:solidFill>
                  <a:srgbClr val="F3673B"/>
                </a:solidFill>
                <a:latin typeface="Arial"/>
                <a:cs typeface="Arial"/>
              </a:rPr>
              <a:t> </a:t>
            </a:r>
            <a:r>
              <a:rPr b="1" spc="-180" dirty="0">
                <a:solidFill>
                  <a:srgbClr val="F3673B"/>
                </a:solidFill>
                <a:latin typeface="Arial"/>
                <a:cs typeface="Arial"/>
              </a:rPr>
              <a:t>state</a:t>
            </a:r>
            <a:r>
              <a:rPr b="1" spc="-100" dirty="0">
                <a:solidFill>
                  <a:srgbClr val="F3673B"/>
                </a:solidFill>
                <a:latin typeface="Arial"/>
                <a:cs typeface="Arial"/>
              </a:rPr>
              <a:t> </a:t>
            </a:r>
            <a:r>
              <a:rPr b="1" spc="-305" dirty="0">
                <a:solidFill>
                  <a:srgbClr val="F3673B"/>
                </a:solidFill>
                <a:latin typeface="Arial"/>
                <a:cs typeface="Arial"/>
              </a:rPr>
              <a:t>is </a:t>
            </a:r>
            <a:r>
              <a:rPr b="1" spc="-229" dirty="0">
                <a:solidFill>
                  <a:srgbClr val="F3673B"/>
                </a:solidFill>
                <a:latin typeface="Arial"/>
                <a:cs typeface="Arial"/>
              </a:rPr>
              <a:t>being</a:t>
            </a:r>
            <a:r>
              <a:rPr b="1" spc="-105" dirty="0">
                <a:solidFill>
                  <a:srgbClr val="F3673B"/>
                </a:solidFill>
                <a:latin typeface="Arial"/>
                <a:cs typeface="Arial"/>
              </a:rPr>
              <a:t> </a:t>
            </a:r>
            <a:r>
              <a:rPr b="1" spc="-240" dirty="0">
                <a:solidFill>
                  <a:srgbClr val="F3673B"/>
                </a:solidFill>
                <a:latin typeface="Arial"/>
                <a:cs typeface="Arial"/>
              </a:rPr>
              <a:t>symbolized</a:t>
            </a:r>
            <a:r>
              <a:rPr b="1" spc="-105" dirty="0">
                <a:solidFill>
                  <a:srgbClr val="F3673B"/>
                </a:solidFill>
                <a:latin typeface="Arial"/>
                <a:cs typeface="Arial"/>
              </a:rPr>
              <a:t> </a:t>
            </a:r>
            <a:r>
              <a:rPr b="1" spc="-155" dirty="0">
                <a:solidFill>
                  <a:srgbClr val="F3673B"/>
                </a:solidFill>
                <a:latin typeface="Arial"/>
                <a:cs typeface="Arial"/>
              </a:rPr>
              <a:t>by </a:t>
            </a:r>
            <a:r>
              <a:rPr b="1" spc="-270" dirty="0">
                <a:solidFill>
                  <a:srgbClr val="F3673B"/>
                </a:solidFill>
                <a:latin typeface="Arial"/>
                <a:cs typeface="Arial"/>
              </a:rPr>
              <a:t>‘POP_PER_SQMI’</a:t>
            </a:r>
          </a:p>
          <a:p>
            <a:pPr marL="354965">
              <a:lnSpc>
                <a:spcPts val="3000"/>
              </a:lnSpc>
            </a:pPr>
            <a:r>
              <a:rPr b="1" spc="-135" dirty="0">
                <a:solidFill>
                  <a:srgbClr val="F3673B"/>
                </a:solidFill>
                <a:latin typeface="Arial"/>
                <a:cs typeface="Arial"/>
              </a:rPr>
              <a:t>(quantitative</a:t>
            </a:r>
            <a:r>
              <a:rPr b="1" spc="-114" dirty="0">
                <a:solidFill>
                  <a:srgbClr val="F3673B"/>
                </a:solidFill>
                <a:latin typeface="Arial"/>
                <a:cs typeface="Arial"/>
              </a:rPr>
              <a:t> </a:t>
            </a:r>
            <a:r>
              <a:rPr b="1" spc="-40" dirty="0">
                <a:solidFill>
                  <a:srgbClr val="F3673B"/>
                </a:solidFill>
                <a:latin typeface="Arial"/>
                <a:cs typeface="Arial"/>
              </a:rPr>
              <a:t>variable)</a:t>
            </a:r>
          </a:p>
        </p:txBody>
      </p:sp>
      <p:sp>
        <p:nvSpPr>
          <p:cNvPr id="10" name="object 10"/>
          <p:cNvSpPr txBox="1"/>
          <p:nvPr/>
        </p:nvSpPr>
        <p:spPr>
          <a:xfrm>
            <a:off x="8765540" y="6371335"/>
            <a:ext cx="180975" cy="177800"/>
          </a:xfrm>
          <a:prstGeom prst="rect">
            <a:avLst/>
          </a:prstGeom>
        </p:spPr>
        <p:txBody>
          <a:bodyPr vert="horz" wrap="square" lIns="0" tIns="0" rIns="0" bIns="0" rtlCol="0">
            <a:spAutoFit/>
          </a:bodyPr>
          <a:lstStyle/>
          <a:p>
            <a:pPr marL="12700">
              <a:lnSpc>
                <a:spcPts val="1240"/>
              </a:lnSpc>
            </a:pPr>
            <a:r>
              <a:rPr sz="1200" spc="-25" dirty="0">
                <a:latin typeface="Arial"/>
                <a:cs typeface="Arial"/>
              </a:rPr>
              <a:t>29</a:t>
            </a:r>
            <a:endParaRPr sz="12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5409" y="458723"/>
            <a:ext cx="4371975" cy="695960"/>
          </a:xfrm>
          <a:prstGeom prst="rect">
            <a:avLst/>
          </a:prstGeom>
        </p:spPr>
        <p:txBody>
          <a:bodyPr vert="horz" wrap="square" lIns="0" tIns="12700" rIns="0" bIns="0" rtlCol="0">
            <a:spAutoFit/>
          </a:bodyPr>
          <a:lstStyle/>
          <a:p>
            <a:pPr marL="12700">
              <a:lnSpc>
                <a:spcPct val="100000"/>
              </a:lnSpc>
              <a:spcBef>
                <a:spcPts val="100"/>
              </a:spcBef>
            </a:pPr>
            <a:r>
              <a:rPr spc="-140" dirty="0"/>
              <a:t>Other</a:t>
            </a:r>
            <a:r>
              <a:rPr spc="-180" dirty="0"/>
              <a:t> data </a:t>
            </a:r>
            <a:r>
              <a:rPr spc="-100" dirty="0"/>
              <a:t>formats</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10</a:t>
            </a:fld>
            <a:endParaRPr spc="-25" dirty="0"/>
          </a:p>
        </p:txBody>
      </p:sp>
      <p:sp>
        <p:nvSpPr>
          <p:cNvPr id="3" name="object 3"/>
          <p:cNvSpPr txBox="1"/>
          <p:nvPr/>
        </p:nvSpPr>
        <p:spPr>
          <a:xfrm>
            <a:off x="152400" y="1944331"/>
            <a:ext cx="6951980" cy="2707640"/>
          </a:xfrm>
          <a:prstGeom prst="rect">
            <a:avLst/>
          </a:prstGeom>
        </p:spPr>
        <p:txBody>
          <a:bodyPr vert="horz" wrap="square" lIns="0" tIns="12700" rIns="0" bIns="0" rtlCol="0">
            <a:spAutoFit/>
          </a:bodyPr>
          <a:lstStyle/>
          <a:p>
            <a:pPr marL="12700">
              <a:lnSpc>
                <a:spcPts val="2615"/>
              </a:lnSpc>
              <a:spcBef>
                <a:spcPts val="100"/>
              </a:spcBef>
            </a:pPr>
            <a:r>
              <a:rPr sz="2200" b="1" spc="-265" dirty="0">
                <a:latin typeface="Arial"/>
                <a:cs typeface="Arial"/>
              </a:rPr>
              <a:t>GIS</a:t>
            </a:r>
            <a:r>
              <a:rPr sz="2200" b="1" spc="-85" dirty="0">
                <a:latin typeface="Arial"/>
                <a:cs typeface="Arial"/>
              </a:rPr>
              <a:t> </a:t>
            </a:r>
            <a:r>
              <a:rPr sz="2200" b="1" spc="-215" dirty="0">
                <a:latin typeface="Arial"/>
                <a:cs typeface="Arial"/>
              </a:rPr>
              <a:t>can</a:t>
            </a:r>
            <a:r>
              <a:rPr sz="2200" b="1" spc="-90" dirty="0">
                <a:latin typeface="Arial"/>
                <a:cs typeface="Arial"/>
              </a:rPr>
              <a:t> </a:t>
            </a:r>
            <a:r>
              <a:rPr sz="2200" b="1" spc="-120" dirty="0">
                <a:latin typeface="Arial"/>
                <a:cs typeface="Arial"/>
              </a:rPr>
              <a:t>import</a:t>
            </a:r>
            <a:r>
              <a:rPr sz="2200" b="1" spc="-85" dirty="0">
                <a:latin typeface="Arial"/>
                <a:cs typeface="Arial"/>
              </a:rPr>
              <a:t> </a:t>
            </a:r>
            <a:r>
              <a:rPr sz="2200" b="1" spc="-170" dirty="0">
                <a:latin typeface="Arial"/>
                <a:cs typeface="Arial"/>
              </a:rPr>
              <a:t>and</a:t>
            </a:r>
            <a:r>
              <a:rPr sz="2200" b="1" spc="-90" dirty="0">
                <a:latin typeface="Arial"/>
                <a:cs typeface="Arial"/>
              </a:rPr>
              <a:t> </a:t>
            </a:r>
            <a:r>
              <a:rPr sz="2200" b="1" spc="-165" dirty="0">
                <a:latin typeface="Arial"/>
                <a:cs typeface="Arial"/>
              </a:rPr>
              <a:t>convert</a:t>
            </a:r>
            <a:r>
              <a:rPr sz="2200" b="1" spc="-85" dirty="0">
                <a:latin typeface="Arial"/>
                <a:cs typeface="Arial"/>
              </a:rPr>
              <a:t> </a:t>
            </a:r>
            <a:r>
              <a:rPr sz="2200" b="1" spc="-135" dirty="0">
                <a:latin typeface="Arial"/>
                <a:cs typeface="Arial"/>
              </a:rPr>
              <a:t>data</a:t>
            </a:r>
            <a:r>
              <a:rPr sz="2200" b="1" spc="-80" dirty="0">
                <a:latin typeface="Arial"/>
                <a:cs typeface="Arial"/>
              </a:rPr>
              <a:t> </a:t>
            </a:r>
            <a:r>
              <a:rPr sz="2200" b="1" spc="-180" dirty="0">
                <a:latin typeface="Arial"/>
                <a:cs typeface="Arial"/>
              </a:rPr>
              <a:t>produced</a:t>
            </a:r>
            <a:r>
              <a:rPr sz="2200" b="1" spc="-90" dirty="0">
                <a:latin typeface="Arial"/>
                <a:cs typeface="Arial"/>
              </a:rPr>
              <a:t> </a:t>
            </a:r>
            <a:r>
              <a:rPr sz="2200" b="1" spc="-135" dirty="0">
                <a:latin typeface="Arial"/>
                <a:cs typeface="Arial"/>
              </a:rPr>
              <a:t>in</a:t>
            </a:r>
            <a:r>
              <a:rPr sz="2200" b="1" spc="-90" dirty="0">
                <a:latin typeface="Arial"/>
                <a:cs typeface="Arial"/>
              </a:rPr>
              <a:t> </a:t>
            </a:r>
            <a:r>
              <a:rPr sz="2200" b="1" spc="-110" dirty="0">
                <a:latin typeface="Arial"/>
                <a:cs typeface="Arial"/>
              </a:rPr>
              <a:t>other</a:t>
            </a:r>
            <a:r>
              <a:rPr sz="2200" b="1" spc="-80" dirty="0">
                <a:latin typeface="Arial"/>
                <a:cs typeface="Arial"/>
              </a:rPr>
              <a:t> </a:t>
            </a:r>
            <a:r>
              <a:rPr sz="2200" b="1" spc="-100" dirty="0">
                <a:latin typeface="Arial"/>
                <a:cs typeface="Arial"/>
              </a:rPr>
              <a:t>formats:</a:t>
            </a:r>
            <a:endParaRPr sz="2200" dirty="0">
              <a:latin typeface="Arial"/>
              <a:cs typeface="Arial"/>
            </a:endParaRPr>
          </a:p>
          <a:p>
            <a:pPr marL="354965" indent="-342265">
              <a:lnSpc>
                <a:spcPts val="2615"/>
              </a:lnSpc>
              <a:buChar char="•"/>
              <a:tabLst>
                <a:tab pos="354965" algn="l"/>
              </a:tabLst>
            </a:pPr>
            <a:r>
              <a:rPr sz="2200" spc="-210" dirty="0">
                <a:latin typeface="Arial"/>
                <a:cs typeface="Arial"/>
              </a:rPr>
              <a:t>KML</a:t>
            </a:r>
            <a:r>
              <a:rPr sz="2200" spc="-85" dirty="0">
                <a:latin typeface="Arial"/>
                <a:cs typeface="Arial"/>
              </a:rPr>
              <a:t> </a:t>
            </a:r>
            <a:r>
              <a:rPr sz="2200" spc="229" dirty="0">
                <a:latin typeface="Arial"/>
                <a:cs typeface="Arial"/>
              </a:rPr>
              <a:t>/</a:t>
            </a:r>
            <a:r>
              <a:rPr sz="2200" spc="-85" dirty="0">
                <a:latin typeface="Arial"/>
                <a:cs typeface="Arial"/>
              </a:rPr>
              <a:t> </a:t>
            </a:r>
            <a:r>
              <a:rPr sz="2200" spc="-215" dirty="0">
                <a:latin typeface="Arial"/>
                <a:cs typeface="Arial"/>
              </a:rPr>
              <a:t>KMZ</a:t>
            </a:r>
            <a:r>
              <a:rPr sz="2200" spc="-90" dirty="0">
                <a:latin typeface="Arial"/>
                <a:cs typeface="Arial"/>
              </a:rPr>
              <a:t> </a:t>
            </a:r>
            <a:r>
              <a:rPr sz="2200" spc="-70" dirty="0">
                <a:latin typeface="Arial"/>
                <a:cs typeface="Arial"/>
              </a:rPr>
              <a:t>files</a:t>
            </a:r>
            <a:r>
              <a:rPr sz="2200" spc="-80" dirty="0">
                <a:latin typeface="Arial"/>
                <a:cs typeface="Arial"/>
              </a:rPr>
              <a:t> </a:t>
            </a:r>
            <a:r>
              <a:rPr sz="2200" spc="-135" dirty="0">
                <a:latin typeface="Arial"/>
                <a:cs typeface="Arial"/>
              </a:rPr>
              <a:t>(Google</a:t>
            </a:r>
            <a:r>
              <a:rPr sz="2200" spc="-75" dirty="0">
                <a:latin typeface="Arial"/>
                <a:cs typeface="Arial"/>
              </a:rPr>
              <a:t> </a:t>
            </a:r>
            <a:r>
              <a:rPr sz="2200" spc="-10" dirty="0">
                <a:latin typeface="Arial"/>
                <a:cs typeface="Arial"/>
              </a:rPr>
              <a:t>Earth)</a:t>
            </a:r>
            <a:endParaRPr sz="2200" dirty="0">
              <a:latin typeface="Arial"/>
              <a:cs typeface="Arial"/>
            </a:endParaRPr>
          </a:p>
          <a:p>
            <a:pPr marL="354965" indent="-342265">
              <a:lnSpc>
                <a:spcPts val="2630"/>
              </a:lnSpc>
              <a:spcBef>
                <a:spcPts val="45"/>
              </a:spcBef>
              <a:buChar char="•"/>
              <a:tabLst>
                <a:tab pos="354965" algn="l"/>
              </a:tabLst>
            </a:pPr>
            <a:r>
              <a:rPr sz="2200" spc="-330" dirty="0">
                <a:latin typeface="Arial"/>
                <a:cs typeface="Arial"/>
              </a:rPr>
              <a:t>DXF</a:t>
            </a:r>
            <a:r>
              <a:rPr sz="2200" spc="-100" dirty="0">
                <a:latin typeface="Arial"/>
                <a:cs typeface="Arial"/>
              </a:rPr>
              <a:t> </a:t>
            </a:r>
            <a:r>
              <a:rPr sz="2200" spc="229" dirty="0">
                <a:latin typeface="Arial"/>
                <a:cs typeface="Arial"/>
              </a:rPr>
              <a:t>/</a:t>
            </a:r>
            <a:r>
              <a:rPr sz="2200" spc="-100" dirty="0">
                <a:latin typeface="Arial"/>
                <a:cs typeface="Arial"/>
              </a:rPr>
              <a:t> </a:t>
            </a:r>
            <a:r>
              <a:rPr sz="2200" spc="-250" dirty="0">
                <a:latin typeface="Arial"/>
                <a:cs typeface="Arial"/>
              </a:rPr>
              <a:t>DWG</a:t>
            </a:r>
            <a:r>
              <a:rPr sz="2200" spc="-105" dirty="0">
                <a:latin typeface="Arial"/>
                <a:cs typeface="Arial"/>
              </a:rPr>
              <a:t> </a:t>
            </a:r>
            <a:r>
              <a:rPr sz="2200" spc="-20" dirty="0">
                <a:latin typeface="Arial"/>
                <a:cs typeface="Arial"/>
              </a:rPr>
              <a:t>(CAD)</a:t>
            </a:r>
            <a:endParaRPr sz="2200" dirty="0">
              <a:latin typeface="Arial"/>
              <a:cs typeface="Arial"/>
            </a:endParaRPr>
          </a:p>
          <a:p>
            <a:pPr marL="354965" indent="-342265">
              <a:lnSpc>
                <a:spcPts val="2605"/>
              </a:lnSpc>
              <a:buChar char="•"/>
              <a:tabLst>
                <a:tab pos="354965" algn="l"/>
              </a:tabLst>
            </a:pPr>
            <a:r>
              <a:rPr sz="2200" spc="-204" dirty="0">
                <a:latin typeface="Arial"/>
                <a:cs typeface="Arial"/>
              </a:rPr>
              <a:t>NetCDF</a:t>
            </a:r>
            <a:r>
              <a:rPr sz="2200" spc="-80" dirty="0">
                <a:latin typeface="Arial"/>
                <a:cs typeface="Arial"/>
              </a:rPr>
              <a:t> </a:t>
            </a:r>
            <a:r>
              <a:rPr sz="2200" spc="-70" dirty="0">
                <a:latin typeface="Arial"/>
                <a:cs typeface="Arial"/>
              </a:rPr>
              <a:t>(scientific</a:t>
            </a:r>
            <a:r>
              <a:rPr sz="2200" spc="-85" dirty="0">
                <a:latin typeface="Arial"/>
                <a:cs typeface="Arial"/>
              </a:rPr>
              <a:t> </a:t>
            </a:r>
            <a:r>
              <a:rPr sz="2200" spc="-20" dirty="0">
                <a:latin typeface="Arial"/>
                <a:cs typeface="Arial"/>
              </a:rPr>
              <a:t>data)</a:t>
            </a:r>
            <a:endParaRPr sz="2200" dirty="0">
              <a:latin typeface="Arial"/>
              <a:cs typeface="Arial"/>
            </a:endParaRPr>
          </a:p>
          <a:p>
            <a:pPr marL="354965" indent="-342265">
              <a:lnSpc>
                <a:spcPts val="2615"/>
              </a:lnSpc>
              <a:buChar char="•"/>
              <a:tabLst>
                <a:tab pos="354965" algn="l"/>
              </a:tabLst>
            </a:pPr>
            <a:r>
              <a:rPr sz="2200" spc="-320" dirty="0">
                <a:latin typeface="Arial"/>
                <a:cs typeface="Arial"/>
              </a:rPr>
              <a:t>LAS</a:t>
            </a:r>
            <a:r>
              <a:rPr sz="2200" spc="-105" dirty="0">
                <a:latin typeface="Arial"/>
                <a:cs typeface="Arial"/>
              </a:rPr>
              <a:t> </a:t>
            </a:r>
            <a:r>
              <a:rPr sz="2200" spc="-10" dirty="0">
                <a:latin typeface="Arial"/>
                <a:cs typeface="Arial"/>
              </a:rPr>
              <a:t>(Lidar)</a:t>
            </a:r>
            <a:endParaRPr sz="2200" dirty="0">
              <a:latin typeface="Arial"/>
              <a:cs typeface="Arial"/>
            </a:endParaRPr>
          </a:p>
          <a:p>
            <a:pPr marL="354965" indent="-342265">
              <a:lnSpc>
                <a:spcPts val="2615"/>
              </a:lnSpc>
              <a:spcBef>
                <a:spcPts val="75"/>
              </a:spcBef>
              <a:buChar char="•"/>
              <a:tabLst>
                <a:tab pos="354965" algn="l"/>
              </a:tabLst>
            </a:pPr>
            <a:r>
              <a:rPr sz="2200" spc="-345" dirty="0">
                <a:latin typeface="Arial"/>
                <a:cs typeface="Arial"/>
              </a:rPr>
              <a:t>GPX</a:t>
            </a:r>
            <a:r>
              <a:rPr sz="2200" spc="-110" dirty="0">
                <a:latin typeface="Arial"/>
                <a:cs typeface="Arial"/>
              </a:rPr>
              <a:t> </a:t>
            </a:r>
            <a:r>
              <a:rPr sz="2200" spc="-305" dirty="0">
                <a:latin typeface="Arial"/>
                <a:cs typeface="Arial"/>
              </a:rPr>
              <a:t>(GPS</a:t>
            </a:r>
            <a:r>
              <a:rPr sz="2200" spc="-100" dirty="0">
                <a:latin typeface="Arial"/>
                <a:cs typeface="Arial"/>
              </a:rPr>
              <a:t> </a:t>
            </a:r>
            <a:r>
              <a:rPr sz="2200" spc="-10" dirty="0">
                <a:latin typeface="Arial"/>
                <a:cs typeface="Arial"/>
              </a:rPr>
              <a:t>units)</a:t>
            </a:r>
            <a:endParaRPr sz="2200" dirty="0">
              <a:latin typeface="Arial"/>
              <a:cs typeface="Arial"/>
            </a:endParaRPr>
          </a:p>
          <a:p>
            <a:pPr marL="354965" indent="-342265">
              <a:lnSpc>
                <a:spcPts val="2615"/>
              </a:lnSpc>
              <a:buChar char="•"/>
              <a:tabLst>
                <a:tab pos="354965" algn="l"/>
              </a:tabLst>
            </a:pPr>
            <a:r>
              <a:rPr sz="2200" spc="-10" dirty="0">
                <a:latin typeface="Arial"/>
                <a:cs typeface="Arial"/>
              </a:rPr>
              <a:t>Geojson</a:t>
            </a:r>
            <a:endParaRPr sz="2200" dirty="0">
              <a:latin typeface="Arial"/>
              <a:cs typeface="Arial"/>
            </a:endParaRPr>
          </a:p>
          <a:p>
            <a:pPr marL="12700">
              <a:lnSpc>
                <a:spcPct val="100000"/>
              </a:lnSpc>
              <a:spcBef>
                <a:spcPts val="50"/>
              </a:spcBef>
            </a:pPr>
            <a:r>
              <a:rPr sz="2200" b="1" spc="-265" dirty="0">
                <a:latin typeface="Arial"/>
                <a:cs typeface="Arial"/>
              </a:rPr>
              <a:t>GIS</a:t>
            </a:r>
            <a:r>
              <a:rPr sz="2200" b="1" spc="-100" dirty="0">
                <a:latin typeface="Arial"/>
                <a:cs typeface="Arial"/>
              </a:rPr>
              <a:t> </a:t>
            </a:r>
            <a:r>
              <a:rPr sz="2200" b="1" spc="-130" dirty="0">
                <a:latin typeface="Arial"/>
                <a:cs typeface="Arial"/>
              </a:rPr>
              <a:t>software</a:t>
            </a:r>
            <a:r>
              <a:rPr sz="2200" b="1" spc="-90" dirty="0">
                <a:latin typeface="Arial"/>
                <a:cs typeface="Arial"/>
              </a:rPr>
              <a:t> </a:t>
            </a:r>
            <a:r>
              <a:rPr sz="2200" b="1" spc="-215" dirty="0">
                <a:latin typeface="Arial"/>
                <a:cs typeface="Arial"/>
              </a:rPr>
              <a:t>can</a:t>
            </a:r>
            <a:r>
              <a:rPr sz="2200" b="1" spc="-105" dirty="0">
                <a:latin typeface="Arial"/>
                <a:cs typeface="Arial"/>
              </a:rPr>
              <a:t> </a:t>
            </a:r>
            <a:r>
              <a:rPr sz="2200" b="1" spc="-130" dirty="0">
                <a:latin typeface="Arial"/>
                <a:cs typeface="Arial"/>
              </a:rPr>
              <a:t>export</a:t>
            </a:r>
            <a:r>
              <a:rPr sz="2200" b="1" spc="-95" dirty="0">
                <a:latin typeface="Arial"/>
                <a:cs typeface="Arial"/>
              </a:rPr>
              <a:t> </a:t>
            </a:r>
            <a:r>
              <a:rPr sz="2200" b="1" spc="-190" dirty="0">
                <a:latin typeface="Arial"/>
                <a:cs typeface="Arial"/>
              </a:rPr>
              <a:t>many</a:t>
            </a:r>
            <a:r>
              <a:rPr sz="2200" b="1" spc="-100" dirty="0">
                <a:latin typeface="Arial"/>
                <a:cs typeface="Arial"/>
              </a:rPr>
              <a:t> </a:t>
            </a:r>
            <a:r>
              <a:rPr sz="2200" b="1" spc="-10" dirty="0">
                <a:latin typeface="Arial"/>
                <a:cs typeface="Arial"/>
              </a:rPr>
              <a:t>formats:</a:t>
            </a:r>
            <a:endParaRPr sz="2200" dirty="0">
              <a:latin typeface="Arial"/>
              <a:cs typeface="Arial"/>
            </a:endParaRPr>
          </a:p>
        </p:txBody>
      </p:sp>
      <p:sp>
        <p:nvSpPr>
          <p:cNvPr id="4" name="object 4"/>
          <p:cNvSpPr txBox="1"/>
          <p:nvPr/>
        </p:nvSpPr>
        <p:spPr>
          <a:xfrm>
            <a:off x="152400" y="4779441"/>
            <a:ext cx="2273935" cy="1704975"/>
          </a:xfrm>
          <a:prstGeom prst="rect">
            <a:avLst/>
          </a:prstGeom>
        </p:spPr>
        <p:txBody>
          <a:bodyPr vert="horz" wrap="square" lIns="0" tIns="12700" rIns="0" bIns="0" rtlCol="0">
            <a:spAutoFit/>
          </a:bodyPr>
          <a:lstStyle/>
          <a:p>
            <a:pPr marL="354965" indent="-342265">
              <a:lnSpc>
                <a:spcPts val="2615"/>
              </a:lnSpc>
              <a:spcBef>
                <a:spcPts val="100"/>
              </a:spcBef>
              <a:buChar char="•"/>
              <a:tabLst>
                <a:tab pos="354965" algn="l"/>
              </a:tabLst>
            </a:pPr>
            <a:r>
              <a:rPr sz="2200" spc="-120" dirty="0">
                <a:latin typeface="Arial"/>
                <a:cs typeface="Arial"/>
              </a:rPr>
              <a:t>Adobe</a:t>
            </a:r>
            <a:r>
              <a:rPr sz="2200" spc="-80" dirty="0">
                <a:latin typeface="Arial"/>
                <a:cs typeface="Arial"/>
              </a:rPr>
              <a:t> </a:t>
            </a:r>
            <a:r>
              <a:rPr sz="2200" spc="-35" dirty="0">
                <a:latin typeface="Arial"/>
                <a:cs typeface="Arial"/>
              </a:rPr>
              <a:t>Illustrator</a:t>
            </a:r>
            <a:endParaRPr sz="2200" dirty="0">
              <a:latin typeface="Arial"/>
              <a:cs typeface="Arial"/>
            </a:endParaRPr>
          </a:p>
          <a:p>
            <a:pPr marL="354965" indent="-342265">
              <a:lnSpc>
                <a:spcPts val="2615"/>
              </a:lnSpc>
              <a:buChar char="•"/>
              <a:tabLst>
                <a:tab pos="354965" algn="l"/>
              </a:tabLst>
            </a:pPr>
            <a:r>
              <a:rPr sz="2200" spc="-25" dirty="0">
                <a:latin typeface="Arial"/>
                <a:cs typeface="Arial"/>
              </a:rPr>
              <a:t>KML</a:t>
            </a:r>
            <a:endParaRPr sz="2200" dirty="0">
              <a:latin typeface="Arial"/>
              <a:cs typeface="Arial"/>
            </a:endParaRPr>
          </a:p>
          <a:p>
            <a:pPr marL="354965" indent="-342265">
              <a:lnSpc>
                <a:spcPts val="2615"/>
              </a:lnSpc>
              <a:spcBef>
                <a:spcPts val="70"/>
              </a:spcBef>
              <a:buChar char="•"/>
              <a:tabLst>
                <a:tab pos="354965" algn="l"/>
              </a:tabLst>
            </a:pPr>
            <a:r>
              <a:rPr sz="2200" spc="-310" dirty="0">
                <a:latin typeface="Arial"/>
                <a:cs typeface="Arial"/>
              </a:rPr>
              <a:t>CAD</a:t>
            </a:r>
            <a:endParaRPr sz="2200" dirty="0">
              <a:latin typeface="Arial"/>
              <a:cs typeface="Arial"/>
            </a:endParaRPr>
          </a:p>
          <a:p>
            <a:pPr marL="354965" indent="-342265">
              <a:lnSpc>
                <a:spcPts val="2615"/>
              </a:lnSpc>
              <a:buChar char="•"/>
              <a:tabLst>
                <a:tab pos="354965" algn="l"/>
              </a:tabLst>
            </a:pPr>
            <a:r>
              <a:rPr sz="2200" spc="-25" dirty="0">
                <a:latin typeface="Arial"/>
                <a:cs typeface="Arial"/>
              </a:rPr>
              <a:t>TIF</a:t>
            </a:r>
            <a:endParaRPr sz="2200" dirty="0">
              <a:latin typeface="Arial"/>
              <a:cs typeface="Arial"/>
            </a:endParaRPr>
          </a:p>
          <a:p>
            <a:pPr marL="354965" indent="-342265">
              <a:lnSpc>
                <a:spcPct val="100000"/>
              </a:lnSpc>
              <a:spcBef>
                <a:spcPts val="50"/>
              </a:spcBef>
              <a:buChar char="•"/>
              <a:tabLst>
                <a:tab pos="354965" algn="l"/>
              </a:tabLst>
            </a:pPr>
            <a:r>
              <a:rPr sz="2200" spc="-385" dirty="0">
                <a:latin typeface="Arial"/>
                <a:cs typeface="Arial"/>
              </a:rPr>
              <a:t>JPG</a:t>
            </a:r>
            <a:endParaRPr sz="2200" dirty="0">
              <a:latin typeface="Arial"/>
              <a:cs typeface="Arial"/>
            </a:endParaRPr>
          </a:p>
        </p:txBody>
      </p:sp>
      <p:pic>
        <p:nvPicPr>
          <p:cNvPr id="5" name="object 5"/>
          <p:cNvPicPr/>
          <p:nvPr/>
        </p:nvPicPr>
        <p:blipFill>
          <a:blip r:embed="rId2" cstate="print"/>
          <a:stretch>
            <a:fillRect/>
          </a:stretch>
        </p:blipFill>
        <p:spPr>
          <a:xfrm>
            <a:off x="5638800" y="2369743"/>
            <a:ext cx="2438400" cy="2438397"/>
          </a:xfrm>
          <a:prstGeom prst="rect">
            <a:avLst/>
          </a:prstGeom>
        </p:spPr>
      </p:pic>
      <p:sp>
        <p:nvSpPr>
          <p:cNvPr id="6" name="object 6"/>
          <p:cNvSpPr/>
          <p:nvPr/>
        </p:nvSpPr>
        <p:spPr>
          <a:xfrm>
            <a:off x="5638800" y="4913669"/>
            <a:ext cx="2437765" cy="1021080"/>
          </a:xfrm>
          <a:custGeom>
            <a:avLst/>
            <a:gdLst/>
            <a:ahLst/>
            <a:cxnLst/>
            <a:rect l="l" t="t" r="r" b="b"/>
            <a:pathLst>
              <a:path w="2437765" h="1021079">
                <a:moveTo>
                  <a:pt x="0" y="170174"/>
                </a:moveTo>
                <a:lnTo>
                  <a:pt x="6078" y="124935"/>
                </a:lnTo>
                <a:lnTo>
                  <a:pt x="23233" y="84284"/>
                </a:lnTo>
                <a:lnTo>
                  <a:pt x="49842" y="49843"/>
                </a:lnTo>
                <a:lnTo>
                  <a:pt x="84284" y="23233"/>
                </a:lnTo>
                <a:lnTo>
                  <a:pt x="124935" y="6078"/>
                </a:lnTo>
                <a:lnTo>
                  <a:pt x="170174" y="0"/>
                </a:lnTo>
                <a:lnTo>
                  <a:pt x="2266982" y="0"/>
                </a:lnTo>
                <a:lnTo>
                  <a:pt x="2312221" y="6078"/>
                </a:lnTo>
                <a:lnTo>
                  <a:pt x="2352872" y="23233"/>
                </a:lnTo>
                <a:lnTo>
                  <a:pt x="2387313" y="49843"/>
                </a:lnTo>
                <a:lnTo>
                  <a:pt x="2413922" y="84284"/>
                </a:lnTo>
                <a:lnTo>
                  <a:pt x="2431077" y="124935"/>
                </a:lnTo>
                <a:lnTo>
                  <a:pt x="2437156" y="170174"/>
                </a:lnTo>
                <a:lnTo>
                  <a:pt x="2437156" y="850860"/>
                </a:lnTo>
                <a:lnTo>
                  <a:pt x="2431077" y="896099"/>
                </a:lnTo>
                <a:lnTo>
                  <a:pt x="2413922" y="936750"/>
                </a:lnTo>
                <a:lnTo>
                  <a:pt x="2387313" y="971192"/>
                </a:lnTo>
                <a:lnTo>
                  <a:pt x="2352872" y="997801"/>
                </a:lnTo>
                <a:lnTo>
                  <a:pt x="2312221" y="1014956"/>
                </a:lnTo>
                <a:lnTo>
                  <a:pt x="2266982" y="1021035"/>
                </a:lnTo>
                <a:lnTo>
                  <a:pt x="170174" y="1021035"/>
                </a:lnTo>
                <a:lnTo>
                  <a:pt x="124935" y="1014956"/>
                </a:lnTo>
                <a:lnTo>
                  <a:pt x="84284" y="997801"/>
                </a:lnTo>
                <a:lnTo>
                  <a:pt x="49842" y="971192"/>
                </a:lnTo>
                <a:lnTo>
                  <a:pt x="23233" y="936750"/>
                </a:lnTo>
                <a:lnTo>
                  <a:pt x="6078" y="896099"/>
                </a:lnTo>
                <a:lnTo>
                  <a:pt x="0" y="850860"/>
                </a:lnTo>
                <a:lnTo>
                  <a:pt x="0" y="170174"/>
                </a:lnTo>
                <a:close/>
              </a:path>
            </a:pathLst>
          </a:custGeom>
          <a:ln w="25387">
            <a:solidFill>
              <a:srgbClr val="B9401B"/>
            </a:solidFill>
          </a:ln>
        </p:spPr>
        <p:txBody>
          <a:bodyPr wrap="square" lIns="0" tIns="0" rIns="0" bIns="0" rtlCol="0"/>
          <a:lstStyle/>
          <a:p>
            <a:endParaRPr/>
          </a:p>
        </p:txBody>
      </p:sp>
      <p:sp>
        <p:nvSpPr>
          <p:cNvPr id="7" name="object 7"/>
          <p:cNvSpPr txBox="1"/>
          <p:nvPr/>
        </p:nvSpPr>
        <p:spPr>
          <a:xfrm>
            <a:off x="5771419" y="4982971"/>
            <a:ext cx="2174240" cy="845819"/>
          </a:xfrm>
          <a:prstGeom prst="rect">
            <a:avLst/>
          </a:prstGeom>
        </p:spPr>
        <p:txBody>
          <a:bodyPr vert="horz" wrap="square" lIns="0" tIns="13970" rIns="0" bIns="0" rtlCol="0">
            <a:spAutoFit/>
          </a:bodyPr>
          <a:lstStyle/>
          <a:p>
            <a:pPr marL="12065" marR="5080" algn="ctr">
              <a:lnSpc>
                <a:spcPct val="99400"/>
              </a:lnSpc>
              <a:spcBef>
                <a:spcPts val="110"/>
              </a:spcBef>
            </a:pPr>
            <a:r>
              <a:rPr sz="1800" spc="-145" dirty="0">
                <a:latin typeface="Arial"/>
                <a:cs typeface="Arial"/>
              </a:rPr>
              <a:t>The</a:t>
            </a:r>
            <a:r>
              <a:rPr sz="1800" spc="-80" dirty="0">
                <a:latin typeface="Arial"/>
                <a:cs typeface="Arial"/>
              </a:rPr>
              <a:t> </a:t>
            </a:r>
            <a:r>
              <a:rPr sz="1800" spc="-235" dirty="0">
                <a:latin typeface="Arial"/>
                <a:cs typeface="Arial"/>
              </a:rPr>
              <a:t>GIS</a:t>
            </a:r>
            <a:r>
              <a:rPr sz="1800" spc="-85" dirty="0">
                <a:latin typeface="Arial"/>
                <a:cs typeface="Arial"/>
              </a:rPr>
              <a:t> </a:t>
            </a:r>
            <a:r>
              <a:rPr sz="1800" dirty="0">
                <a:latin typeface="Arial"/>
                <a:cs typeface="Arial"/>
              </a:rPr>
              <a:t>&amp;</a:t>
            </a:r>
            <a:r>
              <a:rPr sz="1800" spc="-75" dirty="0">
                <a:latin typeface="Arial"/>
                <a:cs typeface="Arial"/>
              </a:rPr>
              <a:t> </a:t>
            </a:r>
            <a:r>
              <a:rPr sz="1800" spc="-105" dirty="0">
                <a:latin typeface="Arial"/>
                <a:cs typeface="Arial"/>
              </a:rPr>
              <a:t>Data</a:t>
            </a:r>
            <a:r>
              <a:rPr sz="1800" spc="-75" dirty="0">
                <a:latin typeface="Arial"/>
                <a:cs typeface="Arial"/>
              </a:rPr>
              <a:t> </a:t>
            </a:r>
            <a:r>
              <a:rPr sz="1800" spc="-155" dirty="0">
                <a:latin typeface="Arial"/>
                <a:cs typeface="Arial"/>
              </a:rPr>
              <a:t>Lab</a:t>
            </a:r>
            <a:r>
              <a:rPr sz="1800" spc="-65" dirty="0">
                <a:latin typeface="Arial"/>
                <a:cs typeface="Arial"/>
              </a:rPr>
              <a:t> </a:t>
            </a:r>
            <a:r>
              <a:rPr sz="1800" spc="-114" dirty="0">
                <a:latin typeface="Arial"/>
                <a:cs typeface="Arial"/>
              </a:rPr>
              <a:t>has </a:t>
            </a:r>
            <a:r>
              <a:rPr sz="1800" spc="-105" dirty="0">
                <a:latin typeface="Arial"/>
                <a:cs typeface="Arial"/>
              </a:rPr>
              <a:t>many</a:t>
            </a:r>
            <a:r>
              <a:rPr sz="1800" spc="-85" dirty="0">
                <a:latin typeface="Arial"/>
                <a:cs typeface="Arial"/>
              </a:rPr>
              <a:t> </a:t>
            </a:r>
            <a:r>
              <a:rPr sz="1800" spc="-75" dirty="0">
                <a:latin typeface="Arial"/>
                <a:cs typeface="Arial"/>
              </a:rPr>
              <a:t>types</a:t>
            </a:r>
            <a:r>
              <a:rPr sz="1800" spc="-85" dirty="0">
                <a:latin typeface="Arial"/>
                <a:cs typeface="Arial"/>
              </a:rPr>
              <a:t> </a:t>
            </a:r>
            <a:r>
              <a:rPr sz="1800" dirty="0">
                <a:latin typeface="Arial"/>
                <a:cs typeface="Arial"/>
              </a:rPr>
              <a:t>of</a:t>
            </a:r>
            <a:r>
              <a:rPr sz="1800" spc="-80" dirty="0">
                <a:latin typeface="Arial"/>
                <a:cs typeface="Arial"/>
              </a:rPr>
              <a:t> </a:t>
            </a:r>
            <a:r>
              <a:rPr sz="1800" spc="-20" dirty="0">
                <a:latin typeface="Arial"/>
                <a:cs typeface="Arial"/>
              </a:rPr>
              <a:t>data </a:t>
            </a:r>
            <a:r>
              <a:rPr sz="1800" spc="-70" dirty="0">
                <a:latin typeface="Arial"/>
                <a:cs typeface="Arial"/>
              </a:rPr>
              <a:t>visualization</a:t>
            </a:r>
            <a:r>
              <a:rPr sz="1800" spc="-50" dirty="0">
                <a:latin typeface="Arial"/>
                <a:cs typeface="Arial"/>
              </a:rPr>
              <a:t> </a:t>
            </a:r>
            <a:r>
              <a:rPr sz="1800" spc="-10" dirty="0">
                <a:latin typeface="Arial"/>
                <a:cs typeface="Arial"/>
              </a:rPr>
              <a:t>software.</a:t>
            </a:r>
            <a:endParaRPr sz="180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3200" y="1066800"/>
            <a:ext cx="4464050" cy="443711"/>
          </a:xfrm>
          <a:prstGeom prst="rect">
            <a:avLst/>
          </a:prstGeom>
        </p:spPr>
        <p:txBody>
          <a:bodyPr vert="horz" wrap="square" lIns="0" tIns="12700" rIns="0" bIns="0" rtlCol="0">
            <a:spAutoFit/>
          </a:bodyPr>
          <a:lstStyle/>
          <a:p>
            <a:pPr marL="12700">
              <a:lnSpc>
                <a:spcPct val="100000"/>
              </a:lnSpc>
              <a:spcBef>
                <a:spcPts val="100"/>
              </a:spcBef>
            </a:pPr>
            <a:r>
              <a:rPr spc="-175" dirty="0">
                <a:latin typeface="Arial" panose="020B0604020202020204" pitchFamily="34" charset="0"/>
                <a:cs typeface="Arial" panose="020B0604020202020204" pitchFamily="34" charset="0"/>
              </a:rPr>
              <a:t>Making</a:t>
            </a:r>
            <a:r>
              <a:rPr spc="-185" dirty="0">
                <a:latin typeface="Arial" panose="020B0604020202020204" pitchFamily="34" charset="0"/>
                <a:cs typeface="Arial" panose="020B0604020202020204" pitchFamily="34" charset="0"/>
              </a:rPr>
              <a:t> </a:t>
            </a:r>
            <a:r>
              <a:rPr spc="-220" dirty="0">
                <a:latin typeface="Arial" panose="020B0604020202020204" pitchFamily="34" charset="0"/>
                <a:cs typeface="Arial" panose="020B0604020202020204" pitchFamily="34" charset="0"/>
              </a:rPr>
              <a:t>Great</a:t>
            </a:r>
            <a:r>
              <a:rPr spc="-335" dirty="0">
                <a:latin typeface="Arial" panose="020B0604020202020204" pitchFamily="34" charset="0"/>
                <a:cs typeface="Arial" panose="020B0604020202020204" pitchFamily="34" charset="0"/>
              </a:rPr>
              <a:t> </a:t>
            </a:r>
            <a:r>
              <a:rPr spc="-195" dirty="0">
                <a:latin typeface="Arial" panose="020B0604020202020204" pitchFamily="34" charset="0"/>
                <a:cs typeface="Arial" panose="020B0604020202020204" pitchFamily="34" charset="0"/>
              </a:rPr>
              <a:t>Maps</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11</a:t>
            </a:fld>
            <a:endParaRPr spc="-25" dirty="0"/>
          </a:p>
        </p:txBody>
      </p:sp>
      <p:sp>
        <p:nvSpPr>
          <p:cNvPr id="3" name="object 3"/>
          <p:cNvSpPr txBox="1"/>
          <p:nvPr/>
        </p:nvSpPr>
        <p:spPr>
          <a:xfrm>
            <a:off x="716916" y="2306828"/>
            <a:ext cx="7661275" cy="2284095"/>
          </a:xfrm>
          <a:prstGeom prst="rect">
            <a:avLst/>
          </a:prstGeom>
        </p:spPr>
        <p:txBody>
          <a:bodyPr vert="horz" wrap="square" lIns="0" tIns="12700" rIns="0" bIns="0" rtlCol="0">
            <a:spAutoFit/>
          </a:bodyPr>
          <a:lstStyle/>
          <a:p>
            <a:pPr marL="354965" indent="-342265">
              <a:lnSpc>
                <a:spcPct val="100000"/>
              </a:lnSpc>
              <a:spcBef>
                <a:spcPts val="100"/>
              </a:spcBef>
              <a:buChar char="•"/>
              <a:tabLst>
                <a:tab pos="354965" algn="l"/>
              </a:tabLst>
            </a:pPr>
            <a:r>
              <a:rPr sz="2400" spc="-130" dirty="0">
                <a:latin typeface="Arial"/>
                <a:cs typeface="Arial"/>
              </a:rPr>
              <a:t>Cartography</a:t>
            </a:r>
            <a:r>
              <a:rPr sz="2400" spc="-125" dirty="0">
                <a:latin typeface="Arial"/>
                <a:cs typeface="Arial"/>
              </a:rPr>
              <a:t> </a:t>
            </a:r>
            <a:r>
              <a:rPr sz="2400" spc="-140" dirty="0">
                <a:latin typeface="Arial"/>
                <a:cs typeface="Arial"/>
              </a:rPr>
              <a:t>is</a:t>
            </a:r>
            <a:r>
              <a:rPr sz="2400" spc="-130" dirty="0">
                <a:latin typeface="Arial"/>
                <a:cs typeface="Arial"/>
              </a:rPr>
              <a:t> </a:t>
            </a:r>
            <a:r>
              <a:rPr sz="2400" spc="-35" dirty="0">
                <a:latin typeface="Arial"/>
                <a:cs typeface="Arial"/>
              </a:rPr>
              <a:t>the</a:t>
            </a:r>
            <a:r>
              <a:rPr sz="2400" spc="-114" dirty="0">
                <a:latin typeface="Arial"/>
                <a:cs typeface="Arial"/>
              </a:rPr>
              <a:t> </a:t>
            </a:r>
            <a:r>
              <a:rPr sz="2400" dirty="0">
                <a:solidFill>
                  <a:srgbClr val="0070C0"/>
                </a:solidFill>
                <a:latin typeface="Arial"/>
                <a:cs typeface="Arial"/>
              </a:rPr>
              <a:t>art</a:t>
            </a:r>
            <a:r>
              <a:rPr sz="2400" spc="-130" dirty="0">
                <a:solidFill>
                  <a:srgbClr val="0070C0"/>
                </a:solidFill>
                <a:latin typeface="Arial"/>
                <a:cs typeface="Arial"/>
              </a:rPr>
              <a:t> </a:t>
            </a:r>
            <a:r>
              <a:rPr sz="2400" spc="-125" dirty="0">
                <a:solidFill>
                  <a:srgbClr val="0070C0"/>
                </a:solidFill>
                <a:latin typeface="Arial"/>
                <a:cs typeface="Arial"/>
              </a:rPr>
              <a:t>and</a:t>
            </a:r>
            <a:r>
              <a:rPr sz="2400" spc="-120" dirty="0">
                <a:solidFill>
                  <a:srgbClr val="0070C0"/>
                </a:solidFill>
                <a:latin typeface="Arial"/>
                <a:cs typeface="Arial"/>
              </a:rPr>
              <a:t> </a:t>
            </a:r>
            <a:r>
              <a:rPr sz="2400" spc="-145" dirty="0">
                <a:solidFill>
                  <a:srgbClr val="0070C0"/>
                </a:solidFill>
                <a:latin typeface="Arial"/>
                <a:cs typeface="Arial"/>
              </a:rPr>
              <a:t>science</a:t>
            </a:r>
            <a:r>
              <a:rPr sz="2400" spc="-120" dirty="0">
                <a:solidFill>
                  <a:srgbClr val="0070C0"/>
                </a:solidFill>
                <a:latin typeface="Arial"/>
                <a:cs typeface="Arial"/>
              </a:rPr>
              <a:t> </a:t>
            </a:r>
            <a:r>
              <a:rPr sz="2400" dirty="0">
                <a:latin typeface="Arial"/>
                <a:cs typeface="Arial"/>
              </a:rPr>
              <a:t>of</a:t>
            </a:r>
            <a:r>
              <a:rPr sz="2400" spc="-114" dirty="0">
                <a:latin typeface="Arial"/>
                <a:cs typeface="Arial"/>
              </a:rPr>
              <a:t> </a:t>
            </a:r>
            <a:r>
              <a:rPr sz="2400" spc="-120" dirty="0">
                <a:latin typeface="Arial"/>
                <a:cs typeface="Arial"/>
              </a:rPr>
              <a:t>making</a:t>
            </a:r>
            <a:r>
              <a:rPr sz="2400" spc="-130" dirty="0">
                <a:latin typeface="Arial"/>
                <a:cs typeface="Arial"/>
              </a:rPr>
              <a:t> </a:t>
            </a:r>
            <a:r>
              <a:rPr sz="2400" spc="-20" dirty="0">
                <a:latin typeface="Arial"/>
                <a:cs typeface="Arial"/>
              </a:rPr>
              <a:t>maps</a:t>
            </a:r>
            <a:endParaRPr sz="2400">
              <a:latin typeface="Arial"/>
              <a:cs typeface="Arial"/>
            </a:endParaRPr>
          </a:p>
          <a:p>
            <a:pPr marL="355600" marR="5080" indent="-342900">
              <a:lnSpc>
                <a:spcPct val="100800"/>
              </a:lnSpc>
              <a:spcBef>
                <a:spcPts val="1680"/>
              </a:spcBef>
              <a:buChar char="•"/>
              <a:tabLst>
                <a:tab pos="355600" algn="l"/>
              </a:tabLst>
            </a:pPr>
            <a:r>
              <a:rPr sz="2400" spc="-135" dirty="0">
                <a:latin typeface="Arial"/>
                <a:cs typeface="Arial"/>
              </a:rPr>
              <a:t>Maps</a:t>
            </a:r>
            <a:r>
              <a:rPr sz="2400" spc="-114" dirty="0">
                <a:latin typeface="Arial"/>
                <a:cs typeface="Arial"/>
              </a:rPr>
              <a:t> </a:t>
            </a:r>
            <a:r>
              <a:rPr sz="2400" spc="-125" dirty="0">
                <a:latin typeface="Arial"/>
                <a:cs typeface="Arial"/>
              </a:rPr>
              <a:t>are</a:t>
            </a:r>
            <a:r>
              <a:rPr sz="2400" spc="-100" dirty="0">
                <a:latin typeface="Arial"/>
                <a:cs typeface="Arial"/>
              </a:rPr>
              <a:t> </a:t>
            </a:r>
            <a:r>
              <a:rPr sz="2400" spc="-155" dirty="0">
                <a:latin typeface="Arial"/>
                <a:cs typeface="Arial"/>
              </a:rPr>
              <a:t>always</a:t>
            </a:r>
            <a:r>
              <a:rPr sz="2400" spc="-110" dirty="0">
                <a:latin typeface="Arial"/>
                <a:cs typeface="Arial"/>
              </a:rPr>
              <a:t> </a:t>
            </a:r>
            <a:r>
              <a:rPr sz="2400" spc="-75" dirty="0">
                <a:solidFill>
                  <a:srgbClr val="0070C0"/>
                </a:solidFill>
                <a:latin typeface="Arial"/>
                <a:cs typeface="Arial"/>
              </a:rPr>
              <a:t>simplifications</a:t>
            </a:r>
            <a:r>
              <a:rPr sz="2400" spc="-110" dirty="0">
                <a:solidFill>
                  <a:srgbClr val="0070C0"/>
                </a:solidFill>
                <a:latin typeface="Arial"/>
                <a:cs typeface="Arial"/>
              </a:rPr>
              <a:t> </a:t>
            </a:r>
            <a:r>
              <a:rPr sz="2400" dirty="0">
                <a:solidFill>
                  <a:srgbClr val="0070C0"/>
                </a:solidFill>
                <a:latin typeface="Arial"/>
                <a:cs typeface="Arial"/>
              </a:rPr>
              <a:t>of</a:t>
            </a:r>
            <a:r>
              <a:rPr sz="2400" spc="-105" dirty="0">
                <a:solidFill>
                  <a:srgbClr val="0070C0"/>
                </a:solidFill>
                <a:latin typeface="Arial"/>
                <a:cs typeface="Arial"/>
              </a:rPr>
              <a:t> </a:t>
            </a:r>
            <a:r>
              <a:rPr sz="2400" spc="-75" dirty="0">
                <a:solidFill>
                  <a:srgbClr val="0070C0"/>
                </a:solidFill>
                <a:latin typeface="Arial"/>
                <a:cs typeface="Arial"/>
              </a:rPr>
              <a:t>reality</a:t>
            </a:r>
            <a:r>
              <a:rPr sz="2400" spc="-75" dirty="0">
                <a:latin typeface="Arial"/>
                <a:cs typeface="Arial"/>
              </a:rPr>
              <a:t>,</a:t>
            </a:r>
            <a:r>
              <a:rPr sz="2400" spc="-105" dirty="0">
                <a:latin typeface="Arial"/>
                <a:cs typeface="Arial"/>
              </a:rPr>
              <a:t> </a:t>
            </a:r>
            <a:r>
              <a:rPr sz="2400" spc="-85" dirty="0">
                <a:latin typeface="Arial"/>
                <a:cs typeface="Arial"/>
              </a:rPr>
              <a:t>which</a:t>
            </a:r>
            <a:r>
              <a:rPr sz="2400" spc="-110" dirty="0">
                <a:latin typeface="Arial"/>
                <a:cs typeface="Arial"/>
              </a:rPr>
              <a:t> </a:t>
            </a:r>
            <a:r>
              <a:rPr sz="2400" spc="-10" dirty="0">
                <a:latin typeface="Arial"/>
                <a:cs typeface="Arial"/>
              </a:rPr>
              <a:t>makes </a:t>
            </a:r>
            <a:r>
              <a:rPr sz="2400" spc="-55" dirty="0">
                <a:latin typeface="Arial"/>
                <a:cs typeface="Arial"/>
              </a:rPr>
              <a:t>them</a:t>
            </a:r>
            <a:r>
              <a:rPr sz="2400" spc="-114" dirty="0">
                <a:latin typeface="Arial"/>
                <a:cs typeface="Arial"/>
              </a:rPr>
              <a:t> </a:t>
            </a:r>
            <a:r>
              <a:rPr sz="2400" spc="-50" dirty="0">
                <a:latin typeface="Arial"/>
                <a:cs typeface="Arial"/>
              </a:rPr>
              <a:t>helpful</a:t>
            </a:r>
            <a:r>
              <a:rPr sz="2400" spc="-110" dirty="0">
                <a:latin typeface="Arial"/>
                <a:cs typeface="Arial"/>
              </a:rPr>
              <a:t> </a:t>
            </a:r>
            <a:r>
              <a:rPr sz="2400" spc="-95" dirty="0">
                <a:latin typeface="Arial"/>
                <a:cs typeface="Arial"/>
              </a:rPr>
              <a:t>when</a:t>
            </a:r>
            <a:r>
              <a:rPr sz="2400" spc="-105" dirty="0">
                <a:latin typeface="Arial"/>
                <a:cs typeface="Arial"/>
              </a:rPr>
              <a:t> </a:t>
            </a:r>
            <a:r>
              <a:rPr sz="2400" spc="-120" dirty="0">
                <a:latin typeface="Arial"/>
                <a:cs typeface="Arial"/>
              </a:rPr>
              <a:t>making</a:t>
            </a:r>
            <a:r>
              <a:rPr sz="2400" spc="-114" dirty="0">
                <a:latin typeface="Arial"/>
                <a:cs typeface="Arial"/>
              </a:rPr>
              <a:t> </a:t>
            </a:r>
            <a:r>
              <a:rPr sz="2400" spc="-125" dirty="0">
                <a:latin typeface="Arial"/>
                <a:cs typeface="Arial"/>
              </a:rPr>
              <a:t>decisions</a:t>
            </a:r>
            <a:r>
              <a:rPr sz="2400" spc="-110" dirty="0">
                <a:latin typeface="Arial"/>
                <a:cs typeface="Arial"/>
              </a:rPr>
              <a:t> </a:t>
            </a:r>
            <a:r>
              <a:rPr sz="2400" spc="-20" dirty="0">
                <a:latin typeface="Arial"/>
                <a:cs typeface="Arial"/>
              </a:rPr>
              <a:t>or</a:t>
            </a:r>
            <a:r>
              <a:rPr sz="2400" spc="-110" dirty="0">
                <a:latin typeface="Arial"/>
                <a:cs typeface="Arial"/>
              </a:rPr>
              <a:t> </a:t>
            </a:r>
            <a:r>
              <a:rPr sz="2400" spc="-105" dirty="0">
                <a:latin typeface="Arial"/>
                <a:cs typeface="Arial"/>
              </a:rPr>
              <a:t>explaining</a:t>
            </a:r>
            <a:r>
              <a:rPr sz="2400" spc="-110" dirty="0">
                <a:latin typeface="Arial"/>
                <a:cs typeface="Arial"/>
              </a:rPr>
              <a:t> </a:t>
            </a:r>
            <a:r>
              <a:rPr sz="2400" spc="-30" dirty="0">
                <a:latin typeface="Arial"/>
                <a:cs typeface="Arial"/>
              </a:rPr>
              <a:t>patterns</a:t>
            </a:r>
            <a:endParaRPr sz="2400">
              <a:latin typeface="Arial"/>
              <a:cs typeface="Arial"/>
            </a:endParaRPr>
          </a:p>
          <a:p>
            <a:pPr marL="355600" marR="829310" indent="-342900">
              <a:lnSpc>
                <a:spcPct val="100800"/>
              </a:lnSpc>
              <a:spcBef>
                <a:spcPts val="1610"/>
              </a:spcBef>
              <a:buChar char="•"/>
              <a:tabLst>
                <a:tab pos="355600" algn="l"/>
              </a:tabLst>
            </a:pPr>
            <a:r>
              <a:rPr sz="2400" spc="-130" dirty="0">
                <a:latin typeface="Arial"/>
                <a:cs typeface="Arial"/>
              </a:rPr>
              <a:t>Maps</a:t>
            </a:r>
            <a:r>
              <a:rPr sz="2400" spc="-114" dirty="0">
                <a:latin typeface="Arial"/>
                <a:cs typeface="Arial"/>
              </a:rPr>
              <a:t> </a:t>
            </a:r>
            <a:r>
              <a:rPr sz="2400" spc="-125" dirty="0">
                <a:latin typeface="Arial"/>
                <a:cs typeface="Arial"/>
              </a:rPr>
              <a:t>are</a:t>
            </a:r>
            <a:r>
              <a:rPr sz="2400" spc="-100" dirty="0">
                <a:latin typeface="Arial"/>
                <a:cs typeface="Arial"/>
              </a:rPr>
              <a:t> </a:t>
            </a:r>
            <a:r>
              <a:rPr sz="2400" spc="-125" dirty="0">
                <a:latin typeface="Arial"/>
                <a:cs typeface="Arial"/>
              </a:rPr>
              <a:t>designed</a:t>
            </a:r>
            <a:r>
              <a:rPr sz="2400" spc="-110" dirty="0">
                <a:latin typeface="Arial"/>
                <a:cs typeface="Arial"/>
              </a:rPr>
              <a:t> </a:t>
            </a:r>
            <a:r>
              <a:rPr sz="2400" spc="-114" dirty="0">
                <a:latin typeface="Arial"/>
                <a:cs typeface="Arial"/>
              </a:rPr>
              <a:t>by</a:t>
            </a:r>
            <a:r>
              <a:rPr sz="2400" spc="-105" dirty="0">
                <a:latin typeface="Arial"/>
                <a:cs typeface="Arial"/>
              </a:rPr>
              <a:t> </a:t>
            </a:r>
            <a:r>
              <a:rPr sz="2400" spc="-95" dirty="0">
                <a:latin typeface="Arial"/>
                <a:cs typeface="Arial"/>
              </a:rPr>
              <a:t>people</a:t>
            </a:r>
            <a:r>
              <a:rPr sz="2400" spc="-100" dirty="0">
                <a:latin typeface="Arial"/>
                <a:cs typeface="Arial"/>
              </a:rPr>
              <a:t> </a:t>
            </a:r>
            <a:r>
              <a:rPr sz="2400" spc="-80" dirty="0">
                <a:latin typeface="Arial"/>
                <a:cs typeface="Arial"/>
              </a:rPr>
              <a:t>(who</a:t>
            </a:r>
            <a:r>
              <a:rPr sz="2400" spc="-114" dirty="0">
                <a:latin typeface="Arial"/>
                <a:cs typeface="Arial"/>
              </a:rPr>
              <a:t> </a:t>
            </a:r>
            <a:r>
              <a:rPr sz="2400" spc="-160" dirty="0">
                <a:latin typeface="Arial"/>
                <a:cs typeface="Arial"/>
              </a:rPr>
              <a:t>have</a:t>
            </a:r>
            <a:r>
              <a:rPr sz="2400" spc="-100" dirty="0">
                <a:latin typeface="Arial"/>
                <a:cs typeface="Arial"/>
              </a:rPr>
              <a:t> </a:t>
            </a:r>
            <a:r>
              <a:rPr sz="2400" spc="-40" dirty="0">
                <a:latin typeface="Arial"/>
                <a:cs typeface="Arial"/>
              </a:rPr>
              <a:t>intentions), </a:t>
            </a:r>
            <a:r>
              <a:rPr sz="2400" spc="-190" dirty="0">
                <a:latin typeface="Arial"/>
                <a:cs typeface="Arial"/>
              </a:rPr>
              <a:t>so</a:t>
            </a:r>
            <a:r>
              <a:rPr sz="2400" spc="-110" dirty="0">
                <a:latin typeface="Arial"/>
                <a:cs typeface="Arial"/>
              </a:rPr>
              <a:t> we</a:t>
            </a:r>
            <a:r>
              <a:rPr sz="2400" spc="-100" dirty="0">
                <a:latin typeface="Arial"/>
                <a:cs typeface="Arial"/>
              </a:rPr>
              <a:t> </a:t>
            </a:r>
            <a:r>
              <a:rPr sz="2400" spc="-160" dirty="0">
                <a:latin typeface="Arial"/>
                <a:cs typeface="Arial"/>
              </a:rPr>
              <a:t>have</a:t>
            </a:r>
            <a:r>
              <a:rPr sz="2400" spc="-100" dirty="0">
                <a:latin typeface="Arial"/>
                <a:cs typeface="Arial"/>
              </a:rPr>
              <a:t> </a:t>
            </a:r>
            <a:r>
              <a:rPr sz="2400" dirty="0">
                <a:latin typeface="Arial"/>
                <a:cs typeface="Arial"/>
              </a:rPr>
              <a:t>to</a:t>
            </a:r>
            <a:r>
              <a:rPr sz="2400" spc="-100" dirty="0">
                <a:latin typeface="Arial"/>
                <a:cs typeface="Arial"/>
              </a:rPr>
              <a:t> </a:t>
            </a:r>
            <a:r>
              <a:rPr sz="2400" spc="-110" dirty="0">
                <a:solidFill>
                  <a:srgbClr val="0070C0"/>
                </a:solidFill>
                <a:latin typeface="Arial"/>
                <a:cs typeface="Arial"/>
              </a:rPr>
              <a:t>create</a:t>
            </a:r>
            <a:r>
              <a:rPr sz="2400" spc="-90" dirty="0">
                <a:solidFill>
                  <a:srgbClr val="0070C0"/>
                </a:solidFill>
                <a:latin typeface="Arial"/>
                <a:cs typeface="Arial"/>
              </a:rPr>
              <a:t> </a:t>
            </a:r>
            <a:r>
              <a:rPr sz="2400" spc="-55" dirty="0">
                <a:solidFill>
                  <a:srgbClr val="0070C0"/>
                </a:solidFill>
                <a:latin typeface="Arial"/>
                <a:cs typeface="Arial"/>
              </a:rPr>
              <a:t>them</a:t>
            </a:r>
            <a:r>
              <a:rPr sz="2400" spc="-110" dirty="0">
                <a:solidFill>
                  <a:srgbClr val="0070C0"/>
                </a:solidFill>
                <a:latin typeface="Arial"/>
                <a:cs typeface="Arial"/>
              </a:rPr>
              <a:t> </a:t>
            </a:r>
            <a:r>
              <a:rPr sz="2400" spc="-10" dirty="0">
                <a:solidFill>
                  <a:srgbClr val="0070C0"/>
                </a:solidFill>
                <a:latin typeface="Arial"/>
                <a:cs typeface="Arial"/>
              </a:rPr>
              <a:t>responsibly</a:t>
            </a:r>
            <a:endParaRPr sz="24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1800" y="1145388"/>
            <a:ext cx="4464050" cy="443711"/>
          </a:xfrm>
          <a:prstGeom prst="rect">
            <a:avLst/>
          </a:prstGeom>
        </p:spPr>
        <p:txBody>
          <a:bodyPr vert="horz" wrap="square" lIns="0" tIns="12700" rIns="0" bIns="0" rtlCol="0">
            <a:spAutoFit/>
          </a:bodyPr>
          <a:lstStyle/>
          <a:p>
            <a:pPr marL="12700">
              <a:lnSpc>
                <a:spcPct val="100000"/>
              </a:lnSpc>
              <a:spcBef>
                <a:spcPts val="100"/>
              </a:spcBef>
            </a:pPr>
            <a:r>
              <a:rPr spc="-175" dirty="0">
                <a:latin typeface="Arial" panose="020B0604020202020204" pitchFamily="34" charset="0"/>
                <a:cs typeface="Arial" panose="020B0604020202020204" pitchFamily="34" charset="0"/>
              </a:rPr>
              <a:t>Making</a:t>
            </a:r>
            <a:r>
              <a:rPr spc="-185" dirty="0">
                <a:latin typeface="Arial" panose="020B0604020202020204" pitchFamily="34" charset="0"/>
                <a:cs typeface="Arial" panose="020B0604020202020204" pitchFamily="34" charset="0"/>
              </a:rPr>
              <a:t> </a:t>
            </a:r>
            <a:r>
              <a:rPr spc="-220" dirty="0">
                <a:latin typeface="Arial" panose="020B0604020202020204" pitchFamily="34" charset="0"/>
                <a:cs typeface="Arial" panose="020B0604020202020204" pitchFamily="34" charset="0"/>
              </a:rPr>
              <a:t>Great</a:t>
            </a:r>
            <a:r>
              <a:rPr spc="-335" dirty="0">
                <a:latin typeface="Arial" panose="020B0604020202020204" pitchFamily="34" charset="0"/>
                <a:cs typeface="Arial" panose="020B0604020202020204" pitchFamily="34" charset="0"/>
              </a:rPr>
              <a:t> </a:t>
            </a:r>
            <a:r>
              <a:rPr spc="-195" dirty="0">
                <a:latin typeface="Arial" panose="020B0604020202020204" pitchFamily="34" charset="0"/>
                <a:cs typeface="Arial" panose="020B0604020202020204" pitchFamily="34" charset="0"/>
              </a:rPr>
              <a:t>Maps</a:t>
            </a:r>
          </a:p>
        </p:txBody>
      </p:sp>
      <p:pic>
        <p:nvPicPr>
          <p:cNvPr id="3" name="object 3"/>
          <p:cNvPicPr/>
          <p:nvPr/>
        </p:nvPicPr>
        <p:blipFill>
          <a:blip r:embed="rId2" cstate="print"/>
          <a:stretch>
            <a:fillRect/>
          </a:stretch>
        </p:blipFill>
        <p:spPr>
          <a:xfrm>
            <a:off x="620768" y="2125268"/>
            <a:ext cx="3914224" cy="2972054"/>
          </a:xfrm>
          <a:prstGeom prst="rect">
            <a:avLst/>
          </a:prstGeom>
        </p:spPr>
      </p:pic>
      <p:pic>
        <p:nvPicPr>
          <p:cNvPr id="4" name="object 4"/>
          <p:cNvPicPr/>
          <p:nvPr/>
        </p:nvPicPr>
        <p:blipFill>
          <a:blip r:embed="rId3" cstate="print"/>
          <a:stretch>
            <a:fillRect/>
          </a:stretch>
        </p:blipFill>
        <p:spPr>
          <a:xfrm>
            <a:off x="4653018" y="2161847"/>
            <a:ext cx="1866248" cy="2926330"/>
          </a:xfrm>
          <a:prstGeom prst="rect">
            <a:avLst/>
          </a:prstGeom>
        </p:spPr>
      </p:pic>
      <p:pic>
        <p:nvPicPr>
          <p:cNvPr id="5" name="object 5"/>
          <p:cNvPicPr/>
          <p:nvPr/>
        </p:nvPicPr>
        <p:blipFill>
          <a:blip r:embed="rId4" cstate="print"/>
          <a:stretch>
            <a:fillRect/>
          </a:stretch>
        </p:blipFill>
        <p:spPr>
          <a:xfrm>
            <a:off x="6709071" y="2161847"/>
            <a:ext cx="1915231" cy="2926330"/>
          </a:xfrm>
          <a:prstGeom prst="rect">
            <a:avLst/>
          </a:prstGeom>
        </p:spPr>
      </p:pic>
      <p:sp>
        <p:nvSpPr>
          <p:cNvPr id="6" name="object 6"/>
          <p:cNvSpPr txBox="1"/>
          <p:nvPr/>
        </p:nvSpPr>
        <p:spPr>
          <a:xfrm>
            <a:off x="617593" y="5163311"/>
            <a:ext cx="5268595" cy="193040"/>
          </a:xfrm>
          <a:prstGeom prst="rect">
            <a:avLst/>
          </a:prstGeom>
        </p:spPr>
        <p:txBody>
          <a:bodyPr vert="horz" wrap="square" lIns="0" tIns="12700" rIns="0" bIns="0" rtlCol="0">
            <a:spAutoFit/>
          </a:bodyPr>
          <a:lstStyle/>
          <a:p>
            <a:pPr marL="12700">
              <a:lnSpc>
                <a:spcPct val="100000"/>
              </a:lnSpc>
              <a:spcBef>
                <a:spcPts val="100"/>
              </a:spcBef>
            </a:pPr>
            <a:r>
              <a:rPr sz="1100" b="1" spc="-100" dirty="0">
                <a:solidFill>
                  <a:srgbClr val="595958"/>
                </a:solidFill>
                <a:latin typeface="Arial"/>
                <a:cs typeface="Arial"/>
              </a:rPr>
              <a:t>From:</a:t>
            </a:r>
            <a:r>
              <a:rPr sz="1100" b="1" spc="-50" dirty="0">
                <a:solidFill>
                  <a:srgbClr val="595958"/>
                </a:solidFill>
                <a:latin typeface="Arial"/>
                <a:cs typeface="Arial"/>
              </a:rPr>
              <a:t> </a:t>
            </a:r>
            <a:r>
              <a:rPr sz="1100" b="1" i="1" spc="-60" dirty="0">
                <a:solidFill>
                  <a:srgbClr val="953735"/>
                </a:solidFill>
                <a:latin typeface="Arial"/>
                <a:cs typeface="Arial"/>
              </a:rPr>
              <a:t>Making</a:t>
            </a:r>
            <a:r>
              <a:rPr sz="1100" b="1" i="1" spc="-45" dirty="0">
                <a:solidFill>
                  <a:srgbClr val="953735"/>
                </a:solidFill>
                <a:latin typeface="Arial"/>
                <a:cs typeface="Arial"/>
              </a:rPr>
              <a:t> </a:t>
            </a:r>
            <a:r>
              <a:rPr sz="1100" b="1" i="1" spc="-75" dirty="0">
                <a:solidFill>
                  <a:srgbClr val="953735"/>
                </a:solidFill>
                <a:latin typeface="Arial"/>
                <a:cs typeface="Arial"/>
              </a:rPr>
              <a:t>Maps:</a:t>
            </a:r>
            <a:r>
              <a:rPr sz="1100" b="1" i="1" spc="-50" dirty="0">
                <a:solidFill>
                  <a:srgbClr val="953735"/>
                </a:solidFill>
                <a:latin typeface="Arial"/>
                <a:cs typeface="Arial"/>
              </a:rPr>
              <a:t> </a:t>
            </a:r>
            <a:r>
              <a:rPr sz="1100" b="1" i="1" spc="-145" dirty="0">
                <a:solidFill>
                  <a:srgbClr val="953735"/>
                </a:solidFill>
                <a:latin typeface="Arial"/>
                <a:cs typeface="Arial"/>
              </a:rPr>
              <a:t>A</a:t>
            </a:r>
            <a:r>
              <a:rPr sz="1100" b="1" i="1" spc="-35" dirty="0">
                <a:solidFill>
                  <a:srgbClr val="953735"/>
                </a:solidFill>
                <a:latin typeface="Arial"/>
                <a:cs typeface="Arial"/>
              </a:rPr>
              <a:t> </a:t>
            </a:r>
            <a:r>
              <a:rPr sz="1100" b="1" i="1" spc="-90" dirty="0">
                <a:solidFill>
                  <a:srgbClr val="953735"/>
                </a:solidFill>
                <a:latin typeface="Arial"/>
                <a:cs typeface="Arial"/>
              </a:rPr>
              <a:t>Visual</a:t>
            </a:r>
            <a:r>
              <a:rPr sz="1100" b="1" i="1" spc="-45" dirty="0">
                <a:solidFill>
                  <a:srgbClr val="953735"/>
                </a:solidFill>
                <a:latin typeface="Arial"/>
                <a:cs typeface="Arial"/>
              </a:rPr>
              <a:t> </a:t>
            </a:r>
            <a:r>
              <a:rPr sz="1100" b="1" i="1" spc="-95" dirty="0">
                <a:solidFill>
                  <a:srgbClr val="953735"/>
                </a:solidFill>
                <a:latin typeface="Arial"/>
                <a:cs typeface="Arial"/>
              </a:rPr>
              <a:t>Guide</a:t>
            </a:r>
            <a:r>
              <a:rPr sz="1100" b="1" i="1" spc="-35" dirty="0">
                <a:solidFill>
                  <a:srgbClr val="953735"/>
                </a:solidFill>
                <a:latin typeface="Arial"/>
                <a:cs typeface="Arial"/>
              </a:rPr>
              <a:t> </a:t>
            </a:r>
            <a:r>
              <a:rPr sz="1100" b="1" i="1" spc="-45" dirty="0">
                <a:solidFill>
                  <a:srgbClr val="953735"/>
                </a:solidFill>
                <a:latin typeface="Arial"/>
                <a:cs typeface="Arial"/>
              </a:rPr>
              <a:t>to</a:t>
            </a:r>
            <a:r>
              <a:rPr sz="1100" b="1" i="1" spc="-50" dirty="0">
                <a:solidFill>
                  <a:srgbClr val="953735"/>
                </a:solidFill>
                <a:latin typeface="Arial"/>
                <a:cs typeface="Arial"/>
              </a:rPr>
              <a:t> </a:t>
            </a:r>
            <a:r>
              <a:rPr sz="1100" b="1" i="1" spc="-40" dirty="0">
                <a:solidFill>
                  <a:srgbClr val="953735"/>
                </a:solidFill>
                <a:latin typeface="Arial"/>
                <a:cs typeface="Arial"/>
              </a:rPr>
              <a:t>Map</a:t>
            </a:r>
            <a:r>
              <a:rPr sz="1100" b="1" i="1" spc="-50" dirty="0">
                <a:solidFill>
                  <a:srgbClr val="953735"/>
                </a:solidFill>
                <a:latin typeface="Arial"/>
                <a:cs typeface="Arial"/>
              </a:rPr>
              <a:t> </a:t>
            </a:r>
            <a:r>
              <a:rPr sz="1100" b="1" i="1" spc="-114" dirty="0">
                <a:solidFill>
                  <a:srgbClr val="953735"/>
                </a:solidFill>
                <a:latin typeface="Arial"/>
                <a:cs typeface="Arial"/>
              </a:rPr>
              <a:t>Design</a:t>
            </a:r>
            <a:r>
              <a:rPr sz="1100" b="1" i="1" spc="-50" dirty="0">
                <a:solidFill>
                  <a:srgbClr val="953735"/>
                </a:solidFill>
                <a:latin typeface="Arial"/>
                <a:cs typeface="Arial"/>
              </a:rPr>
              <a:t> </a:t>
            </a:r>
            <a:r>
              <a:rPr sz="1100" b="1" i="1" spc="-60" dirty="0">
                <a:solidFill>
                  <a:srgbClr val="953735"/>
                </a:solidFill>
                <a:latin typeface="Arial"/>
                <a:cs typeface="Arial"/>
              </a:rPr>
              <a:t>for</a:t>
            </a:r>
            <a:r>
              <a:rPr sz="1100" b="1" i="1" spc="-35" dirty="0">
                <a:solidFill>
                  <a:srgbClr val="953735"/>
                </a:solidFill>
                <a:latin typeface="Arial"/>
                <a:cs typeface="Arial"/>
              </a:rPr>
              <a:t> </a:t>
            </a:r>
            <a:r>
              <a:rPr sz="1100" b="1" i="1" spc="-135" dirty="0">
                <a:solidFill>
                  <a:srgbClr val="953735"/>
                </a:solidFill>
                <a:latin typeface="Arial"/>
                <a:cs typeface="Arial"/>
              </a:rPr>
              <a:t>GIS</a:t>
            </a:r>
            <a:r>
              <a:rPr sz="1100" b="1" i="1" spc="-40" dirty="0">
                <a:solidFill>
                  <a:srgbClr val="953735"/>
                </a:solidFill>
                <a:latin typeface="Arial"/>
                <a:cs typeface="Arial"/>
              </a:rPr>
              <a:t> </a:t>
            </a:r>
            <a:r>
              <a:rPr sz="1100" b="1" i="1" spc="-105" dirty="0">
                <a:solidFill>
                  <a:srgbClr val="595958"/>
                </a:solidFill>
                <a:latin typeface="Arial"/>
                <a:cs typeface="Arial"/>
              </a:rPr>
              <a:t>by</a:t>
            </a:r>
            <a:r>
              <a:rPr sz="1100" b="1" i="1" spc="-45" dirty="0">
                <a:solidFill>
                  <a:srgbClr val="595958"/>
                </a:solidFill>
                <a:latin typeface="Arial"/>
                <a:cs typeface="Arial"/>
              </a:rPr>
              <a:t> </a:t>
            </a:r>
            <a:r>
              <a:rPr sz="1100" b="1" i="1" spc="-155" dirty="0">
                <a:solidFill>
                  <a:srgbClr val="595958"/>
                </a:solidFill>
                <a:latin typeface="Arial"/>
                <a:cs typeface="Arial"/>
              </a:rPr>
              <a:t>John</a:t>
            </a:r>
            <a:r>
              <a:rPr sz="1100" b="1" i="1" spc="-50" dirty="0">
                <a:solidFill>
                  <a:srgbClr val="595958"/>
                </a:solidFill>
                <a:latin typeface="Arial"/>
                <a:cs typeface="Arial"/>
              </a:rPr>
              <a:t> </a:t>
            </a:r>
            <a:r>
              <a:rPr sz="1100" b="1" i="1" spc="-90" dirty="0">
                <a:solidFill>
                  <a:srgbClr val="595958"/>
                </a:solidFill>
                <a:latin typeface="Arial"/>
                <a:cs typeface="Arial"/>
              </a:rPr>
              <a:t>Krygier</a:t>
            </a:r>
            <a:r>
              <a:rPr sz="1100" b="1" i="1" spc="-35" dirty="0">
                <a:solidFill>
                  <a:srgbClr val="595958"/>
                </a:solidFill>
                <a:latin typeface="Arial"/>
                <a:cs typeface="Arial"/>
              </a:rPr>
              <a:t> </a:t>
            </a:r>
            <a:r>
              <a:rPr sz="1100" b="1" i="1" spc="-90" dirty="0">
                <a:solidFill>
                  <a:srgbClr val="595958"/>
                </a:solidFill>
                <a:latin typeface="Arial"/>
                <a:cs typeface="Arial"/>
              </a:rPr>
              <a:t>and</a:t>
            </a:r>
            <a:r>
              <a:rPr sz="1100" b="1" i="1" spc="-40" dirty="0">
                <a:solidFill>
                  <a:srgbClr val="595958"/>
                </a:solidFill>
                <a:latin typeface="Arial"/>
                <a:cs typeface="Arial"/>
              </a:rPr>
              <a:t> </a:t>
            </a:r>
            <a:r>
              <a:rPr sz="1100" b="1" i="1" spc="-110" dirty="0">
                <a:solidFill>
                  <a:srgbClr val="595958"/>
                </a:solidFill>
                <a:latin typeface="Arial"/>
                <a:cs typeface="Arial"/>
              </a:rPr>
              <a:t>Denis</a:t>
            </a:r>
            <a:r>
              <a:rPr sz="1100" b="1" i="1" spc="-45" dirty="0">
                <a:solidFill>
                  <a:srgbClr val="595958"/>
                </a:solidFill>
                <a:latin typeface="Arial"/>
                <a:cs typeface="Arial"/>
              </a:rPr>
              <a:t> </a:t>
            </a:r>
            <a:r>
              <a:rPr sz="1100" b="1" i="1" spc="-20" dirty="0">
                <a:solidFill>
                  <a:srgbClr val="595958"/>
                </a:solidFill>
                <a:latin typeface="Arial"/>
                <a:cs typeface="Arial"/>
              </a:rPr>
              <a:t>Wood</a:t>
            </a:r>
            <a:endParaRPr sz="1100">
              <a:latin typeface="Arial"/>
              <a:cs typeface="Arial"/>
            </a:endParaRPr>
          </a:p>
        </p:txBody>
      </p:sp>
      <p:sp>
        <p:nvSpPr>
          <p:cNvPr id="7" name="object 7"/>
          <p:cNvSpPr txBox="1"/>
          <p:nvPr/>
        </p:nvSpPr>
        <p:spPr>
          <a:xfrm>
            <a:off x="151000" y="5464555"/>
            <a:ext cx="8093709" cy="784860"/>
          </a:xfrm>
          <a:prstGeom prst="rect">
            <a:avLst/>
          </a:prstGeom>
        </p:spPr>
        <p:txBody>
          <a:bodyPr vert="horz" wrap="square" lIns="0" tIns="12700" rIns="0" bIns="0" rtlCol="0">
            <a:spAutoFit/>
          </a:bodyPr>
          <a:lstStyle/>
          <a:p>
            <a:pPr marL="850900" algn="ctr">
              <a:lnSpc>
                <a:spcPts val="2125"/>
              </a:lnSpc>
              <a:spcBef>
                <a:spcPts val="100"/>
              </a:spcBef>
            </a:pPr>
            <a:r>
              <a:rPr sz="1800" spc="-130" dirty="0">
                <a:latin typeface="Arial"/>
                <a:cs typeface="Arial"/>
              </a:rPr>
              <a:t>Example</a:t>
            </a:r>
            <a:r>
              <a:rPr sz="1800" spc="-70" dirty="0">
                <a:latin typeface="Arial"/>
                <a:cs typeface="Arial"/>
              </a:rPr>
              <a:t> </a:t>
            </a:r>
            <a:r>
              <a:rPr sz="1800" dirty="0">
                <a:latin typeface="Arial"/>
                <a:cs typeface="Arial"/>
              </a:rPr>
              <a:t>of</a:t>
            </a:r>
            <a:r>
              <a:rPr sz="1800" spc="-75" dirty="0">
                <a:latin typeface="Arial"/>
                <a:cs typeface="Arial"/>
              </a:rPr>
              <a:t> </a:t>
            </a:r>
            <a:r>
              <a:rPr sz="1800" spc="-60" dirty="0">
                <a:latin typeface="Arial"/>
                <a:cs typeface="Arial"/>
              </a:rPr>
              <a:t>how</a:t>
            </a:r>
            <a:r>
              <a:rPr sz="1800" spc="-70" dirty="0">
                <a:latin typeface="Arial"/>
                <a:cs typeface="Arial"/>
              </a:rPr>
              <a:t> </a:t>
            </a:r>
            <a:r>
              <a:rPr sz="1800" spc="-140" dirty="0">
                <a:latin typeface="Arial"/>
                <a:cs typeface="Arial"/>
              </a:rPr>
              <a:t>a</a:t>
            </a:r>
            <a:r>
              <a:rPr sz="1800" spc="-75" dirty="0">
                <a:latin typeface="Arial"/>
                <a:cs typeface="Arial"/>
              </a:rPr>
              <a:t> </a:t>
            </a:r>
            <a:r>
              <a:rPr sz="1800" spc="-100" dirty="0">
                <a:latin typeface="Arial"/>
                <a:cs typeface="Arial"/>
              </a:rPr>
              <a:t>map</a:t>
            </a:r>
            <a:r>
              <a:rPr sz="1800" spc="-70" dirty="0">
                <a:latin typeface="Arial"/>
                <a:cs typeface="Arial"/>
              </a:rPr>
              <a:t> </a:t>
            </a:r>
            <a:r>
              <a:rPr sz="1800" spc="-125" dirty="0">
                <a:latin typeface="Arial"/>
                <a:cs typeface="Arial"/>
              </a:rPr>
              <a:t>can</a:t>
            </a:r>
            <a:r>
              <a:rPr sz="1800" spc="-65" dirty="0">
                <a:latin typeface="Arial"/>
                <a:cs typeface="Arial"/>
              </a:rPr>
              <a:t> </a:t>
            </a:r>
            <a:r>
              <a:rPr sz="1800" spc="-85" dirty="0">
                <a:latin typeface="Arial"/>
                <a:cs typeface="Arial"/>
              </a:rPr>
              <a:t>be</a:t>
            </a:r>
            <a:r>
              <a:rPr sz="1800" spc="-70" dirty="0">
                <a:latin typeface="Arial"/>
                <a:cs typeface="Arial"/>
              </a:rPr>
              <a:t> </a:t>
            </a:r>
            <a:r>
              <a:rPr sz="1800" spc="-114" dirty="0">
                <a:latin typeface="Arial"/>
                <a:cs typeface="Arial"/>
              </a:rPr>
              <a:t>used</a:t>
            </a:r>
            <a:r>
              <a:rPr sz="1800" spc="-70" dirty="0">
                <a:latin typeface="Arial"/>
                <a:cs typeface="Arial"/>
              </a:rPr>
              <a:t> </a:t>
            </a:r>
            <a:r>
              <a:rPr sz="1800" dirty="0">
                <a:latin typeface="Arial"/>
                <a:cs typeface="Arial"/>
              </a:rPr>
              <a:t>to</a:t>
            </a:r>
            <a:r>
              <a:rPr sz="1800" spc="-70" dirty="0">
                <a:latin typeface="Arial"/>
                <a:cs typeface="Arial"/>
              </a:rPr>
              <a:t> </a:t>
            </a:r>
            <a:r>
              <a:rPr sz="1800" spc="-80" dirty="0">
                <a:latin typeface="Arial"/>
                <a:cs typeface="Arial"/>
              </a:rPr>
              <a:t>prove</a:t>
            </a:r>
            <a:r>
              <a:rPr sz="1800" spc="-70" dirty="0">
                <a:latin typeface="Arial"/>
                <a:cs typeface="Arial"/>
              </a:rPr>
              <a:t> </a:t>
            </a:r>
            <a:r>
              <a:rPr sz="1800" spc="-100" dirty="0">
                <a:latin typeface="Arial"/>
                <a:cs typeface="Arial"/>
              </a:rPr>
              <a:t>many</a:t>
            </a:r>
            <a:r>
              <a:rPr sz="1800" spc="-80" dirty="0">
                <a:latin typeface="Arial"/>
                <a:cs typeface="Arial"/>
              </a:rPr>
              <a:t> </a:t>
            </a:r>
            <a:r>
              <a:rPr sz="1800" spc="-30" dirty="0">
                <a:latin typeface="Arial"/>
                <a:cs typeface="Arial"/>
              </a:rPr>
              <a:t>different</a:t>
            </a:r>
            <a:r>
              <a:rPr sz="1800" spc="-75" dirty="0">
                <a:latin typeface="Arial"/>
                <a:cs typeface="Arial"/>
              </a:rPr>
              <a:t> </a:t>
            </a:r>
            <a:r>
              <a:rPr sz="1800" spc="-10" dirty="0">
                <a:latin typeface="Arial"/>
                <a:cs typeface="Arial"/>
              </a:rPr>
              <a:t>points.</a:t>
            </a:r>
            <a:endParaRPr sz="1800">
              <a:latin typeface="Arial"/>
              <a:cs typeface="Arial"/>
            </a:endParaRPr>
          </a:p>
          <a:p>
            <a:pPr marL="850900" algn="ctr">
              <a:lnSpc>
                <a:spcPts val="2125"/>
              </a:lnSpc>
            </a:pPr>
            <a:r>
              <a:rPr sz="1800" spc="-90" dirty="0">
                <a:latin typeface="Arial"/>
                <a:cs typeface="Arial"/>
              </a:rPr>
              <a:t>However</a:t>
            </a:r>
            <a:r>
              <a:rPr sz="1800" spc="-80" dirty="0">
                <a:latin typeface="Arial"/>
                <a:cs typeface="Arial"/>
              </a:rPr>
              <a:t> </a:t>
            </a:r>
            <a:r>
              <a:rPr sz="1800" spc="-20" dirty="0">
                <a:latin typeface="Arial"/>
                <a:cs typeface="Arial"/>
              </a:rPr>
              <a:t>in</a:t>
            </a:r>
            <a:r>
              <a:rPr sz="1800" spc="-70" dirty="0">
                <a:latin typeface="Arial"/>
                <a:cs typeface="Arial"/>
              </a:rPr>
              <a:t> </a:t>
            </a:r>
            <a:r>
              <a:rPr sz="1800" spc="-20" dirty="0">
                <a:latin typeface="Arial"/>
                <a:cs typeface="Arial"/>
              </a:rPr>
              <a:t>the</a:t>
            </a:r>
            <a:r>
              <a:rPr sz="1800" spc="-70" dirty="0">
                <a:latin typeface="Arial"/>
                <a:cs typeface="Arial"/>
              </a:rPr>
              <a:t> </a:t>
            </a:r>
            <a:r>
              <a:rPr sz="1800" spc="-90" dirty="0">
                <a:latin typeface="Arial"/>
                <a:cs typeface="Arial"/>
              </a:rPr>
              <a:t>past</a:t>
            </a:r>
            <a:r>
              <a:rPr sz="1800" spc="-80" dirty="0">
                <a:latin typeface="Arial"/>
                <a:cs typeface="Arial"/>
              </a:rPr>
              <a:t> </a:t>
            </a:r>
            <a:r>
              <a:rPr sz="1800" spc="-60" dirty="0">
                <a:latin typeface="Arial"/>
                <a:cs typeface="Arial"/>
              </a:rPr>
              <a:t>only</a:t>
            </a:r>
            <a:r>
              <a:rPr sz="1800" spc="-80" dirty="0">
                <a:latin typeface="Arial"/>
                <a:cs typeface="Arial"/>
              </a:rPr>
              <a:t> </a:t>
            </a:r>
            <a:r>
              <a:rPr sz="1800" spc="-75" dirty="0">
                <a:latin typeface="Arial"/>
                <a:cs typeface="Arial"/>
              </a:rPr>
              <a:t>those</a:t>
            </a:r>
            <a:r>
              <a:rPr sz="1800" spc="-70" dirty="0">
                <a:latin typeface="Arial"/>
                <a:cs typeface="Arial"/>
              </a:rPr>
              <a:t> </a:t>
            </a:r>
            <a:r>
              <a:rPr sz="1800" spc="-20" dirty="0">
                <a:latin typeface="Arial"/>
                <a:cs typeface="Arial"/>
              </a:rPr>
              <a:t>in</a:t>
            </a:r>
            <a:r>
              <a:rPr sz="1800" spc="-70" dirty="0">
                <a:latin typeface="Arial"/>
                <a:cs typeface="Arial"/>
              </a:rPr>
              <a:t> </a:t>
            </a:r>
            <a:r>
              <a:rPr sz="1800" spc="-55" dirty="0">
                <a:latin typeface="Arial"/>
                <a:cs typeface="Arial"/>
              </a:rPr>
              <a:t>power</a:t>
            </a:r>
            <a:r>
              <a:rPr sz="1800" spc="-80" dirty="0">
                <a:latin typeface="Arial"/>
                <a:cs typeface="Arial"/>
              </a:rPr>
              <a:t> </a:t>
            </a:r>
            <a:r>
              <a:rPr sz="1800" spc="-95" dirty="0">
                <a:latin typeface="Arial"/>
                <a:cs typeface="Arial"/>
              </a:rPr>
              <a:t>had</a:t>
            </a:r>
            <a:r>
              <a:rPr sz="1800" spc="-70" dirty="0">
                <a:latin typeface="Arial"/>
                <a:cs typeface="Arial"/>
              </a:rPr>
              <a:t> </a:t>
            </a:r>
            <a:r>
              <a:rPr sz="1800" spc="-20" dirty="0">
                <a:latin typeface="Arial"/>
                <a:cs typeface="Arial"/>
              </a:rPr>
              <a:t>the</a:t>
            </a:r>
            <a:r>
              <a:rPr sz="1800" spc="-70" dirty="0">
                <a:latin typeface="Arial"/>
                <a:cs typeface="Arial"/>
              </a:rPr>
              <a:t> </a:t>
            </a:r>
            <a:r>
              <a:rPr sz="1800" spc="-55" dirty="0">
                <a:latin typeface="Arial"/>
                <a:cs typeface="Arial"/>
              </a:rPr>
              <a:t>software</a:t>
            </a:r>
            <a:r>
              <a:rPr sz="1800" spc="-70" dirty="0">
                <a:latin typeface="Arial"/>
                <a:cs typeface="Arial"/>
              </a:rPr>
              <a:t> </a:t>
            </a:r>
            <a:r>
              <a:rPr sz="1800" spc="-95" dirty="0">
                <a:latin typeface="Arial"/>
                <a:cs typeface="Arial"/>
              </a:rPr>
              <a:t>and</a:t>
            </a:r>
            <a:r>
              <a:rPr sz="1800" spc="-70" dirty="0">
                <a:latin typeface="Arial"/>
                <a:cs typeface="Arial"/>
              </a:rPr>
              <a:t> </a:t>
            </a:r>
            <a:r>
              <a:rPr sz="1800" spc="-80" dirty="0">
                <a:latin typeface="Arial"/>
                <a:cs typeface="Arial"/>
              </a:rPr>
              <a:t>data</a:t>
            </a:r>
            <a:r>
              <a:rPr sz="1800" spc="-75" dirty="0">
                <a:latin typeface="Arial"/>
                <a:cs typeface="Arial"/>
              </a:rPr>
              <a:t> </a:t>
            </a:r>
            <a:r>
              <a:rPr sz="1800" dirty="0">
                <a:latin typeface="Arial"/>
                <a:cs typeface="Arial"/>
              </a:rPr>
              <a:t>to</a:t>
            </a:r>
            <a:r>
              <a:rPr sz="1800" spc="-75" dirty="0">
                <a:latin typeface="Arial"/>
                <a:cs typeface="Arial"/>
              </a:rPr>
              <a:t> </a:t>
            </a:r>
            <a:r>
              <a:rPr sz="1800" spc="-60" dirty="0">
                <a:latin typeface="Arial"/>
                <a:cs typeface="Arial"/>
              </a:rPr>
              <a:t>do</a:t>
            </a:r>
            <a:r>
              <a:rPr sz="1800" spc="-75" dirty="0">
                <a:latin typeface="Arial"/>
                <a:cs typeface="Arial"/>
              </a:rPr>
              <a:t> </a:t>
            </a:r>
            <a:r>
              <a:rPr sz="1800" spc="-25" dirty="0">
                <a:latin typeface="Arial"/>
                <a:cs typeface="Arial"/>
              </a:rPr>
              <a:t>so.</a:t>
            </a:r>
            <a:endParaRPr sz="1800">
              <a:latin typeface="Arial"/>
              <a:cs typeface="Arial"/>
            </a:endParaRPr>
          </a:p>
          <a:p>
            <a:pPr marL="12700">
              <a:lnSpc>
                <a:spcPct val="100000"/>
              </a:lnSpc>
              <a:spcBef>
                <a:spcPts val="285"/>
              </a:spcBef>
            </a:pPr>
            <a:r>
              <a:rPr sz="1200" spc="-85" dirty="0">
                <a:latin typeface="Arial"/>
                <a:cs typeface="Arial"/>
              </a:rPr>
              <a:t>Images</a:t>
            </a:r>
            <a:r>
              <a:rPr sz="1200" spc="-30" dirty="0">
                <a:latin typeface="Arial"/>
                <a:cs typeface="Arial"/>
              </a:rPr>
              <a:t> </a:t>
            </a:r>
            <a:r>
              <a:rPr sz="1200" spc="105" dirty="0">
                <a:latin typeface="Arial"/>
                <a:cs typeface="Arial"/>
              </a:rPr>
              <a:t>©</a:t>
            </a:r>
            <a:r>
              <a:rPr sz="1200" spc="-35" dirty="0">
                <a:latin typeface="Arial"/>
                <a:cs typeface="Arial"/>
              </a:rPr>
              <a:t> </a:t>
            </a:r>
            <a:r>
              <a:rPr sz="1200" u="sng" spc="-85" dirty="0">
                <a:solidFill>
                  <a:srgbClr val="0B5394"/>
                </a:solidFill>
                <a:uFill>
                  <a:solidFill>
                    <a:srgbClr val="0B5394"/>
                  </a:solidFill>
                </a:uFill>
                <a:latin typeface="Arial"/>
                <a:cs typeface="Arial"/>
              </a:rPr>
              <a:t>John</a:t>
            </a:r>
            <a:r>
              <a:rPr sz="1200" u="sng" spc="-40" dirty="0">
                <a:solidFill>
                  <a:srgbClr val="0B5394"/>
                </a:solidFill>
                <a:uFill>
                  <a:solidFill>
                    <a:srgbClr val="0B5394"/>
                  </a:solidFill>
                </a:uFill>
                <a:latin typeface="Arial"/>
                <a:cs typeface="Arial"/>
              </a:rPr>
              <a:t> </a:t>
            </a:r>
            <a:r>
              <a:rPr sz="1200" u="sng" spc="-65" dirty="0">
                <a:solidFill>
                  <a:srgbClr val="0B5394"/>
                </a:solidFill>
                <a:uFill>
                  <a:solidFill>
                    <a:srgbClr val="0B5394"/>
                  </a:solidFill>
                </a:uFill>
                <a:latin typeface="Arial"/>
                <a:cs typeface="Arial"/>
              </a:rPr>
              <a:t>Krygier</a:t>
            </a:r>
            <a:r>
              <a:rPr sz="1200" u="sng" spc="-40" dirty="0">
                <a:solidFill>
                  <a:srgbClr val="0B5394"/>
                </a:solidFill>
                <a:uFill>
                  <a:solidFill>
                    <a:srgbClr val="0B5394"/>
                  </a:solidFill>
                </a:uFill>
                <a:latin typeface="Arial"/>
                <a:cs typeface="Arial"/>
              </a:rPr>
              <a:t> </a:t>
            </a:r>
            <a:r>
              <a:rPr sz="1200" u="sng" spc="-60" dirty="0">
                <a:solidFill>
                  <a:srgbClr val="0B5394"/>
                </a:solidFill>
                <a:uFill>
                  <a:solidFill>
                    <a:srgbClr val="0B5394"/>
                  </a:solidFill>
                </a:uFill>
                <a:latin typeface="Arial"/>
                <a:cs typeface="Arial"/>
              </a:rPr>
              <a:t>and</a:t>
            </a:r>
            <a:r>
              <a:rPr sz="1200" u="sng" spc="-40" dirty="0">
                <a:solidFill>
                  <a:srgbClr val="0B5394"/>
                </a:solidFill>
                <a:uFill>
                  <a:solidFill>
                    <a:srgbClr val="0B5394"/>
                  </a:solidFill>
                </a:uFill>
                <a:latin typeface="Arial"/>
                <a:cs typeface="Arial"/>
              </a:rPr>
              <a:t> </a:t>
            </a:r>
            <a:r>
              <a:rPr sz="1200" u="sng" spc="-75" dirty="0">
                <a:solidFill>
                  <a:srgbClr val="0B5394"/>
                </a:solidFill>
                <a:uFill>
                  <a:solidFill>
                    <a:srgbClr val="0B5394"/>
                  </a:solidFill>
                </a:uFill>
                <a:latin typeface="Arial"/>
                <a:cs typeface="Arial"/>
              </a:rPr>
              <a:t>Denis</a:t>
            </a:r>
            <a:r>
              <a:rPr sz="1200" u="sng" spc="-30" dirty="0">
                <a:solidFill>
                  <a:srgbClr val="0B5394"/>
                </a:solidFill>
                <a:uFill>
                  <a:solidFill>
                    <a:srgbClr val="0B5394"/>
                  </a:solidFill>
                </a:uFill>
                <a:latin typeface="Arial"/>
                <a:cs typeface="Arial"/>
              </a:rPr>
              <a:t> </a:t>
            </a:r>
            <a:r>
              <a:rPr sz="1200" u="sng" spc="-60" dirty="0">
                <a:solidFill>
                  <a:srgbClr val="0B5394"/>
                </a:solidFill>
                <a:uFill>
                  <a:solidFill>
                    <a:srgbClr val="0B5394"/>
                  </a:solidFill>
                </a:uFill>
                <a:latin typeface="Arial"/>
                <a:cs typeface="Arial"/>
              </a:rPr>
              <a:t>Wood</a:t>
            </a:r>
            <a:r>
              <a:rPr sz="1200" spc="-60" dirty="0">
                <a:latin typeface="Arial"/>
                <a:cs typeface="Arial"/>
              </a:rPr>
              <a:t>.</a:t>
            </a:r>
            <a:r>
              <a:rPr sz="1200" spc="-40" dirty="0">
                <a:latin typeface="Arial"/>
                <a:cs typeface="Arial"/>
              </a:rPr>
              <a:t> All</a:t>
            </a:r>
            <a:r>
              <a:rPr sz="1200" spc="-30" dirty="0">
                <a:latin typeface="Arial"/>
                <a:cs typeface="Arial"/>
              </a:rPr>
              <a:t> </a:t>
            </a:r>
            <a:r>
              <a:rPr sz="1200" spc="-40" dirty="0">
                <a:latin typeface="Arial"/>
                <a:cs typeface="Arial"/>
              </a:rPr>
              <a:t>rights</a:t>
            </a:r>
            <a:r>
              <a:rPr sz="1200" spc="-30" dirty="0">
                <a:latin typeface="Arial"/>
                <a:cs typeface="Arial"/>
              </a:rPr>
              <a:t> </a:t>
            </a:r>
            <a:r>
              <a:rPr sz="1200" spc="-60" dirty="0">
                <a:latin typeface="Arial"/>
                <a:cs typeface="Arial"/>
              </a:rPr>
              <a:t>reserved.</a:t>
            </a:r>
            <a:r>
              <a:rPr sz="1200" spc="-40" dirty="0">
                <a:latin typeface="Arial"/>
                <a:cs typeface="Arial"/>
              </a:rPr>
              <a:t> </a:t>
            </a:r>
            <a:r>
              <a:rPr sz="1200" spc="-90" dirty="0">
                <a:latin typeface="Arial"/>
                <a:cs typeface="Arial"/>
              </a:rPr>
              <a:t>This</a:t>
            </a:r>
            <a:r>
              <a:rPr sz="1200" spc="-30" dirty="0">
                <a:latin typeface="Arial"/>
                <a:cs typeface="Arial"/>
              </a:rPr>
              <a:t> </a:t>
            </a:r>
            <a:r>
              <a:rPr sz="1200" spc="-35" dirty="0">
                <a:latin typeface="Arial"/>
                <a:cs typeface="Arial"/>
              </a:rPr>
              <a:t>content</a:t>
            </a:r>
            <a:r>
              <a:rPr sz="1200" spc="-40" dirty="0">
                <a:latin typeface="Arial"/>
                <a:cs typeface="Arial"/>
              </a:rPr>
              <a:t> </a:t>
            </a:r>
            <a:r>
              <a:rPr sz="1200" spc="-70" dirty="0">
                <a:latin typeface="Arial"/>
                <a:cs typeface="Arial"/>
              </a:rPr>
              <a:t>is</a:t>
            </a:r>
            <a:r>
              <a:rPr sz="1200" spc="-30" dirty="0">
                <a:latin typeface="Arial"/>
                <a:cs typeface="Arial"/>
              </a:rPr>
              <a:t> </a:t>
            </a:r>
            <a:r>
              <a:rPr sz="1200" spc="-65" dirty="0">
                <a:latin typeface="Arial"/>
                <a:cs typeface="Arial"/>
              </a:rPr>
              <a:t>excluded</a:t>
            </a:r>
            <a:r>
              <a:rPr sz="1200" spc="-40" dirty="0">
                <a:latin typeface="Arial"/>
                <a:cs typeface="Arial"/>
              </a:rPr>
              <a:t> </a:t>
            </a:r>
            <a:r>
              <a:rPr sz="1200" spc="-20" dirty="0">
                <a:latin typeface="Arial"/>
                <a:cs typeface="Arial"/>
              </a:rPr>
              <a:t>from</a:t>
            </a:r>
            <a:r>
              <a:rPr sz="1200" spc="-25" dirty="0">
                <a:latin typeface="Arial"/>
                <a:cs typeface="Arial"/>
              </a:rPr>
              <a:t> </a:t>
            </a:r>
            <a:r>
              <a:rPr sz="1200" spc="-30" dirty="0">
                <a:latin typeface="Arial"/>
                <a:cs typeface="Arial"/>
              </a:rPr>
              <a:t>our</a:t>
            </a:r>
            <a:r>
              <a:rPr sz="1200" spc="-40" dirty="0">
                <a:latin typeface="Arial"/>
                <a:cs typeface="Arial"/>
              </a:rPr>
              <a:t> </a:t>
            </a:r>
            <a:r>
              <a:rPr sz="1200" spc="-65" dirty="0">
                <a:latin typeface="Arial"/>
                <a:cs typeface="Arial"/>
              </a:rPr>
              <a:t>Creative</a:t>
            </a:r>
            <a:r>
              <a:rPr sz="1200" spc="-35" dirty="0">
                <a:latin typeface="Arial"/>
                <a:cs typeface="Arial"/>
              </a:rPr>
              <a:t> </a:t>
            </a:r>
            <a:r>
              <a:rPr sz="1200" spc="-85" dirty="0">
                <a:latin typeface="Arial"/>
                <a:cs typeface="Arial"/>
              </a:rPr>
              <a:t>Commons</a:t>
            </a:r>
            <a:r>
              <a:rPr sz="1200" spc="-30" dirty="0">
                <a:latin typeface="Arial"/>
                <a:cs typeface="Arial"/>
              </a:rPr>
              <a:t> </a:t>
            </a:r>
            <a:r>
              <a:rPr sz="1200" spc="-60" dirty="0">
                <a:latin typeface="Arial"/>
                <a:cs typeface="Arial"/>
              </a:rPr>
              <a:t>license.</a:t>
            </a:r>
            <a:r>
              <a:rPr sz="1200" spc="-40" dirty="0">
                <a:latin typeface="Arial"/>
                <a:cs typeface="Arial"/>
              </a:rPr>
              <a:t> </a:t>
            </a:r>
            <a:r>
              <a:rPr sz="1200" spc="-85" dirty="0">
                <a:latin typeface="Arial"/>
                <a:cs typeface="Arial"/>
              </a:rPr>
              <a:t>For</a:t>
            </a:r>
            <a:r>
              <a:rPr sz="1200" spc="-40" dirty="0">
                <a:latin typeface="Arial"/>
                <a:cs typeface="Arial"/>
              </a:rPr>
              <a:t> </a:t>
            </a:r>
            <a:r>
              <a:rPr sz="1200" spc="-20" dirty="0">
                <a:latin typeface="Arial"/>
                <a:cs typeface="Arial"/>
              </a:rPr>
              <a:t>more</a:t>
            </a:r>
            <a:endParaRPr sz="1200">
              <a:latin typeface="Arial"/>
              <a:cs typeface="Arial"/>
            </a:endParaRPr>
          </a:p>
        </p:txBody>
      </p:sp>
      <p:sp>
        <p:nvSpPr>
          <p:cNvPr id="11" name="object 11"/>
          <p:cNvSpPr txBox="1"/>
          <p:nvPr/>
        </p:nvSpPr>
        <p:spPr>
          <a:xfrm>
            <a:off x="8765540"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54</a:t>
            </a:r>
            <a:endParaRPr sz="1200">
              <a:latin typeface="Arial"/>
              <a:cs typeface="Arial"/>
            </a:endParaRPr>
          </a:p>
        </p:txBody>
      </p:sp>
      <p:sp>
        <p:nvSpPr>
          <p:cNvPr id="12" name="object 12"/>
          <p:cNvSpPr txBox="1"/>
          <p:nvPr/>
        </p:nvSpPr>
        <p:spPr>
          <a:xfrm>
            <a:off x="151000" y="6267703"/>
            <a:ext cx="3460115" cy="177800"/>
          </a:xfrm>
          <a:prstGeom prst="rect">
            <a:avLst/>
          </a:prstGeom>
        </p:spPr>
        <p:txBody>
          <a:bodyPr vert="horz" wrap="square" lIns="0" tIns="0" rIns="0" bIns="0" rtlCol="0">
            <a:spAutoFit/>
          </a:bodyPr>
          <a:lstStyle/>
          <a:p>
            <a:pPr marL="12700">
              <a:lnSpc>
                <a:spcPts val="1240"/>
              </a:lnSpc>
            </a:pPr>
            <a:r>
              <a:rPr sz="1200" spc="-30" dirty="0">
                <a:latin typeface="Arial"/>
                <a:cs typeface="Arial"/>
              </a:rPr>
              <a:t>information,</a:t>
            </a:r>
            <a:r>
              <a:rPr sz="1200" spc="75" dirty="0">
                <a:latin typeface="Arial"/>
                <a:cs typeface="Arial"/>
              </a:rPr>
              <a:t> </a:t>
            </a:r>
            <a:r>
              <a:rPr sz="1200" spc="-95" dirty="0">
                <a:latin typeface="Arial"/>
                <a:cs typeface="Arial"/>
              </a:rPr>
              <a:t>see</a:t>
            </a:r>
            <a:r>
              <a:rPr sz="1200" spc="80" dirty="0">
                <a:latin typeface="Arial"/>
                <a:cs typeface="Arial"/>
              </a:rPr>
              <a:t> </a:t>
            </a:r>
            <a:r>
              <a:rPr sz="1200" u="sng" spc="-20" dirty="0">
                <a:solidFill>
                  <a:srgbClr val="0B5394"/>
                </a:solidFill>
                <a:uFill>
                  <a:solidFill>
                    <a:srgbClr val="0B5394"/>
                  </a:solidFill>
                </a:uFill>
                <a:latin typeface="Arial"/>
                <a:cs typeface="Arial"/>
              </a:rPr>
              <a:t>https://ocw.mit.edu/help/faq-</a:t>
            </a:r>
            <a:r>
              <a:rPr sz="1200" u="sng" spc="-35" dirty="0">
                <a:solidFill>
                  <a:srgbClr val="0B5394"/>
                </a:solidFill>
                <a:uFill>
                  <a:solidFill>
                    <a:srgbClr val="0B5394"/>
                  </a:solidFill>
                </a:uFill>
                <a:latin typeface="Arial"/>
                <a:cs typeface="Arial"/>
              </a:rPr>
              <a:t>fair-</a:t>
            </a:r>
            <a:r>
              <a:rPr sz="1200" u="sng" spc="-20" dirty="0">
                <a:solidFill>
                  <a:srgbClr val="0B5394"/>
                </a:solidFill>
                <a:uFill>
                  <a:solidFill>
                    <a:srgbClr val="0B5394"/>
                  </a:solidFill>
                </a:uFill>
                <a:latin typeface="Arial"/>
                <a:cs typeface="Arial"/>
              </a:rPr>
              <a:t>use/</a:t>
            </a:r>
            <a:endParaRPr sz="12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978281"/>
            <a:ext cx="4645025" cy="443711"/>
          </a:xfrm>
          <a:prstGeom prst="rect">
            <a:avLst/>
          </a:prstGeom>
        </p:spPr>
        <p:txBody>
          <a:bodyPr vert="horz" wrap="square" lIns="0" tIns="12700" rIns="0" bIns="0" rtlCol="0">
            <a:spAutoFit/>
          </a:bodyPr>
          <a:lstStyle/>
          <a:p>
            <a:pPr marL="12700">
              <a:lnSpc>
                <a:spcPct val="100000"/>
              </a:lnSpc>
              <a:spcBef>
                <a:spcPts val="100"/>
              </a:spcBef>
            </a:pPr>
            <a:r>
              <a:rPr spc="-254" dirty="0"/>
              <a:t>Three</a:t>
            </a:r>
            <a:r>
              <a:rPr spc="-225" dirty="0"/>
              <a:t> </a:t>
            </a:r>
            <a:r>
              <a:rPr spc="-434" dirty="0"/>
              <a:t>Key</a:t>
            </a:r>
            <a:r>
              <a:rPr spc="-409" dirty="0"/>
              <a:t> </a:t>
            </a:r>
            <a:r>
              <a:rPr spc="-200" dirty="0"/>
              <a:t>Questions</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13</a:t>
            </a:fld>
            <a:endParaRPr spc="-25" dirty="0"/>
          </a:p>
        </p:txBody>
      </p:sp>
      <p:sp>
        <p:nvSpPr>
          <p:cNvPr id="3" name="object 3"/>
          <p:cNvSpPr txBox="1"/>
          <p:nvPr/>
        </p:nvSpPr>
        <p:spPr>
          <a:xfrm>
            <a:off x="721677" y="1989074"/>
            <a:ext cx="7700645" cy="3890645"/>
          </a:xfrm>
          <a:prstGeom prst="rect">
            <a:avLst/>
          </a:prstGeom>
        </p:spPr>
        <p:txBody>
          <a:bodyPr vert="horz" wrap="square" lIns="0" tIns="12700" rIns="0" bIns="0" rtlCol="0">
            <a:spAutoFit/>
          </a:bodyPr>
          <a:lstStyle/>
          <a:p>
            <a:pPr marL="354965" indent="-342265">
              <a:lnSpc>
                <a:spcPts val="2610"/>
              </a:lnSpc>
              <a:spcBef>
                <a:spcPts val="100"/>
              </a:spcBef>
              <a:buAutoNum type="arabicPeriod"/>
              <a:tabLst>
                <a:tab pos="354965" algn="l"/>
              </a:tabLst>
            </a:pPr>
            <a:r>
              <a:rPr sz="2200" b="1" spc="-155" dirty="0">
                <a:latin typeface="Arial"/>
                <a:cs typeface="Arial"/>
              </a:rPr>
              <a:t>Who</a:t>
            </a:r>
            <a:r>
              <a:rPr sz="2200" b="1" spc="-95" dirty="0">
                <a:latin typeface="Arial"/>
                <a:cs typeface="Arial"/>
              </a:rPr>
              <a:t> </a:t>
            </a:r>
            <a:r>
              <a:rPr sz="2200" b="1" spc="-165" dirty="0">
                <a:latin typeface="Arial"/>
                <a:cs typeface="Arial"/>
              </a:rPr>
              <a:t>wants</a:t>
            </a:r>
            <a:r>
              <a:rPr sz="2200" b="1" spc="-105" dirty="0">
                <a:latin typeface="Arial"/>
                <a:cs typeface="Arial"/>
              </a:rPr>
              <a:t> the</a:t>
            </a:r>
            <a:r>
              <a:rPr sz="2200" b="1" spc="-150" dirty="0">
                <a:latin typeface="Arial"/>
                <a:cs typeface="Arial"/>
              </a:rPr>
              <a:t> </a:t>
            </a:r>
            <a:r>
              <a:rPr sz="2200" b="1" spc="-20" dirty="0">
                <a:latin typeface="Arial"/>
                <a:cs typeface="Arial"/>
              </a:rPr>
              <a:t>map?</a:t>
            </a:r>
            <a:endParaRPr sz="2200" dirty="0">
              <a:latin typeface="Arial"/>
              <a:cs typeface="Arial"/>
            </a:endParaRPr>
          </a:p>
          <a:p>
            <a:pPr marL="568325" lvl="1" indent="-213360">
              <a:lnSpc>
                <a:spcPts val="2250"/>
              </a:lnSpc>
              <a:buChar char="–"/>
              <a:tabLst>
                <a:tab pos="568325" algn="l"/>
              </a:tabLst>
            </a:pPr>
            <a:r>
              <a:rPr sz="1900" spc="-95" dirty="0">
                <a:latin typeface="Arial"/>
                <a:cs typeface="Arial"/>
              </a:rPr>
              <a:t>e.g.</a:t>
            </a:r>
            <a:r>
              <a:rPr sz="1900" spc="-70" dirty="0">
                <a:latin typeface="Arial"/>
                <a:cs typeface="Arial"/>
              </a:rPr>
              <a:t> </a:t>
            </a:r>
            <a:r>
              <a:rPr sz="1900" spc="-90" dirty="0">
                <a:latin typeface="Arial"/>
                <a:cs typeface="Arial"/>
              </a:rPr>
              <a:t>experts</a:t>
            </a:r>
            <a:r>
              <a:rPr sz="1900" spc="-70" dirty="0">
                <a:latin typeface="Arial"/>
                <a:cs typeface="Arial"/>
              </a:rPr>
              <a:t> (detailed),</a:t>
            </a:r>
            <a:r>
              <a:rPr sz="1900" spc="-65" dirty="0">
                <a:latin typeface="Arial"/>
                <a:cs typeface="Arial"/>
              </a:rPr>
              <a:t> </a:t>
            </a:r>
            <a:r>
              <a:rPr sz="1900" spc="-90" dirty="0">
                <a:latin typeface="Arial"/>
                <a:cs typeface="Arial"/>
              </a:rPr>
              <a:t>students</a:t>
            </a:r>
            <a:r>
              <a:rPr sz="1900" spc="-75" dirty="0">
                <a:latin typeface="Arial"/>
                <a:cs typeface="Arial"/>
              </a:rPr>
              <a:t> </a:t>
            </a:r>
            <a:r>
              <a:rPr sz="1900" spc="-80" dirty="0">
                <a:latin typeface="Arial"/>
                <a:cs typeface="Arial"/>
              </a:rPr>
              <a:t>(contextual),</a:t>
            </a:r>
            <a:r>
              <a:rPr sz="1900" spc="-70" dirty="0">
                <a:latin typeface="Arial"/>
                <a:cs typeface="Arial"/>
              </a:rPr>
              <a:t> </a:t>
            </a:r>
            <a:r>
              <a:rPr sz="1900" spc="-40" dirty="0">
                <a:latin typeface="Arial"/>
                <a:cs typeface="Arial"/>
              </a:rPr>
              <a:t>the</a:t>
            </a:r>
            <a:r>
              <a:rPr sz="1900" spc="-65" dirty="0">
                <a:latin typeface="Arial"/>
                <a:cs typeface="Arial"/>
              </a:rPr>
              <a:t> </a:t>
            </a:r>
            <a:r>
              <a:rPr sz="1900" spc="-75" dirty="0">
                <a:latin typeface="Arial"/>
                <a:cs typeface="Arial"/>
              </a:rPr>
              <a:t>community</a:t>
            </a:r>
            <a:r>
              <a:rPr sz="1900" spc="-65" dirty="0">
                <a:latin typeface="Arial"/>
                <a:cs typeface="Arial"/>
              </a:rPr>
              <a:t> </a:t>
            </a:r>
            <a:r>
              <a:rPr sz="1900" spc="-20" dirty="0">
                <a:latin typeface="Arial"/>
                <a:cs typeface="Arial"/>
              </a:rPr>
              <a:t>(interactive)</a:t>
            </a:r>
            <a:endParaRPr sz="1900" dirty="0">
              <a:latin typeface="Arial"/>
              <a:cs typeface="Arial"/>
            </a:endParaRPr>
          </a:p>
          <a:p>
            <a:pPr marL="354965" indent="-342265">
              <a:lnSpc>
                <a:spcPts val="2620"/>
              </a:lnSpc>
              <a:spcBef>
                <a:spcPts val="1020"/>
              </a:spcBef>
              <a:buAutoNum type="arabicPeriod"/>
              <a:tabLst>
                <a:tab pos="354965" algn="l"/>
              </a:tabLst>
            </a:pPr>
            <a:r>
              <a:rPr sz="2200" b="1" spc="-125" dirty="0">
                <a:latin typeface="Arial"/>
                <a:cs typeface="Arial"/>
              </a:rPr>
              <a:t>Where</a:t>
            </a:r>
            <a:r>
              <a:rPr sz="2200" b="1" spc="-110" dirty="0">
                <a:latin typeface="Arial"/>
                <a:cs typeface="Arial"/>
              </a:rPr>
              <a:t> </a:t>
            </a:r>
            <a:r>
              <a:rPr sz="2200" b="1" spc="-90" dirty="0">
                <a:latin typeface="Arial"/>
                <a:cs typeface="Arial"/>
              </a:rPr>
              <a:t>will</a:t>
            </a:r>
            <a:r>
              <a:rPr sz="2200" b="1" spc="-120" dirty="0">
                <a:latin typeface="Arial"/>
                <a:cs typeface="Arial"/>
              </a:rPr>
              <a:t> </a:t>
            </a:r>
            <a:r>
              <a:rPr sz="2200" b="1" spc="-40" dirty="0">
                <a:latin typeface="Arial"/>
                <a:cs typeface="Arial"/>
              </a:rPr>
              <a:t>it</a:t>
            </a:r>
            <a:r>
              <a:rPr sz="2200" b="1" spc="-114" dirty="0">
                <a:latin typeface="Arial"/>
                <a:cs typeface="Arial"/>
              </a:rPr>
              <a:t> </a:t>
            </a:r>
            <a:r>
              <a:rPr sz="2200" b="1" spc="-170" dirty="0">
                <a:latin typeface="Arial"/>
                <a:cs typeface="Arial"/>
              </a:rPr>
              <a:t>be</a:t>
            </a:r>
            <a:r>
              <a:rPr sz="2200" b="1" spc="-120" dirty="0">
                <a:latin typeface="Arial"/>
                <a:cs typeface="Arial"/>
              </a:rPr>
              <a:t> </a:t>
            </a:r>
            <a:r>
              <a:rPr sz="2200" b="1" spc="-25" dirty="0">
                <a:latin typeface="Arial"/>
                <a:cs typeface="Arial"/>
              </a:rPr>
              <a:t>seen?</a:t>
            </a:r>
            <a:endParaRPr sz="2200" dirty="0">
              <a:latin typeface="Arial"/>
              <a:cs typeface="Arial"/>
            </a:endParaRPr>
          </a:p>
          <a:p>
            <a:pPr marL="610870" lvl="1" indent="-255904">
              <a:lnSpc>
                <a:spcPts val="2260"/>
              </a:lnSpc>
              <a:buChar char="–"/>
              <a:tabLst>
                <a:tab pos="610870" algn="l"/>
              </a:tabLst>
            </a:pPr>
            <a:r>
              <a:rPr sz="1900" spc="-95" dirty="0">
                <a:latin typeface="Arial"/>
                <a:cs typeface="Arial"/>
              </a:rPr>
              <a:t>e.g.</a:t>
            </a:r>
            <a:r>
              <a:rPr sz="1900" spc="-80" dirty="0">
                <a:latin typeface="Arial"/>
                <a:cs typeface="Arial"/>
              </a:rPr>
              <a:t> </a:t>
            </a:r>
            <a:r>
              <a:rPr sz="1900" spc="-114" dirty="0">
                <a:latin typeface="Arial"/>
                <a:cs typeface="Arial"/>
              </a:rPr>
              <a:t>8x11</a:t>
            </a:r>
            <a:r>
              <a:rPr sz="1900" spc="-75" dirty="0">
                <a:latin typeface="Arial"/>
                <a:cs typeface="Arial"/>
              </a:rPr>
              <a:t> </a:t>
            </a:r>
            <a:r>
              <a:rPr sz="1900" spc="-95" dirty="0">
                <a:latin typeface="Arial"/>
                <a:cs typeface="Arial"/>
              </a:rPr>
              <a:t>paper </a:t>
            </a:r>
            <a:r>
              <a:rPr sz="1900" spc="-80" dirty="0">
                <a:latin typeface="Arial"/>
                <a:cs typeface="Arial"/>
              </a:rPr>
              <a:t>(static</a:t>
            </a:r>
            <a:r>
              <a:rPr sz="1900" spc="-100" dirty="0">
                <a:latin typeface="Arial"/>
                <a:cs typeface="Arial"/>
              </a:rPr>
              <a:t> small,</a:t>
            </a:r>
            <a:r>
              <a:rPr sz="1900" spc="-95" dirty="0">
                <a:latin typeface="Arial"/>
                <a:cs typeface="Arial"/>
              </a:rPr>
              <a:t> </a:t>
            </a:r>
            <a:r>
              <a:rPr sz="1900" spc="-75" dirty="0">
                <a:latin typeface="Arial"/>
                <a:cs typeface="Arial"/>
              </a:rPr>
              <a:t>room</a:t>
            </a:r>
            <a:r>
              <a:rPr sz="1900" spc="-105" dirty="0">
                <a:latin typeface="Arial"/>
                <a:cs typeface="Arial"/>
              </a:rPr>
              <a:t> </a:t>
            </a:r>
            <a:r>
              <a:rPr sz="1900" spc="-30" dirty="0">
                <a:latin typeface="Arial"/>
                <a:cs typeface="Arial"/>
              </a:rPr>
              <a:t>for</a:t>
            </a:r>
            <a:r>
              <a:rPr sz="1900" spc="-100" dirty="0">
                <a:latin typeface="Arial"/>
                <a:cs typeface="Arial"/>
              </a:rPr>
              <a:t> </a:t>
            </a:r>
            <a:r>
              <a:rPr sz="1900" spc="-95" dirty="0">
                <a:latin typeface="Arial"/>
                <a:cs typeface="Arial"/>
              </a:rPr>
              <a:t>main </a:t>
            </a:r>
            <a:r>
              <a:rPr sz="1900" spc="-10" dirty="0">
                <a:latin typeface="Arial"/>
                <a:cs typeface="Arial"/>
              </a:rPr>
              <a:t>points)</a:t>
            </a:r>
            <a:endParaRPr sz="1900" dirty="0">
              <a:latin typeface="Arial"/>
              <a:cs typeface="Arial"/>
            </a:endParaRPr>
          </a:p>
          <a:p>
            <a:pPr marL="610870" lvl="1" indent="-255904">
              <a:lnSpc>
                <a:spcPct val="100000"/>
              </a:lnSpc>
              <a:spcBef>
                <a:spcPts val="25"/>
              </a:spcBef>
              <a:buChar char="–"/>
              <a:tabLst>
                <a:tab pos="610870" algn="l"/>
              </a:tabLst>
            </a:pPr>
            <a:r>
              <a:rPr sz="1900" spc="-110" dirty="0">
                <a:latin typeface="Arial"/>
                <a:cs typeface="Arial"/>
              </a:rPr>
              <a:t>e.g.</a:t>
            </a:r>
            <a:r>
              <a:rPr sz="1900" spc="-95" dirty="0">
                <a:latin typeface="Arial"/>
                <a:cs typeface="Arial"/>
              </a:rPr>
              <a:t> </a:t>
            </a:r>
            <a:r>
              <a:rPr sz="1900" spc="-130" dirty="0">
                <a:latin typeface="Arial"/>
                <a:cs typeface="Arial"/>
              </a:rPr>
              <a:t>30x40</a:t>
            </a:r>
            <a:r>
              <a:rPr sz="1900" spc="-85" dirty="0">
                <a:latin typeface="Arial"/>
                <a:cs typeface="Arial"/>
              </a:rPr>
              <a:t> </a:t>
            </a:r>
            <a:r>
              <a:rPr sz="1900" spc="-80" dirty="0">
                <a:latin typeface="Arial"/>
                <a:cs typeface="Arial"/>
              </a:rPr>
              <a:t>poster</a:t>
            </a:r>
            <a:r>
              <a:rPr sz="1900" spc="-90" dirty="0">
                <a:latin typeface="Arial"/>
                <a:cs typeface="Arial"/>
              </a:rPr>
              <a:t> board</a:t>
            </a:r>
            <a:r>
              <a:rPr sz="1900" spc="-85" dirty="0">
                <a:latin typeface="Arial"/>
                <a:cs typeface="Arial"/>
              </a:rPr>
              <a:t> </a:t>
            </a:r>
            <a:r>
              <a:rPr sz="1900" spc="-80" dirty="0">
                <a:latin typeface="Arial"/>
                <a:cs typeface="Arial"/>
              </a:rPr>
              <a:t>(static</a:t>
            </a:r>
            <a:r>
              <a:rPr sz="1900" spc="-95" dirty="0">
                <a:latin typeface="Arial"/>
                <a:cs typeface="Arial"/>
              </a:rPr>
              <a:t> </a:t>
            </a:r>
            <a:r>
              <a:rPr sz="1900" spc="-105" dirty="0">
                <a:latin typeface="Arial"/>
                <a:cs typeface="Arial"/>
              </a:rPr>
              <a:t>large,</a:t>
            </a:r>
            <a:r>
              <a:rPr sz="1900" spc="-85" dirty="0">
                <a:latin typeface="Arial"/>
                <a:cs typeface="Arial"/>
              </a:rPr>
              <a:t> </a:t>
            </a:r>
            <a:r>
              <a:rPr sz="1900" spc="-75" dirty="0">
                <a:latin typeface="Arial"/>
                <a:cs typeface="Arial"/>
              </a:rPr>
              <a:t>room</a:t>
            </a:r>
            <a:r>
              <a:rPr sz="1900" spc="-95" dirty="0">
                <a:latin typeface="Arial"/>
                <a:cs typeface="Arial"/>
              </a:rPr>
              <a:t> </a:t>
            </a:r>
            <a:r>
              <a:rPr sz="1900" spc="-30" dirty="0">
                <a:latin typeface="Arial"/>
                <a:cs typeface="Arial"/>
              </a:rPr>
              <a:t>for</a:t>
            </a:r>
            <a:r>
              <a:rPr sz="1900" spc="-85" dirty="0">
                <a:latin typeface="Arial"/>
                <a:cs typeface="Arial"/>
              </a:rPr>
              <a:t> </a:t>
            </a:r>
            <a:r>
              <a:rPr sz="1900" spc="-10" dirty="0">
                <a:latin typeface="Arial"/>
                <a:cs typeface="Arial"/>
              </a:rPr>
              <a:t>detail)</a:t>
            </a:r>
            <a:endParaRPr sz="1900" dirty="0">
              <a:latin typeface="Arial"/>
              <a:cs typeface="Arial"/>
            </a:endParaRPr>
          </a:p>
          <a:p>
            <a:pPr marL="610870" lvl="1" indent="-255904">
              <a:lnSpc>
                <a:spcPct val="100000"/>
              </a:lnSpc>
              <a:spcBef>
                <a:spcPts val="25"/>
              </a:spcBef>
              <a:buChar char="–"/>
              <a:tabLst>
                <a:tab pos="610870" algn="l"/>
              </a:tabLst>
            </a:pPr>
            <a:r>
              <a:rPr sz="1900" spc="-95" dirty="0">
                <a:latin typeface="Arial"/>
                <a:cs typeface="Arial"/>
              </a:rPr>
              <a:t>e.g.</a:t>
            </a:r>
            <a:r>
              <a:rPr sz="1900" spc="-100" dirty="0">
                <a:latin typeface="Arial"/>
                <a:cs typeface="Arial"/>
              </a:rPr>
              <a:t> </a:t>
            </a:r>
            <a:r>
              <a:rPr sz="1900" spc="-85" dirty="0">
                <a:latin typeface="Arial"/>
                <a:cs typeface="Arial"/>
              </a:rPr>
              <a:t>web</a:t>
            </a:r>
            <a:r>
              <a:rPr sz="1900" spc="-135" dirty="0">
                <a:latin typeface="Arial"/>
                <a:cs typeface="Arial"/>
              </a:rPr>
              <a:t> </a:t>
            </a:r>
            <a:r>
              <a:rPr sz="1900" spc="-114" dirty="0">
                <a:latin typeface="Arial"/>
                <a:cs typeface="Arial"/>
              </a:rPr>
              <a:t>map</a:t>
            </a:r>
            <a:r>
              <a:rPr sz="1900" spc="-80" dirty="0">
                <a:latin typeface="Arial"/>
                <a:cs typeface="Arial"/>
              </a:rPr>
              <a:t> </a:t>
            </a:r>
            <a:r>
              <a:rPr sz="1900" spc="-60" dirty="0">
                <a:latin typeface="Arial"/>
                <a:cs typeface="Arial"/>
              </a:rPr>
              <a:t>(interactive,</a:t>
            </a:r>
            <a:r>
              <a:rPr sz="1900" spc="-85" dirty="0">
                <a:latin typeface="Arial"/>
                <a:cs typeface="Arial"/>
              </a:rPr>
              <a:t> </a:t>
            </a:r>
            <a:r>
              <a:rPr sz="1900" spc="-130" dirty="0">
                <a:latin typeface="Arial"/>
                <a:cs typeface="Arial"/>
              </a:rPr>
              <a:t>users</a:t>
            </a:r>
            <a:r>
              <a:rPr sz="1900" spc="-90" dirty="0">
                <a:latin typeface="Arial"/>
                <a:cs typeface="Arial"/>
              </a:rPr>
              <a:t> </a:t>
            </a:r>
            <a:r>
              <a:rPr sz="1900" spc="-45" dirty="0">
                <a:latin typeface="Arial"/>
                <a:cs typeface="Arial"/>
              </a:rPr>
              <a:t>control</a:t>
            </a:r>
            <a:r>
              <a:rPr sz="1900" spc="-85" dirty="0">
                <a:latin typeface="Arial"/>
                <a:cs typeface="Arial"/>
              </a:rPr>
              <a:t> </a:t>
            </a:r>
            <a:r>
              <a:rPr sz="1900" spc="-80" dirty="0">
                <a:latin typeface="Arial"/>
                <a:cs typeface="Arial"/>
              </a:rPr>
              <a:t>navigation</a:t>
            </a:r>
            <a:r>
              <a:rPr sz="1900" spc="-85" dirty="0">
                <a:latin typeface="Arial"/>
                <a:cs typeface="Arial"/>
              </a:rPr>
              <a:t> </a:t>
            </a:r>
            <a:r>
              <a:rPr sz="1900" dirty="0">
                <a:latin typeface="Arial"/>
                <a:cs typeface="Arial"/>
              </a:rPr>
              <a:t>of</a:t>
            </a:r>
            <a:r>
              <a:rPr sz="1900" spc="-85" dirty="0">
                <a:latin typeface="Arial"/>
                <a:cs typeface="Arial"/>
              </a:rPr>
              <a:t> </a:t>
            </a:r>
            <a:r>
              <a:rPr sz="1900" spc="-20" dirty="0">
                <a:latin typeface="Arial"/>
                <a:cs typeface="Arial"/>
              </a:rPr>
              <a:t>map)</a:t>
            </a:r>
            <a:endParaRPr sz="1900" dirty="0">
              <a:latin typeface="Arial"/>
              <a:cs typeface="Arial"/>
            </a:endParaRPr>
          </a:p>
          <a:p>
            <a:pPr marL="354965" indent="-342265">
              <a:lnSpc>
                <a:spcPct val="100000"/>
              </a:lnSpc>
              <a:spcBef>
                <a:spcPts val="919"/>
              </a:spcBef>
              <a:buAutoNum type="arabicPeriod"/>
              <a:tabLst>
                <a:tab pos="354965" algn="l"/>
              </a:tabLst>
            </a:pPr>
            <a:r>
              <a:rPr sz="2200" b="1" spc="-105" dirty="0">
                <a:latin typeface="Arial"/>
                <a:cs typeface="Arial"/>
              </a:rPr>
              <a:t>What</a:t>
            </a:r>
            <a:r>
              <a:rPr sz="2200" b="1" spc="-114" dirty="0">
                <a:latin typeface="Arial"/>
                <a:cs typeface="Arial"/>
              </a:rPr>
              <a:t> </a:t>
            </a:r>
            <a:r>
              <a:rPr sz="2200" b="1" spc="-225" dirty="0">
                <a:latin typeface="Arial"/>
                <a:cs typeface="Arial"/>
              </a:rPr>
              <a:t>is</a:t>
            </a:r>
            <a:r>
              <a:rPr sz="2200" b="1" spc="-120" dirty="0">
                <a:latin typeface="Arial"/>
                <a:cs typeface="Arial"/>
              </a:rPr>
              <a:t> </a:t>
            </a:r>
            <a:r>
              <a:rPr sz="2200" b="1" spc="-140" dirty="0">
                <a:latin typeface="Arial"/>
                <a:cs typeface="Arial"/>
              </a:rPr>
              <a:t>it’s</a:t>
            </a:r>
            <a:r>
              <a:rPr sz="2200" b="1" spc="-114" dirty="0">
                <a:latin typeface="Arial"/>
                <a:cs typeface="Arial"/>
              </a:rPr>
              <a:t> </a:t>
            </a:r>
            <a:r>
              <a:rPr sz="2200" b="1" spc="-80" dirty="0">
                <a:latin typeface="Arial"/>
                <a:cs typeface="Arial"/>
              </a:rPr>
              <a:t>purpose?</a:t>
            </a:r>
            <a:endParaRPr sz="2200" dirty="0">
              <a:latin typeface="Arial"/>
              <a:cs typeface="Arial"/>
            </a:endParaRPr>
          </a:p>
          <a:p>
            <a:pPr marL="610870" lvl="1" indent="-255904">
              <a:lnSpc>
                <a:spcPts val="2039"/>
              </a:lnSpc>
              <a:spcBef>
                <a:spcPts val="445"/>
              </a:spcBef>
              <a:buChar char="–"/>
              <a:tabLst>
                <a:tab pos="610870" algn="l"/>
              </a:tabLst>
            </a:pPr>
            <a:r>
              <a:rPr sz="1900" spc="-140" dirty="0">
                <a:latin typeface="Arial"/>
                <a:cs typeface="Arial"/>
              </a:rPr>
              <a:t>e.g.</a:t>
            </a:r>
            <a:r>
              <a:rPr sz="1900" spc="-195" dirty="0">
                <a:latin typeface="Arial"/>
                <a:cs typeface="Arial"/>
              </a:rPr>
              <a:t> </a:t>
            </a:r>
            <a:r>
              <a:rPr sz="1900" spc="-20" dirty="0">
                <a:latin typeface="Arial"/>
                <a:cs typeface="Arial"/>
              </a:rPr>
              <a:t>to</a:t>
            </a:r>
            <a:r>
              <a:rPr sz="1900" spc="-190" dirty="0">
                <a:latin typeface="Arial"/>
                <a:cs typeface="Arial"/>
              </a:rPr>
              <a:t> </a:t>
            </a:r>
            <a:r>
              <a:rPr sz="1900" spc="-145" dirty="0">
                <a:latin typeface="Arial"/>
                <a:cs typeface="Arial"/>
              </a:rPr>
              <a:t>show</a:t>
            </a:r>
            <a:r>
              <a:rPr sz="1900" spc="-180" dirty="0">
                <a:latin typeface="Arial"/>
                <a:cs typeface="Arial"/>
              </a:rPr>
              <a:t> </a:t>
            </a:r>
            <a:r>
              <a:rPr sz="1900" spc="-165" dirty="0">
                <a:latin typeface="Arial"/>
                <a:cs typeface="Arial"/>
              </a:rPr>
              <a:t>a</a:t>
            </a:r>
            <a:r>
              <a:rPr sz="1900" spc="-185" dirty="0">
                <a:latin typeface="Arial"/>
                <a:cs typeface="Arial"/>
              </a:rPr>
              <a:t> </a:t>
            </a:r>
            <a:r>
              <a:rPr sz="1900" spc="-130" dirty="0">
                <a:latin typeface="Arial"/>
                <a:cs typeface="Arial"/>
              </a:rPr>
              <a:t>variable</a:t>
            </a:r>
            <a:r>
              <a:rPr sz="1900" spc="-180" dirty="0">
                <a:latin typeface="Arial"/>
                <a:cs typeface="Arial"/>
              </a:rPr>
              <a:t> </a:t>
            </a:r>
            <a:r>
              <a:rPr sz="1900" spc="-105" dirty="0">
                <a:latin typeface="Arial"/>
                <a:cs typeface="Arial"/>
              </a:rPr>
              <a:t>through</a:t>
            </a:r>
            <a:r>
              <a:rPr sz="1900" spc="-185" dirty="0">
                <a:latin typeface="Arial"/>
                <a:cs typeface="Arial"/>
              </a:rPr>
              <a:t> </a:t>
            </a:r>
            <a:r>
              <a:rPr sz="1900" spc="-70" dirty="0">
                <a:latin typeface="Arial"/>
                <a:cs typeface="Arial"/>
              </a:rPr>
              <a:t>time</a:t>
            </a:r>
            <a:r>
              <a:rPr sz="1900" spc="-175" dirty="0">
                <a:latin typeface="Arial"/>
                <a:cs typeface="Arial"/>
              </a:rPr>
              <a:t> </a:t>
            </a:r>
            <a:r>
              <a:rPr sz="1900" spc="-35" dirty="0">
                <a:latin typeface="Arial"/>
                <a:cs typeface="Arial"/>
              </a:rPr>
              <a:t>(time</a:t>
            </a:r>
            <a:r>
              <a:rPr sz="1900" spc="-70" dirty="0">
                <a:latin typeface="Arial"/>
                <a:cs typeface="Arial"/>
              </a:rPr>
              <a:t> </a:t>
            </a:r>
            <a:r>
              <a:rPr sz="1900" spc="-10" dirty="0">
                <a:latin typeface="Arial"/>
                <a:cs typeface="Arial"/>
              </a:rPr>
              <a:t>series)</a:t>
            </a:r>
            <a:endParaRPr sz="1900" dirty="0">
              <a:latin typeface="Arial"/>
              <a:cs typeface="Arial"/>
            </a:endParaRPr>
          </a:p>
          <a:p>
            <a:pPr marL="611505" lvl="1" indent="-255904">
              <a:lnSpc>
                <a:spcPts val="1800"/>
              </a:lnSpc>
              <a:buChar char="–"/>
              <a:tabLst>
                <a:tab pos="611505" algn="l"/>
              </a:tabLst>
            </a:pPr>
            <a:r>
              <a:rPr sz="1900" spc="-95" dirty="0">
                <a:latin typeface="Arial"/>
                <a:cs typeface="Arial"/>
              </a:rPr>
              <a:t>e.g.</a:t>
            </a:r>
            <a:r>
              <a:rPr sz="1900" spc="-100" dirty="0">
                <a:latin typeface="Arial"/>
                <a:cs typeface="Arial"/>
              </a:rPr>
              <a:t> </a:t>
            </a:r>
            <a:r>
              <a:rPr sz="1900" dirty="0">
                <a:latin typeface="Arial"/>
                <a:cs typeface="Arial"/>
              </a:rPr>
              <a:t>to</a:t>
            </a:r>
            <a:r>
              <a:rPr sz="1900" spc="-95" dirty="0">
                <a:latin typeface="Arial"/>
                <a:cs typeface="Arial"/>
              </a:rPr>
              <a:t> </a:t>
            </a:r>
            <a:r>
              <a:rPr sz="1900" spc="-100" dirty="0">
                <a:latin typeface="Arial"/>
                <a:cs typeface="Arial"/>
              </a:rPr>
              <a:t>show</a:t>
            </a:r>
            <a:r>
              <a:rPr sz="1900" spc="-90" dirty="0">
                <a:latin typeface="Arial"/>
                <a:cs typeface="Arial"/>
              </a:rPr>
              <a:t> </a:t>
            </a:r>
            <a:r>
              <a:rPr sz="1900" spc="-130" dirty="0">
                <a:latin typeface="Arial"/>
                <a:cs typeface="Arial"/>
              </a:rPr>
              <a:t>change</a:t>
            </a:r>
            <a:r>
              <a:rPr sz="1900" spc="-90" dirty="0">
                <a:latin typeface="Arial"/>
                <a:cs typeface="Arial"/>
              </a:rPr>
              <a:t> </a:t>
            </a:r>
            <a:r>
              <a:rPr sz="1900" spc="-75" dirty="0">
                <a:latin typeface="Arial"/>
                <a:cs typeface="Arial"/>
              </a:rPr>
              <a:t>over</a:t>
            </a:r>
            <a:r>
              <a:rPr sz="1900" spc="-95" dirty="0">
                <a:latin typeface="Arial"/>
                <a:cs typeface="Arial"/>
              </a:rPr>
              <a:t> </a:t>
            </a:r>
            <a:r>
              <a:rPr sz="1900" spc="-25" dirty="0">
                <a:latin typeface="Arial"/>
                <a:cs typeface="Arial"/>
              </a:rPr>
              <a:t>time</a:t>
            </a:r>
            <a:r>
              <a:rPr sz="1900" spc="-85" dirty="0">
                <a:latin typeface="Arial"/>
                <a:cs typeface="Arial"/>
              </a:rPr>
              <a:t> </a:t>
            </a:r>
            <a:r>
              <a:rPr sz="1900" spc="-125" dirty="0">
                <a:latin typeface="Arial"/>
                <a:cs typeface="Arial"/>
              </a:rPr>
              <a:t>(change</a:t>
            </a:r>
            <a:r>
              <a:rPr sz="1900" spc="-90" dirty="0">
                <a:latin typeface="Arial"/>
                <a:cs typeface="Arial"/>
              </a:rPr>
              <a:t> </a:t>
            </a:r>
            <a:r>
              <a:rPr sz="1900" spc="-10" dirty="0">
                <a:latin typeface="Arial"/>
                <a:cs typeface="Arial"/>
              </a:rPr>
              <a:t>detection)</a:t>
            </a:r>
            <a:endParaRPr sz="1900" dirty="0">
              <a:latin typeface="Arial"/>
              <a:cs typeface="Arial"/>
            </a:endParaRPr>
          </a:p>
          <a:p>
            <a:pPr marL="610870" marR="711200" lvl="1" indent="-255904">
              <a:lnSpc>
                <a:spcPct val="62100"/>
              </a:lnSpc>
              <a:spcBef>
                <a:spcPts val="625"/>
              </a:spcBef>
              <a:buChar char="–"/>
              <a:tabLst>
                <a:tab pos="971550" algn="l"/>
              </a:tabLst>
            </a:pPr>
            <a:r>
              <a:rPr sz="1900" spc="-95" dirty="0">
                <a:latin typeface="Arial"/>
                <a:cs typeface="Arial"/>
              </a:rPr>
              <a:t>e.g.</a:t>
            </a:r>
            <a:r>
              <a:rPr sz="1900" spc="-90" dirty="0">
                <a:latin typeface="Arial"/>
                <a:cs typeface="Arial"/>
              </a:rPr>
              <a:t> </a:t>
            </a:r>
            <a:r>
              <a:rPr sz="1900" dirty="0">
                <a:latin typeface="Arial"/>
                <a:cs typeface="Arial"/>
              </a:rPr>
              <a:t>to</a:t>
            </a:r>
            <a:r>
              <a:rPr sz="1900" spc="-80" dirty="0">
                <a:latin typeface="Arial"/>
                <a:cs typeface="Arial"/>
              </a:rPr>
              <a:t> </a:t>
            </a:r>
            <a:r>
              <a:rPr sz="1900" spc="-90" dirty="0">
                <a:latin typeface="Arial"/>
                <a:cs typeface="Arial"/>
              </a:rPr>
              <a:t>combine</a:t>
            </a:r>
            <a:r>
              <a:rPr sz="1900" spc="-80" dirty="0">
                <a:latin typeface="Arial"/>
                <a:cs typeface="Arial"/>
              </a:rPr>
              <a:t> </a:t>
            </a:r>
            <a:r>
              <a:rPr sz="1900" spc="-30" dirty="0">
                <a:latin typeface="Arial"/>
                <a:cs typeface="Arial"/>
              </a:rPr>
              <a:t>multiple</a:t>
            </a:r>
            <a:r>
              <a:rPr sz="1900" spc="-75" dirty="0">
                <a:latin typeface="Arial"/>
                <a:cs typeface="Arial"/>
              </a:rPr>
              <a:t> </a:t>
            </a:r>
            <a:r>
              <a:rPr sz="1900" spc="-80" dirty="0">
                <a:latin typeface="Arial"/>
                <a:cs typeface="Arial"/>
              </a:rPr>
              <a:t>variable </a:t>
            </a:r>
            <a:r>
              <a:rPr sz="1900" spc="-20" dirty="0">
                <a:latin typeface="Arial"/>
                <a:cs typeface="Arial"/>
              </a:rPr>
              <a:t>into</a:t>
            </a:r>
            <a:r>
              <a:rPr sz="1900" spc="-80" dirty="0">
                <a:latin typeface="Arial"/>
                <a:cs typeface="Arial"/>
              </a:rPr>
              <a:t> </a:t>
            </a:r>
            <a:r>
              <a:rPr sz="1900" spc="-125" dirty="0">
                <a:latin typeface="Arial"/>
                <a:cs typeface="Arial"/>
              </a:rPr>
              <a:t>an</a:t>
            </a:r>
            <a:r>
              <a:rPr sz="1900" spc="-85" dirty="0">
                <a:latin typeface="Arial"/>
                <a:cs typeface="Arial"/>
              </a:rPr>
              <a:t> </a:t>
            </a:r>
            <a:r>
              <a:rPr sz="1900" spc="-95" dirty="0">
                <a:latin typeface="Arial"/>
                <a:cs typeface="Arial"/>
              </a:rPr>
              <a:t>index</a:t>
            </a:r>
            <a:r>
              <a:rPr sz="1900" spc="-80" dirty="0">
                <a:latin typeface="Arial"/>
                <a:cs typeface="Arial"/>
              </a:rPr>
              <a:t> </a:t>
            </a:r>
            <a:r>
              <a:rPr sz="1900" dirty="0">
                <a:latin typeface="Arial"/>
                <a:cs typeface="Arial"/>
              </a:rPr>
              <a:t>to</a:t>
            </a:r>
            <a:r>
              <a:rPr sz="1900" spc="-85" dirty="0">
                <a:latin typeface="Arial"/>
                <a:cs typeface="Arial"/>
              </a:rPr>
              <a:t> </a:t>
            </a:r>
            <a:r>
              <a:rPr sz="1900" spc="-80" dirty="0">
                <a:latin typeface="Arial"/>
                <a:cs typeface="Arial"/>
              </a:rPr>
              <a:t>pick </a:t>
            </a:r>
            <a:r>
              <a:rPr sz="1900" spc="-10" dirty="0">
                <a:latin typeface="Arial"/>
                <a:cs typeface="Arial"/>
              </a:rPr>
              <a:t>best/worst 	</a:t>
            </a:r>
            <a:r>
              <a:rPr sz="1900" spc="-50" dirty="0">
                <a:latin typeface="Arial"/>
                <a:cs typeface="Arial"/>
              </a:rPr>
              <a:t>(sustainability/risk/vulnerability</a:t>
            </a:r>
            <a:r>
              <a:rPr sz="1900" spc="10" dirty="0">
                <a:latin typeface="Arial"/>
                <a:cs typeface="Arial"/>
              </a:rPr>
              <a:t> </a:t>
            </a:r>
            <a:r>
              <a:rPr sz="1900" spc="-85" dirty="0">
                <a:latin typeface="Arial"/>
                <a:cs typeface="Arial"/>
              </a:rPr>
              <a:t>mapping,</a:t>
            </a:r>
            <a:r>
              <a:rPr sz="1900" spc="15" dirty="0">
                <a:latin typeface="Arial"/>
                <a:cs typeface="Arial"/>
              </a:rPr>
              <a:t> </a:t>
            </a:r>
            <a:r>
              <a:rPr sz="1900" spc="-70" dirty="0">
                <a:latin typeface="Arial"/>
                <a:cs typeface="Arial"/>
              </a:rPr>
              <a:t>site</a:t>
            </a:r>
            <a:r>
              <a:rPr sz="1900" spc="20" dirty="0">
                <a:latin typeface="Arial"/>
                <a:cs typeface="Arial"/>
              </a:rPr>
              <a:t> </a:t>
            </a:r>
            <a:r>
              <a:rPr sz="1900" spc="-10" dirty="0">
                <a:latin typeface="Arial"/>
                <a:cs typeface="Arial"/>
              </a:rPr>
              <a:t>selection)</a:t>
            </a:r>
            <a:endParaRPr sz="1900" dirty="0">
              <a:latin typeface="Arial"/>
              <a:cs typeface="Arial"/>
            </a:endParaRPr>
          </a:p>
          <a:p>
            <a:pPr marL="12700">
              <a:lnSpc>
                <a:spcPct val="100000"/>
              </a:lnSpc>
              <a:spcBef>
                <a:spcPts val="1115"/>
              </a:spcBef>
            </a:pPr>
            <a:r>
              <a:rPr sz="2200" spc="-220" dirty="0">
                <a:solidFill>
                  <a:srgbClr val="0070C0"/>
                </a:solidFill>
                <a:latin typeface="Arial"/>
                <a:cs typeface="Arial"/>
              </a:rPr>
              <a:t>Each</a:t>
            </a:r>
            <a:r>
              <a:rPr sz="2200" spc="-105" dirty="0">
                <a:solidFill>
                  <a:srgbClr val="0070C0"/>
                </a:solidFill>
                <a:latin typeface="Arial"/>
                <a:cs typeface="Arial"/>
              </a:rPr>
              <a:t> </a:t>
            </a:r>
            <a:r>
              <a:rPr sz="2200" spc="-80" dirty="0">
                <a:solidFill>
                  <a:srgbClr val="0070C0"/>
                </a:solidFill>
                <a:latin typeface="Arial"/>
                <a:cs typeface="Arial"/>
              </a:rPr>
              <a:t>question</a:t>
            </a:r>
            <a:r>
              <a:rPr sz="2200" spc="-100" dirty="0">
                <a:solidFill>
                  <a:srgbClr val="0070C0"/>
                </a:solidFill>
                <a:latin typeface="Arial"/>
                <a:cs typeface="Arial"/>
              </a:rPr>
              <a:t> </a:t>
            </a:r>
            <a:r>
              <a:rPr sz="2200" spc="-140" dirty="0">
                <a:solidFill>
                  <a:srgbClr val="0070C0"/>
                </a:solidFill>
                <a:latin typeface="Arial"/>
                <a:cs typeface="Arial"/>
              </a:rPr>
              <a:t>deserves</a:t>
            </a:r>
            <a:r>
              <a:rPr sz="2200" spc="-100" dirty="0">
                <a:solidFill>
                  <a:srgbClr val="0070C0"/>
                </a:solidFill>
                <a:latin typeface="Arial"/>
                <a:cs typeface="Arial"/>
              </a:rPr>
              <a:t> </a:t>
            </a:r>
            <a:r>
              <a:rPr sz="2200" spc="-180" dirty="0">
                <a:solidFill>
                  <a:srgbClr val="0070C0"/>
                </a:solidFill>
                <a:latin typeface="Arial"/>
                <a:cs typeface="Arial"/>
              </a:rPr>
              <a:t>a</a:t>
            </a:r>
            <a:r>
              <a:rPr sz="2200" spc="-100" dirty="0">
                <a:solidFill>
                  <a:srgbClr val="0070C0"/>
                </a:solidFill>
                <a:latin typeface="Arial"/>
                <a:cs typeface="Arial"/>
              </a:rPr>
              <a:t> </a:t>
            </a:r>
            <a:r>
              <a:rPr sz="2200" spc="-65" dirty="0">
                <a:solidFill>
                  <a:srgbClr val="0070C0"/>
                </a:solidFill>
                <a:latin typeface="Arial"/>
                <a:cs typeface="Arial"/>
              </a:rPr>
              <a:t>well-</a:t>
            </a:r>
            <a:r>
              <a:rPr sz="2200" spc="-50" dirty="0">
                <a:solidFill>
                  <a:srgbClr val="0070C0"/>
                </a:solidFill>
                <a:latin typeface="Arial"/>
                <a:cs typeface="Arial"/>
              </a:rPr>
              <a:t>thought</a:t>
            </a:r>
            <a:r>
              <a:rPr sz="2200" spc="-100" dirty="0">
                <a:solidFill>
                  <a:srgbClr val="0070C0"/>
                </a:solidFill>
                <a:latin typeface="Arial"/>
                <a:cs typeface="Arial"/>
              </a:rPr>
              <a:t> </a:t>
            </a:r>
            <a:r>
              <a:rPr sz="2200" spc="-114" dirty="0">
                <a:solidFill>
                  <a:srgbClr val="0070C0"/>
                </a:solidFill>
                <a:latin typeface="Arial"/>
                <a:cs typeface="Arial"/>
              </a:rPr>
              <a:t>answer</a:t>
            </a:r>
            <a:r>
              <a:rPr sz="2200" spc="-105" dirty="0">
                <a:solidFill>
                  <a:srgbClr val="0070C0"/>
                </a:solidFill>
                <a:latin typeface="Arial"/>
                <a:cs typeface="Arial"/>
              </a:rPr>
              <a:t> </a:t>
            </a:r>
            <a:r>
              <a:rPr sz="2200" spc="-80" dirty="0">
                <a:solidFill>
                  <a:srgbClr val="0070C0"/>
                </a:solidFill>
                <a:latin typeface="Arial"/>
                <a:cs typeface="Arial"/>
              </a:rPr>
              <a:t>before</a:t>
            </a:r>
            <a:r>
              <a:rPr sz="2200" spc="-90" dirty="0">
                <a:solidFill>
                  <a:srgbClr val="0070C0"/>
                </a:solidFill>
                <a:latin typeface="Arial"/>
                <a:cs typeface="Arial"/>
              </a:rPr>
              <a:t> </a:t>
            </a:r>
            <a:r>
              <a:rPr sz="2200" spc="-10" dirty="0">
                <a:solidFill>
                  <a:srgbClr val="0070C0"/>
                </a:solidFill>
                <a:latin typeface="Arial"/>
                <a:cs typeface="Arial"/>
              </a:rPr>
              <a:t>mapping</a:t>
            </a:r>
            <a:endParaRPr sz="2200" dirty="0">
              <a:latin typeface="Arial"/>
              <a:cs typeface="Arial"/>
            </a:endParaRPr>
          </a:p>
        </p:txBody>
      </p:sp>
      <p:pic>
        <p:nvPicPr>
          <p:cNvPr id="4" name="object 4"/>
          <p:cNvPicPr/>
          <p:nvPr/>
        </p:nvPicPr>
        <p:blipFill>
          <a:blip r:embed="rId2" cstate="print"/>
          <a:stretch>
            <a:fillRect/>
          </a:stretch>
        </p:blipFill>
        <p:spPr>
          <a:xfrm>
            <a:off x="0" y="6400800"/>
            <a:ext cx="9144000" cy="4571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27755" y="914400"/>
            <a:ext cx="4794885" cy="505267"/>
          </a:xfrm>
          <a:prstGeom prst="rect">
            <a:avLst/>
          </a:prstGeom>
        </p:spPr>
        <p:txBody>
          <a:bodyPr vert="horz" wrap="square" lIns="0" tIns="12700" rIns="0" bIns="0" rtlCol="0">
            <a:spAutoFit/>
          </a:bodyPr>
          <a:lstStyle/>
          <a:p>
            <a:pPr marL="12700">
              <a:lnSpc>
                <a:spcPct val="100000"/>
              </a:lnSpc>
              <a:spcBef>
                <a:spcPts val="100"/>
              </a:spcBef>
            </a:pPr>
            <a:r>
              <a:rPr sz="3200" spc="-204" dirty="0">
                <a:latin typeface="Arial" panose="020B0604020202020204" pitchFamily="34" charset="0"/>
                <a:cs typeface="Arial" panose="020B0604020202020204" pitchFamily="34" charset="0"/>
              </a:rPr>
              <a:t>Vector</a:t>
            </a:r>
            <a:r>
              <a:rPr sz="3200" spc="-229" dirty="0">
                <a:latin typeface="Arial" panose="020B0604020202020204" pitchFamily="34" charset="0"/>
                <a:cs typeface="Arial" panose="020B0604020202020204" pitchFamily="34" charset="0"/>
              </a:rPr>
              <a:t> </a:t>
            </a:r>
            <a:r>
              <a:rPr sz="3200" spc="-185" dirty="0">
                <a:latin typeface="Arial" panose="020B0604020202020204" pitchFamily="34" charset="0"/>
                <a:cs typeface="Arial" panose="020B0604020202020204" pitchFamily="34" charset="0"/>
              </a:rPr>
              <a:t>Symbolization</a:t>
            </a:r>
          </a:p>
        </p:txBody>
      </p:sp>
      <p:pic>
        <p:nvPicPr>
          <p:cNvPr id="4" name="object 4"/>
          <p:cNvPicPr/>
          <p:nvPr/>
        </p:nvPicPr>
        <p:blipFill>
          <a:blip r:embed="rId2" cstate="print"/>
          <a:stretch>
            <a:fillRect/>
          </a:stretch>
        </p:blipFill>
        <p:spPr>
          <a:xfrm>
            <a:off x="382104" y="2038060"/>
            <a:ext cx="8554808" cy="3986339"/>
          </a:xfrm>
          <a:prstGeom prst="rect">
            <a:avLst/>
          </a:prstGeom>
        </p:spPr>
      </p:pic>
      <p:sp>
        <p:nvSpPr>
          <p:cNvPr id="5" name="object 5"/>
          <p:cNvSpPr txBox="1"/>
          <p:nvPr/>
        </p:nvSpPr>
        <p:spPr>
          <a:xfrm>
            <a:off x="1648305" y="4871720"/>
            <a:ext cx="5474335" cy="162560"/>
          </a:xfrm>
          <a:prstGeom prst="rect">
            <a:avLst/>
          </a:prstGeom>
        </p:spPr>
        <p:txBody>
          <a:bodyPr vert="horz" wrap="square" lIns="0" tIns="12700" rIns="0" bIns="0" rtlCol="0">
            <a:spAutoFit/>
          </a:bodyPr>
          <a:lstStyle/>
          <a:p>
            <a:pPr marL="12700">
              <a:lnSpc>
                <a:spcPct val="100000"/>
              </a:lnSpc>
              <a:spcBef>
                <a:spcPts val="100"/>
              </a:spcBef>
            </a:pPr>
            <a:r>
              <a:rPr sz="900" b="1" spc="-85" dirty="0">
                <a:solidFill>
                  <a:srgbClr val="595958"/>
                </a:solidFill>
                <a:latin typeface="Arial"/>
                <a:cs typeface="Arial"/>
              </a:rPr>
              <a:t>From:</a:t>
            </a:r>
            <a:r>
              <a:rPr sz="900" b="1" spc="-35" dirty="0">
                <a:solidFill>
                  <a:srgbClr val="595958"/>
                </a:solidFill>
                <a:latin typeface="Arial"/>
                <a:cs typeface="Arial"/>
              </a:rPr>
              <a:t> </a:t>
            </a:r>
            <a:r>
              <a:rPr sz="900" b="1" i="1" spc="-50" dirty="0">
                <a:solidFill>
                  <a:srgbClr val="953735"/>
                </a:solidFill>
                <a:latin typeface="Arial"/>
                <a:cs typeface="Arial"/>
              </a:rPr>
              <a:t>Making</a:t>
            </a:r>
            <a:r>
              <a:rPr sz="900" b="1" i="1" spc="-30" dirty="0">
                <a:solidFill>
                  <a:srgbClr val="953735"/>
                </a:solidFill>
                <a:latin typeface="Arial"/>
                <a:cs typeface="Arial"/>
              </a:rPr>
              <a:t> </a:t>
            </a:r>
            <a:r>
              <a:rPr sz="900" b="1" i="1" spc="-70" dirty="0">
                <a:solidFill>
                  <a:srgbClr val="953735"/>
                </a:solidFill>
                <a:latin typeface="Arial"/>
                <a:cs typeface="Arial"/>
              </a:rPr>
              <a:t>Maps:</a:t>
            </a:r>
            <a:r>
              <a:rPr sz="900" b="1" i="1" spc="-30" dirty="0">
                <a:solidFill>
                  <a:srgbClr val="953735"/>
                </a:solidFill>
                <a:latin typeface="Arial"/>
                <a:cs typeface="Arial"/>
              </a:rPr>
              <a:t> </a:t>
            </a:r>
            <a:r>
              <a:rPr sz="900" b="1" i="1" spc="-120" dirty="0">
                <a:solidFill>
                  <a:srgbClr val="953735"/>
                </a:solidFill>
                <a:latin typeface="Arial"/>
                <a:cs typeface="Arial"/>
              </a:rPr>
              <a:t>A</a:t>
            </a:r>
            <a:r>
              <a:rPr sz="900" b="1" i="1" spc="-25" dirty="0">
                <a:solidFill>
                  <a:srgbClr val="953735"/>
                </a:solidFill>
                <a:latin typeface="Arial"/>
                <a:cs typeface="Arial"/>
              </a:rPr>
              <a:t> </a:t>
            </a:r>
            <a:r>
              <a:rPr sz="900" b="1" i="1" spc="-75" dirty="0">
                <a:solidFill>
                  <a:srgbClr val="953735"/>
                </a:solidFill>
                <a:latin typeface="Arial"/>
                <a:cs typeface="Arial"/>
              </a:rPr>
              <a:t>Visual</a:t>
            </a:r>
            <a:r>
              <a:rPr sz="900" b="1" i="1" spc="-25" dirty="0">
                <a:solidFill>
                  <a:srgbClr val="953735"/>
                </a:solidFill>
                <a:latin typeface="Arial"/>
                <a:cs typeface="Arial"/>
              </a:rPr>
              <a:t> </a:t>
            </a:r>
            <a:r>
              <a:rPr sz="900" b="1" i="1" spc="-80" dirty="0">
                <a:solidFill>
                  <a:srgbClr val="953735"/>
                </a:solidFill>
                <a:latin typeface="Arial"/>
                <a:cs typeface="Arial"/>
              </a:rPr>
              <a:t>Guide</a:t>
            </a:r>
            <a:r>
              <a:rPr sz="900" b="1" i="1" spc="-30" dirty="0">
                <a:solidFill>
                  <a:srgbClr val="953735"/>
                </a:solidFill>
                <a:latin typeface="Arial"/>
                <a:cs typeface="Arial"/>
              </a:rPr>
              <a:t> </a:t>
            </a:r>
            <a:r>
              <a:rPr sz="900" b="1" i="1" spc="-45" dirty="0">
                <a:solidFill>
                  <a:srgbClr val="953735"/>
                </a:solidFill>
                <a:latin typeface="Arial"/>
                <a:cs typeface="Arial"/>
              </a:rPr>
              <a:t>to</a:t>
            </a:r>
            <a:r>
              <a:rPr sz="900" b="1" i="1" spc="-30" dirty="0">
                <a:solidFill>
                  <a:srgbClr val="953735"/>
                </a:solidFill>
                <a:latin typeface="Arial"/>
                <a:cs typeface="Arial"/>
              </a:rPr>
              <a:t> </a:t>
            </a:r>
            <a:r>
              <a:rPr sz="900" b="1" i="1" spc="-35" dirty="0">
                <a:solidFill>
                  <a:srgbClr val="953735"/>
                </a:solidFill>
                <a:latin typeface="Arial"/>
                <a:cs typeface="Arial"/>
              </a:rPr>
              <a:t>Map </a:t>
            </a:r>
            <a:r>
              <a:rPr sz="900" b="1" i="1" spc="-95" dirty="0">
                <a:solidFill>
                  <a:srgbClr val="953735"/>
                </a:solidFill>
                <a:latin typeface="Arial"/>
                <a:cs typeface="Arial"/>
              </a:rPr>
              <a:t>Design</a:t>
            </a:r>
            <a:r>
              <a:rPr sz="900" b="1" i="1" spc="-35" dirty="0">
                <a:solidFill>
                  <a:srgbClr val="953735"/>
                </a:solidFill>
                <a:latin typeface="Arial"/>
                <a:cs typeface="Arial"/>
              </a:rPr>
              <a:t> </a:t>
            </a:r>
            <a:r>
              <a:rPr sz="900" b="1" i="1" spc="-55" dirty="0">
                <a:solidFill>
                  <a:srgbClr val="953735"/>
                </a:solidFill>
                <a:latin typeface="Arial"/>
                <a:cs typeface="Arial"/>
              </a:rPr>
              <a:t>for</a:t>
            </a:r>
            <a:r>
              <a:rPr sz="900" b="1" i="1" spc="-40" dirty="0">
                <a:solidFill>
                  <a:srgbClr val="953735"/>
                </a:solidFill>
                <a:latin typeface="Arial"/>
                <a:cs typeface="Arial"/>
              </a:rPr>
              <a:t> </a:t>
            </a:r>
            <a:r>
              <a:rPr sz="900" b="1" i="1" spc="-114" dirty="0">
                <a:solidFill>
                  <a:srgbClr val="953735"/>
                </a:solidFill>
                <a:latin typeface="Arial"/>
                <a:cs typeface="Arial"/>
              </a:rPr>
              <a:t>GIS</a:t>
            </a:r>
            <a:r>
              <a:rPr sz="900" b="1" i="1" spc="-15" dirty="0">
                <a:solidFill>
                  <a:srgbClr val="953735"/>
                </a:solidFill>
                <a:latin typeface="Arial"/>
                <a:cs typeface="Arial"/>
              </a:rPr>
              <a:t> </a:t>
            </a:r>
            <a:r>
              <a:rPr sz="900" b="1" i="1" spc="-90" dirty="0">
                <a:solidFill>
                  <a:srgbClr val="595958"/>
                </a:solidFill>
                <a:latin typeface="Arial"/>
                <a:cs typeface="Arial"/>
              </a:rPr>
              <a:t>by</a:t>
            </a:r>
            <a:r>
              <a:rPr sz="900" b="1" i="1" spc="-35" dirty="0">
                <a:solidFill>
                  <a:srgbClr val="595958"/>
                </a:solidFill>
                <a:latin typeface="Arial"/>
                <a:cs typeface="Arial"/>
              </a:rPr>
              <a:t> </a:t>
            </a:r>
            <a:r>
              <a:rPr sz="900" b="1" i="1" spc="-120" dirty="0">
                <a:solidFill>
                  <a:srgbClr val="595958"/>
                </a:solidFill>
                <a:latin typeface="Arial"/>
                <a:cs typeface="Arial"/>
              </a:rPr>
              <a:t>John</a:t>
            </a:r>
            <a:r>
              <a:rPr sz="900" b="1" i="1" spc="-30" dirty="0">
                <a:solidFill>
                  <a:srgbClr val="595958"/>
                </a:solidFill>
                <a:latin typeface="Arial"/>
                <a:cs typeface="Arial"/>
              </a:rPr>
              <a:t> </a:t>
            </a:r>
            <a:r>
              <a:rPr sz="900" b="1" i="1" spc="-80" dirty="0">
                <a:solidFill>
                  <a:srgbClr val="595958"/>
                </a:solidFill>
                <a:latin typeface="Arial"/>
                <a:cs typeface="Arial"/>
              </a:rPr>
              <a:t>Krygier</a:t>
            </a:r>
            <a:r>
              <a:rPr sz="900" b="1" i="1" spc="-30" dirty="0">
                <a:solidFill>
                  <a:srgbClr val="595958"/>
                </a:solidFill>
                <a:latin typeface="Arial"/>
                <a:cs typeface="Arial"/>
              </a:rPr>
              <a:t> </a:t>
            </a:r>
            <a:r>
              <a:rPr sz="900" b="1" i="1" spc="-65" dirty="0">
                <a:solidFill>
                  <a:srgbClr val="595958"/>
                </a:solidFill>
                <a:latin typeface="Arial"/>
                <a:cs typeface="Arial"/>
              </a:rPr>
              <a:t>and</a:t>
            </a:r>
            <a:r>
              <a:rPr sz="900" b="1" i="1" spc="-25" dirty="0">
                <a:solidFill>
                  <a:srgbClr val="595958"/>
                </a:solidFill>
                <a:latin typeface="Arial"/>
                <a:cs typeface="Arial"/>
              </a:rPr>
              <a:t> </a:t>
            </a:r>
            <a:r>
              <a:rPr sz="900" b="1" i="1" spc="-95" dirty="0">
                <a:solidFill>
                  <a:srgbClr val="595958"/>
                </a:solidFill>
                <a:latin typeface="Arial"/>
                <a:cs typeface="Arial"/>
              </a:rPr>
              <a:t>Denis</a:t>
            </a:r>
            <a:r>
              <a:rPr sz="900" b="1" i="1" spc="-40" dirty="0">
                <a:solidFill>
                  <a:srgbClr val="595958"/>
                </a:solidFill>
                <a:latin typeface="Arial"/>
                <a:cs typeface="Arial"/>
              </a:rPr>
              <a:t> </a:t>
            </a:r>
            <a:r>
              <a:rPr sz="900" b="1" i="1" spc="-85" dirty="0">
                <a:solidFill>
                  <a:srgbClr val="595958"/>
                </a:solidFill>
                <a:latin typeface="Arial"/>
                <a:cs typeface="Arial"/>
              </a:rPr>
              <a:t>Wood</a:t>
            </a:r>
            <a:r>
              <a:rPr sz="900" b="1" i="1" spc="-50" dirty="0">
                <a:solidFill>
                  <a:srgbClr val="595958"/>
                </a:solidFill>
                <a:latin typeface="Arial"/>
                <a:cs typeface="Arial"/>
              </a:rPr>
              <a:t> </a:t>
            </a:r>
            <a:r>
              <a:rPr sz="900" b="1" i="1" dirty="0">
                <a:latin typeface="Arial"/>
                <a:cs typeface="Arial"/>
              </a:rPr>
              <a:t>-</a:t>
            </a:r>
            <a:r>
              <a:rPr sz="900" b="1" i="1" spc="210" dirty="0">
                <a:latin typeface="Arial"/>
                <a:cs typeface="Arial"/>
              </a:rPr>
              <a:t> </a:t>
            </a:r>
            <a:r>
              <a:rPr sz="900" b="1" i="1" spc="-50" dirty="0">
                <a:solidFill>
                  <a:srgbClr val="604A7B"/>
                </a:solidFill>
                <a:latin typeface="Arial"/>
                <a:cs typeface="Arial"/>
              </a:rPr>
              <a:t>makingmaps.owu.edu</a:t>
            </a:r>
            <a:endParaRPr sz="900">
              <a:latin typeface="Arial"/>
              <a:cs typeface="Arial"/>
            </a:endParaRPr>
          </a:p>
        </p:txBody>
      </p:sp>
      <p:sp>
        <p:nvSpPr>
          <p:cNvPr id="12" name="object 12"/>
          <p:cNvSpPr txBox="1"/>
          <p:nvPr/>
        </p:nvSpPr>
        <p:spPr>
          <a:xfrm>
            <a:off x="-762000" y="6248907"/>
            <a:ext cx="3460115" cy="153888"/>
          </a:xfrm>
          <a:prstGeom prst="rect">
            <a:avLst/>
          </a:prstGeom>
        </p:spPr>
        <p:txBody>
          <a:bodyPr vert="horz" wrap="square" lIns="0" tIns="0" rIns="0" bIns="0" rtlCol="0">
            <a:spAutoFit/>
          </a:bodyPr>
          <a:lstStyle/>
          <a:p>
            <a:pPr marL="12700">
              <a:lnSpc>
                <a:spcPts val="1240"/>
              </a:lnSpc>
            </a:pPr>
            <a:r>
              <a:rPr sz="1200" spc="-30" dirty="0">
                <a:latin typeface="Arial"/>
                <a:cs typeface="Arial"/>
              </a:rPr>
              <a:t>information,</a:t>
            </a:r>
            <a:r>
              <a:rPr sz="1200" spc="75" dirty="0">
                <a:latin typeface="Arial"/>
                <a:cs typeface="Arial"/>
              </a:rPr>
              <a:t> </a:t>
            </a:r>
            <a:endParaRPr sz="1200" dirty="0">
              <a:latin typeface="Arial"/>
              <a:cs typeface="Arial"/>
            </a:endParaRPr>
          </a:p>
        </p:txBody>
      </p:sp>
      <p:sp>
        <p:nvSpPr>
          <p:cNvPr id="11" name="object 11"/>
          <p:cNvSpPr txBox="1"/>
          <p:nvPr/>
        </p:nvSpPr>
        <p:spPr>
          <a:xfrm>
            <a:off x="8765258"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57</a:t>
            </a:r>
            <a:endParaRPr sz="12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741" y="926784"/>
            <a:ext cx="4483735" cy="505267"/>
          </a:xfrm>
          <a:prstGeom prst="rect">
            <a:avLst/>
          </a:prstGeom>
        </p:spPr>
        <p:txBody>
          <a:bodyPr vert="horz" wrap="square" lIns="0" tIns="12700" rIns="0" bIns="0" rtlCol="0">
            <a:spAutoFit/>
          </a:bodyPr>
          <a:lstStyle/>
          <a:p>
            <a:pPr marL="12700">
              <a:lnSpc>
                <a:spcPct val="100000"/>
              </a:lnSpc>
              <a:spcBef>
                <a:spcPts val="100"/>
              </a:spcBef>
            </a:pPr>
            <a:r>
              <a:rPr sz="3200" spc="-290" dirty="0">
                <a:latin typeface="Arial" panose="020B0604020202020204" pitchFamily="34" charset="0"/>
                <a:cs typeface="Arial" panose="020B0604020202020204" pitchFamily="34" charset="0"/>
              </a:rPr>
              <a:t>Choosing</a:t>
            </a:r>
            <a:r>
              <a:rPr sz="3200" spc="-190" dirty="0">
                <a:latin typeface="Arial" panose="020B0604020202020204" pitchFamily="34" charset="0"/>
                <a:cs typeface="Arial" panose="020B0604020202020204" pitchFamily="34" charset="0"/>
              </a:rPr>
              <a:t> </a:t>
            </a:r>
            <a:r>
              <a:rPr sz="3200" spc="-220" dirty="0">
                <a:latin typeface="Arial" panose="020B0604020202020204" pitchFamily="34" charset="0"/>
                <a:cs typeface="Arial" panose="020B0604020202020204" pitchFamily="34" charset="0"/>
              </a:rPr>
              <a:t>Color</a:t>
            </a:r>
            <a:r>
              <a:rPr sz="3200" spc="-185" dirty="0">
                <a:latin typeface="Arial" panose="020B0604020202020204" pitchFamily="34" charset="0"/>
                <a:cs typeface="Arial" panose="020B0604020202020204" pitchFamily="34" charset="0"/>
              </a:rPr>
              <a:t> </a:t>
            </a:r>
            <a:r>
              <a:rPr sz="3200" spc="-320" dirty="0">
                <a:latin typeface="Arial" panose="020B0604020202020204" pitchFamily="34" charset="0"/>
                <a:cs typeface="Arial" panose="020B0604020202020204" pitchFamily="34" charset="0"/>
              </a:rPr>
              <a:t>Tips</a:t>
            </a:r>
          </a:p>
        </p:txBody>
      </p:sp>
      <p:grpSp>
        <p:nvGrpSpPr>
          <p:cNvPr id="3" name="object 3"/>
          <p:cNvGrpSpPr/>
          <p:nvPr/>
        </p:nvGrpSpPr>
        <p:grpSpPr>
          <a:xfrm>
            <a:off x="615947" y="2485231"/>
            <a:ext cx="8308340" cy="3394710"/>
            <a:chOff x="615947" y="2485231"/>
            <a:chExt cx="8308340" cy="3394710"/>
          </a:xfrm>
        </p:grpSpPr>
        <p:sp>
          <p:nvSpPr>
            <p:cNvPr id="4" name="object 4"/>
            <p:cNvSpPr/>
            <p:nvPr/>
          </p:nvSpPr>
          <p:spPr>
            <a:xfrm>
              <a:off x="628648" y="2497931"/>
              <a:ext cx="8282940" cy="1066800"/>
            </a:xfrm>
            <a:custGeom>
              <a:avLst/>
              <a:gdLst/>
              <a:ahLst/>
              <a:cxnLst/>
              <a:rect l="l" t="t" r="r" b="b"/>
              <a:pathLst>
                <a:path w="8282940" h="1066800">
                  <a:moveTo>
                    <a:pt x="0" y="0"/>
                  </a:moveTo>
                  <a:lnTo>
                    <a:pt x="8282525" y="0"/>
                  </a:lnTo>
                  <a:lnTo>
                    <a:pt x="8282525" y="1066255"/>
                  </a:lnTo>
                  <a:lnTo>
                    <a:pt x="0" y="1066255"/>
                  </a:lnTo>
                  <a:lnTo>
                    <a:pt x="0" y="0"/>
                  </a:lnTo>
                  <a:close/>
                </a:path>
              </a:pathLst>
            </a:custGeom>
            <a:ln w="25387">
              <a:solidFill>
                <a:srgbClr val="D9D9D9"/>
              </a:solidFill>
            </a:ln>
          </p:spPr>
          <p:txBody>
            <a:bodyPr wrap="square" lIns="0" tIns="0" rIns="0" bIns="0" rtlCol="0"/>
            <a:lstStyle/>
            <a:p>
              <a:endParaRPr/>
            </a:p>
          </p:txBody>
        </p:sp>
        <p:sp>
          <p:nvSpPr>
            <p:cNvPr id="5" name="object 5"/>
            <p:cNvSpPr/>
            <p:nvPr/>
          </p:nvSpPr>
          <p:spPr>
            <a:xfrm>
              <a:off x="628647" y="3571749"/>
              <a:ext cx="8282940" cy="2295525"/>
            </a:xfrm>
            <a:custGeom>
              <a:avLst/>
              <a:gdLst/>
              <a:ahLst/>
              <a:cxnLst/>
              <a:rect l="l" t="t" r="r" b="b"/>
              <a:pathLst>
                <a:path w="8282940" h="2295525">
                  <a:moveTo>
                    <a:pt x="0" y="0"/>
                  </a:moveTo>
                  <a:lnTo>
                    <a:pt x="8282525" y="0"/>
                  </a:lnTo>
                  <a:lnTo>
                    <a:pt x="8282525" y="2294909"/>
                  </a:lnTo>
                  <a:lnTo>
                    <a:pt x="0" y="2294909"/>
                  </a:lnTo>
                  <a:lnTo>
                    <a:pt x="0" y="0"/>
                  </a:lnTo>
                  <a:close/>
                </a:path>
              </a:pathLst>
            </a:custGeom>
            <a:ln w="25387">
              <a:solidFill>
                <a:srgbClr val="D9D9D9"/>
              </a:solidFill>
            </a:ln>
          </p:spPr>
          <p:txBody>
            <a:bodyPr wrap="square" lIns="0" tIns="0" rIns="0" bIns="0" rtlCol="0"/>
            <a:lstStyle/>
            <a:p>
              <a:endParaRPr/>
            </a:p>
          </p:txBody>
        </p:sp>
      </p:grpSp>
      <p:sp>
        <p:nvSpPr>
          <p:cNvPr id="6" name="object 6"/>
          <p:cNvSpPr txBox="1"/>
          <p:nvPr/>
        </p:nvSpPr>
        <p:spPr>
          <a:xfrm>
            <a:off x="641341" y="2001520"/>
            <a:ext cx="8257540" cy="2311400"/>
          </a:xfrm>
          <a:prstGeom prst="rect">
            <a:avLst/>
          </a:prstGeom>
        </p:spPr>
        <p:txBody>
          <a:bodyPr vert="horz" wrap="square" lIns="0" tIns="12700" rIns="0" bIns="0" rtlCol="0">
            <a:spAutoFit/>
          </a:bodyPr>
          <a:lstStyle/>
          <a:p>
            <a:pPr marL="88265">
              <a:lnSpc>
                <a:spcPct val="100000"/>
              </a:lnSpc>
              <a:spcBef>
                <a:spcPts val="100"/>
              </a:spcBef>
            </a:pPr>
            <a:r>
              <a:rPr sz="2500" spc="-85" dirty="0">
                <a:latin typeface="Arial"/>
                <a:cs typeface="Arial"/>
              </a:rPr>
              <a:t>Match</a:t>
            </a:r>
            <a:r>
              <a:rPr sz="2500" spc="-140" dirty="0">
                <a:latin typeface="Arial"/>
                <a:cs typeface="Arial"/>
              </a:rPr>
              <a:t> </a:t>
            </a:r>
            <a:r>
              <a:rPr sz="2500" spc="-50" dirty="0">
                <a:latin typeface="Arial"/>
                <a:cs typeface="Arial"/>
              </a:rPr>
              <a:t>the</a:t>
            </a:r>
            <a:r>
              <a:rPr sz="2500" spc="-130" dirty="0">
                <a:latin typeface="Arial"/>
                <a:cs typeface="Arial"/>
              </a:rPr>
              <a:t> </a:t>
            </a:r>
            <a:r>
              <a:rPr sz="2500" spc="-70" dirty="0">
                <a:latin typeface="Arial"/>
                <a:cs typeface="Arial"/>
              </a:rPr>
              <a:t>type</a:t>
            </a:r>
            <a:r>
              <a:rPr sz="2500" spc="-130" dirty="0">
                <a:latin typeface="Arial"/>
                <a:cs typeface="Arial"/>
              </a:rPr>
              <a:t> </a:t>
            </a:r>
            <a:r>
              <a:rPr sz="2500" spc="-10" dirty="0">
                <a:latin typeface="Arial"/>
                <a:cs typeface="Arial"/>
              </a:rPr>
              <a:t>of</a:t>
            </a:r>
            <a:r>
              <a:rPr sz="2500" spc="-135" dirty="0">
                <a:latin typeface="Arial"/>
                <a:cs typeface="Arial"/>
              </a:rPr>
              <a:t> </a:t>
            </a:r>
            <a:r>
              <a:rPr sz="2500" spc="-105" dirty="0">
                <a:latin typeface="Arial"/>
                <a:cs typeface="Arial"/>
              </a:rPr>
              <a:t>data</a:t>
            </a:r>
            <a:r>
              <a:rPr sz="2500" spc="-135" dirty="0">
                <a:latin typeface="Arial"/>
                <a:cs typeface="Arial"/>
              </a:rPr>
              <a:t> </a:t>
            </a:r>
            <a:r>
              <a:rPr sz="2500" dirty="0">
                <a:latin typeface="Arial"/>
                <a:cs typeface="Arial"/>
              </a:rPr>
              <a:t>to</a:t>
            </a:r>
            <a:r>
              <a:rPr sz="2500" spc="-140" dirty="0">
                <a:latin typeface="Arial"/>
                <a:cs typeface="Arial"/>
              </a:rPr>
              <a:t> </a:t>
            </a:r>
            <a:r>
              <a:rPr sz="2500" spc="-50" dirty="0">
                <a:latin typeface="Arial"/>
                <a:cs typeface="Arial"/>
              </a:rPr>
              <a:t>the</a:t>
            </a:r>
            <a:r>
              <a:rPr sz="2500" spc="-130" dirty="0">
                <a:latin typeface="Arial"/>
                <a:cs typeface="Arial"/>
              </a:rPr>
              <a:t> </a:t>
            </a:r>
            <a:r>
              <a:rPr sz="2500" spc="-70" dirty="0">
                <a:latin typeface="Arial"/>
                <a:cs typeface="Arial"/>
              </a:rPr>
              <a:t>type</a:t>
            </a:r>
            <a:r>
              <a:rPr sz="2500" spc="-130" dirty="0">
                <a:latin typeface="Arial"/>
                <a:cs typeface="Arial"/>
              </a:rPr>
              <a:t> </a:t>
            </a:r>
            <a:r>
              <a:rPr sz="2500" spc="-10" dirty="0">
                <a:latin typeface="Arial"/>
                <a:cs typeface="Arial"/>
              </a:rPr>
              <a:t>of</a:t>
            </a:r>
            <a:r>
              <a:rPr sz="2500" spc="-135" dirty="0">
                <a:latin typeface="Arial"/>
                <a:cs typeface="Arial"/>
              </a:rPr>
              <a:t> </a:t>
            </a:r>
            <a:r>
              <a:rPr sz="2500" spc="-70" dirty="0">
                <a:latin typeface="Arial"/>
                <a:cs typeface="Arial"/>
              </a:rPr>
              <a:t>color</a:t>
            </a:r>
            <a:r>
              <a:rPr sz="2500" spc="-130" dirty="0">
                <a:latin typeface="Arial"/>
                <a:cs typeface="Arial"/>
              </a:rPr>
              <a:t> </a:t>
            </a:r>
            <a:r>
              <a:rPr sz="2500" spc="-10" dirty="0">
                <a:latin typeface="Arial"/>
                <a:cs typeface="Arial"/>
              </a:rPr>
              <a:t>scheme:</a:t>
            </a:r>
            <a:endParaRPr sz="2500" dirty="0">
              <a:latin typeface="Arial"/>
              <a:cs typeface="Arial"/>
            </a:endParaRPr>
          </a:p>
          <a:p>
            <a:pPr>
              <a:lnSpc>
                <a:spcPct val="100000"/>
              </a:lnSpc>
              <a:spcBef>
                <a:spcPts val="125"/>
              </a:spcBef>
            </a:pPr>
            <a:endParaRPr sz="2500" dirty="0">
              <a:latin typeface="Arial"/>
              <a:cs typeface="Arial"/>
            </a:endParaRPr>
          </a:p>
          <a:p>
            <a:pPr marL="335280" indent="-256540">
              <a:lnSpc>
                <a:spcPct val="100000"/>
              </a:lnSpc>
              <a:buFont typeface="Arial"/>
              <a:buChar char="•"/>
              <a:tabLst>
                <a:tab pos="335280" algn="l"/>
              </a:tabLst>
            </a:pPr>
            <a:r>
              <a:rPr sz="2500" b="1" spc="-135" dirty="0">
                <a:latin typeface="Arial"/>
                <a:cs typeface="Arial"/>
              </a:rPr>
              <a:t>Qualitative</a:t>
            </a:r>
            <a:r>
              <a:rPr sz="2500" b="1" spc="-95" dirty="0">
                <a:latin typeface="Arial"/>
                <a:cs typeface="Arial"/>
              </a:rPr>
              <a:t> </a:t>
            </a:r>
            <a:r>
              <a:rPr sz="2500" spc="-25" dirty="0">
                <a:latin typeface="Arial"/>
                <a:cs typeface="Arial"/>
              </a:rPr>
              <a:t>(categories)</a:t>
            </a:r>
            <a:endParaRPr sz="2500" dirty="0">
              <a:latin typeface="Arial"/>
              <a:cs typeface="Arial"/>
            </a:endParaRPr>
          </a:p>
          <a:p>
            <a:pPr>
              <a:lnSpc>
                <a:spcPct val="100000"/>
              </a:lnSpc>
              <a:buFont typeface="Arial"/>
              <a:buChar char="•"/>
            </a:pPr>
            <a:endParaRPr sz="2500" dirty="0">
              <a:latin typeface="Arial"/>
              <a:cs typeface="Arial"/>
            </a:endParaRPr>
          </a:p>
          <a:p>
            <a:pPr>
              <a:lnSpc>
                <a:spcPct val="100000"/>
              </a:lnSpc>
              <a:spcBef>
                <a:spcPts val="250"/>
              </a:spcBef>
              <a:buFont typeface="Arial"/>
              <a:buChar char="•"/>
            </a:pPr>
            <a:endParaRPr sz="2500" dirty="0">
              <a:latin typeface="Arial"/>
              <a:cs typeface="Arial"/>
            </a:endParaRPr>
          </a:p>
          <a:p>
            <a:pPr marL="335280" indent="-256540">
              <a:lnSpc>
                <a:spcPct val="100000"/>
              </a:lnSpc>
              <a:buFont typeface="Arial"/>
              <a:buChar char="•"/>
              <a:tabLst>
                <a:tab pos="335280" algn="l"/>
              </a:tabLst>
            </a:pPr>
            <a:r>
              <a:rPr sz="2500" b="1" spc="-135" dirty="0">
                <a:latin typeface="Arial"/>
                <a:cs typeface="Arial"/>
              </a:rPr>
              <a:t>Quantitative</a:t>
            </a:r>
            <a:r>
              <a:rPr sz="2500" b="1" spc="-70" dirty="0">
                <a:latin typeface="Arial"/>
                <a:cs typeface="Arial"/>
              </a:rPr>
              <a:t> </a:t>
            </a:r>
            <a:r>
              <a:rPr sz="2500" spc="-10" dirty="0">
                <a:latin typeface="Arial"/>
                <a:cs typeface="Arial"/>
              </a:rPr>
              <a:t>(numbers)</a:t>
            </a:r>
            <a:endParaRPr sz="2500" dirty="0">
              <a:latin typeface="Arial"/>
              <a:cs typeface="Arial"/>
            </a:endParaRPr>
          </a:p>
        </p:txBody>
      </p:sp>
      <p:pic>
        <p:nvPicPr>
          <p:cNvPr id="7" name="object 7"/>
          <p:cNvPicPr/>
          <p:nvPr/>
        </p:nvPicPr>
        <p:blipFill>
          <a:blip r:embed="rId2" cstate="print"/>
          <a:stretch>
            <a:fillRect/>
          </a:stretch>
        </p:blipFill>
        <p:spPr>
          <a:xfrm>
            <a:off x="4538662" y="2497937"/>
            <a:ext cx="4300537" cy="3428987"/>
          </a:xfrm>
          <a:prstGeom prst="rect">
            <a:avLst/>
          </a:prstGeom>
        </p:spPr>
      </p:pic>
      <p:sp>
        <p:nvSpPr>
          <p:cNvPr id="11" name="object 11"/>
          <p:cNvSpPr txBox="1"/>
          <p:nvPr/>
        </p:nvSpPr>
        <p:spPr>
          <a:xfrm>
            <a:off x="8789644" y="6244983"/>
            <a:ext cx="180975" cy="177800"/>
          </a:xfrm>
          <a:prstGeom prst="rect">
            <a:avLst/>
          </a:prstGeom>
        </p:spPr>
        <p:txBody>
          <a:bodyPr vert="horz" wrap="square" lIns="0" tIns="0" rIns="0" bIns="0" rtlCol="0">
            <a:spAutoFit/>
          </a:bodyPr>
          <a:lstStyle/>
          <a:p>
            <a:pPr marL="12700">
              <a:lnSpc>
                <a:spcPts val="1240"/>
              </a:lnSpc>
            </a:pPr>
            <a:r>
              <a:rPr sz="1200" spc="-25" dirty="0">
                <a:latin typeface="Arial"/>
                <a:cs typeface="Arial"/>
              </a:rPr>
              <a:t>59</a:t>
            </a:r>
            <a:endParaRPr sz="12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8156" y="942754"/>
            <a:ext cx="5862320" cy="505267"/>
          </a:xfrm>
          <a:prstGeom prst="rect">
            <a:avLst/>
          </a:prstGeom>
        </p:spPr>
        <p:txBody>
          <a:bodyPr vert="horz" wrap="square" lIns="0" tIns="12700" rIns="0" bIns="0" rtlCol="0">
            <a:spAutoFit/>
          </a:bodyPr>
          <a:lstStyle/>
          <a:p>
            <a:pPr marL="12700">
              <a:lnSpc>
                <a:spcPct val="100000"/>
              </a:lnSpc>
              <a:spcBef>
                <a:spcPts val="100"/>
              </a:spcBef>
            </a:pPr>
            <a:r>
              <a:rPr sz="3200" spc="-140" dirty="0">
                <a:latin typeface="Arial" panose="020B0604020202020204" pitchFamily="34" charset="0"/>
                <a:cs typeface="Arial" panose="020B0604020202020204" pitchFamily="34" charset="0"/>
              </a:rPr>
              <a:t>Qualitative</a:t>
            </a:r>
            <a:r>
              <a:rPr sz="3200" spc="-325" dirty="0">
                <a:latin typeface="Arial" panose="020B0604020202020204" pitchFamily="34" charset="0"/>
                <a:cs typeface="Arial" panose="020B0604020202020204" pitchFamily="34" charset="0"/>
              </a:rPr>
              <a:t> </a:t>
            </a:r>
            <a:r>
              <a:rPr sz="3200" spc="-220" dirty="0">
                <a:latin typeface="Arial" panose="020B0604020202020204" pitchFamily="34" charset="0"/>
                <a:cs typeface="Arial" panose="020B0604020202020204" pitchFamily="34" charset="0"/>
              </a:rPr>
              <a:t>Color</a:t>
            </a:r>
            <a:r>
              <a:rPr sz="3200" spc="-150" dirty="0">
                <a:latin typeface="Arial" panose="020B0604020202020204" pitchFamily="34" charset="0"/>
                <a:cs typeface="Arial" panose="020B0604020202020204" pitchFamily="34" charset="0"/>
              </a:rPr>
              <a:t> </a:t>
            </a:r>
            <a:r>
              <a:rPr sz="3200" spc="-320" dirty="0">
                <a:latin typeface="Arial" panose="020B0604020202020204" pitchFamily="34" charset="0"/>
                <a:cs typeface="Arial" panose="020B0604020202020204" pitchFamily="34" charset="0"/>
              </a:rPr>
              <a:t>Example</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16</a:t>
            </a:fld>
            <a:endParaRPr spc="-25" dirty="0"/>
          </a:p>
        </p:txBody>
      </p:sp>
      <p:pic>
        <p:nvPicPr>
          <p:cNvPr id="3" name="object 3"/>
          <p:cNvPicPr/>
          <p:nvPr/>
        </p:nvPicPr>
        <p:blipFill>
          <a:blip r:embed="rId2" cstate="print"/>
          <a:stretch>
            <a:fillRect/>
          </a:stretch>
        </p:blipFill>
        <p:spPr>
          <a:xfrm>
            <a:off x="1595813" y="2211466"/>
            <a:ext cx="5926506" cy="3361941"/>
          </a:xfrm>
          <a:prstGeom prst="rect">
            <a:avLst/>
          </a:prstGeom>
        </p:spPr>
      </p:pic>
      <p:sp>
        <p:nvSpPr>
          <p:cNvPr id="4" name="object 4"/>
          <p:cNvSpPr txBox="1"/>
          <p:nvPr/>
        </p:nvSpPr>
        <p:spPr>
          <a:xfrm>
            <a:off x="811434" y="3485388"/>
            <a:ext cx="1356995" cy="939800"/>
          </a:xfrm>
          <a:prstGeom prst="rect">
            <a:avLst/>
          </a:prstGeom>
        </p:spPr>
        <p:txBody>
          <a:bodyPr vert="horz" wrap="square" lIns="0" tIns="12700" rIns="0" bIns="0" rtlCol="0">
            <a:spAutoFit/>
          </a:bodyPr>
          <a:lstStyle/>
          <a:p>
            <a:pPr marL="12700" marR="5080">
              <a:lnSpc>
                <a:spcPct val="100000"/>
              </a:lnSpc>
              <a:spcBef>
                <a:spcPts val="100"/>
              </a:spcBef>
            </a:pPr>
            <a:r>
              <a:rPr sz="2000" spc="-165" dirty="0">
                <a:latin typeface="Arial"/>
                <a:cs typeface="Arial"/>
              </a:rPr>
              <a:t>Does</a:t>
            </a:r>
            <a:r>
              <a:rPr sz="2000" spc="-105" dirty="0">
                <a:latin typeface="Arial"/>
                <a:cs typeface="Arial"/>
              </a:rPr>
              <a:t> </a:t>
            </a:r>
            <a:r>
              <a:rPr sz="2000" spc="-20" dirty="0">
                <a:latin typeface="Arial"/>
                <a:cs typeface="Arial"/>
              </a:rPr>
              <a:t>this </a:t>
            </a:r>
            <a:r>
              <a:rPr sz="2000" spc="-135" dirty="0">
                <a:latin typeface="Arial"/>
                <a:cs typeface="Arial"/>
              </a:rPr>
              <a:t>make</a:t>
            </a:r>
            <a:r>
              <a:rPr sz="2000" spc="-75" dirty="0">
                <a:latin typeface="Arial"/>
                <a:cs typeface="Arial"/>
              </a:rPr>
              <a:t> </a:t>
            </a:r>
            <a:r>
              <a:rPr sz="2000" spc="-10" dirty="0">
                <a:latin typeface="Arial"/>
                <a:cs typeface="Arial"/>
              </a:rPr>
              <a:t>sense </a:t>
            </a:r>
            <a:r>
              <a:rPr sz="2000" dirty="0">
                <a:latin typeface="Arial"/>
                <a:cs typeface="Arial"/>
              </a:rPr>
              <a:t>for</a:t>
            </a:r>
            <a:r>
              <a:rPr sz="2000" spc="-130" dirty="0">
                <a:latin typeface="Arial"/>
                <a:cs typeface="Arial"/>
              </a:rPr>
              <a:t> </a:t>
            </a:r>
            <a:r>
              <a:rPr sz="2000" spc="-25" dirty="0">
                <a:latin typeface="Arial"/>
                <a:cs typeface="Arial"/>
              </a:rPr>
              <a:t>the</a:t>
            </a:r>
            <a:r>
              <a:rPr sz="2000" spc="-110" dirty="0">
                <a:latin typeface="Arial"/>
                <a:cs typeface="Arial"/>
              </a:rPr>
              <a:t> </a:t>
            </a:r>
            <a:r>
              <a:rPr sz="2000" spc="-95" dirty="0">
                <a:latin typeface="Arial"/>
                <a:cs typeface="Arial"/>
              </a:rPr>
              <a:t>data?</a:t>
            </a:r>
            <a:endParaRPr sz="2000">
              <a:latin typeface="Arial"/>
              <a:cs typeface="Arial"/>
            </a:endParaRPr>
          </a:p>
        </p:txBody>
      </p:sp>
      <p:pic>
        <p:nvPicPr>
          <p:cNvPr id="5" name="object 5"/>
          <p:cNvPicPr/>
          <p:nvPr/>
        </p:nvPicPr>
        <p:blipFill>
          <a:blip r:embed="rId3" cstate="print"/>
          <a:stretch>
            <a:fillRect/>
          </a:stretch>
        </p:blipFill>
        <p:spPr>
          <a:xfrm>
            <a:off x="732701" y="4587989"/>
            <a:ext cx="2136432" cy="107462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8429" y="1052158"/>
            <a:ext cx="5784850" cy="443711"/>
          </a:xfrm>
          <a:prstGeom prst="rect">
            <a:avLst/>
          </a:prstGeom>
        </p:spPr>
        <p:txBody>
          <a:bodyPr vert="horz" wrap="square" lIns="0" tIns="12700" rIns="0" bIns="0" rtlCol="0">
            <a:spAutoFit/>
          </a:bodyPr>
          <a:lstStyle/>
          <a:p>
            <a:pPr marL="12700">
              <a:lnSpc>
                <a:spcPct val="100000"/>
              </a:lnSpc>
              <a:spcBef>
                <a:spcPts val="100"/>
              </a:spcBef>
            </a:pPr>
            <a:r>
              <a:rPr spc="-210" dirty="0">
                <a:latin typeface="Arial" panose="020B0604020202020204" pitchFamily="34" charset="0"/>
                <a:cs typeface="Arial" panose="020B0604020202020204" pitchFamily="34" charset="0"/>
              </a:rPr>
              <a:t>Sequential</a:t>
            </a:r>
            <a:r>
              <a:rPr spc="-335" dirty="0">
                <a:latin typeface="Arial" panose="020B0604020202020204" pitchFamily="34" charset="0"/>
                <a:cs typeface="Arial" panose="020B0604020202020204" pitchFamily="34" charset="0"/>
              </a:rPr>
              <a:t> </a:t>
            </a:r>
            <a:r>
              <a:rPr spc="-220" dirty="0">
                <a:latin typeface="Arial" panose="020B0604020202020204" pitchFamily="34" charset="0"/>
                <a:cs typeface="Arial" panose="020B0604020202020204" pitchFamily="34" charset="0"/>
              </a:rPr>
              <a:t>Color</a:t>
            </a:r>
            <a:r>
              <a:rPr spc="-170" dirty="0">
                <a:latin typeface="Arial" panose="020B0604020202020204" pitchFamily="34" charset="0"/>
                <a:cs typeface="Arial" panose="020B0604020202020204" pitchFamily="34" charset="0"/>
              </a:rPr>
              <a:t> </a:t>
            </a:r>
            <a:r>
              <a:rPr spc="-320" dirty="0">
                <a:latin typeface="Arial" panose="020B0604020202020204" pitchFamily="34" charset="0"/>
                <a:cs typeface="Arial" panose="020B0604020202020204" pitchFamily="34" charset="0"/>
              </a:rPr>
              <a:t>Example</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17</a:t>
            </a:fld>
            <a:endParaRPr spc="-25" dirty="0"/>
          </a:p>
        </p:txBody>
      </p:sp>
      <p:grpSp>
        <p:nvGrpSpPr>
          <p:cNvPr id="3" name="object 3"/>
          <p:cNvGrpSpPr/>
          <p:nvPr/>
        </p:nvGrpSpPr>
        <p:grpSpPr>
          <a:xfrm>
            <a:off x="769175" y="2211467"/>
            <a:ext cx="6753225" cy="3451225"/>
            <a:chOff x="769175" y="2211467"/>
            <a:chExt cx="6753225" cy="3451225"/>
          </a:xfrm>
        </p:grpSpPr>
        <p:pic>
          <p:nvPicPr>
            <p:cNvPr id="4" name="object 4"/>
            <p:cNvPicPr/>
            <p:nvPr/>
          </p:nvPicPr>
          <p:blipFill>
            <a:blip r:embed="rId2" cstate="print"/>
            <a:stretch>
              <a:fillRect/>
            </a:stretch>
          </p:blipFill>
          <p:spPr>
            <a:xfrm>
              <a:off x="1595813" y="2211467"/>
              <a:ext cx="5926506" cy="3372519"/>
            </a:xfrm>
            <a:prstGeom prst="rect">
              <a:avLst/>
            </a:prstGeom>
          </p:spPr>
        </p:pic>
        <p:pic>
          <p:nvPicPr>
            <p:cNvPr id="5" name="object 5"/>
            <p:cNvPicPr/>
            <p:nvPr/>
          </p:nvPicPr>
          <p:blipFill>
            <a:blip r:embed="rId3" cstate="print"/>
            <a:stretch>
              <a:fillRect/>
            </a:stretch>
          </p:blipFill>
          <p:spPr>
            <a:xfrm>
              <a:off x="769175" y="4599508"/>
              <a:ext cx="2099957" cy="1063104"/>
            </a:xfrm>
            <a:prstGeom prst="rect">
              <a:avLst/>
            </a:prstGeom>
          </p:spPr>
        </p:pic>
      </p:grpSp>
      <p:sp>
        <p:nvSpPr>
          <p:cNvPr id="6" name="object 6"/>
          <p:cNvSpPr txBox="1"/>
          <p:nvPr/>
        </p:nvSpPr>
        <p:spPr>
          <a:xfrm>
            <a:off x="811434" y="3485388"/>
            <a:ext cx="1356995" cy="939800"/>
          </a:xfrm>
          <a:prstGeom prst="rect">
            <a:avLst/>
          </a:prstGeom>
        </p:spPr>
        <p:txBody>
          <a:bodyPr vert="horz" wrap="square" lIns="0" tIns="12700" rIns="0" bIns="0" rtlCol="0">
            <a:spAutoFit/>
          </a:bodyPr>
          <a:lstStyle/>
          <a:p>
            <a:pPr marL="12700" marR="5080">
              <a:lnSpc>
                <a:spcPct val="100000"/>
              </a:lnSpc>
              <a:spcBef>
                <a:spcPts val="100"/>
              </a:spcBef>
            </a:pPr>
            <a:r>
              <a:rPr sz="2000" spc="-165" dirty="0">
                <a:latin typeface="Arial"/>
                <a:cs typeface="Arial"/>
              </a:rPr>
              <a:t>Does</a:t>
            </a:r>
            <a:r>
              <a:rPr sz="2000" spc="-105" dirty="0">
                <a:latin typeface="Arial"/>
                <a:cs typeface="Arial"/>
              </a:rPr>
              <a:t> </a:t>
            </a:r>
            <a:r>
              <a:rPr sz="2000" spc="-20" dirty="0">
                <a:latin typeface="Arial"/>
                <a:cs typeface="Arial"/>
              </a:rPr>
              <a:t>this </a:t>
            </a:r>
            <a:r>
              <a:rPr sz="2000" spc="-135" dirty="0">
                <a:latin typeface="Arial"/>
                <a:cs typeface="Arial"/>
              </a:rPr>
              <a:t>make</a:t>
            </a:r>
            <a:r>
              <a:rPr sz="2000" spc="-75" dirty="0">
                <a:latin typeface="Arial"/>
                <a:cs typeface="Arial"/>
              </a:rPr>
              <a:t> </a:t>
            </a:r>
            <a:r>
              <a:rPr sz="2000" spc="-10" dirty="0">
                <a:latin typeface="Arial"/>
                <a:cs typeface="Arial"/>
              </a:rPr>
              <a:t>sense </a:t>
            </a:r>
            <a:r>
              <a:rPr sz="2000" dirty="0">
                <a:latin typeface="Arial"/>
                <a:cs typeface="Arial"/>
              </a:rPr>
              <a:t>for</a:t>
            </a:r>
            <a:r>
              <a:rPr sz="2000" spc="-130" dirty="0">
                <a:latin typeface="Arial"/>
                <a:cs typeface="Arial"/>
              </a:rPr>
              <a:t> </a:t>
            </a:r>
            <a:r>
              <a:rPr sz="2000" spc="-25" dirty="0">
                <a:latin typeface="Arial"/>
                <a:cs typeface="Arial"/>
              </a:rPr>
              <a:t>the</a:t>
            </a:r>
            <a:r>
              <a:rPr sz="2000" spc="-110" dirty="0">
                <a:latin typeface="Arial"/>
                <a:cs typeface="Arial"/>
              </a:rPr>
              <a:t> </a:t>
            </a:r>
            <a:r>
              <a:rPr sz="2000" spc="-95" dirty="0">
                <a:latin typeface="Arial"/>
                <a:cs typeface="Arial"/>
              </a:rPr>
              <a:t>data?</a:t>
            </a:r>
            <a:endParaRPr sz="20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8429" y="1024149"/>
            <a:ext cx="5518785" cy="505267"/>
          </a:xfrm>
          <a:prstGeom prst="rect">
            <a:avLst/>
          </a:prstGeom>
        </p:spPr>
        <p:txBody>
          <a:bodyPr vert="horz" wrap="square" lIns="0" tIns="12700" rIns="0" bIns="0" rtlCol="0">
            <a:spAutoFit/>
          </a:bodyPr>
          <a:lstStyle/>
          <a:p>
            <a:pPr marL="12700">
              <a:lnSpc>
                <a:spcPct val="100000"/>
              </a:lnSpc>
              <a:spcBef>
                <a:spcPts val="100"/>
              </a:spcBef>
            </a:pPr>
            <a:r>
              <a:rPr sz="3200" spc="-225" dirty="0">
                <a:latin typeface="Arial" panose="020B0604020202020204" pitchFamily="34" charset="0"/>
                <a:cs typeface="Arial" panose="020B0604020202020204" pitchFamily="34" charset="0"/>
              </a:rPr>
              <a:t>Diverging</a:t>
            </a:r>
            <a:r>
              <a:rPr sz="3200" spc="-335" dirty="0">
                <a:latin typeface="Arial" panose="020B0604020202020204" pitchFamily="34" charset="0"/>
                <a:cs typeface="Arial" panose="020B0604020202020204" pitchFamily="34" charset="0"/>
              </a:rPr>
              <a:t> </a:t>
            </a:r>
            <a:r>
              <a:rPr sz="3200" spc="-220" dirty="0">
                <a:latin typeface="Arial" panose="020B0604020202020204" pitchFamily="34" charset="0"/>
                <a:cs typeface="Arial" panose="020B0604020202020204" pitchFamily="34" charset="0"/>
              </a:rPr>
              <a:t>Color</a:t>
            </a:r>
            <a:r>
              <a:rPr sz="3200" spc="-165" dirty="0">
                <a:latin typeface="Arial" panose="020B0604020202020204" pitchFamily="34" charset="0"/>
                <a:cs typeface="Arial" panose="020B0604020202020204" pitchFamily="34" charset="0"/>
              </a:rPr>
              <a:t> </a:t>
            </a:r>
            <a:r>
              <a:rPr sz="3200" spc="-320" dirty="0">
                <a:latin typeface="Arial" panose="020B0604020202020204" pitchFamily="34" charset="0"/>
                <a:cs typeface="Arial" panose="020B0604020202020204" pitchFamily="34" charset="0"/>
              </a:rPr>
              <a:t>Example</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18</a:t>
            </a:fld>
            <a:endParaRPr spc="-25" dirty="0"/>
          </a:p>
        </p:txBody>
      </p:sp>
      <p:grpSp>
        <p:nvGrpSpPr>
          <p:cNvPr id="3" name="object 3"/>
          <p:cNvGrpSpPr/>
          <p:nvPr/>
        </p:nvGrpSpPr>
        <p:grpSpPr>
          <a:xfrm>
            <a:off x="732701" y="2216708"/>
            <a:ext cx="6815455" cy="3456304"/>
            <a:chOff x="732701" y="2216708"/>
            <a:chExt cx="6815455" cy="3456304"/>
          </a:xfrm>
        </p:grpSpPr>
        <p:pic>
          <p:nvPicPr>
            <p:cNvPr id="4" name="object 4"/>
            <p:cNvPicPr/>
            <p:nvPr/>
          </p:nvPicPr>
          <p:blipFill>
            <a:blip r:embed="rId2" cstate="print"/>
            <a:stretch>
              <a:fillRect/>
            </a:stretch>
          </p:blipFill>
          <p:spPr>
            <a:xfrm>
              <a:off x="1591951" y="2216708"/>
              <a:ext cx="5955771" cy="3364509"/>
            </a:xfrm>
            <a:prstGeom prst="rect">
              <a:avLst/>
            </a:prstGeom>
          </p:spPr>
        </p:pic>
        <p:pic>
          <p:nvPicPr>
            <p:cNvPr id="5" name="object 5"/>
            <p:cNvPicPr/>
            <p:nvPr/>
          </p:nvPicPr>
          <p:blipFill>
            <a:blip r:embed="rId3" cstate="print"/>
            <a:stretch>
              <a:fillRect/>
            </a:stretch>
          </p:blipFill>
          <p:spPr>
            <a:xfrm>
              <a:off x="732701" y="4587837"/>
              <a:ext cx="2156409" cy="1084821"/>
            </a:xfrm>
            <a:prstGeom prst="rect">
              <a:avLst/>
            </a:prstGeom>
          </p:spPr>
        </p:pic>
      </p:grpSp>
      <p:sp>
        <p:nvSpPr>
          <p:cNvPr id="6" name="object 6"/>
          <p:cNvSpPr txBox="1"/>
          <p:nvPr/>
        </p:nvSpPr>
        <p:spPr>
          <a:xfrm>
            <a:off x="811434" y="3485388"/>
            <a:ext cx="1356995" cy="939800"/>
          </a:xfrm>
          <a:prstGeom prst="rect">
            <a:avLst/>
          </a:prstGeom>
        </p:spPr>
        <p:txBody>
          <a:bodyPr vert="horz" wrap="square" lIns="0" tIns="12700" rIns="0" bIns="0" rtlCol="0">
            <a:spAutoFit/>
          </a:bodyPr>
          <a:lstStyle/>
          <a:p>
            <a:pPr marL="12700" marR="5080">
              <a:lnSpc>
                <a:spcPct val="100000"/>
              </a:lnSpc>
              <a:spcBef>
                <a:spcPts val="100"/>
              </a:spcBef>
            </a:pPr>
            <a:r>
              <a:rPr sz="2000" spc="-165" dirty="0">
                <a:latin typeface="Arial"/>
                <a:cs typeface="Arial"/>
              </a:rPr>
              <a:t>Does</a:t>
            </a:r>
            <a:r>
              <a:rPr sz="2000" spc="-105" dirty="0">
                <a:latin typeface="Arial"/>
                <a:cs typeface="Arial"/>
              </a:rPr>
              <a:t> </a:t>
            </a:r>
            <a:r>
              <a:rPr sz="2000" spc="-20" dirty="0">
                <a:latin typeface="Arial"/>
                <a:cs typeface="Arial"/>
              </a:rPr>
              <a:t>this </a:t>
            </a:r>
            <a:r>
              <a:rPr sz="2000" spc="-135" dirty="0">
                <a:latin typeface="Arial"/>
                <a:cs typeface="Arial"/>
              </a:rPr>
              <a:t>make</a:t>
            </a:r>
            <a:r>
              <a:rPr sz="2000" spc="-75" dirty="0">
                <a:latin typeface="Arial"/>
                <a:cs typeface="Arial"/>
              </a:rPr>
              <a:t> </a:t>
            </a:r>
            <a:r>
              <a:rPr sz="2000" spc="-10" dirty="0">
                <a:latin typeface="Arial"/>
                <a:cs typeface="Arial"/>
              </a:rPr>
              <a:t>sense </a:t>
            </a:r>
            <a:r>
              <a:rPr sz="2000" dirty="0">
                <a:latin typeface="Arial"/>
                <a:cs typeface="Arial"/>
              </a:rPr>
              <a:t>for</a:t>
            </a:r>
            <a:r>
              <a:rPr sz="2000" spc="-130" dirty="0">
                <a:latin typeface="Arial"/>
                <a:cs typeface="Arial"/>
              </a:rPr>
              <a:t> </a:t>
            </a:r>
            <a:r>
              <a:rPr sz="2000" spc="-25" dirty="0">
                <a:latin typeface="Arial"/>
                <a:cs typeface="Arial"/>
              </a:rPr>
              <a:t>the</a:t>
            </a:r>
            <a:r>
              <a:rPr sz="2000" spc="-110" dirty="0">
                <a:latin typeface="Arial"/>
                <a:cs typeface="Arial"/>
              </a:rPr>
              <a:t> </a:t>
            </a:r>
            <a:r>
              <a:rPr sz="2000" spc="-95" dirty="0">
                <a:latin typeface="Arial"/>
                <a:cs typeface="Arial"/>
              </a:rPr>
              <a:t>data?</a:t>
            </a:r>
            <a:endParaRPr sz="20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157288" y="490538"/>
            <a:ext cx="7986712" cy="635000"/>
          </a:xfrm>
          <a:prstGeom prst="rect">
            <a:avLst/>
          </a:prstGeom>
        </p:spPr>
        <p:txBody>
          <a:bodyPr vert="horz" wrap="square" lIns="0" tIns="12700" rIns="0" bIns="0" rtlCol="0">
            <a:spAutoFit/>
          </a:bodyPr>
          <a:lstStyle/>
          <a:p>
            <a:pPr marL="12700">
              <a:lnSpc>
                <a:spcPct val="100000"/>
              </a:lnSpc>
              <a:spcBef>
                <a:spcPts val="100"/>
              </a:spcBef>
            </a:pPr>
            <a:r>
              <a:rPr sz="4000" spc="-220" dirty="0"/>
              <a:t>Commonly</a:t>
            </a:r>
            <a:r>
              <a:rPr sz="4000" spc="-170" dirty="0"/>
              <a:t> </a:t>
            </a:r>
            <a:r>
              <a:rPr sz="4000" spc="-250" dirty="0"/>
              <a:t>used</a:t>
            </a:r>
            <a:r>
              <a:rPr sz="4000" spc="-180" dirty="0"/>
              <a:t> </a:t>
            </a:r>
            <a:r>
              <a:rPr sz="4000" spc="-215" dirty="0"/>
              <a:t>map</a:t>
            </a:r>
            <a:r>
              <a:rPr sz="4000" spc="-175" dirty="0"/>
              <a:t> </a:t>
            </a:r>
            <a:r>
              <a:rPr sz="4000" spc="-90" dirty="0"/>
              <a:t>type:</a:t>
            </a:r>
            <a:r>
              <a:rPr sz="4000" spc="-170" dirty="0"/>
              <a:t> </a:t>
            </a:r>
            <a:r>
              <a:rPr sz="4000" spc="-110" dirty="0"/>
              <a:t>Choropleth</a:t>
            </a:r>
            <a:endParaRPr sz="4000"/>
          </a:p>
        </p:txBody>
      </p:sp>
      <p:sp>
        <p:nvSpPr>
          <p:cNvPr id="3" name="object 3"/>
          <p:cNvSpPr txBox="1"/>
          <p:nvPr/>
        </p:nvSpPr>
        <p:spPr>
          <a:xfrm>
            <a:off x="1219200" y="705264"/>
            <a:ext cx="5867400" cy="1054776"/>
          </a:xfrm>
          <a:prstGeom prst="rect">
            <a:avLst/>
          </a:prstGeom>
        </p:spPr>
        <p:txBody>
          <a:bodyPr vert="horz" wrap="square" lIns="0" tIns="53975" rIns="0" bIns="0" rtlCol="0">
            <a:spAutoFit/>
          </a:bodyPr>
          <a:lstStyle/>
          <a:p>
            <a:pPr marL="786130" marR="5080" indent="-774065" algn="ctr">
              <a:lnSpc>
                <a:spcPts val="2590"/>
              </a:lnSpc>
              <a:spcBef>
                <a:spcPts val="425"/>
              </a:spcBef>
            </a:pPr>
            <a:r>
              <a:rPr sz="2400" spc="-195" dirty="0">
                <a:latin typeface="Arial"/>
                <a:cs typeface="Arial"/>
              </a:rPr>
              <a:t>These</a:t>
            </a:r>
            <a:r>
              <a:rPr sz="2400" spc="-95" dirty="0">
                <a:latin typeface="Arial"/>
                <a:cs typeface="Arial"/>
              </a:rPr>
              <a:t> </a:t>
            </a:r>
            <a:r>
              <a:rPr sz="2400" spc="-170" dirty="0">
                <a:latin typeface="Arial"/>
                <a:cs typeface="Arial"/>
              </a:rPr>
              <a:t>use</a:t>
            </a:r>
            <a:r>
              <a:rPr sz="2400" spc="-95" dirty="0">
                <a:latin typeface="Arial"/>
                <a:cs typeface="Arial"/>
              </a:rPr>
              <a:t> </a:t>
            </a:r>
            <a:r>
              <a:rPr sz="2400" spc="-35" dirty="0">
                <a:latin typeface="Arial"/>
                <a:cs typeface="Arial"/>
              </a:rPr>
              <a:t>different</a:t>
            </a:r>
            <a:r>
              <a:rPr sz="2400" spc="-105" dirty="0">
                <a:latin typeface="Arial"/>
                <a:cs typeface="Arial"/>
              </a:rPr>
              <a:t> </a:t>
            </a:r>
            <a:r>
              <a:rPr sz="2400" spc="-135" dirty="0">
                <a:latin typeface="Arial"/>
                <a:cs typeface="Arial"/>
              </a:rPr>
              <a:t>shading</a:t>
            </a:r>
            <a:r>
              <a:rPr sz="2400" spc="-100" dirty="0">
                <a:latin typeface="Arial"/>
                <a:cs typeface="Arial"/>
              </a:rPr>
              <a:t> </a:t>
            </a:r>
            <a:r>
              <a:rPr sz="2400" spc="-125" dirty="0">
                <a:latin typeface="Arial"/>
                <a:cs typeface="Arial"/>
              </a:rPr>
              <a:t>and</a:t>
            </a:r>
            <a:r>
              <a:rPr sz="2400" spc="-100" dirty="0">
                <a:latin typeface="Arial"/>
                <a:cs typeface="Arial"/>
              </a:rPr>
              <a:t> </a:t>
            </a:r>
            <a:r>
              <a:rPr sz="2400" spc="-85" dirty="0">
                <a:latin typeface="Arial"/>
                <a:cs typeface="Arial"/>
              </a:rPr>
              <a:t>coloring</a:t>
            </a:r>
            <a:r>
              <a:rPr sz="2400" spc="-105" dirty="0">
                <a:latin typeface="Arial"/>
                <a:cs typeface="Arial"/>
              </a:rPr>
              <a:t> </a:t>
            </a:r>
            <a:r>
              <a:rPr sz="2400" dirty="0">
                <a:latin typeface="Arial"/>
                <a:cs typeface="Arial"/>
              </a:rPr>
              <a:t>to</a:t>
            </a:r>
            <a:r>
              <a:rPr lang="en-US" sz="2400" spc="-105" dirty="0">
                <a:latin typeface="Arial"/>
                <a:cs typeface="Arial"/>
              </a:rPr>
              <a:t> </a:t>
            </a:r>
            <a:r>
              <a:rPr sz="2400" spc="-80" dirty="0">
                <a:latin typeface="Arial"/>
                <a:cs typeface="Arial"/>
              </a:rPr>
              <a:t>display </a:t>
            </a:r>
            <a:r>
              <a:rPr sz="2400" spc="-35" dirty="0">
                <a:latin typeface="Arial"/>
                <a:cs typeface="Arial"/>
              </a:rPr>
              <a:t>the</a:t>
            </a:r>
            <a:r>
              <a:rPr sz="2400" spc="-120" dirty="0">
                <a:latin typeface="Arial"/>
                <a:cs typeface="Arial"/>
              </a:rPr>
              <a:t> </a:t>
            </a:r>
            <a:r>
              <a:rPr sz="2400" spc="-40" dirty="0">
                <a:latin typeface="Arial"/>
                <a:cs typeface="Arial"/>
              </a:rPr>
              <a:t>quantity</a:t>
            </a:r>
            <a:r>
              <a:rPr sz="2400" spc="-125" dirty="0">
                <a:latin typeface="Arial"/>
                <a:cs typeface="Arial"/>
              </a:rPr>
              <a:t> </a:t>
            </a:r>
            <a:r>
              <a:rPr sz="2400" spc="-20" dirty="0">
                <a:latin typeface="Arial"/>
                <a:cs typeface="Arial"/>
              </a:rPr>
              <a:t>or</a:t>
            </a:r>
            <a:r>
              <a:rPr sz="2400" spc="-125" dirty="0">
                <a:latin typeface="Arial"/>
                <a:cs typeface="Arial"/>
              </a:rPr>
              <a:t> </a:t>
            </a:r>
            <a:r>
              <a:rPr sz="2400" spc="-114" dirty="0">
                <a:latin typeface="Arial"/>
                <a:cs typeface="Arial"/>
              </a:rPr>
              <a:t>value</a:t>
            </a:r>
            <a:r>
              <a:rPr sz="2400" spc="-120" dirty="0">
                <a:latin typeface="Arial"/>
                <a:cs typeface="Arial"/>
              </a:rPr>
              <a:t> </a:t>
            </a:r>
            <a:r>
              <a:rPr sz="2400" spc="-40" dirty="0">
                <a:latin typeface="Arial"/>
                <a:cs typeface="Arial"/>
              </a:rPr>
              <a:t>in</a:t>
            </a:r>
            <a:r>
              <a:rPr sz="2400" spc="-125" dirty="0">
                <a:latin typeface="Arial"/>
                <a:cs typeface="Arial"/>
              </a:rPr>
              <a:t> </a:t>
            </a:r>
            <a:r>
              <a:rPr sz="2400" spc="-70" dirty="0">
                <a:latin typeface="Arial"/>
                <a:cs typeface="Arial"/>
              </a:rPr>
              <a:t>defined</a:t>
            </a:r>
            <a:r>
              <a:rPr sz="2400" spc="-125" dirty="0">
                <a:latin typeface="Arial"/>
                <a:cs typeface="Arial"/>
              </a:rPr>
              <a:t> </a:t>
            </a:r>
            <a:r>
              <a:rPr sz="2400" spc="-10" dirty="0">
                <a:latin typeface="Arial"/>
                <a:cs typeface="Arial"/>
              </a:rPr>
              <a:t>areas.</a:t>
            </a:r>
            <a:endParaRPr sz="2400" dirty="0">
              <a:latin typeface="Arial"/>
              <a:cs typeface="Arial"/>
            </a:endParaRPr>
          </a:p>
        </p:txBody>
      </p:sp>
      <p:pic>
        <p:nvPicPr>
          <p:cNvPr id="6" name="object 6"/>
          <p:cNvPicPr/>
          <p:nvPr/>
        </p:nvPicPr>
        <p:blipFill>
          <a:blip r:embed="rId2" cstate="print"/>
          <a:stretch>
            <a:fillRect/>
          </a:stretch>
        </p:blipFill>
        <p:spPr>
          <a:xfrm>
            <a:off x="1447800" y="1939109"/>
            <a:ext cx="6066015" cy="433142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016367"/>
            <a:ext cx="7989752" cy="443711"/>
          </a:xfrm>
          <a:prstGeom prst="rect">
            <a:avLst/>
          </a:prstGeom>
        </p:spPr>
        <p:txBody>
          <a:bodyPr vert="horz" wrap="square" lIns="0" tIns="12700" rIns="0" bIns="0" rtlCol="0">
            <a:spAutoFit/>
          </a:bodyPr>
          <a:lstStyle/>
          <a:p>
            <a:pPr marL="1337310">
              <a:lnSpc>
                <a:spcPct val="100000"/>
              </a:lnSpc>
              <a:spcBef>
                <a:spcPts val="100"/>
              </a:spcBef>
            </a:pPr>
            <a:r>
              <a:rPr spc="-140" dirty="0">
                <a:latin typeface="Arial" panose="020B0604020202020204" pitchFamily="34" charset="0"/>
                <a:cs typeface="Arial" panose="020B0604020202020204" pitchFamily="34" charset="0"/>
              </a:rPr>
              <a:t>Map</a:t>
            </a:r>
            <a:r>
              <a:rPr spc="-215" dirty="0">
                <a:latin typeface="Arial" panose="020B0604020202020204" pitchFamily="34" charset="0"/>
                <a:cs typeface="Arial" panose="020B0604020202020204" pitchFamily="34" charset="0"/>
              </a:rPr>
              <a:t> </a:t>
            </a:r>
            <a:r>
              <a:rPr spc="-290" dirty="0">
                <a:latin typeface="Arial" panose="020B0604020202020204" pitchFamily="34" charset="0"/>
                <a:cs typeface="Arial" panose="020B0604020202020204" pitchFamily="34" charset="0"/>
              </a:rPr>
              <a:t>Design</a:t>
            </a:r>
            <a:r>
              <a:rPr spc="-210" dirty="0">
                <a:latin typeface="Arial" panose="020B0604020202020204" pitchFamily="34" charset="0"/>
                <a:cs typeface="Arial" panose="020B0604020202020204" pitchFamily="34" charset="0"/>
              </a:rPr>
              <a:t> </a:t>
            </a:r>
            <a:r>
              <a:rPr spc="-360" dirty="0">
                <a:latin typeface="Arial" panose="020B0604020202020204" pitchFamily="34" charset="0"/>
                <a:cs typeface="Arial" panose="020B0604020202020204" pitchFamily="34" charset="0"/>
              </a:rPr>
              <a:t>Process</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20</a:t>
            </a:fld>
            <a:endParaRPr spc="-25" dirty="0"/>
          </a:p>
        </p:txBody>
      </p:sp>
      <p:grpSp>
        <p:nvGrpSpPr>
          <p:cNvPr id="3" name="object 3"/>
          <p:cNvGrpSpPr/>
          <p:nvPr/>
        </p:nvGrpSpPr>
        <p:grpSpPr>
          <a:xfrm>
            <a:off x="408305" y="1974216"/>
            <a:ext cx="8392160" cy="3630929"/>
            <a:chOff x="376097" y="1742554"/>
            <a:chExt cx="8392160" cy="3630929"/>
          </a:xfrm>
        </p:grpSpPr>
        <p:pic>
          <p:nvPicPr>
            <p:cNvPr id="4" name="object 4"/>
            <p:cNvPicPr/>
            <p:nvPr/>
          </p:nvPicPr>
          <p:blipFill>
            <a:blip r:embed="rId2" cstate="print"/>
            <a:stretch>
              <a:fillRect/>
            </a:stretch>
          </p:blipFill>
          <p:spPr>
            <a:xfrm>
              <a:off x="376097" y="1742554"/>
              <a:ext cx="3001360" cy="2086952"/>
            </a:xfrm>
            <a:prstGeom prst="rect">
              <a:avLst/>
            </a:prstGeom>
          </p:spPr>
        </p:pic>
        <p:pic>
          <p:nvPicPr>
            <p:cNvPr id="5" name="object 5"/>
            <p:cNvPicPr/>
            <p:nvPr/>
          </p:nvPicPr>
          <p:blipFill>
            <a:blip r:embed="rId3" cstate="print"/>
            <a:stretch>
              <a:fillRect/>
            </a:stretch>
          </p:blipFill>
          <p:spPr>
            <a:xfrm>
              <a:off x="3087636" y="2506598"/>
              <a:ext cx="2991967" cy="2058981"/>
            </a:xfrm>
            <a:prstGeom prst="rect">
              <a:avLst/>
            </a:prstGeom>
          </p:spPr>
        </p:pic>
        <p:pic>
          <p:nvPicPr>
            <p:cNvPr id="6" name="object 6"/>
            <p:cNvPicPr/>
            <p:nvPr/>
          </p:nvPicPr>
          <p:blipFill>
            <a:blip r:embed="rId4" cstate="print"/>
            <a:stretch>
              <a:fillRect/>
            </a:stretch>
          </p:blipFill>
          <p:spPr>
            <a:xfrm>
              <a:off x="5766549" y="3329561"/>
              <a:ext cx="3001352" cy="2043907"/>
            </a:xfrm>
            <a:prstGeom prst="rect">
              <a:avLst/>
            </a:prstGeom>
          </p:spPr>
        </p:pic>
      </p:grpSp>
      <p:sp>
        <p:nvSpPr>
          <p:cNvPr id="7" name="object 7"/>
          <p:cNvSpPr txBox="1"/>
          <p:nvPr/>
        </p:nvSpPr>
        <p:spPr>
          <a:xfrm>
            <a:off x="466234" y="4145788"/>
            <a:ext cx="8275955" cy="2110740"/>
          </a:xfrm>
          <a:prstGeom prst="rect">
            <a:avLst/>
          </a:prstGeom>
        </p:spPr>
        <p:txBody>
          <a:bodyPr vert="horz" wrap="square" lIns="0" tIns="26670" rIns="0" bIns="0" rtlCol="0">
            <a:spAutoFit/>
          </a:bodyPr>
          <a:lstStyle/>
          <a:p>
            <a:pPr marL="12700" marR="5760720">
              <a:lnSpc>
                <a:spcPts val="2110"/>
              </a:lnSpc>
              <a:spcBef>
                <a:spcPts val="210"/>
              </a:spcBef>
            </a:pPr>
            <a:r>
              <a:rPr sz="1800" spc="-65" dirty="0">
                <a:latin typeface="Arial"/>
                <a:cs typeface="Arial"/>
              </a:rPr>
              <a:t>Start</a:t>
            </a:r>
            <a:r>
              <a:rPr sz="1800" spc="-85" dirty="0">
                <a:latin typeface="Arial"/>
                <a:cs typeface="Arial"/>
              </a:rPr>
              <a:t> </a:t>
            </a:r>
            <a:r>
              <a:rPr sz="1800" dirty="0">
                <a:latin typeface="Arial"/>
                <a:cs typeface="Arial"/>
              </a:rPr>
              <a:t>with</a:t>
            </a:r>
            <a:r>
              <a:rPr sz="1800" spc="-75" dirty="0">
                <a:latin typeface="Arial"/>
                <a:cs typeface="Arial"/>
              </a:rPr>
              <a:t> </a:t>
            </a:r>
            <a:r>
              <a:rPr sz="1800" spc="-100" dirty="0">
                <a:latin typeface="Arial"/>
                <a:cs typeface="Arial"/>
              </a:rPr>
              <a:t>assembling</a:t>
            </a:r>
            <a:r>
              <a:rPr sz="1800" spc="-70" dirty="0">
                <a:latin typeface="Arial"/>
                <a:cs typeface="Arial"/>
              </a:rPr>
              <a:t> </a:t>
            </a:r>
            <a:r>
              <a:rPr sz="1800" spc="-25" dirty="0">
                <a:latin typeface="Arial"/>
                <a:cs typeface="Arial"/>
              </a:rPr>
              <a:t>the </a:t>
            </a:r>
            <a:r>
              <a:rPr sz="1800" spc="-80" dirty="0">
                <a:latin typeface="Arial"/>
                <a:cs typeface="Arial"/>
              </a:rPr>
              <a:t>data</a:t>
            </a:r>
            <a:r>
              <a:rPr sz="1800" spc="-75" dirty="0">
                <a:latin typeface="Arial"/>
                <a:cs typeface="Arial"/>
              </a:rPr>
              <a:t> </a:t>
            </a:r>
            <a:r>
              <a:rPr sz="1800" spc="-25" dirty="0">
                <a:latin typeface="Arial"/>
                <a:cs typeface="Arial"/>
              </a:rPr>
              <a:t>from</a:t>
            </a:r>
            <a:r>
              <a:rPr sz="1800" spc="-75" dirty="0">
                <a:latin typeface="Arial"/>
                <a:cs typeface="Arial"/>
              </a:rPr>
              <a:t> </a:t>
            </a:r>
            <a:r>
              <a:rPr sz="1800" spc="-25" dirty="0">
                <a:latin typeface="Arial"/>
                <a:cs typeface="Arial"/>
              </a:rPr>
              <a:t>multiple</a:t>
            </a:r>
            <a:r>
              <a:rPr sz="1800" spc="-65" dirty="0">
                <a:latin typeface="Arial"/>
                <a:cs typeface="Arial"/>
              </a:rPr>
              <a:t> </a:t>
            </a:r>
            <a:r>
              <a:rPr sz="1800" spc="-100" dirty="0">
                <a:latin typeface="Arial"/>
                <a:cs typeface="Arial"/>
              </a:rPr>
              <a:t>sources</a:t>
            </a:r>
            <a:endParaRPr sz="1800" dirty="0">
              <a:latin typeface="Arial"/>
              <a:cs typeface="Arial"/>
            </a:endParaRPr>
          </a:p>
          <a:p>
            <a:pPr marL="2695575" marR="3188970">
              <a:lnSpc>
                <a:spcPts val="2090"/>
              </a:lnSpc>
              <a:spcBef>
                <a:spcPts val="1650"/>
              </a:spcBef>
            </a:pPr>
            <a:r>
              <a:rPr sz="1800" spc="-85" dirty="0">
                <a:latin typeface="Arial"/>
                <a:cs typeface="Arial"/>
              </a:rPr>
              <a:t>Next</a:t>
            </a:r>
            <a:r>
              <a:rPr sz="1800" spc="-75" dirty="0">
                <a:latin typeface="Arial"/>
                <a:cs typeface="Arial"/>
              </a:rPr>
              <a:t> </a:t>
            </a:r>
            <a:r>
              <a:rPr sz="1800" spc="-114" dirty="0">
                <a:latin typeface="Arial"/>
                <a:cs typeface="Arial"/>
              </a:rPr>
              <a:t>choose</a:t>
            </a:r>
            <a:r>
              <a:rPr sz="1800" spc="-60" dirty="0">
                <a:latin typeface="Arial"/>
                <a:cs typeface="Arial"/>
              </a:rPr>
              <a:t> </a:t>
            </a:r>
            <a:r>
              <a:rPr sz="1800" spc="-20" dirty="0">
                <a:latin typeface="Arial"/>
                <a:cs typeface="Arial"/>
              </a:rPr>
              <a:t>the</a:t>
            </a:r>
            <a:r>
              <a:rPr sz="1800" spc="-60" dirty="0">
                <a:latin typeface="Arial"/>
                <a:cs typeface="Arial"/>
              </a:rPr>
              <a:t> </a:t>
            </a:r>
            <a:r>
              <a:rPr sz="1800" spc="-10" dirty="0">
                <a:latin typeface="Arial"/>
                <a:cs typeface="Arial"/>
              </a:rPr>
              <a:t>data, </a:t>
            </a:r>
            <a:r>
              <a:rPr sz="1800" spc="-120" dirty="0">
                <a:latin typeface="Arial"/>
                <a:cs typeface="Arial"/>
              </a:rPr>
              <a:t>analyses,</a:t>
            </a:r>
            <a:r>
              <a:rPr sz="1800" spc="-55" dirty="0">
                <a:latin typeface="Arial"/>
                <a:cs typeface="Arial"/>
              </a:rPr>
              <a:t> </a:t>
            </a:r>
            <a:r>
              <a:rPr sz="1800" dirty="0">
                <a:latin typeface="Arial"/>
                <a:cs typeface="Arial"/>
              </a:rPr>
              <a:t>&amp;</a:t>
            </a:r>
            <a:r>
              <a:rPr sz="1800" spc="-55" dirty="0">
                <a:latin typeface="Arial"/>
                <a:cs typeface="Arial"/>
              </a:rPr>
              <a:t> </a:t>
            </a:r>
            <a:r>
              <a:rPr sz="1800" spc="-70" dirty="0">
                <a:latin typeface="Arial"/>
                <a:cs typeface="Arial"/>
              </a:rPr>
              <a:t>symbolization</a:t>
            </a:r>
            <a:endParaRPr sz="1800" dirty="0">
              <a:latin typeface="Arial"/>
              <a:cs typeface="Arial"/>
            </a:endParaRPr>
          </a:p>
          <a:p>
            <a:pPr>
              <a:lnSpc>
                <a:spcPct val="100000"/>
              </a:lnSpc>
              <a:spcBef>
                <a:spcPts val="65"/>
              </a:spcBef>
            </a:pPr>
            <a:endParaRPr sz="1800" dirty="0">
              <a:latin typeface="Arial"/>
              <a:cs typeface="Arial"/>
            </a:endParaRPr>
          </a:p>
          <a:p>
            <a:pPr marL="5396230" marR="5080">
              <a:lnSpc>
                <a:spcPts val="2090"/>
              </a:lnSpc>
            </a:pPr>
            <a:r>
              <a:rPr sz="1800" spc="-100" dirty="0">
                <a:latin typeface="Arial"/>
                <a:cs typeface="Arial"/>
              </a:rPr>
              <a:t>Lastly</a:t>
            </a:r>
            <a:r>
              <a:rPr sz="1800" spc="-80" dirty="0">
                <a:latin typeface="Arial"/>
                <a:cs typeface="Arial"/>
              </a:rPr>
              <a:t> </a:t>
            </a:r>
            <a:r>
              <a:rPr sz="1800" spc="-45" dirty="0">
                <a:latin typeface="Arial"/>
                <a:cs typeface="Arial"/>
              </a:rPr>
              <a:t>insert</a:t>
            </a:r>
            <a:r>
              <a:rPr sz="1800" spc="-80" dirty="0">
                <a:latin typeface="Arial"/>
                <a:cs typeface="Arial"/>
              </a:rPr>
              <a:t> </a:t>
            </a:r>
            <a:r>
              <a:rPr sz="1800" spc="-20" dirty="0">
                <a:latin typeface="Arial"/>
                <a:cs typeface="Arial"/>
              </a:rPr>
              <a:t>the</a:t>
            </a:r>
            <a:r>
              <a:rPr sz="1800" spc="-70" dirty="0">
                <a:latin typeface="Arial"/>
                <a:cs typeface="Arial"/>
              </a:rPr>
              <a:t> </a:t>
            </a:r>
            <a:r>
              <a:rPr sz="1800" dirty="0">
                <a:latin typeface="Arial"/>
                <a:cs typeface="Arial"/>
              </a:rPr>
              <a:t>title,</a:t>
            </a:r>
            <a:r>
              <a:rPr sz="1800" spc="-75" dirty="0">
                <a:latin typeface="Arial"/>
                <a:cs typeface="Arial"/>
              </a:rPr>
              <a:t> </a:t>
            </a:r>
            <a:r>
              <a:rPr sz="1800" spc="-10" dirty="0">
                <a:latin typeface="Arial"/>
                <a:cs typeface="Arial"/>
              </a:rPr>
              <a:t>legend, north</a:t>
            </a:r>
            <a:r>
              <a:rPr sz="1800" spc="-65" dirty="0">
                <a:latin typeface="Arial"/>
                <a:cs typeface="Arial"/>
              </a:rPr>
              <a:t> </a:t>
            </a:r>
            <a:r>
              <a:rPr sz="1800" spc="-75" dirty="0">
                <a:latin typeface="Arial"/>
                <a:cs typeface="Arial"/>
              </a:rPr>
              <a:t>arrow,</a:t>
            </a:r>
            <a:r>
              <a:rPr sz="1800" spc="-70" dirty="0">
                <a:latin typeface="Arial"/>
                <a:cs typeface="Arial"/>
              </a:rPr>
              <a:t> </a:t>
            </a:r>
            <a:r>
              <a:rPr sz="1800" spc="-130" dirty="0">
                <a:latin typeface="Arial"/>
                <a:cs typeface="Arial"/>
              </a:rPr>
              <a:t>scale</a:t>
            </a:r>
            <a:r>
              <a:rPr sz="1800" spc="-65" dirty="0">
                <a:latin typeface="Arial"/>
                <a:cs typeface="Arial"/>
              </a:rPr>
              <a:t> </a:t>
            </a:r>
            <a:r>
              <a:rPr sz="1800" spc="-105" dirty="0">
                <a:latin typeface="Arial"/>
                <a:cs typeface="Arial"/>
              </a:rPr>
              <a:t>bar,</a:t>
            </a:r>
            <a:r>
              <a:rPr sz="1800" spc="-70" dirty="0">
                <a:latin typeface="Arial"/>
                <a:cs typeface="Arial"/>
              </a:rPr>
              <a:t> </a:t>
            </a:r>
            <a:r>
              <a:rPr sz="1800" dirty="0">
                <a:latin typeface="Arial"/>
                <a:cs typeface="Arial"/>
              </a:rPr>
              <a:t>&amp;</a:t>
            </a:r>
            <a:r>
              <a:rPr sz="1800" spc="-75" dirty="0">
                <a:latin typeface="Arial"/>
                <a:cs typeface="Arial"/>
              </a:rPr>
              <a:t> </a:t>
            </a:r>
            <a:r>
              <a:rPr sz="1800" spc="-65" dirty="0">
                <a:latin typeface="Arial"/>
                <a:cs typeface="Arial"/>
              </a:rPr>
              <a:t>labels</a:t>
            </a:r>
            <a:endParaRPr sz="1800" dirty="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461645">
              <a:lnSpc>
                <a:spcPct val="100000"/>
              </a:lnSpc>
              <a:spcBef>
                <a:spcPts val="100"/>
              </a:spcBef>
            </a:pPr>
            <a:r>
              <a:rPr spc="-145" dirty="0"/>
              <a:t>Map</a:t>
            </a:r>
            <a:r>
              <a:rPr spc="-225" dirty="0"/>
              <a:t> </a:t>
            </a:r>
            <a:r>
              <a:rPr spc="-240" dirty="0"/>
              <a:t>Layout</a:t>
            </a:r>
            <a:r>
              <a:rPr spc="-265" dirty="0"/>
              <a:t> </a:t>
            </a:r>
            <a:r>
              <a:rPr spc="-290" dirty="0"/>
              <a:t>Design</a:t>
            </a:r>
            <a:r>
              <a:rPr spc="-210" dirty="0"/>
              <a:t> </a:t>
            </a:r>
            <a:r>
              <a:rPr spc="-320" dirty="0"/>
              <a:t>Example</a:t>
            </a:r>
          </a:p>
        </p:txBody>
      </p:sp>
      <p:sp>
        <p:nvSpPr>
          <p:cNvPr id="3" name="object 3"/>
          <p:cNvSpPr txBox="1"/>
          <p:nvPr/>
        </p:nvSpPr>
        <p:spPr>
          <a:xfrm>
            <a:off x="424089" y="2128928"/>
            <a:ext cx="5228590" cy="4078604"/>
          </a:xfrm>
          <a:prstGeom prst="rect">
            <a:avLst/>
          </a:prstGeom>
        </p:spPr>
        <p:txBody>
          <a:bodyPr vert="horz" wrap="square" lIns="0" tIns="104140" rIns="0" bIns="0" rtlCol="0">
            <a:spAutoFit/>
          </a:bodyPr>
          <a:lstStyle/>
          <a:p>
            <a:pPr marL="12700">
              <a:lnSpc>
                <a:spcPct val="100000"/>
              </a:lnSpc>
              <a:spcBef>
                <a:spcPts val="820"/>
              </a:spcBef>
            </a:pPr>
            <a:r>
              <a:rPr sz="2400" b="1" spc="-45" dirty="0">
                <a:latin typeface="Arial"/>
                <a:cs typeface="Arial"/>
              </a:rPr>
              <a:t>Overview:</a:t>
            </a:r>
            <a:endParaRPr sz="2400" dirty="0">
              <a:latin typeface="Arial"/>
              <a:cs typeface="Arial"/>
            </a:endParaRPr>
          </a:p>
          <a:p>
            <a:pPr marL="269875" marR="525780" indent="-257810">
              <a:lnSpc>
                <a:spcPts val="2400"/>
              </a:lnSpc>
              <a:spcBef>
                <a:spcPts val="1200"/>
              </a:spcBef>
              <a:buChar char="•"/>
              <a:tabLst>
                <a:tab pos="269875" algn="l"/>
              </a:tabLst>
            </a:pPr>
            <a:r>
              <a:rPr sz="2400" spc="-95" dirty="0">
                <a:latin typeface="Arial"/>
                <a:cs typeface="Arial"/>
              </a:rPr>
              <a:t>Map</a:t>
            </a:r>
            <a:r>
              <a:rPr sz="2400" spc="-125" dirty="0">
                <a:latin typeface="Arial"/>
                <a:cs typeface="Arial"/>
              </a:rPr>
              <a:t> </a:t>
            </a:r>
            <a:r>
              <a:rPr sz="2400" spc="-75" dirty="0">
                <a:latin typeface="Arial"/>
                <a:cs typeface="Arial"/>
              </a:rPr>
              <a:t>layout</a:t>
            </a:r>
            <a:r>
              <a:rPr sz="2400" spc="-130" dirty="0">
                <a:latin typeface="Arial"/>
                <a:cs typeface="Arial"/>
              </a:rPr>
              <a:t> </a:t>
            </a:r>
            <a:r>
              <a:rPr sz="2400" spc="-135" dirty="0">
                <a:latin typeface="Arial"/>
                <a:cs typeface="Arial"/>
              </a:rPr>
              <a:t>design</a:t>
            </a:r>
            <a:r>
              <a:rPr sz="2400" spc="-120" dirty="0">
                <a:latin typeface="Arial"/>
                <a:cs typeface="Arial"/>
              </a:rPr>
              <a:t> </a:t>
            </a:r>
            <a:r>
              <a:rPr sz="2400" spc="-135" dirty="0">
                <a:latin typeface="Arial"/>
                <a:cs typeface="Arial"/>
              </a:rPr>
              <a:t>is</a:t>
            </a:r>
            <a:r>
              <a:rPr sz="2400" spc="-125" dirty="0">
                <a:latin typeface="Arial"/>
                <a:cs typeface="Arial"/>
              </a:rPr>
              <a:t> </a:t>
            </a:r>
            <a:r>
              <a:rPr sz="2400" spc="-10" dirty="0">
                <a:latin typeface="Arial"/>
                <a:cs typeface="Arial"/>
              </a:rPr>
              <a:t>about </a:t>
            </a:r>
            <a:r>
              <a:rPr sz="2400" spc="-110" dirty="0">
                <a:latin typeface="Arial"/>
                <a:cs typeface="Arial"/>
              </a:rPr>
              <a:t>developing </a:t>
            </a:r>
            <a:r>
              <a:rPr sz="2400" spc="-210" dirty="0">
                <a:latin typeface="Arial"/>
                <a:cs typeface="Arial"/>
              </a:rPr>
              <a:t>a</a:t>
            </a:r>
            <a:r>
              <a:rPr sz="2400" spc="-80" dirty="0">
                <a:latin typeface="Arial"/>
                <a:cs typeface="Arial"/>
              </a:rPr>
              <a:t> </a:t>
            </a:r>
            <a:r>
              <a:rPr sz="2400" spc="-130" dirty="0">
                <a:latin typeface="Arial"/>
                <a:cs typeface="Arial"/>
              </a:rPr>
              <a:t>balanced </a:t>
            </a:r>
            <a:r>
              <a:rPr sz="2400" spc="-85" dirty="0">
                <a:latin typeface="Arial"/>
                <a:cs typeface="Arial"/>
              </a:rPr>
              <a:t>arrangement</a:t>
            </a:r>
            <a:endParaRPr sz="2400" dirty="0">
              <a:latin typeface="Arial"/>
              <a:cs typeface="Arial"/>
            </a:endParaRPr>
          </a:p>
          <a:p>
            <a:pPr marL="269875" indent="-257175">
              <a:lnSpc>
                <a:spcPts val="2640"/>
              </a:lnSpc>
              <a:spcBef>
                <a:spcPts val="720"/>
              </a:spcBef>
              <a:buChar char="•"/>
              <a:tabLst>
                <a:tab pos="269875" algn="l"/>
              </a:tabLst>
            </a:pPr>
            <a:r>
              <a:rPr sz="2400" spc="-125" dirty="0">
                <a:latin typeface="Arial"/>
                <a:cs typeface="Arial"/>
              </a:rPr>
              <a:t>Maps,</a:t>
            </a:r>
            <a:r>
              <a:rPr sz="2400" spc="-120" dirty="0">
                <a:latin typeface="Arial"/>
                <a:cs typeface="Arial"/>
              </a:rPr>
              <a:t> </a:t>
            </a:r>
            <a:r>
              <a:rPr sz="2400" dirty="0">
                <a:latin typeface="Arial"/>
                <a:cs typeface="Arial"/>
              </a:rPr>
              <a:t>title,</a:t>
            </a:r>
            <a:r>
              <a:rPr sz="2400" spc="-110" dirty="0">
                <a:latin typeface="Arial"/>
                <a:cs typeface="Arial"/>
              </a:rPr>
              <a:t> </a:t>
            </a:r>
            <a:r>
              <a:rPr sz="2400" spc="-114" dirty="0">
                <a:latin typeface="Arial"/>
                <a:cs typeface="Arial"/>
              </a:rPr>
              <a:t>legend,</a:t>
            </a:r>
            <a:r>
              <a:rPr sz="2400" spc="-110" dirty="0">
                <a:latin typeface="Arial"/>
                <a:cs typeface="Arial"/>
              </a:rPr>
              <a:t> </a:t>
            </a:r>
            <a:r>
              <a:rPr sz="2400" spc="-170" dirty="0">
                <a:latin typeface="Arial"/>
                <a:cs typeface="Arial"/>
              </a:rPr>
              <a:t>scale</a:t>
            </a:r>
            <a:r>
              <a:rPr sz="2400" spc="-105" dirty="0">
                <a:latin typeface="Arial"/>
                <a:cs typeface="Arial"/>
              </a:rPr>
              <a:t> </a:t>
            </a:r>
            <a:r>
              <a:rPr sz="2400" spc="-160" dirty="0">
                <a:latin typeface="Arial"/>
                <a:cs typeface="Arial"/>
              </a:rPr>
              <a:t>bar, </a:t>
            </a:r>
            <a:r>
              <a:rPr sz="2400" spc="-10" dirty="0">
                <a:latin typeface="Arial"/>
                <a:cs typeface="Arial"/>
              </a:rPr>
              <a:t>labels,</a:t>
            </a:r>
            <a:endParaRPr sz="2400" dirty="0">
              <a:latin typeface="Arial"/>
              <a:cs typeface="Arial"/>
            </a:endParaRPr>
          </a:p>
          <a:p>
            <a:pPr marL="269875">
              <a:lnSpc>
                <a:spcPts val="2640"/>
              </a:lnSpc>
            </a:pPr>
            <a:r>
              <a:rPr sz="2400" spc="-90" dirty="0">
                <a:latin typeface="Arial"/>
                <a:cs typeface="Arial"/>
              </a:rPr>
              <a:t>etc.</a:t>
            </a:r>
            <a:r>
              <a:rPr sz="2400" spc="-130" dirty="0">
                <a:latin typeface="Arial"/>
                <a:cs typeface="Arial"/>
              </a:rPr>
              <a:t> </a:t>
            </a:r>
            <a:r>
              <a:rPr sz="2400" spc="-70" dirty="0">
                <a:latin typeface="Arial"/>
                <a:cs typeface="Arial"/>
              </a:rPr>
              <a:t>all</a:t>
            </a:r>
            <a:r>
              <a:rPr sz="2400" spc="-114" dirty="0">
                <a:latin typeface="Arial"/>
                <a:cs typeface="Arial"/>
              </a:rPr>
              <a:t> need </a:t>
            </a:r>
            <a:r>
              <a:rPr sz="2400" spc="-70" dirty="0">
                <a:latin typeface="Arial"/>
                <a:cs typeface="Arial"/>
              </a:rPr>
              <a:t>relative</a:t>
            </a:r>
            <a:r>
              <a:rPr sz="2400" spc="-110" dirty="0">
                <a:latin typeface="Arial"/>
                <a:cs typeface="Arial"/>
              </a:rPr>
              <a:t> </a:t>
            </a:r>
            <a:r>
              <a:rPr sz="2400" spc="-75" dirty="0">
                <a:latin typeface="Arial"/>
                <a:cs typeface="Arial"/>
              </a:rPr>
              <a:t>positioning</a:t>
            </a:r>
            <a:r>
              <a:rPr sz="2400" spc="-120" dirty="0">
                <a:latin typeface="Arial"/>
                <a:cs typeface="Arial"/>
              </a:rPr>
              <a:t> </a:t>
            </a:r>
            <a:r>
              <a:rPr sz="2400" dirty="0">
                <a:latin typeface="Arial"/>
                <a:cs typeface="Arial"/>
              </a:rPr>
              <a:t>&amp;</a:t>
            </a:r>
            <a:r>
              <a:rPr sz="2400" spc="-114" dirty="0">
                <a:latin typeface="Arial"/>
                <a:cs typeface="Arial"/>
              </a:rPr>
              <a:t> </a:t>
            </a:r>
            <a:r>
              <a:rPr sz="2400" spc="-90" dirty="0">
                <a:latin typeface="Arial"/>
                <a:cs typeface="Arial"/>
              </a:rPr>
              <a:t>sizing</a:t>
            </a:r>
            <a:endParaRPr sz="2400" dirty="0">
              <a:latin typeface="Arial"/>
              <a:cs typeface="Arial"/>
            </a:endParaRPr>
          </a:p>
          <a:p>
            <a:pPr marL="269875" marR="680085" indent="-257810">
              <a:lnSpc>
                <a:spcPts val="2400"/>
              </a:lnSpc>
              <a:spcBef>
                <a:spcPts val="1105"/>
              </a:spcBef>
              <a:buChar char="•"/>
              <a:tabLst>
                <a:tab pos="269875" algn="l"/>
              </a:tabLst>
            </a:pPr>
            <a:r>
              <a:rPr sz="2400" spc="-165" dirty="0">
                <a:latin typeface="Arial"/>
                <a:cs typeface="Arial"/>
              </a:rPr>
              <a:t>Goal</a:t>
            </a:r>
            <a:r>
              <a:rPr sz="2400" spc="-125" dirty="0">
                <a:latin typeface="Arial"/>
                <a:cs typeface="Arial"/>
              </a:rPr>
              <a:t> </a:t>
            </a:r>
            <a:r>
              <a:rPr sz="2400" spc="-135" dirty="0">
                <a:latin typeface="Arial"/>
                <a:cs typeface="Arial"/>
              </a:rPr>
              <a:t>is</a:t>
            </a:r>
            <a:r>
              <a:rPr sz="2400" spc="-120" dirty="0">
                <a:latin typeface="Arial"/>
                <a:cs typeface="Arial"/>
              </a:rPr>
              <a:t> </a:t>
            </a:r>
            <a:r>
              <a:rPr sz="2400" dirty="0">
                <a:latin typeface="Arial"/>
                <a:cs typeface="Arial"/>
              </a:rPr>
              <a:t>to</a:t>
            </a:r>
            <a:r>
              <a:rPr sz="2400" spc="-114" dirty="0">
                <a:latin typeface="Arial"/>
                <a:cs typeface="Arial"/>
              </a:rPr>
              <a:t> </a:t>
            </a:r>
            <a:r>
              <a:rPr sz="2400" spc="-140" dirty="0">
                <a:latin typeface="Arial"/>
                <a:cs typeface="Arial"/>
              </a:rPr>
              <a:t>design</a:t>
            </a:r>
            <a:r>
              <a:rPr sz="2400" spc="-120" dirty="0">
                <a:latin typeface="Arial"/>
                <a:cs typeface="Arial"/>
              </a:rPr>
              <a:t> </a:t>
            </a:r>
            <a:r>
              <a:rPr sz="2400" spc="-45" dirty="0">
                <a:latin typeface="Arial"/>
                <a:cs typeface="Arial"/>
              </a:rPr>
              <a:t>the</a:t>
            </a:r>
            <a:r>
              <a:rPr sz="2400" spc="-114" dirty="0">
                <a:latin typeface="Arial"/>
                <a:cs typeface="Arial"/>
              </a:rPr>
              <a:t> </a:t>
            </a:r>
            <a:r>
              <a:rPr sz="2400" spc="-140" dirty="0">
                <a:latin typeface="Arial"/>
                <a:cs typeface="Arial"/>
              </a:rPr>
              <a:t>map</a:t>
            </a:r>
            <a:r>
              <a:rPr sz="2400" spc="-120" dirty="0">
                <a:latin typeface="Arial"/>
                <a:cs typeface="Arial"/>
              </a:rPr>
              <a:t> </a:t>
            </a:r>
            <a:r>
              <a:rPr sz="2400" spc="-75" dirty="0">
                <a:latin typeface="Arial"/>
                <a:cs typeface="Arial"/>
              </a:rPr>
              <a:t>layout</a:t>
            </a:r>
            <a:r>
              <a:rPr sz="2400" spc="-130" dirty="0">
                <a:latin typeface="Arial"/>
                <a:cs typeface="Arial"/>
              </a:rPr>
              <a:t> </a:t>
            </a:r>
            <a:r>
              <a:rPr sz="2400" spc="-25" dirty="0">
                <a:latin typeface="Arial"/>
                <a:cs typeface="Arial"/>
              </a:rPr>
              <a:t>to </a:t>
            </a:r>
            <a:r>
              <a:rPr sz="2400" spc="-70" dirty="0">
                <a:latin typeface="Arial"/>
                <a:cs typeface="Arial"/>
              </a:rPr>
              <a:t>support</a:t>
            </a:r>
            <a:r>
              <a:rPr sz="2400" spc="-105" dirty="0">
                <a:latin typeface="Arial"/>
                <a:cs typeface="Arial"/>
              </a:rPr>
              <a:t> </a:t>
            </a:r>
            <a:r>
              <a:rPr sz="2400" spc="-80" dirty="0">
                <a:latin typeface="Arial"/>
                <a:cs typeface="Arial"/>
              </a:rPr>
              <a:t>your</a:t>
            </a:r>
            <a:r>
              <a:rPr sz="2400" spc="-100" dirty="0">
                <a:latin typeface="Arial"/>
                <a:cs typeface="Arial"/>
              </a:rPr>
              <a:t> </a:t>
            </a:r>
            <a:r>
              <a:rPr sz="2400" spc="-140" dirty="0">
                <a:latin typeface="Arial"/>
                <a:cs typeface="Arial"/>
              </a:rPr>
              <a:t>design</a:t>
            </a:r>
            <a:r>
              <a:rPr sz="2400" spc="-130" dirty="0">
                <a:latin typeface="Arial"/>
                <a:cs typeface="Arial"/>
              </a:rPr>
              <a:t> </a:t>
            </a:r>
            <a:r>
              <a:rPr sz="2400" spc="-10" dirty="0">
                <a:latin typeface="Arial"/>
                <a:cs typeface="Arial"/>
              </a:rPr>
              <a:t>questions</a:t>
            </a:r>
            <a:endParaRPr sz="2400" dirty="0">
              <a:latin typeface="Arial"/>
              <a:cs typeface="Arial"/>
            </a:endParaRPr>
          </a:p>
          <a:p>
            <a:pPr marL="669290" lvl="1" indent="-256540">
              <a:lnSpc>
                <a:spcPct val="100000"/>
              </a:lnSpc>
              <a:spcBef>
                <a:spcPts val="1120"/>
              </a:spcBef>
              <a:buChar char="•"/>
              <a:tabLst>
                <a:tab pos="669290" algn="l"/>
              </a:tabLst>
            </a:pPr>
            <a:r>
              <a:rPr sz="2000" spc="-90" dirty="0">
                <a:latin typeface="Arial"/>
                <a:cs typeface="Arial"/>
              </a:rPr>
              <a:t>Who</a:t>
            </a:r>
            <a:r>
              <a:rPr sz="2000" spc="-105" dirty="0">
                <a:latin typeface="Arial"/>
                <a:cs typeface="Arial"/>
              </a:rPr>
              <a:t> </a:t>
            </a:r>
            <a:r>
              <a:rPr sz="2000" spc="-90" dirty="0">
                <a:latin typeface="Arial"/>
                <a:cs typeface="Arial"/>
              </a:rPr>
              <a:t>wants</a:t>
            </a:r>
            <a:r>
              <a:rPr sz="2000" spc="-95" dirty="0">
                <a:latin typeface="Arial"/>
                <a:cs typeface="Arial"/>
              </a:rPr>
              <a:t> </a:t>
            </a:r>
            <a:r>
              <a:rPr sz="2000" spc="-35" dirty="0">
                <a:latin typeface="Arial"/>
                <a:cs typeface="Arial"/>
              </a:rPr>
              <a:t>the</a:t>
            </a:r>
            <a:r>
              <a:rPr sz="2000" spc="-90" dirty="0">
                <a:latin typeface="Arial"/>
                <a:cs typeface="Arial"/>
              </a:rPr>
              <a:t> </a:t>
            </a:r>
            <a:r>
              <a:rPr sz="2000" spc="-25" dirty="0">
                <a:latin typeface="Arial"/>
                <a:cs typeface="Arial"/>
              </a:rPr>
              <a:t>map</a:t>
            </a:r>
            <a:endParaRPr sz="2000" dirty="0">
              <a:latin typeface="Arial"/>
              <a:cs typeface="Arial"/>
            </a:endParaRPr>
          </a:p>
          <a:p>
            <a:pPr marL="669290" lvl="1" indent="-257175">
              <a:lnSpc>
                <a:spcPct val="100000"/>
              </a:lnSpc>
              <a:spcBef>
                <a:spcPts val="1080"/>
              </a:spcBef>
              <a:buChar char="•"/>
              <a:tabLst>
                <a:tab pos="669290" algn="l"/>
              </a:tabLst>
            </a:pPr>
            <a:r>
              <a:rPr sz="2000" spc="-90" dirty="0">
                <a:latin typeface="Arial"/>
                <a:cs typeface="Arial"/>
              </a:rPr>
              <a:t>Where</a:t>
            </a:r>
            <a:r>
              <a:rPr sz="2000" spc="-105" dirty="0">
                <a:latin typeface="Arial"/>
                <a:cs typeface="Arial"/>
              </a:rPr>
              <a:t> </a:t>
            </a:r>
            <a:r>
              <a:rPr sz="2000" spc="-10" dirty="0">
                <a:latin typeface="Arial"/>
                <a:cs typeface="Arial"/>
              </a:rPr>
              <a:t>will</a:t>
            </a:r>
            <a:r>
              <a:rPr sz="2000" spc="-105" dirty="0">
                <a:latin typeface="Arial"/>
                <a:cs typeface="Arial"/>
              </a:rPr>
              <a:t> </a:t>
            </a:r>
            <a:r>
              <a:rPr sz="2000" spc="60" dirty="0">
                <a:latin typeface="Arial"/>
                <a:cs typeface="Arial"/>
              </a:rPr>
              <a:t>it</a:t>
            </a:r>
            <a:r>
              <a:rPr sz="2000" spc="-100" dirty="0">
                <a:latin typeface="Arial"/>
                <a:cs typeface="Arial"/>
              </a:rPr>
              <a:t> </a:t>
            </a:r>
            <a:r>
              <a:rPr sz="2000" spc="-105" dirty="0">
                <a:latin typeface="Arial"/>
                <a:cs typeface="Arial"/>
              </a:rPr>
              <a:t>be </a:t>
            </a:r>
            <a:r>
              <a:rPr sz="2000" spc="-20" dirty="0">
                <a:latin typeface="Arial"/>
                <a:cs typeface="Arial"/>
              </a:rPr>
              <a:t>seen</a:t>
            </a:r>
            <a:endParaRPr sz="2000" dirty="0">
              <a:latin typeface="Arial"/>
              <a:cs typeface="Arial"/>
            </a:endParaRPr>
          </a:p>
          <a:p>
            <a:pPr marL="669290" lvl="1" indent="-257175">
              <a:lnSpc>
                <a:spcPct val="100000"/>
              </a:lnSpc>
              <a:spcBef>
                <a:spcPts val="1005"/>
              </a:spcBef>
              <a:buChar char="•"/>
              <a:tabLst>
                <a:tab pos="669290" algn="l"/>
              </a:tabLst>
            </a:pPr>
            <a:r>
              <a:rPr sz="2000" spc="-65" dirty="0">
                <a:latin typeface="Arial"/>
                <a:cs typeface="Arial"/>
              </a:rPr>
              <a:t>What</a:t>
            </a:r>
            <a:r>
              <a:rPr sz="2000" spc="-100" dirty="0">
                <a:latin typeface="Arial"/>
                <a:cs typeface="Arial"/>
              </a:rPr>
              <a:t> </a:t>
            </a:r>
            <a:r>
              <a:rPr sz="2000" spc="-114" dirty="0">
                <a:latin typeface="Arial"/>
                <a:cs typeface="Arial"/>
              </a:rPr>
              <a:t>is</a:t>
            </a:r>
            <a:r>
              <a:rPr sz="2000" spc="-95" dirty="0">
                <a:latin typeface="Arial"/>
                <a:cs typeface="Arial"/>
              </a:rPr>
              <a:t> </a:t>
            </a:r>
            <a:r>
              <a:rPr sz="2000" spc="-40" dirty="0">
                <a:latin typeface="Arial"/>
                <a:cs typeface="Arial"/>
              </a:rPr>
              <a:t>its</a:t>
            </a:r>
            <a:r>
              <a:rPr sz="2000" spc="-100" dirty="0">
                <a:latin typeface="Arial"/>
                <a:cs typeface="Arial"/>
              </a:rPr>
              <a:t> </a:t>
            </a:r>
            <a:r>
              <a:rPr sz="2000" spc="-10" dirty="0">
                <a:latin typeface="Arial"/>
                <a:cs typeface="Arial"/>
              </a:rPr>
              <a:t>purpose</a:t>
            </a:r>
            <a:endParaRPr sz="2000" dirty="0">
              <a:latin typeface="Arial"/>
              <a:cs typeface="Arial"/>
            </a:endParaRPr>
          </a:p>
        </p:txBody>
      </p:sp>
      <p:grpSp>
        <p:nvGrpSpPr>
          <p:cNvPr id="4" name="object 4"/>
          <p:cNvGrpSpPr/>
          <p:nvPr/>
        </p:nvGrpSpPr>
        <p:grpSpPr>
          <a:xfrm>
            <a:off x="5885339" y="2119719"/>
            <a:ext cx="2675255" cy="4008120"/>
            <a:chOff x="5862641" y="1862141"/>
            <a:chExt cx="2675255" cy="4008120"/>
          </a:xfrm>
        </p:grpSpPr>
        <p:pic>
          <p:nvPicPr>
            <p:cNvPr id="5" name="object 5"/>
            <p:cNvPicPr/>
            <p:nvPr/>
          </p:nvPicPr>
          <p:blipFill>
            <a:blip r:embed="rId2" cstate="print"/>
            <a:stretch>
              <a:fillRect/>
            </a:stretch>
          </p:blipFill>
          <p:spPr>
            <a:xfrm>
              <a:off x="5974081" y="1866901"/>
              <a:ext cx="2453638" cy="3893818"/>
            </a:xfrm>
            <a:prstGeom prst="rect">
              <a:avLst/>
            </a:prstGeom>
          </p:spPr>
        </p:pic>
        <p:sp>
          <p:nvSpPr>
            <p:cNvPr id="6" name="object 6"/>
            <p:cNvSpPr/>
            <p:nvPr/>
          </p:nvSpPr>
          <p:spPr>
            <a:xfrm>
              <a:off x="5867401" y="1866901"/>
              <a:ext cx="2665730" cy="3998595"/>
            </a:xfrm>
            <a:custGeom>
              <a:avLst/>
              <a:gdLst/>
              <a:ahLst/>
              <a:cxnLst/>
              <a:rect l="l" t="t" r="r" b="b"/>
              <a:pathLst>
                <a:path w="2665729" h="3998595">
                  <a:moveTo>
                    <a:pt x="0" y="0"/>
                  </a:moveTo>
                  <a:lnTo>
                    <a:pt x="2665638" y="0"/>
                  </a:lnTo>
                  <a:lnTo>
                    <a:pt x="2665638" y="3998458"/>
                  </a:lnTo>
                  <a:lnTo>
                    <a:pt x="0" y="3998458"/>
                  </a:lnTo>
                  <a:lnTo>
                    <a:pt x="0" y="0"/>
                  </a:lnTo>
                  <a:close/>
                </a:path>
              </a:pathLst>
            </a:custGeom>
            <a:ln w="9520">
              <a:solidFill>
                <a:srgbClr val="D9D9D9"/>
              </a:solidFill>
            </a:ln>
          </p:spPr>
          <p:txBody>
            <a:bodyPr wrap="square" lIns="0" tIns="0" rIns="0" bIns="0" rtlCol="0"/>
            <a:lstStyle/>
            <a:p>
              <a:endParaRPr/>
            </a:p>
          </p:txBody>
        </p:sp>
      </p:grpSp>
      <p:sp>
        <p:nvSpPr>
          <p:cNvPr id="7" name="object 7"/>
          <p:cNvSpPr txBox="1"/>
          <p:nvPr/>
        </p:nvSpPr>
        <p:spPr>
          <a:xfrm>
            <a:off x="5368925" y="5700776"/>
            <a:ext cx="3458845" cy="162560"/>
          </a:xfrm>
          <a:prstGeom prst="rect">
            <a:avLst/>
          </a:prstGeom>
        </p:spPr>
        <p:txBody>
          <a:bodyPr vert="horz" wrap="square" lIns="0" tIns="12700" rIns="0" bIns="0" rtlCol="0">
            <a:spAutoFit/>
          </a:bodyPr>
          <a:lstStyle/>
          <a:p>
            <a:pPr marL="12700">
              <a:lnSpc>
                <a:spcPct val="100000"/>
              </a:lnSpc>
              <a:spcBef>
                <a:spcPts val="100"/>
              </a:spcBef>
            </a:pPr>
            <a:r>
              <a:rPr sz="900" b="1" spc="-85" dirty="0">
                <a:solidFill>
                  <a:srgbClr val="595958"/>
                </a:solidFill>
                <a:latin typeface="Arial"/>
                <a:cs typeface="Arial"/>
              </a:rPr>
              <a:t>From:</a:t>
            </a:r>
            <a:r>
              <a:rPr sz="900" b="1" spc="-30" dirty="0">
                <a:solidFill>
                  <a:srgbClr val="595958"/>
                </a:solidFill>
                <a:latin typeface="Arial"/>
                <a:cs typeface="Arial"/>
              </a:rPr>
              <a:t> </a:t>
            </a:r>
            <a:r>
              <a:rPr sz="900" b="1" i="1" spc="-85" dirty="0">
                <a:solidFill>
                  <a:srgbClr val="953735"/>
                </a:solidFill>
                <a:latin typeface="Arial"/>
                <a:cs typeface="Arial"/>
              </a:rPr>
              <a:t>Designing</a:t>
            </a:r>
            <a:r>
              <a:rPr sz="900" b="1" i="1" spc="-35" dirty="0">
                <a:solidFill>
                  <a:srgbClr val="953735"/>
                </a:solidFill>
                <a:latin typeface="Arial"/>
                <a:cs typeface="Arial"/>
              </a:rPr>
              <a:t> </a:t>
            </a:r>
            <a:r>
              <a:rPr sz="900" b="1" i="1" spc="-65" dirty="0">
                <a:solidFill>
                  <a:srgbClr val="953735"/>
                </a:solidFill>
                <a:latin typeface="Arial"/>
                <a:cs typeface="Arial"/>
              </a:rPr>
              <a:t>Better</a:t>
            </a:r>
            <a:r>
              <a:rPr sz="900" b="1" i="1" spc="-45" dirty="0">
                <a:solidFill>
                  <a:srgbClr val="953735"/>
                </a:solidFill>
                <a:latin typeface="Arial"/>
                <a:cs typeface="Arial"/>
              </a:rPr>
              <a:t> </a:t>
            </a:r>
            <a:r>
              <a:rPr sz="900" b="1" i="1" spc="-70" dirty="0">
                <a:solidFill>
                  <a:srgbClr val="953735"/>
                </a:solidFill>
                <a:latin typeface="Arial"/>
                <a:cs typeface="Arial"/>
              </a:rPr>
              <a:t>Maps:</a:t>
            </a:r>
            <a:r>
              <a:rPr sz="900" b="1" i="1" spc="-25" dirty="0">
                <a:solidFill>
                  <a:srgbClr val="953735"/>
                </a:solidFill>
                <a:latin typeface="Arial"/>
                <a:cs typeface="Arial"/>
              </a:rPr>
              <a:t> </a:t>
            </a:r>
            <a:r>
              <a:rPr sz="900" b="1" i="1" spc="-120" dirty="0">
                <a:solidFill>
                  <a:srgbClr val="953735"/>
                </a:solidFill>
                <a:latin typeface="Arial"/>
                <a:cs typeface="Arial"/>
              </a:rPr>
              <a:t>A</a:t>
            </a:r>
            <a:r>
              <a:rPr sz="900" b="1" i="1" spc="-20" dirty="0">
                <a:solidFill>
                  <a:srgbClr val="953735"/>
                </a:solidFill>
                <a:latin typeface="Arial"/>
                <a:cs typeface="Arial"/>
              </a:rPr>
              <a:t> </a:t>
            </a:r>
            <a:r>
              <a:rPr sz="900" b="1" i="1" spc="-80" dirty="0">
                <a:solidFill>
                  <a:srgbClr val="953735"/>
                </a:solidFill>
                <a:latin typeface="Arial"/>
                <a:cs typeface="Arial"/>
              </a:rPr>
              <a:t>Guide</a:t>
            </a:r>
            <a:r>
              <a:rPr sz="900" b="1" i="1" spc="-25" dirty="0">
                <a:solidFill>
                  <a:srgbClr val="953735"/>
                </a:solidFill>
                <a:latin typeface="Arial"/>
                <a:cs typeface="Arial"/>
              </a:rPr>
              <a:t> </a:t>
            </a:r>
            <a:r>
              <a:rPr sz="900" b="1" i="1" spc="-55" dirty="0">
                <a:solidFill>
                  <a:srgbClr val="953735"/>
                </a:solidFill>
                <a:latin typeface="Arial"/>
                <a:cs typeface="Arial"/>
              </a:rPr>
              <a:t>for</a:t>
            </a:r>
            <a:r>
              <a:rPr sz="900" b="1" i="1" spc="-35" dirty="0">
                <a:solidFill>
                  <a:srgbClr val="953735"/>
                </a:solidFill>
                <a:latin typeface="Arial"/>
                <a:cs typeface="Arial"/>
              </a:rPr>
              <a:t> </a:t>
            </a:r>
            <a:r>
              <a:rPr sz="900" b="1" i="1" spc="-114" dirty="0">
                <a:solidFill>
                  <a:srgbClr val="953735"/>
                </a:solidFill>
                <a:latin typeface="Arial"/>
                <a:cs typeface="Arial"/>
              </a:rPr>
              <a:t>GIS</a:t>
            </a:r>
            <a:r>
              <a:rPr sz="900" b="1" i="1" spc="-10" dirty="0">
                <a:solidFill>
                  <a:srgbClr val="953735"/>
                </a:solidFill>
                <a:latin typeface="Arial"/>
                <a:cs typeface="Arial"/>
              </a:rPr>
              <a:t> </a:t>
            </a:r>
            <a:r>
              <a:rPr sz="900" b="1" i="1" spc="-105" dirty="0">
                <a:solidFill>
                  <a:srgbClr val="953735"/>
                </a:solidFill>
                <a:latin typeface="Arial"/>
                <a:cs typeface="Arial"/>
              </a:rPr>
              <a:t>Users</a:t>
            </a:r>
            <a:r>
              <a:rPr sz="900" b="1" i="1" spc="-35" dirty="0">
                <a:solidFill>
                  <a:srgbClr val="953735"/>
                </a:solidFill>
                <a:latin typeface="Arial"/>
                <a:cs typeface="Arial"/>
              </a:rPr>
              <a:t> </a:t>
            </a:r>
            <a:r>
              <a:rPr sz="900" b="1" i="1" spc="-90" dirty="0">
                <a:solidFill>
                  <a:srgbClr val="595958"/>
                </a:solidFill>
                <a:latin typeface="Arial"/>
                <a:cs typeface="Arial"/>
              </a:rPr>
              <a:t>by</a:t>
            </a:r>
            <a:r>
              <a:rPr sz="900" b="1" i="1" spc="-25" dirty="0">
                <a:solidFill>
                  <a:srgbClr val="595958"/>
                </a:solidFill>
                <a:latin typeface="Arial"/>
                <a:cs typeface="Arial"/>
              </a:rPr>
              <a:t> </a:t>
            </a:r>
            <a:r>
              <a:rPr sz="900" b="1" i="1" spc="-80" dirty="0">
                <a:solidFill>
                  <a:srgbClr val="595958"/>
                </a:solidFill>
                <a:latin typeface="Arial"/>
                <a:cs typeface="Arial"/>
              </a:rPr>
              <a:t>Cynthia</a:t>
            </a:r>
            <a:r>
              <a:rPr sz="900" b="1" i="1" spc="-30" dirty="0">
                <a:solidFill>
                  <a:srgbClr val="595958"/>
                </a:solidFill>
                <a:latin typeface="Arial"/>
                <a:cs typeface="Arial"/>
              </a:rPr>
              <a:t> </a:t>
            </a:r>
            <a:r>
              <a:rPr sz="900" b="1" i="1" spc="-65" dirty="0">
                <a:solidFill>
                  <a:srgbClr val="595958"/>
                </a:solidFill>
                <a:latin typeface="Arial"/>
                <a:cs typeface="Arial"/>
              </a:rPr>
              <a:t>A.</a:t>
            </a:r>
            <a:r>
              <a:rPr sz="900" b="1" i="1" spc="-10" dirty="0">
                <a:solidFill>
                  <a:srgbClr val="595958"/>
                </a:solidFill>
                <a:latin typeface="Arial"/>
                <a:cs typeface="Arial"/>
              </a:rPr>
              <a:t> </a:t>
            </a:r>
            <a:r>
              <a:rPr sz="900" b="1" i="1" spc="-20" dirty="0">
                <a:solidFill>
                  <a:srgbClr val="595958"/>
                </a:solidFill>
                <a:latin typeface="Arial"/>
                <a:cs typeface="Arial"/>
              </a:rPr>
              <a:t>Brewer</a:t>
            </a:r>
            <a:endParaRPr sz="900">
              <a:latin typeface="Arial"/>
              <a:cs typeface="Arial"/>
            </a:endParaRPr>
          </a:p>
        </p:txBody>
      </p:sp>
      <p:sp>
        <p:nvSpPr>
          <p:cNvPr id="11" name="object 11"/>
          <p:cNvSpPr txBox="1"/>
          <p:nvPr/>
        </p:nvSpPr>
        <p:spPr>
          <a:xfrm>
            <a:off x="8765540"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68</a:t>
            </a:r>
            <a:endParaRPr sz="12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7355" y="313408"/>
            <a:ext cx="7989752" cy="1083329"/>
          </a:xfrm>
          <a:prstGeom prst="rect">
            <a:avLst/>
          </a:prstGeom>
        </p:spPr>
        <p:txBody>
          <a:bodyPr vert="horz" wrap="square" lIns="0" tIns="12700" rIns="0" bIns="0" rtlCol="0">
            <a:spAutoFit/>
          </a:bodyPr>
          <a:lstStyle/>
          <a:p>
            <a:pPr marL="859790">
              <a:lnSpc>
                <a:spcPct val="100000"/>
              </a:lnSpc>
              <a:spcBef>
                <a:spcPts val="100"/>
              </a:spcBef>
            </a:pPr>
            <a:r>
              <a:rPr spc="-170" dirty="0"/>
              <a:t>Choropleth</a:t>
            </a:r>
            <a:r>
              <a:rPr spc="-175" dirty="0"/>
              <a:t> </a:t>
            </a:r>
            <a:r>
              <a:rPr spc="-235" dirty="0"/>
              <a:t>map</a:t>
            </a:r>
            <a:r>
              <a:rPr spc="-170" dirty="0"/>
              <a:t> </a:t>
            </a:r>
            <a:r>
              <a:rPr spc="-210" dirty="0"/>
              <a:t>choices</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22</a:t>
            </a:fld>
            <a:endParaRPr spc="-25" dirty="0"/>
          </a:p>
        </p:txBody>
      </p:sp>
      <p:sp>
        <p:nvSpPr>
          <p:cNvPr id="3" name="object 3"/>
          <p:cNvSpPr txBox="1"/>
          <p:nvPr/>
        </p:nvSpPr>
        <p:spPr>
          <a:xfrm>
            <a:off x="535940" y="1880044"/>
            <a:ext cx="7415530" cy="391160"/>
          </a:xfrm>
          <a:prstGeom prst="rect">
            <a:avLst/>
          </a:prstGeom>
        </p:spPr>
        <p:txBody>
          <a:bodyPr vert="horz" wrap="square" lIns="0" tIns="12700" rIns="0" bIns="0" rtlCol="0">
            <a:spAutoFit/>
          </a:bodyPr>
          <a:lstStyle/>
          <a:p>
            <a:pPr marL="12700">
              <a:lnSpc>
                <a:spcPct val="100000"/>
              </a:lnSpc>
              <a:spcBef>
                <a:spcPts val="100"/>
              </a:spcBef>
              <a:tabLst>
                <a:tab pos="4355465" algn="l"/>
              </a:tabLst>
            </a:pPr>
            <a:r>
              <a:rPr sz="2400" b="1" spc="-90" dirty="0">
                <a:latin typeface="Arial"/>
                <a:cs typeface="Arial"/>
              </a:rPr>
              <a:t>1.</a:t>
            </a:r>
            <a:r>
              <a:rPr sz="2400" b="1" spc="-110" dirty="0">
                <a:latin typeface="Arial"/>
                <a:cs typeface="Arial"/>
              </a:rPr>
              <a:t> </a:t>
            </a:r>
            <a:r>
              <a:rPr sz="2400" b="1" spc="-170" dirty="0">
                <a:latin typeface="Arial"/>
                <a:cs typeface="Arial"/>
              </a:rPr>
              <a:t>Number</a:t>
            </a:r>
            <a:r>
              <a:rPr sz="2400" b="1" spc="-105" dirty="0">
                <a:latin typeface="Arial"/>
                <a:cs typeface="Arial"/>
              </a:rPr>
              <a:t> </a:t>
            </a:r>
            <a:r>
              <a:rPr sz="2400" b="1" spc="-125" dirty="0">
                <a:latin typeface="Arial"/>
                <a:cs typeface="Arial"/>
              </a:rPr>
              <a:t>of</a:t>
            </a:r>
            <a:r>
              <a:rPr sz="2400" b="1" spc="-95" dirty="0">
                <a:latin typeface="Arial"/>
                <a:cs typeface="Arial"/>
              </a:rPr>
              <a:t> </a:t>
            </a:r>
            <a:r>
              <a:rPr sz="2400" b="1" spc="-300" dirty="0">
                <a:latin typeface="Arial"/>
                <a:cs typeface="Arial"/>
              </a:rPr>
              <a:t>Classes</a:t>
            </a:r>
            <a:r>
              <a:rPr sz="2400" b="1" dirty="0">
                <a:latin typeface="Arial"/>
                <a:cs typeface="Arial"/>
              </a:rPr>
              <a:t>	</a:t>
            </a:r>
            <a:r>
              <a:rPr sz="2400" b="1" spc="-90" dirty="0">
                <a:latin typeface="Arial"/>
                <a:cs typeface="Arial"/>
              </a:rPr>
              <a:t>2.</a:t>
            </a:r>
            <a:r>
              <a:rPr sz="2400" b="1" spc="-85" dirty="0">
                <a:latin typeface="Arial"/>
                <a:cs typeface="Arial"/>
              </a:rPr>
              <a:t> </a:t>
            </a:r>
            <a:r>
              <a:rPr sz="2400" b="1" spc="-195" dirty="0">
                <a:latin typeface="Arial"/>
                <a:cs typeface="Arial"/>
              </a:rPr>
              <a:t>Classification</a:t>
            </a:r>
            <a:r>
              <a:rPr sz="2400" b="1" spc="-80" dirty="0">
                <a:latin typeface="Arial"/>
                <a:cs typeface="Arial"/>
              </a:rPr>
              <a:t> </a:t>
            </a:r>
            <a:r>
              <a:rPr sz="2400" b="1" spc="-65" dirty="0">
                <a:latin typeface="Arial"/>
                <a:cs typeface="Arial"/>
              </a:rPr>
              <a:t>Method</a:t>
            </a:r>
            <a:endParaRPr sz="2400" dirty="0">
              <a:latin typeface="Arial"/>
              <a:cs typeface="Arial"/>
            </a:endParaRPr>
          </a:p>
        </p:txBody>
      </p:sp>
      <p:sp>
        <p:nvSpPr>
          <p:cNvPr id="4" name="object 4"/>
          <p:cNvSpPr txBox="1"/>
          <p:nvPr/>
        </p:nvSpPr>
        <p:spPr>
          <a:xfrm>
            <a:off x="535940" y="2271204"/>
            <a:ext cx="4073525" cy="1635191"/>
          </a:xfrm>
          <a:prstGeom prst="rect">
            <a:avLst/>
          </a:prstGeom>
        </p:spPr>
        <p:txBody>
          <a:bodyPr vert="horz" wrap="square" lIns="0" tIns="92075" rIns="0" bIns="0" rtlCol="0">
            <a:spAutoFit/>
          </a:bodyPr>
          <a:lstStyle/>
          <a:p>
            <a:pPr marL="354965" indent="-342265">
              <a:lnSpc>
                <a:spcPct val="100000"/>
              </a:lnSpc>
              <a:spcBef>
                <a:spcPts val="725"/>
              </a:spcBef>
              <a:buChar char="•"/>
              <a:tabLst>
                <a:tab pos="354965" algn="l"/>
              </a:tabLst>
            </a:pPr>
            <a:r>
              <a:rPr sz="2400" spc="-160" dirty="0">
                <a:latin typeface="Arial"/>
                <a:cs typeface="Arial"/>
              </a:rPr>
              <a:t>Aggregates</a:t>
            </a:r>
            <a:r>
              <a:rPr sz="2400" spc="-120" dirty="0">
                <a:latin typeface="Arial"/>
                <a:cs typeface="Arial"/>
              </a:rPr>
              <a:t> </a:t>
            </a:r>
            <a:r>
              <a:rPr sz="2400" spc="-110" dirty="0">
                <a:latin typeface="Arial"/>
                <a:cs typeface="Arial"/>
              </a:rPr>
              <a:t>data</a:t>
            </a:r>
            <a:r>
              <a:rPr sz="2400" spc="-114" dirty="0">
                <a:latin typeface="Arial"/>
                <a:cs typeface="Arial"/>
              </a:rPr>
              <a:t> </a:t>
            </a:r>
            <a:r>
              <a:rPr sz="2400" spc="-10" dirty="0">
                <a:latin typeface="Arial"/>
                <a:cs typeface="Arial"/>
              </a:rPr>
              <a:t>for</a:t>
            </a:r>
            <a:r>
              <a:rPr sz="2400" spc="-110" dirty="0">
                <a:latin typeface="Arial"/>
                <a:cs typeface="Arial"/>
              </a:rPr>
              <a:t> </a:t>
            </a:r>
            <a:r>
              <a:rPr sz="2400" spc="-10" dirty="0">
                <a:latin typeface="Arial"/>
                <a:cs typeface="Arial"/>
              </a:rPr>
              <a:t>display</a:t>
            </a:r>
            <a:endParaRPr sz="2400" dirty="0">
              <a:latin typeface="Arial"/>
              <a:cs typeface="Arial"/>
            </a:endParaRPr>
          </a:p>
          <a:p>
            <a:pPr marL="355600" marR="5080" indent="-342900">
              <a:lnSpc>
                <a:spcPct val="100800"/>
              </a:lnSpc>
              <a:spcBef>
                <a:spcPts val="600"/>
              </a:spcBef>
              <a:buChar char="•"/>
              <a:tabLst>
                <a:tab pos="355600" algn="l"/>
              </a:tabLst>
            </a:pPr>
            <a:r>
              <a:rPr sz="2400" spc="-55" dirty="0">
                <a:latin typeface="Arial"/>
                <a:cs typeface="Arial"/>
              </a:rPr>
              <a:t>More</a:t>
            </a:r>
            <a:r>
              <a:rPr sz="2400" spc="-105" dirty="0">
                <a:latin typeface="Arial"/>
                <a:cs typeface="Arial"/>
              </a:rPr>
              <a:t> </a:t>
            </a:r>
            <a:r>
              <a:rPr sz="2400" spc="-190" dirty="0">
                <a:latin typeface="Arial"/>
                <a:cs typeface="Arial"/>
              </a:rPr>
              <a:t>classes</a:t>
            </a:r>
            <a:r>
              <a:rPr sz="2400" spc="-110" dirty="0">
                <a:latin typeface="Arial"/>
                <a:cs typeface="Arial"/>
              </a:rPr>
              <a:t> </a:t>
            </a:r>
            <a:r>
              <a:rPr sz="2400" spc="-210" dirty="0">
                <a:latin typeface="Arial"/>
                <a:cs typeface="Arial"/>
              </a:rPr>
              <a:t>=</a:t>
            </a:r>
            <a:r>
              <a:rPr sz="2400" spc="-105" dirty="0">
                <a:latin typeface="Arial"/>
                <a:cs typeface="Arial"/>
              </a:rPr>
              <a:t> </a:t>
            </a:r>
            <a:r>
              <a:rPr sz="2400" spc="-95" dirty="0">
                <a:latin typeface="Arial"/>
                <a:cs typeface="Arial"/>
              </a:rPr>
              <a:t>more</a:t>
            </a:r>
            <a:r>
              <a:rPr sz="2400" spc="-100" dirty="0">
                <a:latin typeface="Arial"/>
                <a:cs typeface="Arial"/>
              </a:rPr>
              <a:t> </a:t>
            </a:r>
            <a:r>
              <a:rPr sz="2400" spc="-55" dirty="0">
                <a:latin typeface="Arial"/>
                <a:cs typeface="Arial"/>
              </a:rPr>
              <a:t>variation </a:t>
            </a:r>
            <a:r>
              <a:rPr sz="2400" spc="-100" dirty="0">
                <a:latin typeface="Arial"/>
                <a:cs typeface="Arial"/>
              </a:rPr>
              <a:t>(best</a:t>
            </a:r>
            <a:r>
              <a:rPr sz="2400" spc="-110" dirty="0">
                <a:latin typeface="Arial"/>
                <a:cs typeface="Arial"/>
              </a:rPr>
              <a:t> </a:t>
            </a:r>
            <a:r>
              <a:rPr sz="2400" dirty="0">
                <a:latin typeface="Arial"/>
                <a:cs typeface="Arial"/>
              </a:rPr>
              <a:t>to</a:t>
            </a:r>
            <a:r>
              <a:rPr sz="2400" spc="-105" dirty="0">
                <a:latin typeface="Arial"/>
                <a:cs typeface="Arial"/>
              </a:rPr>
              <a:t> </a:t>
            </a:r>
            <a:r>
              <a:rPr sz="2400" spc="-160" dirty="0">
                <a:latin typeface="Arial"/>
                <a:cs typeface="Arial"/>
              </a:rPr>
              <a:t>have</a:t>
            </a:r>
            <a:r>
              <a:rPr sz="2400" spc="-95" dirty="0">
                <a:latin typeface="Arial"/>
                <a:cs typeface="Arial"/>
              </a:rPr>
              <a:t> </a:t>
            </a:r>
            <a:r>
              <a:rPr sz="2400" spc="-90" dirty="0">
                <a:latin typeface="Arial"/>
                <a:cs typeface="Arial"/>
              </a:rPr>
              <a:t>no</a:t>
            </a:r>
            <a:r>
              <a:rPr sz="2400" spc="-105" dirty="0">
                <a:latin typeface="Arial"/>
                <a:cs typeface="Arial"/>
              </a:rPr>
              <a:t> </a:t>
            </a:r>
            <a:r>
              <a:rPr sz="2400" spc="-90" dirty="0">
                <a:latin typeface="Arial"/>
                <a:cs typeface="Arial"/>
              </a:rPr>
              <a:t>more</a:t>
            </a:r>
            <a:r>
              <a:rPr sz="2400" spc="-95" dirty="0">
                <a:latin typeface="Arial"/>
                <a:cs typeface="Arial"/>
              </a:rPr>
              <a:t> </a:t>
            </a:r>
            <a:r>
              <a:rPr sz="2400" spc="-65" dirty="0">
                <a:latin typeface="Arial"/>
                <a:cs typeface="Arial"/>
              </a:rPr>
              <a:t>than</a:t>
            </a:r>
            <a:r>
              <a:rPr sz="2400" spc="-100" dirty="0">
                <a:latin typeface="Arial"/>
                <a:cs typeface="Arial"/>
              </a:rPr>
              <a:t> </a:t>
            </a:r>
            <a:r>
              <a:rPr sz="2400" spc="-25" dirty="0">
                <a:latin typeface="Arial"/>
                <a:cs typeface="Arial"/>
              </a:rPr>
              <a:t>7</a:t>
            </a:r>
            <a:r>
              <a:rPr lang="en-US" sz="2400" spc="-25" dirty="0">
                <a:latin typeface="Arial"/>
                <a:cs typeface="Arial"/>
              </a:rPr>
              <a:t>; 4-7 classes best</a:t>
            </a:r>
            <a:r>
              <a:rPr sz="2400" spc="-25" dirty="0">
                <a:latin typeface="Arial"/>
                <a:cs typeface="Arial"/>
              </a:rPr>
              <a:t>)</a:t>
            </a:r>
            <a:endParaRPr sz="2400" dirty="0">
              <a:latin typeface="Arial"/>
              <a:cs typeface="Arial"/>
            </a:endParaRPr>
          </a:p>
        </p:txBody>
      </p:sp>
      <p:pic>
        <p:nvPicPr>
          <p:cNvPr id="5" name="object 5"/>
          <p:cNvPicPr/>
          <p:nvPr/>
        </p:nvPicPr>
        <p:blipFill>
          <a:blip r:embed="rId2" cstate="print"/>
          <a:stretch>
            <a:fillRect/>
          </a:stretch>
        </p:blipFill>
        <p:spPr>
          <a:xfrm>
            <a:off x="1101276" y="4116698"/>
            <a:ext cx="892158" cy="1917290"/>
          </a:xfrm>
          <a:prstGeom prst="rect">
            <a:avLst/>
          </a:prstGeom>
        </p:spPr>
      </p:pic>
      <p:pic>
        <p:nvPicPr>
          <p:cNvPr id="6" name="object 6"/>
          <p:cNvPicPr/>
          <p:nvPr/>
        </p:nvPicPr>
        <p:blipFill>
          <a:blip r:embed="rId3" cstate="print"/>
          <a:stretch>
            <a:fillRect/>
          </a:stretch>
        </p:blipFill>
        <p:spPr>
          <a:xfrm>
            <a:off x="2362200" y="4572000"/>
            <a:ext cx="870129" cy="852129"/>
          </a:xfrm>
          <a:prstGeom prst="rect">
            <a:avLst/>
          </a:prstGeom>
        </p:spPr>
      </p:pic>
      <p:sp>
        <p:nvSpPr>
          <p:cNvPr id="7" name="object 7"/>
          <p:cNvSpPr txBox="1"/>
          <p:nvPr/>
        </p:nvSpPr>
        <p:spPr>
          <a:xfrm>
            <a:off x="4876800" y="2372528"/>
            <a:ext cx="3451225" cy="3035935"/>
          </a:xfrm>
          <a:prstGeom prst="rect">
            <a:avLst/>
          </a:prstGeom>
        </p:spPr>
        <p:txBody>
          <a:bodyPr vert="horz" wrap="square" lIns="0" tIns="9525" rIns="0" bIns="0" rtlCol="0">
            <a:spAutoFit/>
          </a:bodyPr>
          <a:lstStyle/>
          <a:p>
            <a:pPr marL="355600" marR="5080" indent="-342900">
              <a:lnSpc>
                <a:spcPct val="100800"/>
              </a:lnSpc>
              <a:spcBef>
                <a:spcPts val="75"/>
              </a:spcBef>
              <a:buChar char="•"/>
              <a:tabLst>
                <a:tab pos="355600" algn="l"/>
              </a:tabLst>
            </a:pPr>
            <a:r>
              <a:rPr sz="2400" spc="-155" dirty="0">
                <a:latin typeface="Arial"/>
                <a:cs typeface="Arial"/>
              </a:rPr>
              <a:t>Data</a:t>
            </a:r>
            <a:r>
              <a:rPr sz="2400" spc="-85" dirty="0">
                <a:latin typeface="Arial"/>
                <a:cs typeface="Arial"/>
              </a:rPr>
              <a:t> </a:t>
            </a:r>
            <a:r>
              <a:rPr sz="2400" spc="-100" dirty="0">
                <a:latin typeface="Arial"/>
                <a:cs typeface="Arial"/>
              </a:rPr>
              <a:t>classification</a:t>
            </a:r>
            <a:r>
              <a:rPr sz="2400" spc="-80" dirty="0">
                <a:latin typeface="Arial"/>
                <a:cs typeface="Arial"/>
              </a:rPr>
              <a:t> </a:t>
            </a:r>
            <a:r>
              <a:rPr sz="2400" spc="-135" dirty="0">
                <a:latin typeface="Arial"/>
                <a:cs typeface="Arial"/>
              </a:rPr>
              <a:t>is</a:t>
            </a:r>
            <a:r>
              <a:rPr sz="2400" spc="-90" dirty="0">
                <a:latin typeface="Arial"/>
                <a:cs typeface="Arial"/>
              </a:rPr>
              <a:t> </a:t>
            </a:r>
            <a:r>
              <a:rPr sz="2400" spc="-25" dirty="0">
                <a:latin typeface="Arial"/>
                <a:cs typeface="Arial"/>
              </a:rPr>
              <a:t>how </a:t>
            </a:r>
            <a:r>
              <a:rPr sz="2400" spc="-110" dirty="0">
                <a:latin typeface="Arial"/>
                <a:cs typeface="Arial"/>
              </a:rPr>
              <a:t>data </a:t>
            </a:r>
            <a:r>
              <a:rPr sz="2400" spc="-140" dirty="0">
                <a:latin typeface="Arial"/>
                <a:cs typeface="Arial"/>
              </a:rPr>
              <a:t>is</a:t>
            </a:r>
            <a:r>
              <a:rPr sz="2400" spc="-110" dirty="0">
                <a:latin typeface="Arial"/>
                <a:cs typeface="Arial"/>
              </a:rPr>
              <a:t> </a:t>
            </a:r>
            <a:r>
              <a:rPr sz="2400" spc="-114" dirty="0">
                <a:latin typeface="Arial"/>
                <a:cs typeface="Arial"/>
              </a:rPr>
              <a:t>arranged</a:t>
            </a:r>
            <a:r>
              <a:rPr sz="2400" spc="-105" dirty="0">
                <a:latin typeface="Arial"/>
                <a:cs typeface="Arial"/>
              </a:rPr>
              <a:t> </a:t>
            </a:r>
            <a:r>
              <a:rPr sz="2400" spc="-20" dirty="0">
                <a:latin typeface="Arial"/>
                <a:cs typeface="Arial"/>
              </a:rPr>
              <a:t>into </a:t>
            </a:r>
            <a:r>
              <a:rPr sz="2400" spc="-125" dirty="0">
                <a:latin typeface="Arial"/>
                <a:cs typeface="Arial"/>
              </a:rPr>
              <a:t>separate</a:t>
            </a:r>
            <a:r>
              <a:rPr sz="2400" spc="-100" dirty="0">
                <a:latin typeface="Arial"/>
                <a:cs typeface="Arial"/>
              </a:rPr>
              <a:t> </a:t>
            </a:r>
            <a:r>
              <a:rPr sz="2400" spc="-55" dirty="0">
                <a:latin typeface="Arial"/>
                <a:cs typeface="Arial"/>
              </a:rPr>
              <a:t>classes.</a:t>
            </a:r>
            <a:endParaRPr sz="2400" dirty="0">
              <a:latin typeface="Arial"/>
              <a:cs typeface="Arial"/>
            </a:endParaRPr>
          </a:p>
          <a:p>
            <a:pPr marL="354965" indent="-342265">
              <a:lnSpc>
                <a:spcPct val="100000"/>
              </a:lnSpc>
              <a:spcBef>
                <a:spcPts val="625"/>
              </a:spcBef>
              <a:buChar char="•"/>
              <a:tabLst>
                <a:tab pos="354965" algn="l"/>
              </a:tabLst>
            </a:pPr>
            <a:r>
              <a:rPr sz="2400" spc="-40" dirty="0">
                <a:latin typeface="Arial"/>
                <a:cs typeface="Arial"/>
              </a:rPr>
              <a:t>Major</a:t>
            </a:r>
            <a:r>
              <a:rPr sz="2400" spc="-125" dirty="0">
                <a:latin typeface="Arial"/>
                <a:cs typeface="Arial"/>
              </a:rPr>
              <a:t> </a:t>
            </a:r>
            <a:r>
              <a:rPr sz="2400" spc="-20" dirty="0">
                <a:latin typeface="Arial"/>
                <a:cs typeface="Arial"/>
              </a:rPr>
              <a:t>types</a:t>
            </a:r>
            <a:endParaRPr sz="2400" dirty="0">
              <a:latin typeface="Arial"/>
              <a:cs typeface="Arial"/>
            </a:endParaRPr>
          </a:p>
          <a:p>
            <a:pPr marL="755650" lvl="1" indent="-285750">
              <a:lnSpc>
                <a:spcPct val="100000"/>
              </a:lnSpc>
              <a:spcBef>
                <a:spcPts val="425"/>
              </a:spcBef>
              <a:buChar char="–"/>
              <a:tabLst>
                <a:tab pos="755650" algn="l"/>
              </a:tabLst>
            </a:pPr>
            <a:r>
              <a:rPr sz="2000" spc="-140" dirty="0">
                <a:solidFill>
                  <a:srgbClr val="0B5395"/>
                </a:solidFill>
                <a:latin typeface="Arial"/>
                <a:cs typeface="Arial"/>
              </a:rPr>
              <a:t>Equal</a:t>
            </a:r>
            <a:r>
              <a:rPr sz="2000" spc="-100" dirty="0">
                <a:solidFill>
                  <a:srgbClr val="0B5395"/>
                </a:solidFill>
                <a:latin typeface="Arial"/>
                <a:cs typeface="Arial"/>
              </a:rPr>
              <a:t> </a:t>
            </a:r>
            <a:r>
              <a:rPr sz="2000" spc="-10" dirty="0">
                <a:solidFill>
                  <a:srgbClr val="0B5395"/>
                </a:solidFill>
                <a:latin typeface="Arial"/>
                <a:cs typeface="Arial"/>
              </a:rPr>
              <a:t>Intervals</a:t>
            </a:r>
            <a:endParaRPr sz="2000" dirty="0">
              <a:latin typeface="Arial"/>
              <a:cs typeface="Arial"/>
            </a:endParaRPr>
          </a:p>
          <a:p>
            <a:pPr marL="755650" lvl="1" indent="-285750">
              <a:lnSpc>
                <a:spcPct val="100000"/>
              </a:lnSpc>
              <a:spcBef>
                <a:spcPts val="480"/>
              </a:spcBef>
              <a:buChar char="–"/>
              <a:tabLst>
                <a:tab pos="755650" algn="l"/>
              </a:tabLst>
            </a:pPr>
            <a:r>
              <a:rPr sz="2000" spc="-70" dirty="0">
                <a:solidFill>
                  <a:srgbClr val="0B5395"/>
                </a:solidFill>
                <a:latin typeface="Arial"/>
                <a:cs typeface="Arial"/>
              </a:rPr>
              <a:t>Quantile</a:t>
            </a:r>
            <a:r>
              <a:rPr sz="2000" spc="-85" dirty="0">
                <a:solidFill>
                  <a:srgbClr val="0B5395"/>
                </a:solidFill>
                <a:latin typeface="Arial"/>
                <a:cs typeface="Arial"/>
              </a:rPr>
              <a:t> </a:t>
            </a:r>
            <a:r>
              <a:rPr sz="2000" spc="-125" dirty="0">
                <a:solidFill>
                  <a:srgbClr val="0B5395"/>
                </a:solidFill>
                <a:latin typeface="Arial"/>
                <a:cs typeface="Arial"/>
              </a:rPr>
              <a:t>(Equal</a:t>
            </a:r>
            <a:r>
              <a:rPr sz="2000" spc="-85" dirty="0">
                <a:solidFill>
                  <a:srgbClr val="0B5395"/>
                </a:solidFill>
                <a:latin typeface="Arial"/>
                <a:cs typeface="Arial"/>
              </a:rPr>
              <a:t> </a:t>
            </a:r>
            <a:r>
              <a:rPr sz="2000" spc="-10" dirty="0">
                <a:solidFill>
                  <a:srgbClr val="0B5395"/>
                </a:solidFill>
                <a:latin typeface="Arial"/>
                <a:cs typeface="Arial"/>
              </a:rPr>
              <a:t>Count)</a:t>
            </a:r>
            <a:endParaRPr sz="2000" dirty="0">
              <a:latin typeface="Arial"/>
              <a:cs typeface="Arial"/>
            </a:endParaRPr>
          </a:p>
          <a:p>
            <a:pPr marL="755650" lvl="1" indent="-285750">
              <a:lnSpc>
                <a:spcPct val="100000"/>
              </a:lnSpc>
              <a:spcBef>
                <a:spcPts val="500"/>
              </a:spcBef>
              <a:buChar char="–"/>
              <a:tabLst>
                <a:tab pos="755650" algn="l"/>
              </a:tabLst>
            </a:pPr>
            <a:r>
              <a:rPr sz="2000" spc="-65" dirty="0">
                <a:solidFill>
                  <a:srgbClr val="0B5395"/>
                </a:solidFill>
                <a:latin typeface="Arial"/>
                <a:cs typeface="Arial"/>
              </a:rPr>
              <a:t>Natural</a:t>
            </a:r>
            <a:r>
              <a:rPr sz="2000" spc="-95" dirty="0">
                <a:solidFill>
                  <a:srgbClr val="0B5395"/>
                </a:solidFill>
                <a:latin typeface="Arial"/>
                <a:cs typeface="Arial"/>
              </a:rPr>
              <a:t> </a:t>
            </a:r>
            <a:r>
              <a:rPr sz="2000" spc="-10" dirty="0">
                <a:solidFill>
                  <a:srgbClr val="0B5395"/>
                </a:solidFill>
                <a:latin typeface="Arial"/>
                <a:cs typeface="Arial"/>
              </a:rPr>
              <a:t>Breaks</a:t>
            </a:r>
            <a:endParaRPr sz="2000" dirty="0">
              <a:latin typeface="Arial"/>
              <a:cs typeface="Arial"/>
            </a:endParaRPr>
          </a:p>
          <a:p>
            <a:pPr marL="755650" lvl="1" indent="-285750">
              <a:lnSpc>
                <a:spcPct val="100000"/>
              </a:lnSpc>
              <a:spcBef>
                <a:spcPts val="505"/>
              </a:spcBef>
              <a:buChar char="–"/>
              <a:tabLst>
                <a:tab pos="755650" algn="l"/>
              </a:tabLst>
            </a:pPr>
            <a:r>
              <a:rPr sz="2000" spc="-85" dirty="0">
                <a:solidFill>
                  <a:srgbClr val="0B5395"/>
                </a:solidFill>
                <a:latin typeface="Arial"/>
                <a:cs typeface="Arial"/>
              </a:rPr>
              <a:t>Defined</a:t>
            </a:r>
            <a:r>
              <a:rPr sz="2000" spc="-105" dirty="0">
                <a:solidFill>
                  <a:srgbClr val="0B5395"/>
                </a:solidFill>
                <a:latin typeface="Arial"/>
                <a:cs typeface="Arial"/>
              </a:rPr>
              <a:t> </a:t>
            </a:r>
            <a:r>
              <a:rPr sz="2000" spc="-10" dirty="0">
                <a:solidFill>
                  <a:srgbClr val="0B5395"/>
                </a:solidFill>
                <a:latin typeface="Arial"/>
                <a:cs typeface="Arial"/>
              </a:rPr>
              <a:t>Intervals</a:t>
            </a:r>
            <a:endParaRPr sz="2000" dirty="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914400"/>
            <a:ext cx="7989752" cy="505267"/>
          </a:xfrm>
          <a:prstGeom prst="rect">
            <a:avLst/>
          </a:prstGeom>
        </p:spPr>
        <p:txBody>
          <a:bodyPr vert="horz" wrap="square" lIns="0" tIns="12700" rIns="0" bIns="0" rtlCol="0">
            <a:spAutoFit/>
          </a:bodyPr>
          <a:lstStyle/>
          <a:p>
            <a:pPr marL="1043305">
              <a:lnSpc>
                <a:spcPct val="100000"/>
              </a:lnSpc>
              <a:spcBef>
                <a:spcPts val="100"/>
              </a:spcBef>
            </a:pPr>
            <a:r>
              <a:rPr sz="3200" spc="-195" dirty="0">
                <a:latin typeface="Arial" panose="020B0604020202020204" pitchFamily="34" charset="0"/>
                <a:cs typeface="Arial" panose="020B0604020202020204" pitchFamily="34" charset="0"/>
              </a:rPr>
              <a:t>Classification</a:t>
            </a:r>
            <a:r>
              <a:rPr sz="3200" spc="-200" dirty="0">
                <a:latin typeface="Arial" panose="020B0604020202020204" pitchFamily="34" charset="0"/>
                <a:cs typeface="Arial" panose="020B0604020202020204" pitchFamily="34" charset="0"/>
              </a:rPr>
              <a:t> </a:t>
            </a:r>
            <a:r>
              <a:rPr sz="3200" spc="-105" dirty="0">
                <a:latin typeface="Arial" panose="020B0604020202020204" pitchFamily="34" charset="0"/>
                <a:cs typeface="Arial" panose="020B0604020202020204" pitchFamily="34" charset="0"/>
              </a:rPr>
              <a:t>Methods</a:t>
            </a:r>
          </a:p>
        </p:txBody>
      </p:sp>
      <p:sp>
        <p:nvSpPr>
          <p:cNvPr id="5" name="object 5"/>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23</a:t>
            </a:fld>
            <a:endParaRPr spc="-25" dirty="0"/>
          </a:p>
        </p:txBody>
      </p:sp>
      <p:sp>
        <p:nvSpPr>
          <p:cNvPr id="3" name="object 3"/>
          <p:cNvSpPr txBox="1"/>
          <p:nvPr/>
        </p:nvSpPr>
        <p:spPr>
          <a:xfrm>
            <a:off x="573056" y="1963573"/>
            <a:ext cx="7859395" cy="2629566"/>
          </a:xfrm>
          <a:prstGeom prst="rect">
            <a:avLst/>
          </a:prstGeom>
        </p:spPr>
        <p:txBody>
          <a:bodyPr vert="horz" wrap="square" lIns="0" tIns="64135" rIns="0" bIns="0" rtlCol="0">
            <a:spAutoFit/>
          </a:bodyPr>
          <a:lstStyle/>
          <a:p>
            <a:pPr marL="354965" indent="-342265">
              <a:lnSpc>
                <a:spcPct val="100000"/>
              </a:lnSpc>
              <a:spcBef>
                <a:spcPts val="505"/>
              </a:spcBef>
              <a:buFont typeface="Arial"/>
              <a:buChar char="•"/>
              <a:tabLst>
                <a:tab pos="354965" algn="l"/>
              </a:tabLst>
            </a:pPr>
            <a:r>
              <a:rPr sz="3000" b="1" spc="-275" dirty="0">
                <a:latin typeface="Arial"/>
                <a:cs typeface="Arial"/>
              </a:rPr>
              <a:t>Equal</a:t>
            </a:r>
            <a:r>
              <a:rPr sz="3000" b="1" spc="-135" dirty="0">
                <a:latin typeface="Arial"/>
                <a:cs typeface="Arial"/>
              </a:rPr>
              <a:t> </a:t>
            </a:r>
            <a:r>
              <a:rPr sz="3000" b="1" spc="-145" dirty="0">
                <a:latin typeface="Arial"/>
                <a:cs typeface="Arial"/>
              </a:rPr>
              <a:t>Interval</a:t>
            </a:r>
            <a:r>
              <a:rPr sz="3000" b="1" spc="-130" dirty="0">
                <a:latin typeface="Arial"/>
                <a:cs typeface="Arial"/>
              </a:rPr>
              <a:t> </a:t>
            </a:r>
            <a:r>
              <a:rPr sz="3000" spc="-265" dirty="0">
                <a:latin typeface="Arial"/>
                <a:cs typeface="Arial"/>
              </a:rPr>
              <a:t>=</a:t>
            </a:r>
            <a:r>
              <a:rPr sz="3000" spc="-125" dirty="0">
                <a:latin typeface="Arial"/>
                <a:cs typeface="Arial"/>
              </a:rPr>
              <a:t> </a:t>
            </a:r>
            <a:r>
              <a:rPr sz="3000" spc="-245" dirty="0">
                <a:latin typeface="Arial"/>
                <a:cs typeface="Arial"/>
              </a:rPr>
              <a:t>classes</a:t>
            </a:r>
            <a:r>
              <a:rPr sz="3000" spc="-130" dirty="0">
                <a:latin typeface="Arial"/>
                <a:cs typeface="Arial"/>
              </a:rPr>
              <a:t> </a:t>
            </a:r>
            <a:r>
              <a:rPr sz="3000" spc="-195" dirty="0">
                <a:latin typeface="Arial"/>
                <a:cs typeface="Arial"/>
              </a:rPr>
              <a:t>have</a:t>
            </a:r>
            <a:r>
              <a:rPr sz="3000" spc="-135" dirty="0">
                <a:latin typeface="Arial"/>
                <a:cs typeface="Arial"/>
              </a:rPr>
              <a:t> </a:t>
            </a:r>
            <a:r>
              <a:rPr sz="3000" spc="-130" dirty="0">
                <a:latin typeface="Arial"/>
                <a:cs typeface="Arial"/>
              </a:rPr>
              <a:t>equal</a:t>
            </a:r>
            <a:r>
              <a:rPr sz="3000" spc="-135" dirty="0">
                <a:latin typeface="Arial"/>
                <a:cs typeface="Arial"/>
              </a:rPr>
              <a:t> </a:t>
            </a:r>
            <a:r>
              <a:rPr sz="3000" spc="-10" dirty="0">
                <a:latin typeface="Arial"/>
                <a:cs typeface="Arial"/>
              </a:rPr>
              <a:t>ranges</a:t>
            </a:r>
            <a:endParaRPr sz="3000" dirty="0">
              <a:latin typeface="Arial"/>
              <a:cs typeface="Arial"/>
            </a:endParaRPr>
          </a:p>
          <a:p>
            <a:pPr marL="354965" indent="-342265">
              <a:lnSpc>
                <a:spcPct val="100000"/>
              </a:lnSpc>
              <a:spcBef>
                <a:spcPts val="409"/>
              </a:spcBef>
              <a:buFont typeface="Arial"/>
              <a:buChar char="•"/>
              <a:tabLst>
                <a:tab pos="354965" algn="l"/>
              </a:tabLst>
            </a:pPr>
            <a:r>
              <a:rPr sz="3000" b="1" spc="-170" dirty="0">
                <a:latin typeface="Arial"/>
                <a:cs typeface="Arial"/>
              </a:rPr>
              <a:t>Quantile</a:t>
            </a:r>
            <a:r>
              <a:rPr sz="3000" b="1" spc="-125" dirty="0">
                <a:latin typeface="Arial"/>
                <a:cs typeface="Arial"/>
              </a:rPr>
              <a:t> </a:t>
            </a:r>
            <a:r>
              <a:rPr sz="3000" spc="-265" dirty="0">
                <a:latin typeface="Arial"/>
                <a:cs typeface="Arial"/>
              </a:rPr>
              <a:t>=</a:t>
            </a:r>
            <a:r>
              <a:rPr sz="3000" spc="-125" dirty="0">
                <a:latin typeface="Arial"/>
                <a:cs typeface="Arial"/>
              </a:rPr>
              <a:t> </a:t>
            </a:r>
            <a:r>
              <a:rPr sz="3000" spc="-245" dirty="0">
                <a:latin typeface="Arial"/>
                <a:cs typeface="Arial"/>
              </a:rPr>
              <a:t>classes</a:t>
            </a:r>
            <a:r>
              <a:rPr sz="3000" spc="-130" dirty="0">
                <a:latin typeface="Arial"/>
                <a:cs typeface="Arial"/>
              </a:rPr>
              <a:t> </a:t>
            </a:r>
            <a:r>
              <a:rPr sz="3000" spc="-195" dirty="0">
                <a:latin typeface="Arial"/>
                <a:cs typeface="Arial"/>
              </a:rPr>
              <a:t>have</a:t>
            </a:r>
            <a:r>
              <a:rPr sz="3000" spc="-135" dirty="0">
                <a:latin typeface="Arial"/>
                <a:cs typeface="Arial"/>
              </a:rPr>
              <a:t> </a:t>
            </a:r>
            <a:r>
              <a:rPr sz="3000" spc="-130" dirty="0">
                <a:latin typeface="Arial"/>
                <a:cs typeface="Arial"/>
              </a:rPr>
              <a:t>equal </a:t>
            </a:r>
            <a:r>
              <a:rPr sz="3000" spc="-10" dirty="0">
                <a:latin typeface="Arial"/>
                <a:cs typeface="Arial"/>
              </a:rPr>
              <a:t>counts</a:t>
            </a:r>
            <a:endParaRPr sz="3000" dirty="0">
              <a:latin typeface="Arial"/>
              <a:cs typeface="Arial"/>
            </a:endParaRPr>
          </a:p>
          <a:p>
            <a:pPr marL="355600" indent="-342900">
              <a:lnSpc>
                <a:spcPct val="100000"/>
              </a:lnSpc>
              <a:spcBef>
                <a:spcPts val="384"/>
              </a:spcBef>
              <a:buFont typeface="Arial"/>
              <a:buChar char="•"/>
              <a:tabLst>
                <a:tab pos="355600" algn="l"/>
              </a:tabLst>
            </a:pPr>
            <a:r>
              <a:rPr sz="3000" b="1" spc="-160" dirty="0">
                <a:latin typeface="Arial"/>
                <a:cs typeface="Arial"/>
              </a:rPr>
              <a:t>Natural</a:t>
            </a:r>
            <a:r>
              <a:rPr sz="3000" b="1" spc="-140" dirty="0">
                <a:latin typeface="Arial"/>
                <a:cs typeface="Arial"/>
              </a:rPr>
              <a:t> </a:t>
            </a:r>
            <a:r>
              <a:rPr sz="3000" b="1" spc="-295" dirty="0">
                <a:latin typeface="Arial"/>
                <a:cs typeface="Arial"/>
              </a:rPr>
              <a:t>Breaks</a:t>
            </a:r>
            <a:r>
              <a:rPr sz="3000" b="1" spc="-125" dirty="0">
                <a:latin typeface="Arial"/>
                <a:cs typeface="Arial"/>
              </a:rPr>
              <a:t> </a:t>
            </a:r>
            <a:r>
              <a:rPr sz="3000" spc="-265" dirty="0">
                <a:latin typeface="Arial"/>
                <a:cs typeface="Arial"/>
              </a:rPr>
              <a:t>=</a:t>
            </a:r>
            <a:r>
              <a:rPr sz="3000" spc="-135" dirty="0">
                <a:latin typeface="Arial"/>
                <a:cs typeface="Arial"/>
              </a:rPr>
              <a:t> </a:t>
            </a:r>
            <a:r>
              <a:rPr sz="3000" spc="-120" dirty="0">
                <a:latin typeface="Arial"/>
                <a:cs typeface="Arial"/>
              </a:rPr>
              <a:t>optimizes</a:t>
            </a:r>
            <a:r>
              <a:rPr sz="3000" spc="-135" dirty="0">
                <a:latin typeface="Arial"/>
                <a:cs typeface="Arial"/>
              </a:rPr>
              <a:t> </a:t>
            </a:r>
            <a:r>
              <a:rPr sz="3000" spc="-235" dirty="0">
                <a:latin typeface="Arial"/>
                <a:cs typeface="Arial"/>
              </a:rPr>
              <a:t>class</a:t>
            </a:r>
            <a:r>
              <a:rPr sz="3000" spc="-140" dirty="0">
                <a:latin typeface="Arial"/>
                <a:cs typeface="Arial"/>
              </a:rPr>
              <a:t> </a:t>
            </a:r>
            <a:r>
              <a:rPr sz="3000" spc="-10" dirty="0">
                <a:latin typeface="Arial"/>
                <a:cs typeface="Arial"/>
              </a:rPr>
              <a:t>variation</a:t>
            </a:r>
            <a:endParaRPr sz="3000" dirty="0">
              <a:latin typeface="Arial"/>
              <a:cs typeface="Arial"/>
            </a:endParaRPr>
          </a:p>
          <a:p>
            <a:pPr marL="355600" indent="-342900">
              <a:lnSpc>
                <a:spcPct val="100000"/>
              </a:lnSpc>
              <a:spcBef>
                <a:spcPts val="310"/>
              </a:spcBef>
              <a:buFont typeface="Arial"/>
              <a:buChar char="•"/>
              <a:tabLst>
                <a:tab pos="355600" algn="l"/>
              </a:tabLst>
            </a:pPr>
            <a:r>
              <a:rPr sz="3000" b="1" spc="-145" dirty="0">
                <a:latin typeface="Arial"/>
                <a:cs typeface="Arial"/>
              </a:rPr>
              <a:t>Manual</a:t>
            </a:r>
            <a:r>
              <a:rPr sz="3000" b="1" spc="-150" dirty="0">
                <a:latin typeface="Arial"/>
                <a:cs typeface="Arial"/>
              </a:rPr>
              <a:t> </a:t>
            </a:r>
            <a:r>
              <a:rPr sz="3000" spc="-265" dirty="0">
                <a:latin typeface="Arial"/>
                <a:cs typeface="Arial"/>
              </a:rPr>
              <a:t>=</a:t>
            </a:r>
            <a:r>
              <a:rPr sz="3000" spc="-145" dirty="0">
                <a:latin typeface="Arial"/>
                <a:cs typeface="Arial"/>
              </a:rPr>
              <a:t> </a:t>
            </a:r>
            <a:r>
              <a:rPr sz="3000" spc="-130" dirty="0">
                <a:latin typeface="Arial"/>
                <a:cs typeface="Arial"/>
              </a:rPr>
              <a:t>you</a:t>
            </a:r>
            <a:r>
              <a:rPr sz="3000" spc="-145" dirty="0">
                <a:latin typeface="Arial"/>
                <a:cs typeface="Arial"/>
              </a:rPr>
              <a:t> </a:t>
            </a:r>
            <a:r>
              <a:rPr sz="3000" spc="-80" dirty="0">
                <a:latin typeface="Arial"/>
                <a:cs typeface="Arial"/>
              </a:rPr>
              <a:t>define</a:t>
            </a:r>
            <a:r>
              <a:rPr sz="3000" spc="-155" dirty="0">
                <a:latin typeface="Arial"/>
                <a:cs typeface="Arial"/>
              </a:rPr>
              <a:t> </a:t>
            </a:r>
            <a:r>
              <a:rPr sz="3000" spc="-85" dirty="0">
                <a:latin typeface="Arial"/>
                <a:cs typeface="Arial"/>
              </a:rPr>
              <a:t>classes</a:t>
            </a:r>
            <a:endParaRPr sz="3000" dirty="0">
              <a:latin typeface="Arial"/>
              <a:cs typeface="Arial"/>
            </a:endParaRPr>
          </a:p>
          <a:p>
            <a:pPr>
              <a:lnSpc>
                <a:spcPct val="100000"/>
              </a:lnSpc>
              <a:spcBef>
                <a:spcPts val="855"/>
              </a:spcBef>
            </a:pPr>
            <a:endParaRPr sz="3000"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68076" y="685800"/>
            <a:ext cx="7031567" cy="5867197"/>
            <a:chOff x="1152198" y="533603"/>
            <a:chExt cx="7031567" cy="5867197"/>
          </a:xfrm>
        </p:grpSpPr>
        <p:pic>
          <p:nvPicPr>
            <p:cNvPr id="3" name="object 3"/>
            <p:cNvPicPr/>
            <p:nvPr/>
          </p:nvPicPr>
          <p:blipFill>
            <a:blip r:embed="rId2" cstate="print"/>
            <a:stretch>
              <a:fillRect/>
            </a:stretch>
          </p:blipFill>
          <p:spPr>
            <a:xfrm>
              <a:off x="4481450" y="533603"/>
              <a:ext cx="3620235" cy="2013617"/>
            </a:xfrm>
            <a:prstGeom prst="rect">
              <a:avLst/>
            </a:prstGeom>
          </p:spPr>
        </p:pic>
        <p:pic>
          <p:nvPicPr>
            <p:cNvPr id="4" name="object 4"/>
            <p:cNvPicPr/>
            <p:nvPr/>
          </p:nvPicPr>
          <p:blipFill>
            <a:blip r:embed="rId3" cstate="print"/>
            <a:stretch>
              <a:fillRect/>
            </a:stretch>
          </p:blipFill>
          <p:spPr>
            <a:xfrm>
              <a:off x="4541037" y="2491752"/>
              <a:ext cx="3642728" cy="2051646"/>
            </a:xfrm>
            <a:prstGeom prst="rect">
              <a:avLst/>
            </a:prstGeom>
          </p:spPr>
        </p:pic>
        <p:pic>
          <p:nvPicPr>
            <p:cNvPr id="6" name="object 6"/>
            <p:cNvPicPr/>
            <p:nvPr/>
          </p:nvPicPr>
          <p:blipFill>
            <a:blip r:embed="rId4" cstate="print"/>
            <a:stretch>
              <a:fillRect/>
            </a:stretch>
          </p:blipFill>
          <p:spPr>
            <a:xfrm>
              <a:off x="4546485" y="4495800"/>
              <a:ext cx="3452812" cy="1905000"/>
            </a:xfrm>
            <a:prstGeom prst="rect">
              <a:avLst/>
            </a:prstGeom>
          </p:spPr>
        </p:pic>
        <p:pic>
          <p:nvPicPr>
            <p:cNvPr id="7" name="object 7"/>
            <p:cNvPicPr/>
            <p:nvPr/>
          </p:nvPicPr>
          <p:blipFill>
            <a:blip r:embed="rId5" cstate="print"/>
            <a:stretch>
              <a:fillRect/>
            </a:stretch>
          </p:blipFill>
          <p:spPr>
            <a:xfrm>
              <a:off x="1210313" y="743572"/>
              <a:ext cx="3218234" cy="1407311"/>
            </a:xfrm>
            <a:prstGeom prst="rect">
              <a:avLst/>
            </a:prstGeom>
          </p:spPr>
        </p:pic>
        <p:pic>
          <p:nvPicPr>
            <p:cNvPr id="8" name="object 8"/>
            <p:cNvPicPr/>
            <p:nvPr/>
          </p:nvPicPr>
          <p:blipFill>
            <a:blip r:embed="rId6" cstate="print"/>
            <a:stretch>
              <a:fillRect/>
            </a:stretch>
          </p:blipFill>
          <p:spPr>
            <a:xfrm>
              <a:off x="1197089" y="2594386"/>
              <a:ext cx="3244684" cy="1401236"/>
            </a:xfrm>
            <a:prstGeom prst="rect">
              <a:avLst/>
            </a:prstGeom>
          </p:spPr>
        </p:pic>
        <p:pic>
          <p:nvPicPr>
            <p:cNvPr id="9" name="object 9"/>
            <p:cNvPicPr/>
            <p:nvPr/>
          </p:nvPicPr>
          <p:blipFill>
            <a:blip r:embed="rId7" cstate="print"/>
            <a:stretch>
              <a:fillRect/>
            </a:stretch>
          </p:blipFill>
          <p:spPr>
            <a:xfrm>
              <a:off x="1152198" y="4592346"/>
              <a:ext cx="3301677" cy="1385276"/>
            </a:xfrm>
            <a:prstGeom prst="rect">
              <a:avLst/>
            </a:prstGeom>
          </p:spPr>
        </p:pic>
      </p:grpSp>
      <p:sp>
        <p:nvSpPr>
          <p:cNvPr id="14" name="object 14"/>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200" b="0" i="0">
                <a:solidFill>
                  <a:schemeClr val="tx1"/>
                </a:solidFill>
                <a:latin typeface="Arial"/>
                <a:cs typeface="Arial"/>
              </a:defRPr>
            </a:lvl1pPr>
          </a:lstStyle>
          <a:p>
            <a:pPr marL="38100">
              <a:lnSpc>
                <a:spcPts val="1240"/>
              </a:lnSpc>
            </a:pPr>
            <a:fld id="{81D60167-4931-47E6-BA6A-407CBD079E47}" type="slidenum">
              <a:rPr lang="en-US" spc="-50" smtClean="0"/>
              <a:pPr marL="38100">
                <a:lnSpc>
                  <a:spcPts val="1240"/>
                </a:lnSpc>
              </a:pPr>
              <a:t>24</a:t>
            </a:fld>
            <a:endParaRPr spc="-25" dirty="0"/>
          </a:p>
        </p:txBody>
      </p:sp>
      <p:sp>
        <p:nvSpPr>
          <p:cNvPr id="11" name="object 11"/>
          <p:cNvSpPr txBox="1"/>
          <p:nvPr/>
        </p:nvSpPr>
        <p:spPr>
          <a:xfrm>
            <a:off x="374296" y="983996"/>
            <a:ext cx="713740" cy="565150"/>
          </a:xfrm>
          <a:prstGeom prst="rect">
            <a:avLst/>
          </a:prstGeom>
        </p:spPr>
        <p:txBody>
          <a:bodyPr vert="horz" wrap="square" lIns="0" tIns="28575" rIns="0" bIns="0" rtlCol="0">
            <a:spAutoFit/>
          </a:bodyPr>
          <a:lstStyle/>
          <a:p>
            <a:pPr marL="12700" marR="5080">
              <a:lnSpc>
                <a:spcPts val="2090"/>
              </a:lnSpc>
              <a:spcBef>
                <a:spcPts val="225"/>
              </a:spcBef>
            </a:pPr>
            <a:r>
              <a:rPr sz="1800" spc="-60" dirty="0">
                <a:latin typeface="Arial"/>
                <a:cs typeface="Arial"/>
              </a:rPr>
              <a:t>Natural </a:t>
            </a:r>
            <a:r>
              <a:rPr sz="1800" spc="-10" dirty="0">
                <a:latin typeface="Arial"/>
                <a:cs typeface="Arial"/>
              </a:rPr>
              <a:t>breaks</a:t>
            </a:r>
            <a:endParaRPr sz="1800">
              <a:latin typeface="Arial"/>
              <a:cs typeface="Arial"/>
            </a:endParaRPr>
          </a:p>
        </p:txBody>
      </p:sp>
      <p:sp>
        <p:nvSpPr>
          <p:cNvPr id="12" name="object 12"/>
          <p:cNvSpPr txBox="1"/>
          <p:nvPr/>
        </p:nvSpPr>
        <p:spPr>
          <a:xfrm>
            <a:off x="233936" y="3035223"/>
            <a:ext cx="824230" cy="299720"/>
          </a:xfrm>
          <a:prstGeom prst="rect">
            <a:avLst/>
          </a:prstGeom>
        </p:spPr>
        <p:txBody>
          <a:bodyPr vert="horz" wrap="square" lIns="0" tIns="12700" rIns="0" bIns="0" rtlCol="0">
            <a:spAutoFit/>
          </a:bodyPr>
          <a:lstStyle/>
          <a:p>
            <a:pPr marL="12700">
              <a:lnSpc>
                <a:spcPct val="100000"/>
              </a:lnSpc>
              <a:spcBef>
                <a:spcPts val="100"/>
              </a:spcBef>
            </a:pPr>
            <a:r>
              <a:rPr sz="1800" spc="-45" dirty="0">
                <a:latin typeface="Arial"/>
                <a:cs typeface="Arial"/>
              </a:rPr>
              <a:t>Quantile</a:t>
            </a:r>
            <a:endParaRPr sz="1800">
              <a:latin typeface="Arial"/>
              <a:cs typeface="Arial"/>
            </a:endParaRPr>
          </a:p>
        </p:txBody>
      </p:sp>
      <p:sp>
        <p:nvSpPr>
          <p:cNvPr id="13" name="object 13"/>
          <p:cNvSpPr txBox="1"/>
          <p:nvPr/>
        </p:nvSpPr>
        <p:spPr>
          <a:xfrm>
            <a:off x="301830" y="4973751"/>
            <a:ext cx="727710" cy="565150"/>
          </a:xfrm>
          <a:prstGeom prst="rect">
            <a:avLst/>
          </a:prstGeom>
        </p:spPr>
        <p:txBody>
          <a:bodyPr vert="horz" wrap="square" lIns="0" tIns="28575" rIns="0" bIns="0" rtlCol="0">
            <a:spAutoFit/>
          </a:bodyPr>
          <a:lstStyle/>
          <a:p>
            <a:pPr marL="12700" marR="5080">
              <a:lnSpc>
                <a:spcPts val="2090"/>
              </a:lnSpc>
              <a:spcBef>
                <a:spcPts val="225"/>
              </a:spcBef>
            </a:pPr>
            <a:r>
              <a:rPr sz="1800" spc="-10" dirty="0">
                <a:latin typeface="Arial"/>
                <a:cs typeface="Arial"/>
              </a:rPr>
              <a:t>Equal </a:t>
            </a:r>
            <a:r>
              <a:rPr sz="1800" spc="-45" dirty="0">
                <a:latin typeface="Arial"/>
                <a:cs typeface="Arial"/>
              </a:rPr>
              <a:t>interval</a:t>
            </a:r>
            <a:endParaRPr sz="18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990600"/>
            <a:ext cx="7989752" cy="443711"/>
          </a:xfrm>
          <a:prstGeom prst="rect">
            <a:avLst/>
          </a:prstGeom>
        </p:spPr>
        <p:txBody>
          <a:bodyPr vert="horz" wrap="square" lIns="0" tIns="12700" rIns="0" bIns="0" rtlCol="0">
            <a:spAutoFit/>
          </a:bodyPr>
          <a:lstStyle/>
          <a:p>
            <a:pPr marL="463550">
              <a:lnSpc>
                <a:spcPct val="100000"/>
              </a:lnSpc>
              <a:spcBef>
                <a:spcPts val="100"/>
              </a:spcBef>
            </a:pPr>
            <a:r>
              <a:rPr spc="-145" dirty="0">
                <a:latin typeface="Arial" panose="020B0604020202020204" pitchFamily="34" charset="0"/>
                <a:cs typeface="Arial" panose="020B0604020202020204" pitchFamily="34" charset="0"/>
              </a:rPr>
              <a:t>Map</a:t>
            </a:r>
            <a:r>
              <a:rPr spc="-225" dirty="0">
                <a:latin typeface="Arial" panose="020B0604020202020204" pitchFamily="34" charset="0"/>
                <a:cs typeface="Arial" panose="020B0604020202020204" pitchFamily="34" charset="0"/>
              </a:rPr>
              <a:t> </a:t>
            </a:r>
            <a:r>
              <a:rPr spc="-240" dirty="0">
                <a:latin typeface="Arial" panose="020B0604020202020204" pitchFamily="34" charset="0"/>
                <a:cs typeface="Arial" panose="020B0604020202020204" pitchFamily="34" charset="0"/>
              </a:rPr>
              <a:t>Layout</a:t>
            </a:r>
            <a:r>
              <a:rPr spc="-265" dirty="0">
                <a:latin typeface="Arial" panose="020B0604020202020204" pitchFamily="34" charset="0"/>
                <a:cs typeface="Arial" panose="020B0604020202020204" pitchFamily="34" charset="0"/>
              </a:rPr>
              <a:t> </a:t>
            </a:r>
            <a:r>
              <a:rPr spc="-290" dirty="0">
                <a:latin typeface="Arial" panose="020B0604020202020204" pitchFamily="34" charset="0"/>
                <a:cs typeface="Arial" panose="020B0604020202020204" pitchFamily="34" charset="0"/>
              </a:rPr>
              <a:t>Design</a:t>
            </a:r>
            <a:r>
              <a:rPr spc="-210" dirty="0">
                <a:latin typeface="Arial" panose="020B0604020202020204" pitchFamily="34" charset="0"/>
                <a:cs typeface="Arial" panose="020B0604020202020204" pitchFamily="34" charset="0"/>
              </a:rPr>
              <a:t> </a:t>
            </a:r>
            <a:r>
              <a:rPr spc="-320" dirty="0">
                <a:latin typeface="Arial" panose="020B0604020202020204" pitchFamily="34" charset="0"/>
                <a:cs typeface="Arial" panose="020B0604020202020204" pitchFamily="34" charset="0"/>
              </a:rPr>
              <a:t>Example</a:t>
            </a:r>
          </a:p>
        </p:txBody>
      </p:sp>
      <p:sp>
        <p:nvSpPr>
          <p:cNvPr id="3" name="object 3"/>
          <p:cNvSpPr txBox="1"/>
          <p:nvPr/>
        </p:nvSpPr>
        <p:spPr>
          <a:xfrm>
            <a:off x="550873" y="2014568"/>
            <a:ext cx="4798060" cy="4297680"/>
          </a:xfrm>
          <a:prstGeom prst="rect">
            <a:avLst/>
          </a:prstGeom>
        </p:spPr>
        <p:txBody>
          <a:bodyPr vert="horz" wrap="square" lIns="0" tIns="182880" rIns="0" bIns="0" rtlCol="0">
            <a:spAutoFit/>
          </a:bodyPr>
          <a:lstStyle/>
          <a:p>
            <a:pPr marL="12700">
              <a:lnSpc>
                <a:spcPct val="100000"/>
              </a:lnSpc>
              <a:spcBef>
                <a:spcPts val="1440"/>
              </a:spcBef>
            </a:pPr>
            <a:r>
              <a:rPr sz="2400" b="1" spc="-30" dirty="0">
                <a:latin typeface="Arial"/>
                <a:cs typeface="Arial"/>
              </a:rPr>
              <a:t>Tips:</a:t>
            </a:r>
            <a:endParaRPr sz="2400" dirty="0">
              <a:latin typeface="Arial"/>
              <a:cs typeface="Arial"/>
            </a:endParaRPr>
          </a:p>
          <a:p>
            <a:pPr marL="269240" marR="179705" indent="-257175">
              <a:lnSpc>
                <a:spcPct val="100000"/>
              </a:lnSpc>
              <a:spcBef>
                <a:spcPts val="1125"/>
              </a:spcBef>
              <a:buChar char="•"/>
              <a:tabLst>
                <a:tab pos="269240" algn="l"/>
              </a:tabLst>
            </a:pPr>
            <a:r>
              <a:rPr sz="2000" spc="-45" dirty="0">
                <a:latin typeface="Arial"/>
                <a:cs typeface="Arial"/>
              </a:rPr>
              <a:t>Inset/locator</a:t>
            </a:r>
            <a:r>
              <a:rPr sz="2000" spc="-80" dirty="0">
                <a:latin typeface="Arial"/>
                <a:cs typeface="Arial"/>
              </a:rPr>
              <a:t> </a:t>
            </a:r>
            <a:r>
              <a:rPr sz="2000" spc="-140" dirty="0">
                <a:latin typeface="Arial"/>
                <a:cs typeface="Arial"/>
              </a:rPr>
              <a:t>maps</a:t>
            </a:r>
            <a:r>
              <a:rPr sz="2000" spc="-75" dirty="0">
                <a:latin typeface="Arial"/>
                <a:cs typeface="Arial"/>
              </a:rPr>
              <a:t> </a:t>
            </a:r>
            <a:r>
              <a:rPr sz="2000" spc="-90" dirty="0">
                <a:latin typeface="Arial"/>
                <a:cs typeface="Arial"/>
              </a:rPr>
              <a:t>are</a:t>
            </a:r>
            <a:r>
              <a:rPr sz="2000" spc="-75" dirty="0">
                <a:latin typeface="Arial"/>
                <a:cs typeface="Arial"/>
              </a:rPr>
              <a:t> </a:t>
            </a:r>
            <a:r>
              <a:rPr sz="2000" spc="-25" dirty="0">
                <a:latin typeface="Arial"/>
                <a:cs typeface="Arial"/>
              </a:rPr>
              <a:t>often</a:t>
            </a:r>
            <a:r>
              <a:rPr sz="2000" spc="-80" dirty="0">
                <a:latin typeface="Arial"/>
                <a:cs typeface="Arial"/>
              </a:rPr>
              <a:t> </a:t>
            </a:r>
            <a:r>
              <a:rPr sz="2000" spc="-100" dirty="0">
                <a:latin typeface="Arial"/>
                <a:cs typeface="Arial"/>
              </a:rPr>
              <a:t>placed</a:t>
            </a:r>
            <a:r>
              <a:rPr sz="2000" spc="-80" dirty="0">
                <a:latin typeface="Arial"/>
                <a:cs typeface="Arial"/>
              </a:rPr>
              <a:t> </a:t>
            </a:r>
            <a:r>
              <a:rPr sz="2000" spc="-35" dirty="0">
                <a:latin typeface="Arial"/>
                <a:cs typeface="Arial"/>
              </a:rPr>
              <a:t>in</a:t>
            </a:r>
            <a:r>
              <a:rPr sz="2000" spc="-80" dirty="0">
                <a:latin typeface="Arial"/>
                <a:cs typeface="Arial"/>
              </a:rPr>
              <a:t> </a:t>
            </a:r>
            <a:r>
              <a:rPr sz="2000" spc="-25" dirty="0">
                <a:latin typeface="Arial"/>
                <a:cs typeface="Arial"/>
              </a:rPr>
              <a:t>the </a:t>
            </a:r>
            <a:r>
              <a:rPr sz="2000" dirty="0">
                <a:latin typeface="Arial"/>
                <a:cs typeface="Arial"/>
              </a:rPr>
              <a:t>top/bottom</a:t>
            </a:r>
            <a:r>
              <a:rPr sz="2000" spc="-70" dirty="0">
                <a:latin typeface="Arial"/>
                <a:cs typeface="Arial"/>
              </a:rPr>
              <a:t> </a:t>
            </a:r>
            <a:r>
              <a:rPr sz="2000" spc="-95" dirty="0">
                <a:latin typeface="Arial"/>
                <a:cs typeface="Arial"/>
              </a:rPr>
              <a:t>corners</a:t>
            </a:r>
            <a:r>
              <a:rPr sz="2000" spc="-70" dirty="0">
                <a:latin typeface="Arial"/>
                <a:cs typeface="Arial"/>
              </a:rPr>
              <a:t> </a:t>
            </a:r>
            <a:r>
              <a:rPr sz="2000" spc="-90" dirty="0">
                <a:latin typeface="Arial"/>
                <a:cs typeface="Arial"/>
              </a:rPr>
              <a:t>(e.g.</a:t>
            </a:r>
            <a:r>
              <a:rPr sz="2000" spc="-80" dirty="0">
                <a:latin typeface="Arial"/>
                <a:cs typeface="Arial"/>
              </a:rPr>
              <a:t> </a:t>
            </a:r>
            <a:r>
              <a:rPr sz="2000" spc="-45" dirty="0">
                <a:latin typeface="Arial"/>
                <a:cs typeface="Arial"/>
              </a:rPr>
              <a:t>continent</a:t>
            </a:r>
            <a:r>
              <a:rPr sz="2000" spc="-70" dirty="0">
                <a:latin typeface="Arial"/>
                <a:cs typeface="Arial"/>
              </a:rPr>
              <a:t> </a:t>
            </a:r>
            <a:r>
              <a:rPr sz="2000" spc="-20" dirty="0">
                <a:latin typeface="Arial"/>
                <a:cs typeface="Arial"/>
              </a:rPr>
              <a:t>view </a:t>
            </a:r>
            <a:r>
              <a:rPr sz="2000" spc="-10" dirty="0">
                <a:latin typeface="Arial"/>
                <a:cs typeface="Arial"/>
              </a:rPr>
              <a:t>top</a:t>
            </a:r>
            <a:r>
              <a:rPr sz="2000" spc="-90" dirty="0">
                <a:latin typeface="Arial"/>
                <a:cs typeface="Arial"/>
              </a:rPr>
              <a:t> </a:t>
            </a:r>
            <a:r>
              <a:rPr sz="2000" dirty="0">
                <a:latin typeface="Arial"/>
                <a:cs typeface="Arial"/>
              </a:rPr>
              <a:t>left</a:t>
            </a:r>
            <a:r>
              <a:rPr sz="2000" spc="-85" dirty="0">
                <a:latin typeface="Arial"/>
                <a:cs typeface="Arial"/>
              </a:rPr>
              <a:t> </a:t>
            </a:r>
            <a:r>
              <a:rPr sz="2000" spc="-105" dirty="0">
                <a:latin typeface="Arial"/>
                <a:cs typeface="Arial"/>
              </a:rPr>
              <a:t>and</a:t>
            </a:r>
            <a:r>
              <a:rPr sz="2000" spc="-90" dirty="0">
                <a:latin typeface="Arial"/>
                <a:cs typeface="Arial"/>
              </a:rPr>
              <a:t> </a:t>
            </a:r>
            <a:r>
              <a:rPr sz="2000" spc="-114" dirty="0">
                <a:latin typeface="Arial"/>
                <a:cs typeface="Arial"/>
              </a:rPr>
              <a:t>zoomed</a:t>
            </a:r>
            <a:r>
              <a:rPr sz="2000" spc="-85" dirty="0">
                <a:latin typeface="Arial"/>
                <a:cs typeface="Arial"/>
              </a:rPr>
              <a:t> </a:t>
            </a:r>
            <a:r>
              <a:rPr sz="2000" spc="-75" dirty="0">
                <a:latin typeface="Arial"/>
                <a:cs typeface="Arial"/>
              </a:rPr>
              <a:t>view</a:t>
            </a:r>
            <a:r>
              <a:rPr sz="2000" spc="-95" dirty="0">
                <a:latin typeface="Arial"/>
                <a:cs typeface="Arial"/>
              </a:rPr>
              <a:t> </a:t>
            </a:r>
            <a:r>
              <a:rPr sz="2000" spc="-35" dirty="0">
                <a:latin typeface="Arial"/>
                <a:cs typeface="Arial"/>
              </a:rPr>
              <a:t>in</a:t>
            </a:r>
            <a:r>
              <a:rPr sz="2000" spc="-90" dirty="0">
                <a:latin typeface="Arial"/>
                <a:cs typeface="Arial"/>
              </a:rPr>
              <a:t> </a:t>
            </a:r>
            <a:r>
              <a:rPr sz="2000" spc="-10" dirty="0">
                <a:latin typeface="Arial"/>
                <a:cs typeface="Arial"/>
              </a:rPr>
              <a:t>bottom right).</a:t>
            </a:r>
            <a:endParaRPr sz="2000" dirty="0">
              <a:latin typeface="Arial"/>
              <a:cs typeface="Arial"/>
            </a:endParaRPr>
          </a:p>
          <a:p>
            <a:pPr marL="269240" marR="314325" indent="-257175">
              <a:lnSpc>
                <a:spcPct val="100000"/>
              </a:lnSpc>
              <a:spcBef>
                <a:spcPts val="405"/>
              </a:spcBef>
              <a:buChar char="•"/>
              <a:tabLst>
                <a:tab pos="269240" algn="l"/>
              </a:tabLst>
            </a:pPr>
            <a:r>
              <a:rPr sz="2000" spc="-50" dirty="0">
                <a:latin typeface="Arial"/>
                <a:cs typeface="Arial"/>
              </a:rPr>
              <a:t>Main</a:t>
            </a:r>
            <a:r>
              <a:rPr sz="2000" spc="-105" dirty="0">
                <a:latin typeface="Arial"/>
                <a:cs typeface="Arial"/>
              </a:rPr>
              <a:t> </a:t>
            </a:r>
            <a:r>
              <a:rPr sz="2000" spc="-100" dirty="0">
                <a:latin typeface="Arial"/>
                <a:cs typeface="Arial"/>
              </a:rPr>
              <a:t>map</a:t>
            </a:r>
            <a:r>
              <a:rPr sz="2000" spc="-105" dirty="0">
                <a:latin typeface="Arial"/>
                <a:cs typeface="Arial"/>
              </a:rPr>
              <a:t> </a:t>
            </a:r>
            <a:r>
              <a:rPr sz="2000" spc="-30" dirty="0">
                <a:latin typeface="Arial"/>
                <a:cs typeface="Arial"/>
              </a:rPr>
              <a:t>often</a:t>
            </a:r>
            <a:r>
              <a:rPr sz="2000" spc="-105" dirty="0">
                <a:latin typeface="Arial"/>
                <a:cs typeface="Arial"/>
              </a:rPr>
              <a:t> placed</a:t>
            </a:r>
            <a:r>
              <a:rPr sz="2000" spc="-100" dirty="0">
                <a:latin typeface="Arial"/>
                <a:cs typeface="Arial"/>
              </a:rPr>
              <a:t> </a:t>
            </a:r>
            <a:r>
              <a:rPr sz="2000" spc="-40" dirty="0">
                <a:latin typeface="Arial"/>
                <a:cs typeface="Arial"/>
              </a:rPr>
              <a:t>in</a:t>
            </a:r>
            <a:r>
              <a:rPr sz="2000" spc="-105" dirty="0">
                <a:latin typeface="Arial"/>
                <a:cs typeface="Arial"/>
              </a:rPr>
              <a:t> </a:t>
            </a:r>
            <a:r>
              <a:rPr sz="2000" spc="-70" dirty="0">
                <a:latin typeface="Arial"/>
                <a:cs typeface="Arial"/>
              </a:rPr>
              <a:t>center</a:t>
            </a:r>
            <a:r>
              <a:rPr sz="2000" spc="-105" dirty="0">
                <a:latin typeface="Arial"/>
                <a:cs typeface="Arial"/>
              </a:rPr>
              <a:t> </a:t>
            </a:r>
            <a:r>
              <a:rPr sz="2000" spc="-55" dirty="0">
                <a:latin typeface="Arial"/>
                <a:cs typeface="Arial"/>
              </a:rPr>
              <a:t>(usually </a:t>
            </a:r>
            <a:r>
              <a:rPr sz="2000" spc="-90" dirty="0">
                <a:latin typeface="Arial"/>
                <a:cs typeface="Arial"/>
              </a:rPr>
              <a:t>largest </a:t>
            </a:r>
            <a:r>
              <a:rPr sz="2000" dirty="0">
                <a:latin typeface="Arial"/>
                <a:cs typeface="Arial"/>
              </a:rPr>
              <a:t>&amp;</a:t>
            </a:r>
            <a:r>
              <a:rPr sz="2000" spc="-100" dirty="0">
                <a:latin typeface="Arial"/>
                <a:cs typeface="Arial"/>
              </a:rPr>
              <a:t> </a:t>
            </a:r>
            <a:r>
              <a:rPr sz="2000" spc="-70" dirty="0">
                <a:latin typeface="Arial"/>
                <a:cs typeface="Arial"/>
              </a:rPr>
              <a:t>most</a:t>
            </a:r>
            <a:r>
              <a:rPr sz="2000" spc="-90" dirty="0">
                <a:latin typeface="Arial"/>
                <a:cs typeface="Arial"/>
              </a:rPr>
              <a:t> </a:t>
            </a:r>
            <a:r>
              <a:rPr sz="2000" spc="-10" dirty="0">
                <a:latin typeface="Arial"/>
                <a:cs typeface="Arial"/>
              </a:rPr>
              <a:t>detailed).</a:t>
            </a:r>
            <a:endParaRPr sz="2000" dirty="0">
              <a:latin typeface="Arial"/>
              <a:cs typeface="Arial"/>
            </a:endParaRPr>
          </a:p>
          <a:p>
            <a:pPr marL="269240" marR="5080" indent="-257175">
              <a:lnSpc>
                <a:spcPct val="100000"/>
              </a:lnSpc>
              <a:spcBef>
                <a:spcPts val="480"/>
              </a:spcBef>
              <a:buChar char="•"/>
              <a:tabLst>
                <a:tab pos="269240" algn="l"/>
              </a:tabLst>
            </a:pPr>
            <a:r>
              <a:rPr sz="2000" spc="-150" dirty="0">
                <a:latin typeface="Arial"/>
                <a:cs typeface="Arial"/>
              </a:rPr>
              <a:t>Legend</a:t>
            </a:r>
            <a:r>
              <a:rPr sz="2000" spc="-105" dirty="0">
                <a:latin typeface="Arial"/>
                <a:cs typeface="Arial"/>
              </a:rPr>
              <a:t> </a:t>
            </a:r>
            <a:r>
              <a:rPr sz="2000" spc="-120" dirty="0">
                <a:latin typeface="Arial"/>
                <a:cs typeface="Arial"/>
              </a:rPr>
              <a:t>is</a:t>
            </a:r>
            <a:r>
              <a:rPr sz="2000" spc="-100" dirty="0">
                <a:latin typeface="Arial"/>
                <a:cs typeface="Arial"/>
              </a:rPr>
              <a:t> </a:t>
            </a:r>
            <a:r>
              <a:rPr sz="2000" spc="-85" dirty="0">
                <a:latin typeface="Arial"/>
                <a:cs typeface="Arial"/>
              </a:rPr>
              <a:t>tucked</a:t>
            </a:r>
            <a:r>
              <a:rPr sz="2000" spc="-100" dirty="0">
                <a:latin typeface="Arial"/>
                <a:cs typeface="Arial"/>
              </a:rPr>
              <a:t> </a:t>
            </a:r>
            <a:r>
              <a:rPr sz="2000" spc="-20" dirty="0">
                <a:latin typeface="Arial"/>
                <a:cs typeface="Arial"/>
              </a:rPr>
              <a:t>into</a:t>
            </a:r>
            <a:r>
              <a:rPr sz="2000" spc="-110" dirty="0">
                <a:latin typeface="Arial"/>
                <a:cs typeface="Arial"/>
              </a:rPr>
              <a:t> </a:t>
            </a:r>
            <a:r>
              <a:rPr sz="2000" spc="-35" dirty="0">
                <a:latin typeface="Arial"/>
                <a:cs typeface="Arial"/>
              </a:rPr>
              <a:t>the</a:t>
            </a:r>
            <a:r>
              <a:rPr sz="2000" spc="-100" dirty="0">
                <a:latin typeface="Arial"/>
                <a:cs typeface="Arial"/>
              </a:rPr>
              <a:t> </a:t>
            </a:r>
            <a:r>
              <a:rPr sz="2000" spc="-75" dirty="0">
                <a:latin typeface="Arial"/>
                <a:cs typeface="Arial"/>
              </a:rPr>
              <a:t>main</a:t>
            </a:r>
            <a:r>
              <a:rPr sz="2000" spc="-100" dirty="0">
                <a:latin typeface="Arial"/>
                <a:cs typeface="Arial"/>
              </a:rPr>
              <a:t> map</a:t>
            </a:r>
            <a:r>
              <a:rPr sz="2000" spc="-105" dirty="0">
                <a:latin typeface="Arial"/>
                <a:cs typeface="Arial"/>
              </a:rPr>
              <a:t> </a:t>
            </a:r>
            <a:r>
              <a:rPr sz="2000" spc="-10" dirty="0">
                <a:latin typeface="Arial"/>
                <a:cs typeface="Arial"/>
              </a:rPr>
              <a:t>for</a:t>
            </a:r>
            <a:r>
              <a:rPr sz="2000" spc="-105" dirty="0">
                <a:latin typeface="Arial"/>
                <a:cs typeface="Arial"/>
              </a:rPr>
              <a:t> easy </a:t>
            </a:r>
            <a:r>
              <a:rPr sz="2000" spc="-95" dirty="0">
                <a:latin typeface="Arial"/>
                <a:cs typeface="Arial"/>
              </a:rPr>
              <a:t>comparison</a:t>
            </a:r>
            <a:r>
              <a:rPr sz="2000" spc="-85" dirty="0">
                <a:latin typeface="Arial"/>
                <a:cs typeface="Arial"/>
              </a:rPr>
              <a:t> </a:t>
            </a:r>
            <a:r>
              <a:rPr sz="2000" dirty="0">
                <a:latin typeface="Arial"/>
                <a:cs typeface="Arial"/>
              </a:rPr>
              <a:t>with</a:t>
            </a:r>
            <a:r>
              <a:rPr sz="2000" spc="-85" dirty="0">
                <a:latin typeface="Arial"/>
                <a:cs typeface="Arial"/>
              </a:rPr>
              <a:t> </a:t>
            </a:r>
            <a:r>
              <a:rPr sz="2000" spc="-35" dirty="0">
                <a:latin typeface="Arial"/>
                <a:cs typeface="Arial"/>
              </a:rPr>
              <a:t>the</a:t>
            </a:r>
            <a:r>
              <a:rPr sz="2000" spc="-80" dirty="0">
                <a:latin typeface="Arial"/>
                <a:cs typeface="Arial"/>
              </a:rPr>
              <a:t> </a:t>
            </a:r>
            <a:r>
              <a:rPr sz="2000" spc="-20" dirty="0">
                <a:latin typeface="Arial"/>
                <a:cs typeface="Arial"/>
              </a:rPr>
              <a:t>data.</a:t>
            </a:r>
            <a:endParaRPr sz="2000" dirty="0">
              <a:latin typeface="Arial"/>
              <a:cs typeface="Arial"/>
            </a:endParaRPr>
          </a:p>
          <a:p>
            <a:pPr marL="269240" marR="142240" indent="-257175">
              <a:lnSpc>
                <a:spcPct val="100000"/>
              </a:lnSpc>
              <a:spcBef>
                <a:spcPts val="505"/>
              </a:spcBef>
              <a:buChar char="•"/>
              <a:tabLst>
                <a:tab pos="269240" algn="l"/>
              </a:tabLst>
            </a:pPr>
            <a:r>
              <a:rPr sz="2000" spc="-185" dirty="0">
                <a:latin typeface="Arial"/>
                <a:cs typeface="Arial"/>
              </a:rPr>
              <a:t>Scale</a:t>
            </a:r>
            <a:r>
              <a:rPr sz="2000" spc="-95" dirty="0">
                <a:latin typeface="Arial"/>
                <a:cs typeface="Arial"/>
              </a:rPr>
              <a:t> </a:t>
            </a:r>
            <a:r>
              <a:rPr sz="2000" spc="-114" dirty="0">
                <a:latin typeface="Arial"/>
                <a:cs typeface="Arial"/>
              </a:rPr>
              <a:t>bars</a:t>
            </a:r>
            <a:r>
              <a:rPr sz="2000" spc="-90" dirty="0">
                <a:latin typeface="Arial"/>
                <a:cs typeface="Arial"/>
              </a:rPr>
              <a:t> </a:t>
            </a:r>
            <a:r>
              <a:rPr sz="2000" spc="-100" dirty="0">
                <a:latin typeface="Arial"/>
                <a:cs typeface="Arial"/>
              </a:rPr>
              <a:t>and</a:t>
            </a:r>
            <a:r>
              <a:rPr sz="2000" spc="-95" dirty="0">
                <a:latin typeface="Arial"/>
                <a:cs typeface="Arial"/>
              </a:rPr>
              <a:t> </a:t>
            </a:r>
            <a:r>
              <a:rPr sz="2000" spc="-20" dirty="0">
                <a:latin typeface="Arial"/>
                <a:cs typeface="Arial"/>
              </a:rPr>
              <a:t>north</a:t>
            </a:r>
            <a:r>
              <a:rPr sz="2000" spc="-100" dirty="0">
                <a:latin typeface="Arial"/>
                <a:cs typeface="Arial"/>
              </a:rPr>
              <a:t> </a:t>
            </a:r>
            <a:r>
              <a:rPr sz="2000" spc="-85" dirty="0">
                <a:latin typeface="Arial"/>
                <a:cs typeface="Arial"/>
              </a:rPr>
              <a:t>arrows</a:t>
            </a:r>
            <a:r>
              <a:rPr sz="2000" spc="-90" dirty="0">
                <a:latin typeface="Arial"/>
                <a:cs typeface="Arial"/>
              </a:rPr>
              <a:t> </a:t>
            </a:r>
            <a:r>
              <a:rPr sz="2000" spc="-50" dirty="0">
                <a:latin typeface="Arial"/>
                <a:cs typeface="Arial"/>
              </a:rPr>
              <a:t>shouldn’t</a:t>
            </a:r>
            <a:r>
              <a:rPr sz="2000" spc="-90" dirty="0">
                <a:latin typeface="Arial"/>
                <a:cs typeface="Arial"/>
              </a:rPr>
              <a:t> </a:t>
            </a:r>
            <a:r>
              <a:rPr sz="2000" spc="-105" dirty="0">
                <a:latin typeface="Arial"/>
                <a:cs typeface="Arial"/>
              </a:rPr>
              <a:t>be</a:t>
            </a:r>
            <a:r>
              <a:rPr sz="2000" spc="-95" dirty="0">
                <a:latin typeface="Arial"/>
                <a:cs typeface="Arial"/>
              </a:rPr>
              <a:t> </a:t>
            </a:r>
            <a:r>
              <a:rPr sz="2000" spc="-50" dirty="0">
                <a:latin typeface="Arial"/>
                <a:cs typeface="Arial"/>
              </a:rPr>
              <a:t>a </a:t>
            </a:r>
            <a:r>
              <a:rPr sz="2000" spc="-55" dirty="0">
                <a:latin typeface="Arial"/>
                <a:cs typeface="Arial"/>
              </a:rPr>
              <a:t>distraction</a:t>
            </a:r>
            <a:r>
              <a:rPr sz="2000" spc="-100" dirty="0">
                <a:latin typeface="Arial"/>
                <a:cs typeface="Arial"/>
              </a:rPr>
              <a:t> </a:t>
            </a:r>
            <a:r>
              <a:rPr sz="2000" spc="-25" dirty="0">
                <a:latin typeface="Arial"/>
                <a:cs typeface="Arial"/>
              </a:rPr>
              <a:t>from</a:t>
            </a:r>
            <a:r>
              <a:rPr sz="2000" spc="-100" dirty="0">
                <a:latin typeface="Arial"/>
                <a:cs typeface="Arial"/>
              </a:rPr>
              <a:t> </a:t>
            </a:r>
            <a:r>
              <a:rPr sz="2000" spc="-35" dirty="0">
                <a:latin typeface="Arial"/>
                <a:cs typeface="Arial"/>
              </a:rPr>
              <a:t>the</a:t>
            </a:r>
            <a:r>
              <a:rPr sz="2000" spc="-90" dirty="0">
                <a:latin typeface="Arial"/>
                <a:cs typeface="Arial"/>
              </a:rPr>
              <a:t> </a:t>
            </a:r>
            <a:r>
              <a:rPr sz="2000" spc="-75" dirty="0">
                <a:latin typeface="Arial"/>
                <a:cs typeface="Arial"/>
              </a:rPr>
              <a:t>main</a:t>
            </a:r>
            <a:r>
              <a:rPr sz="2000" spc="-100" dirty="0">
                <a:latin typeface="Arial"/>
                <a:cs typeface="Arial"/>
              </a:rPr>
              <a:t> </a:t>
            </a:r>
            <a:r>
              <a:rPr sz="2000" spc="-20" dirty="0">
                <a:latin typeface="Arial"/>
                <a:cs typeface="Arial"/>
              </a:rPr>
              <a:t>map.</a:t>
            </a:r>
            <a:endParaRPr sz="2000" dirty="0">
              <a:latin typeface="Arial"/>
              <a:cs typeface="Arial"/>
            </a:endParaRPr>
          </a:p>
          <a:p>
            <a:pPr marL="269240" indent="-256540">
              <a:lnSpc>
                <a:spcPct val="100000"/>
              </a:lnSpc>
              <a:spcBef>
                <a:spcPts val="505"/>
              </a:spcBef>
              <a:buChar char="•"/>
              <a:tabLst>
                <a:tab pos="269240" algn="l"/>
              </a:tabLst>
            </a:pPr>
            <a:r>
              <a:rPr sz="2000" spc="-160" dirty="0">
                <a:latin typeface="Arial"/>
                <a:cs typeface="Arial"/>
              </a:rPr>
              <a:t>Sources</a:t>
            </a:r>
            <a:r>
              <a:rPr sz="2000" spc="-85" dirty="0">
                <a:latin typeface="Arial"/>
                <a:cs typeface="Arial"/>
              </a:rPr>
              <a:t> </a:t>
            </a:r>
            <a:r>
              <a:rPr sz="2000" spc="-90" dirty="0">
                <a:latin typeface="Arial"/>
                <a:cs typeface="Arial"/>
              </a:rPr>
              <a:t>should </a:t>
            </a:r>
            <a:r>
              <a:rPr sz="2000" spc="-45" dirty="0">
                <a:latin typeface="Arial"/>
                <a:cs typeface="Arial"/>
              </a:rPr>
              <a:t>run</a:t>
            </a:r>
            <a:r>
              <a:rPr sz="2000" spc="-90" dirty="0">
                <a:latin typeface="Arial"/>
                <a:cs typeface="Arial"/>
              </a:rPr>
              <a:t> </a:t>
            </a:r>
            <a:r>
              <a:rPr sz="2000" spc="-100" dirty="0">
                <a:latin typeface="Arial"/>
                <a:cs typeface="Arial"/>
              </a:rPr>
              <a:t>along</a:t>
            </a:r>
            <a:r>
              <a:rPr sz="2000" spc="-95" dirty="0">
                <a:latin typeface="Arial"/>
                <a:cs typeface="Arial"/>
              </a:rPr>
              <a:t> </a:t>
            </a:r>
            <a:r>
              <a:rPr sz="2000" spc="-35" dirty="0">
                <a:latin typeface="Arial"/>
                <a:cs typeface="Arial"/>
              </a:rPr>
              <a:t>the</a:t>
            </a:r>
            <a:r>
              <a:rPr sz="2000" spc="-85" dirty="0">
                <a:latin typeface="Arial"/>
                <a:cs typeface="Arial"/>
              </a:rPr>
              <a:t> </a:t>
            </a:r>
            <a:r>
              <a:rPr sz="2000" spc="-10" dirty="0">
                <a:latin typeface="Arial"/>
                <a:cs typeface="Arial"/>
              </a:rPr>
              <a:t>bottom.</a:t>
            </a:r>
            <a:endParaRPr sz="2000" dirty="0">
              <a:latin typeface="Arial"/>
              <a:cs typeface="Arial"/>
            </a:endParaRPr>
          </a:p>
        </p:txBody>
      </p:sp>
      <p:pic>
        <p:nvPicPr>
          <p:cNvPr id="9" name="object 9"/>
          <p:cNvPicPr/>
          <p:nvPr/>
        </p:nvPicPr>
        <p:blipFill>
          <a:blip r:embed="rId2" cstate="print"/>
          <a:stretch>
            <a:fillRect/>
          </a:stretch>
        </p:blipFill>
        <p:spPr>
          <a:xfrm>
            <a:off x="5862326" y="2066729"/>
            <a:ext cx="2666994" cy="4000498"/>
          </a:xfrm>
          <a:prstGeom prst="rect">
            <a:avLst/>
          </a:prstGeom>
        </p:spPr>
      </p:pic>
      <p:sp>
        <p:nvSpPr>
          <p:cNvPr id="11" name="object 11"/>
          <p:cNvSpPr txBox="1"/>
          <p:nvPr/>
        </p:nvSpPr>
        <p:spPr>
          <a:xfrm>
            <a:off x="8765540" y="6040628"/>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Arial"/>
                <a:cs typeface="Arial"/>
              </a:rPr>
              <a:t>69</a:t>
            </a:r>
            <a:endParaRPr sz="12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685800" y="555666"/>
            <a:ext cx="8686800" cy="1219200"/>
          </a:xfrm>
        </p:spPr>
        <p:txBody>
          <a:bodyPr>
            <a:noAutofit/>
          </a:bodyPr>
          <a:lstStyle/>
          <a:p>
            <a:r>
              <a:rPr lang="en-US" sz="3600" dirty="0"/>
              <a:t>Choropleth:  Families Below Poverty in Chicago</a:t>
            </a:r>
          </a:p>
        </p:txBody>
      </p:sp>
      <p:sp>
        <p:nvSpPr>
          <p:cNvPr id="38915" name="Rectangle 1027"/>
          <p:cNvSpPr>
            <a:spLocks noGrp="1" noChangeArrowheads="1"/>
          </p:cNvSpPr>
          <p:nvPr>
            <p:ph idx="1"/>
          </p:nvPr>
        </p:nvSpPr>
        <p:spPr>
          <a:xfrm>
            <a:off x="304800" y="2209800"/>
            <a:ext cx="4495800" cy="4419600"/>
          </a:xfrm>
        </p:spPr>
        <p:txBody>
          <a:bodyPr/>
          <a:lstStyle/>
          <a:p>
            <a:r>
              <a:rPr lang="en-US" dirty="0"/>
              <a:t>Socioeconomic</a:t>
            </a:r>
          </a:p>
          <a:p>
            <a:pPr lvl="2"/>
            <a:r>
              <a:rPr lang="en-US" sz="1000" dirty="0"/>
              <a:t>2000 Census data</a:t>
            </a:r>
          </a:p>
          <a:p>
            <a:pPr lvl="2"/>
            <a:r>
              <a:rPr lang="en-US" sz="1000" dirty="0"/>
              <a:t>Unit – Census Tract</a:t>
            </a:r>
          </a:p>
          <a:p>
            <a:pPr lvl="2">
              <a:buNone/>
            </a:pPr>
            <a:endParaRPr lang="en-US" dirty="0"/>
          </a:p>
          <a:p>
            <a:pPr lvl="2">
              <a:buNone/>
            </a:pPr>
            <a:r>
              <a:rPr lang="en-US" dirty="0"/>
              <a:t>% Families below poverty level</a:t>
            </a:r>
          </a:p>
          <a:p>
            <a:pPr lvl="2"/>
            <a:endParaRPr lang="en-US" dirty="0"/>
          </a:p>
          <a:p>
            <a:pPr lvl="2"/>
            <a:endParaRPr lang="en-US" dirty="0"/>
          </a:p>
        </p:txBody>
      </p:sp>
      <p:graphicFrame>
        <p:nvGraphicFramePr>
          <p:cNvPr id="38916" name="Object 1028"/>
          <p:cNvGraphicFramePr>
            <a:graphicFrameLocks noChangeAspect="1"/>
          </p:cNvGraphicFramePr>
          <p:nvPr/>
        </p:nvGraphicFramePr>
        <p:xfrm>
          <a:off x="4724400" y="1981200"/>
          <a:ext cx="3810000" cy="4583458"/>
        </p:xfrm>
        <a:graphic>
          <a:graphicData uri="http://schemas.openxmlformats.org/presentationml/2006/ole">
            <mc:AlternateContent xmlns:mc="http://schemas.openxmlformats.org/markup-compatibility/2006">
              <mc:Choice xmlns:v="urn:schemas-microsoft-com:vml" Requires="v">
                <p:oleObj name="Photo Editor Photo" r:id="rId2" imgW="5753903" imgH="6923810" progId="MSPhotoEd.3">
                  <p:embed/>
                </p:oleObj>
              </mc:Choice>
              <mc:Fallback>
                <p:oleObj name="Photo Editor Photo" r:id="rId2" imgW="5753903" imgH="6923810" progId="MSPhotoEd.3">
                  <p:embed/>
                  <p:pic>
                    <p:nvPicPr>
                      <p:cNvPr id="38916" name="Object 1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81200"/>
                        <a:ext cx="3810000" cy="4583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029"/>
          <p:cNvGrpSpPr>
            <a:grpSpLocks/>
          </p:cNvGrpSpPr>
          <p:nvPr/>
        </p:nvGrpSpPr>
        <p:grpSpPr bwMode="auto">
          <a:xfrm>
            <a:off x="4495800" y="3276600"/>
            <a:ext cx="4454525" cy="3292475"/>
            <a:chOff x="2832" y="1728"/>
            <a:chExt cx="2806" cy="2074"/>
          </a:xfrm>
        </p:grpSpPr>
        <p:grpSp>
          <p:nvGrpSpPr>
            <p:cNvPr id="3" name="Group 1030"/>
            <p:cNvGrpSpPr>
              <a:grpSpLocks/>
            </p:cNvGrpSpPr>
            <p:nvPr/>
          </p:nvGrpSpPr>
          <p:grpSpPr bwMode="auto">
            <a:xfrm>
              <a:off x="3024" y="1920"/>
              <a:ext cx="2614" cy="1882"/>
              <a:chOff x="3024" y="1920"/>
              <a:chExt cx="2614" cy="1882"/>
            </a:xfrm>
          </p:grpSpPr>
          <p:sp>
            <p:nvSpPr>
              <p:cNvPr id="38919" name="Line 1031"/>
              <p:cNvSpPr>
                <a:spLocks noChangeShapeType="1"/>
              </p:cNvSpPr>
              <p:nvPr/>
            </p:nvSpPr>
            <p:spPr bwMode="auto">
              <a:xfrm flipV="1">
                <a:off x="3552" y="2208"/>
                <a:ext cx="528" cy="240"/>
              </a:xfrm>
              <a:prstGeom prst="line">
                <a:avLst/>
              </a:prstGeom>
              <a:noFill/>
              <a:ln w="9525">
                <a:solidFill>
                  <a:schemeClr val="tx1"/>
                </a:solidFill>
                <a:round/>
                <a:headEnd/>
                <a:tailEnd type="triangle" w="med" len="med"/>
              </a:ln>
              <a:effectLst/>
            </p:spPr>
            <p:txBody>
              <a:bodyPr/>
              <a:lstStyle/>
              <a:p>
                <a:endParaRPr lang="en-US" dirty="0"/>
              </a:p>
            </p:txBody>
          </p:sp>
          <p:sp>
            <p:nvSpPr>
              <p:cNvPr id="38920" name="Line 1032"/>
              <p:cNvSpPr>
                <a:spLocks noChangeShapeType="1"/>
              </p:cNvSpPr>
              <p:nvPr/>
            </p:nvSpPr>
            <p:spPr bwMode="auto">
              <a:xfrm flipV="1">
                <a:off x="3648" y="2016"/>
                <a:ext cx="288" cy="48"/>
              </a:xfrm>
              <a:prstGeom prst="line">
                <a:avLst/>
              </a:prstGeom>
              <a:noFill/>
              <a:ln w="9525">
                <a:solidFill>
                  <a:schemeClr val="tx1"/>
                </a:solidFill>
                <a:round/>
                <a:headEnd/>
                <a:tailEnd type="triangle" w="med" len="med"/>
              </a:ln>
              <a:effectLst/>
            </p:spPr>
            <p:txBody>
              <a:bodyPr/>
              <a:lstStyle/>
              <a:p>
                <a:endParaRPr lang="en-US" dirty="0"/>
              </a:p>
            </p:txBody>
          </p:sp>
          <p:sp>
            <p:nvSpPr>
              <p:cNvPr id="38921" name="Line 1033"/>
              <p:cNvSpPr>
                <a:spLocks noChangeShapeType="1"/>
              </p:cNvSpPr>
              <p:nvPr/>
            </p:nvSpPr>
            <p:spPr bwMode="auto">
              <a:xfrm flipV="1">
                <a:off x="3744" y="2544"/>
                <a:ext cx="672" cy="480"/>
              </a:xfrm>
              <a:prstGeom prst="line">
                <a:avLst/>
              </a:prstGeom>
              <a:noFill/>
              <a:ln w="9525">
                <a:solidFill>
                  <a:schemeClr val="tx1"/>
                </a:solidFill>
                <a:round/>
                <a:headEnd/>
                <a:tailEnd type="triangle" w="med" len="med"/>
              </a:ln>
              <a:effectLst/>
            </p:spPr>
            <p:txBody>
              <a:bodyPr/>
              <a:lstStyle/>
              <a:p>
                <a:endParaRPr lang="en-US" dirty="0"/>
              </a:p>
            </p:txBody>
          </p:sp>
          <p:sp>
            <p:nvSpPr>
              <p:cNvPr id="38922" name="Line 1034"/>
              <p:cNvSpPr>
                <a:spLocks noChangeShapeType="1"/>
              </p:cNvSpPr>
              <p:nvPr/>
            </p:nvSpPr>
            <p:spPr bwMode="auto">
              <a:xfrm flipV="1">
                <a:off x="3888" y="2784"/>
                <a:ext cx="528" cy="432"/>
              </a:xfrm>
              <a:prstGeom prst="line">
                <a:avLst/>
              </a:prstGeom>
              <a:noFill/>
              <a:ln w="9525">
                <a:solidFill>
                  <a:schemeClr val="tx1"/>
                </a:solidFill>
                <a:round/>
                <a:headEnd/>
                <a:tailEnd type="triangle" w="med" len="med"/>
              </a:ln>
              <a:effectLst/>
            </p:spPr>
            <p:txBody>
              <a:bodyPr/>
              <a:lstStyle/>
              <a:p>
                <a:endParaRPr lang="en-US" dirty="0"/>
              </a:p>
            </p:txBody>
          </p:sp>
          <p:sp>
            <p:nvSpPr>
              <p:cNvPr id="38923" name="Line 1035"/>
              <p:cNvSpPr>
                <a:spLocks noChangeShapeType="1"/>
              </p:cNvSpPr>
              <p:nvPr/>
            </p:nvSpPr>
            <p:spPr bwMode="auto">
              <a:xfrm flipV="1">
                <a:off x="3888" y="2784"/>
                <a:ext cx="672" cy="720"/>
              </a:xfrm>
              <a:prstGeom prst="line">
                <a:avLst/>
              </a:prstGeom>
              <a:noFill/>
              <a:ln w="9525">
                <a:solidFill>
                  <a:schemeClr val="tx1"/>
                </a:solidFill>
                <a:round/>
                <a:headEnd/>
                <a:tailEnd type="triangle" w="med" len="med"/>
              </a:ln>
              <a:effectLst/>
            </p:spPr>
            <p:txBody>
              <a:bodyPr/>
              <a:lstStyle/>
              <a:p>
                <a:endParaRPr lang="en-US" dirty="0"/>
              </a:p>
            </p:txBody>
          </p:sp>
          <p:sp>
            <p:nvSpPr>
              <p:cNvPr id="38924" name="Line 1036"/>
              <p:cNvSpPr>
                <a:spLocks noChangeShapeType="1"/>
              </p:cNvSpPr>
              <p:nvPr/>
            </p:nvSpPr>
            <p:spPr bwMode="auto">
              <a:xfrm flipH="1">
                <a:off x="4656" y="2352"/>
                <a:ext cx="384" cy="144"/>
              </a:xfrm>
              <a:prstGeom prst="line">
                <a:avLst/>
              </a:prstGeom>
              <a:noFill/>
              <a:ln w="9525">
                <a:solidFill>
                  <a:schemeClr val="tx1"/>
                </a:solidFill>
                <a:round/>
                <a:headEnd/>
                <a:tailEnd type="triangle" w="med" len="med"/>
              </a:ln>
              <a:effectLst/>
            </p:spPr>
            <p:txBody>
              <a:bodyPr/>
              <a:lstStyle/>
              <a:p>
                <a:endParaRPr lang="en-US" dirty="0"/>
              </a:p>
            </p:txBody>
          </p:sp>
          <p:sp>
            <p:nvSpPr>
              <p:cNvPr id="38925" name="Line 1037"/>
              <p:cNvSpPr>
                <a:spLocks noChangeShapeType="1"/>
              </p:cNvSpPr>
              <p:nvPr/>
            </p:nvSpPr>
            <p:spPr bwMode="auto">
              <a:xfrm flipH="1">
                <a:off x="4704" y="2544"/>
                <a:ext cx="288" cy="96"/>
              </a:xfrm>
              <a:prstGeom prst="line">
                <a:avLst/>
              </a:prstGeom>
              <a:noFill/>
              <a:ln w="9525">
                <a:solidFill>
                  <a:schemeClr val="tx1"/>
                </a:solidFill>
                <a:round/>
                <a:headEnd/>
                <a:tailEnd type="triangle" w="med" len="med"/>
              </a:ln>
              <a:effectLst/>
            </p:spPr>
            <p:txBody>
              <a:bodyPr/>
              <a:lstStyle/>
              <a:p>
                <a:endParaRPr lang="en-US" dirty="0"/>
              </a:p>
            </p:txBody>
          </p:sp>
          <p:sp>
            <p:nvSpPr>
              <p:cNvPr id="38926" name="Text Box 1038"/>
              <p:cNvSpPr txBox="1">
                <a:spLocks noChangeArrowheads="1"/>
              </p:cNvSpPr>
              <p:nvPr/>
            </p:nvSpPr>
            <p:spPr bwMode="auto">
              <a:xfrm>
                <a:off x="3264" y="2016"/>
                <a:ext cx="414"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AUSTIN</a:t>
                </a:r>
              </a:p>
            </p:txBody>
          </p:sp>
          <p:sp>
            <p:nvSpPr>
              <p:cNvPr id="38927" name="Text Box 1039"/>
              <p:cNvSpPr txBox="1">
                <a:spLocks noChangeArrowheads="1"/>
              </p:cNvSpPr>
              <p:nvPr/>
            </p:nvSpPr>
            <p:spPr bwMode="auto">
              <a:xfrm>
                <a:off x="3024" y="2352"/>
                <a:ext cx="575"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NORTH </a:t>
                </a:r>
              </a:p>
              <a:p>
                <a:pPr eaLnBrk="0" hangingPunct="0"/>
                <a:r>
                  <a:rPr lang="en-US" sz="1000" b="1" dirty="0">
                    <a:latin typeface="Arial" pitchFamily="34" charset="0"/>
                  </a:rPr>
                  <a:t>LAWNDALE</a:t>
                </a:r>
              </a:p>
            </p:txBody>
          </p:sp>
          <p:sp>
            <p:nvSpPr>
              <p:cNvPr id="38928" name="Text Box 1040"/>
              <p:cNvSpPr txBox="1">
                <a:spLocks noChangeArrowheads="1"/>
              </p:cNvSpPr>
              <p:nvPr/>
            </p:nvSpPr>
            <p:spPr bwMode="auto">
              <a:xfrm>
                <a:off x="3168" y="2880"/>
                <a:ext cx="507"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NEW CITY</a:t>
                </a:r>
              </a:p>
            </p:txBody>
          </p:sp>
          <p:sp>
            <p:nvSpPr>
              <p:cNvPr id="38929" name="Text Box 1041"/>
              <p:cNvSpPr txBox="1">
                <a:spLocks noChangeArrowheads="1"/>
              </p:cNvSpPr>
              <p:nvPr/>
            </p:nvSpPr>
            <p:spPr bwMode="auto">
              <a:xfrm>
                <a:off x="3312" y="3120"/>
                <a:ext cx="649"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WEST</a:t>
                </a:r>
              </a:p>
              <a:p>
                <a:pPr eaLnBrk="0" hangingPunct="0"/>
                <a:r>
                  <a:rPr lang="en-US" sz="1000" b="1" dirty="0">
                    <a:latin typeface="Arial" pitchFamily="34" charset="0"/>
                  </a:rPr>
                  <a:t>ENGLEWOOD</a:t>
                </a:r>
              </a:p>
            </p:txBody>
          </p:sp>
          <p:sp>
            <p:nvSpPr>
              <p:cNvPr id="38930" name="Text Box 1042"/>
              <p:cNvSpPr txBox="1">
                <a:spLocks noChangeArrowheads="1"/>
              </p:cNvSpPr>
              <p:nvPr/>
            </p:nvSpPr>
            <p:spPr bwMode="auto">
              <a:xfrm>
                <a:off x="3408" y="3456"/>
                <a:ext cx="649"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ENGLEWOOD</a:t>
                </a:r>
              </a:p>
            </p:txBody>
          </p:sp>
          <p:sp>
            <p:nvSpPr>
              <p:cNvPr id="38931" name="Text Box 1043"/>
              <p:cNvSpPr txBox="1">
                <a:spLocks noChangeArrowheads="1"/>
              </p:cNvSpPr>
              <p:nvPr/>
            </p:nvSpPr>
            <p:spPr bwMode="auto">
              <a:xfrm>
                <a:off x="4896" y="1920"/>
                <a:ext cx="672" cy="442"/>
              </a:xfrm>
              <a:prstGeom prst="rect">
                <a:avLst/>
              </a:prstGeom>
              <a:noFill/>
              <a:ln w="9525">
                <a:noFill/>
                <a:miter lim="800000"/>
                <a:headEnd/>
                <a:tailEnd/>
              </a:ln>
              <a:effectLst/>
            </p:spPr>
            <p:txBody>
              <a:bodyPr>
                <a:spAutoFit/>
              </a:bodyPr>
              <a:lstStyle/>
              <a:p>
                <a:pPr eaLnBrk="0" hangingPunct="0"/>
                <a:r>
                  <a:rPr lang="en-US" sz="1000" b="1" dirty="0">
                    <a:latin typeface="Arial" pitchFamily="34" charset="0"/>
                  </a:rPr>
                  <a:t>FULLER PARK &amp;</a:t>
                </a:r>
              </a:p>
              <a:p>
                <a:pPr eaLnBrk="0" hangingPunct="0"/>
                <a:r>
                  <a:rPr lang="en-US" sz="1000" b="1" dirty="0">
                    <a:latin typeface="Arial" pitchFamily="34" charset="0"/>
                  </a:rPr>
                  <a:t>GRAND BOULEVARD</a:t>
                </a:r>
              </a:p>
            </p:txBody>
          </p:sp>
          <p:sp>
            <p:nvSpPr>
              <p:cNvPr id="38932" name="Text Box 1044"/>
              <p:cNvSpPr txBox="1">
                <a:spLocks noChangeArrowheads="1"/>
              </p:cNvSpPr>
              <p:nvPr/>
            </p:nvSpPr>
            <p:spPr bwMode="auto">
              <a:xfrm>
                <a:off x="4944" y="2448"/>
                <a:ext cx="694"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WASHINGTON </a:t>
                </a:r>
              </a:p>
              <a:p>
                <a:pPr eaLnBrk="0" hangingPunct="0"/>
                <a:r>
                  <a:rPr lang="en-US" sz="1000" b="1" dirty="0">
                    <a:latin typeface="Arial" pitchFamily="34" charset="0"/>
                  </a:rPr>
                  <a:t>HEIGHT</a:t>
                </a:r>
              </a:p>
            </p:txBody>
          </p:sp>
          <p:sp>
            <p:nvSpPr>
              <p:cNvPr id="38933" name="Line 1045"/>
              <p:cNvSpPr>
                <a:spLocks noChangeShapeType="1"/>
              </p:cNvSpPr>
              <p:nvPr/>
            </p:nvSpPr>
            <p:spPr bwMode="auto">
              <a:xfrm flipH="1">
                <a:off x="4608" y="2160"/>
                <a:ext cx="288" cy="336"/>
              </a:xfrm>
              <a:prstGeom prst="line">
                <a:avLst/>
              </a:prstGeom>
              <a:noFill/>
              <a:ln w="9525">
                <a:solidFill>
                  <a:schemeClr val="tx1"/>
                </a:solidFill>
                <a:round/>
                <a:headEnd/>
                <a:tailEnd type="triangle" w="med" len="med"/>
              </a:ln>
              <a:effectLst/>
            </p:spPr>
            <p:txBody>
              <a:bodyPr/>
              <a:lstStyle/>
              <a:p>
                <a:endParaRPr lang="en-US" dirty="0"/>
              </a:p>
            </p:txBody>
          </p:sp>
          <p:sp>
            <p:nvSpPr>
              <p:cNvPr id="38934" name="Text Box 1046"/>
              <p:cNvSpPr txBox="1">
                <a:spLocks noChangeArrowheads="1"/>
              </p:cNvSpPr>
              <p:nvPr/>
            </p:nvSpPr>
            <p:spPr bwMode="auto">
              <a:xfrm>
                <a:off x="4032" y="3648"/>
                <a:ext cx="578" cy="154"/>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RIVERDALE</a:t>
                </a:r>
              </a:p>
            </p:txBody>
          </p:sp>
          <p:sp>
            <p:nvSpPr>
              <p:cNvPr id="38935" name="Line 1047"/>
              <p:cNvSpPr>
                <a:spLocks noChangeShapeType="1"/>
              </p:cNvSpPr>
              <p:nvPr/>
            </p:nvSpPr>
            <p:spPr bwMode="auto">
              <a:xfrm flipV="1">
                <a:off x="4464" y="3552"/>
                <a:ext cx="288" cy="96"/>
              </a:xfrm>
              <a:prstGeom prst="line">
                <a:avLst/>
              </a:prstGeom>
              <a:noFill/>
              <a:ln w="9525">
                <a:solidFill>
                  <a:schemeClr val="tx1"/>
                </a:solidFill>
                <a:round/>
                <a:headEnd/>
                <a:tailEnd type="triangle" w="med" len="med"/>
              </a:ln>
              <a:effectLst/>
            </p:spPr>
            <p:txBody>
              <a:bodyPr/>
              <a:lstStyle/>
              <a:p>
                <a:endParaRPr lang="en-US" dirty="0"/>
              </a:p>
            </p:txBody>
          </p:sp>
        </p:grpSp>
        <p:sp>
          <p:nvSpPr>
            <p:cNvPr id="38936" name="Line 1048"/>
            <p:cNvSpPr>
              <a:spLocks noChangeShapeType="1"/>
            </p:cNvSpPr>
            <p:nvPr/>
          </p:nvSpPr>
          <p:spPr bwMode="auto">
            <a:xfrm>
              <a:off x="3504" y="1824"/>
              <a:ext cx="672" cy="240"/>
            </a:xfrm>
            <a:prstGeom prst="line">
              <a:avLst/>
            </a:prstGeom>
            <a:noFill/>
            <a:ln w="9525">
              <a:solidFill>
                <a:schemeClr val="tx1"/>
              </a:solidFill>
              <a:round/>
              <a:headEnd/>
              <a:tailEnd type="triangle" w="med" len="med"/>
            </a:ln>
            <a:effectLst/>
          </p:spPr>
          <p:txBody>
            <a:bodyPr/>
            <a:lstStyle/>
            <a:p>
              <a:endParaRPr lang="en-US" dirty="0"/>
            </a:p>
          </p:txBody>
        </p:sp>
        <p:sp>
          <p:nvSpPr>
            <p:cNvPr id="38937" name="Line 1049"/>
            <p:cNvSpPr>
              <a:spLocks noChangeShapeType="1"/>
            </p:cNvSpPr>
            <p:nvPr/>
          </p:nvSpPr>
          <p:spPr bwMode="auto">
            <a:xfrm>
              <a:off x="3504" y="1872"/>
              <a:ext cx="576" cy="192"/>
            </a:xfrm>
            <a:prstGeom prst="line">
              <a:avLst/>
            </a:prstGeom>
            <a:noFill/>
            <a:ln w="9525">
              <a:solidFill>
                <a:schemeClr val="tx1"/>
              </a:solidFill>
              <a:round/>
              <a:headEnd/>
              <a:tailEnd type="triangle" w="med" len="med"/>
            </a:ln>
            <a:effectLst/>
          </p:spPr>
          <p:txBody>
            <a:bodyPr/>
            <a:lstStyle/>
            <a:p>
              <a:endParaRPr lang="en-US" dirty="0"/>
            </a:p>
          </p:txBody>
        </p:sp>
        <p:sp>
          <p:nvSpPr>
            <p:cNvPr id="38938" name="Text Box 1050"/>
            <p:cNvSpPr txBox="1">
              <a:spLocks noChangeArrowheads="1"/>
            </p:cNvSpPr>
            <p:nvPr/>
          </p:nvSpPr>
          <p:spPr bwMode="auto">
            <a:xfrm>
              <a:off x="2832" y="1728"/>
              <a:ext cx="774" cy="250"/>
            </a:xfrm>
            <a:prstGeom prst="rect">
              <a:avLst/>
            </a:prstGeom>
            <a:noFill/>
            <a:ln w="9525">
              <a:noFill/>
              <a:miter lim="800000"/>
              <a:headEnd/>
              <a:tailEnd/>
            </a:ln>
            <a:effectLst/>
          </p:spPr>
          <p:txBody>
            <a:bodyPr wrap="none">
              <a:spAutoFit/>
            </a:bodyPr>
            <a:lstStyle/>
            <a:p>
              <a:pPr eaLnBrk="0" hangingPunct="0"/>
              <a:r>
                <a:rPr lang="en-US" sz="1000" b="1" dirty="0">
                  <a:latin typeface="Arial" pitchFamily="34" charset="0"/>
                </a:rPr>
                <a:t>WEST &amp; EAST</a:t>
              </a:r>
            </a:p>
            <a:p>
              <a:pPr eaLnBrk="0" hangingPunct="0"/>
              <a:r>
                <a:rPr lang="en-US" sz="1000" b="1" dirty="0">
                  <a:latin typeface="Arial" pitchFamily="34" charset="0"/>
                </a:rPr>
                <a:t>GARFIELD PARK</a:t>
              </a:r>
            </a:p>
          </p:txBody>
        </p:sp>
      </p:grpSp>
      <p:sp>
        <p:nvSpPr>
          <p:cNvPr id="38939" name="Text Box 1051"/>
          <p:cNvSpPr txBox="1">
            <a:spLocks noChangeArrowheads="1"/>
          </p:cNvSpPr>
          <p:nvPr/>
        </p:nvSpPr>
        <p:spPr bwMode="auto">
          <a:xfrm>
            <a:off x="228600" y="6172200"/>
            <a:ext cx="457200" cy="457200"/>
          </a:xfrm>
          <a:prstGeom prst="rect">
            <a:avLst/>
          </a:prstGeom>
          <a:noFill/>
          <a:ln w="9525">
            <a:noFill/>
            <a:miter lim="800000"/>
            <a:headEnd/>
            <a:tailEnd/>
          </a:ln>
          <a:effectLst/>
        </p:spPr>
        <p:txBody>
          <a:bodyPr>
            <a:spAutoFit/>
          </a:bodyPr>
          <a:lstStyle/>
          <a:p>
            <a:r>
              <a:rPr lang="en-US" b="1" dirty="0">
                <a:latin typeface="Arial Unicode MS" pitchFamily="34" charset="-128"/>
                <a:cs typeface="Times New Roman" pitchFamily="18" charset="0"/>
              </a:rPr>
              <a:t>©</a:t>
            </a:r>
            <a:endParaRPr lang="en-US" b="1" dirty="0">
              <a:latin typeface="Arial Unicode MS"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609600"/>
            <a:ext cx="8686800" cy="1066800"/>
          </a:xfrm>
        </p:spPr>
        <p:txBody>
          <a:bodyPr>
            <a:noAutofit/>
          </a:bodyPr>
          <a:lstStyle/>
          <a:p>
            <a:r>
              <a:rPr lang="en-US" sz="3600" dirty="0"/>
              <a:t>Choropleth:  Talk Radio Consumption </a:t>
            </a:r>
          </a:p>
        </p:txBody>
      </p:sp>
      <p:pic>
        <p:nvPicPr>
          <p:cNvPr id="6" name="Content Placeholder 5" descr="Talk News Map.jpg"/>
          <p:cNvPicPr>
            <a:picLocks noGrp="1" noChangeAspect="1"/>
          </p:cNvPicPr>
          <p:nvPr>
            <p:ph idx="1"/>
          </p:nvPr>
        </p:nvPicPr>
        <p:blipFill>
          <a:blip r:embed="rId2" cstate="print"/>
          <a:stretch>
            <a:fillRect/>
          </a:stretch>
        </p:blipFill>
        <p:spPr>
          <a:xfrm>
            <a:off x="1299089" y="1808771"/>
            <a:ext cx="6545822" cy="5058135"/>
          </a:xfrm>
          <a:ln>
            <a:solidFill>
              <a:schemeClr val="accent1"/>
            </a:solid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4127" y="533400"/>
            <a:ext cx="8686800" cy="1143000"/>
          </a:xfrm>
        </p:spPr>
        <p:txBody>
          <a:bodyPr>
            <a:noAutofit/>
          </a:bodyPr>
          <a:lstStyle/>
          <a:p>
            <a:r>
              <a:rPr lang="en-US" sz="3600" dirty="0"/>
              <a:t>Choropleth:  % of Bank Branches Receiving TARP Bailout Funds</a:t>
            </a:r>
          </a:p>
        </p:txBody>
      </p:sp>
      <p:pic>
        <p:nvPicPr>
          <p:cNvPr id="4" name="Content Placeholder 3" descr="TARP_APRIL09.jpg"/>
          <p:cNvPicPr>
            <a:picLocks noGrp="1" noChangeAspect="1"/>
          </p:cNvPicPr>
          <p:nvPr>
            <p:ph idx="1"/>
          </p:nvPr>
        </p:nvPicPr>
        <p:blipFill>
          <a:blip r:embed="rId2" cstate="print"/>
          <a:stretch>
            <a:fillRect/>
          </a:stretch>
        </p:blipFill>
        <p:spPr>
          <a:xfrm>
            <a:off x="2224222" y="2227263"/>
            <a:ext cx="4703494" cy="3632200"/>
          </a:xfrm>
          <a:ln>
            <a:solidFill>
              <a:schemeClr val="accent1"/>
            </a:solid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5899" y="-152400"/>
            <a:ext cx="8686800" cy="1417638"/>
          </a:xfrm>
        </p:spPr>
        <p:txBody>
          <a:bodyPr>
            <a:normAutofit/>
          </a:bodyPr>
          <a:lstStyle/>
          <a:p>
            <a:r>
              <a:rPr lang="en-US" sz="3600" dirty="0"/>
              <a:t>Choropleth: % Immigrant by State</a:t>
            </a:r>
          </a:p>
        </p:txBody>
      </p:sp>
      <p:pic>
        <p:nvPicPr>
          <p:cNvPr id="4" name="Content Placeholder 3" descr="Imm Proportion.jpg"/>
          <p:cNvPicPr>
            <a:picLocks noGrp="1" noChangeAspect="1"/>
          </p:cNvPicPr>
          <p:nvPr>
            <p:ph idx="1"/>
          </p:nvPr>
        </p:nvPicPr>
        <p:blipFill>
          <a:blip r:embed="rId2" cstate="print"/>
          <a:stretch>
            <a:fillRect/>
          </a:stretch>
        </p:blipFill>
        <p:spPr>
          <a:xfrm>
            <a:off x="1295400" y="1447800"/>
            <a:ext cx="6433763" cy="4971544"/>
          </a:xfrm>
          <a:ln>
            <a:solidFill>
              <a:schemeClr val="accent1"/>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48062"/>
            <a:ext cx="8686800" cy="1417638"/>
          </a:xfrm>
        </p:spPr>
        <p:txBody>
          <a:bodyPr>
            <a:normAutofit/>
          </a:bodyPr>
          <a:lstStyle/>
          <a:p>
            <a:r>
              <a:rPr lang="en-US" sz="3600" dirty="0"/>
              <a:t>Graduated Symbol:  Campaign Volunteers per 1000 Voters</a:t>
            </a:r>
          </a:p>
        </p:txBody>
      </p:sp>
      <p:pic>
        <p:nvPicPr>
          <p:cNvPr id="4" name="Content Placeholder 3" descr="Map 6_Home HQs.jpg"/>
          <p:cNvPicPr>
            <a:picLocks noGrp="1" noChangeAspect="1"/>
          </p:cNvPicPr>
          <p:nvPr>
            <p:ph idx="1"/>
          </p:nvPr>
        </p:nvPicPr>
        <p:blipFill>
          <a:blip r:embed="rId2" cstate="print"/>
          <a:stretch>
            <a:fillRect/>
          </a:stretch>
        </p:blipFill>
        <p:spPr>
          <a:xfrm>
            <a:off x="2362200" y="1532965"/>
            <a:ext cx="4114799" cy="5325035"/>
          </a:xfrm>
          <a:ln>
            <a:solidFill>
              <a:schemeClr val="accent1"/>
            </a:solid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41227"/>
            <a:ext cx="8686800" cy="1417638"/>
          </a:xfrm>
        </p:spPr>
        <p:txBody>
          <a:bodyPr>
            <a:normAutofit fontScale="90000"/>
          </a:bodyPr>
          <a:lstStyle/>
          <a:p>
            <a:r>
              <a:rPr lang="en-US" sz="3600" dirty="0"/>
              <a:t>Two Variable Maps:  Defense Contracts and Population Density</a:t>
            </a:r>
          </a:p>
        </p:txBody>
      </p:sp>
      <p:pic>
        <p:nvPicPr>
          <p:cNvPr id="4" name="Content Placeholder 3" descr="Map1960-Dollars.jpg"/>
          <p:cNvPicPr>
            <a:picLocks noGrp="1" noChangeAspect="1"/>
          </p:cNvPicPr>
          <p:nvPr>
            <p:ph idx="1"/>
          </p:nvPr>
        </p:nvPicPr>
        <p:blipFill>
          <a:blip r:embed="rId2" cstate="print"/>
          <a:stretch>
            <a:fillRect/>
          </a:stretch>
        </p:blipFill>
        <p:spPr>
          <a:xfrm>
            <a:off x="2227400" y="2227263"/>
            <a:ext cx="4697138" cy="3632200"/>
          </a:xfrm>
          <a:ln>
            <a:solidFill>
              <a:schemeClr val="accent1"/>
            </a:solid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a:off x="228600" y="1524000"/>
            <a:ext cx="2768600" cy="4495800"/>
            <a:chOff x="144" y="1056"/>
            <a:chExt cx="1744" cy="2766"/>
          </a:xfrm>
        </p:grpSpPr>
        <p:graphicFrame>
          <p:nvGraphicFramePr>
            <p:cNvPr id="157698" name="Object 2"/>
            <p:cNvGraphicFramePr>
              <a:graphicFrameLocks noChangeAspect="1"/>
            </p:cNvGraphicFramePr>
            <p:nvPr/>
          </p:nvGraphicFramePr>
          <p:xfrm>
            <a:off x="144" y="1056"/>
            <a:ext cx="1744" cy="2560"/>
          </p:xfrm>
          <a:graphic>
            <a:graphicData uri="http://schemas.openxmlformats.org/presentationml/2006/ole">
              <mc:AlternateContent xmlns:mc="http://schemas.openxmlformats.org/markup-compatibility/2006">
                <mc:Choice xmlns:v="urn:schemas-microsoft-com:vml" Requires="v">
                  <p:oleObj name="Photo Editor Photo" r:id="rId2" imgW="5753903" imgH="6923810" progId="MSPhotoEd.3">
                    <p:embed/>
                  </p:oleObj>
                </mc:Choice>
                <mc:Fallback>
                  <p:oleObj name="Photo Editor Photo" r:id="rId2" imgW="5753903" imgH="6923810" progId="MSPhotoEd.3">
                    <p:embed/>
                    <p:pic>
                      <p:nvPicPr>
                        <p:cNvPr id="157698" name="Object 2"/>
                        <p:cNvPicPr>
                          <a:picLocks noChangeAspect="1" noChangeArrowheads="1"/>
                        </p:cNvPicPr>
                        <p:nvPr/>
                      </p:nvPicPr>
                      <p:blipFill>
                        <a:blip r:embed="rId3">
                          <a:extLst>
                            <a:ext uri="{28A0092B-C50C-407E-A947-70E740481C1C}">
                              <a14:useLocalDpi xmlns:a14="http://schemas.microsoft.com/office/drawing/2010/main" val="0"/>
                            </a:ext>
                          </a:extLst>
                        </a:blip>
                        <a:srcRect l="18045"/>
                        <a:stretch>
                          <a:fillRect/>
                        </a:stretch>
                      </p:blipFill>
                      <p:spPr bwMode="auto">
                        <a:xfrm>
                          <a:off x="144" y="1056"/>
                          <a:ext cx="1744"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7" name="Text Box 3"/>
            <p:cNvSpPr txBox="1">
              <a:spLocks noChangeArrowheads="1"/>
            </p:cNvSpPr>
            <p:nvPr/>
          </p:nvSpPr>
          <p:spPr bwMode="auto">
            <a:xfrm>
              <a:off x="528" y="3648"/>
              <a:ext cx="1258" cy="174"/>
            </a:xfrm>
            <a:prstGeom prst="rect">
              <a:avLst/>
            </a:prstGeom>
            <a:noFill/>
            <a:ln w="9525">
              <a:noFill/>
              <a:miter lim="800000"/>
              <a:headEnd/>
              <a:tailEnd/>
            </a:ln>
            <a:effectLst/>
          </p:spPr>
          <p:txBody>
            <a:bodyPr wrap="square">
              <a:spAutoFit/>
            </a:bodyPr>
            <a:lstStyle/>
            <a:p>
              <a:pPr eaLnBrk="0" hangingPunct="0"/>
              <a:r>
                <a:rPr lang="en-US" sz="1200" b="1" dirty="0">
                  <a:solidFill>
                    <a:srgbClr val="A50021"/>
                  </a:solidFill>
                  <a:latin typeface="Arial" pitchFamily="34" charset="0"/>
                </a:rPr>
                <a:t>% families below poverty</a:t>
              </a:r>
            </a:p>
          </p:txBody>
        </p:sp>
      </p:grpSp>
      <p:sp>
        <p:nvSpPr>
          <p:cNvPr id="21508" name="Rectangle 4"/>
          <p:cNvSpPr>
            <a:spLocks noGrp="1" noChangeArrowheads="1"/>
          </p:cNvSpPr>
          <p:nvPr>
            <p:ph type="title"/>
          </p:nvPr>
        </p:nvSpPr>
        <p:spPr>
          <a:xfrm>
            <a:off x="1612900" y="49211"/>
            <a:ext cx="8686800" cy="1219200"/>
          </a:xfrm>
        </p:spPr>
        <p:txBody>
          <a:bodyPr>
            <a:normAutofit/>
          </a:bodyPr>
          <a:lstStyle/>
          <a:p>
            <a:r>
              <a:rPr lang="en-US" sz="3600" dirty="0"/>
              <a:t>Associating Variables </a:t>
            </a:r>
          </a:p>
        </p:txBody>
      </p:sp>
      <p:grpSp>
        <p:nvGrpSpPr>
          <p:cNvPr id="3" name="Group 13"/>
          <p:cNvGrpSpPr>
            <a:grpSpLocks/>
          </p:cNvGrpSpPr>
          <p:nvPr/>
        </p:nvGrpSpPr>
        <p:grpSpPr bwMode="auto">
          <a:xfrm>
            <a:off x="2971800" y="1525588"/>
            <a:ext cx="2736850" cy="4464051"/>
            <a:chOff x="1872" y="1249"/>
            <a:chExt cx="1724" cy="2812"/>
          </a:xfrm>
        </p:grpSpPr>
        <p:graphicFrame>
          <p:nvGraphicFramePr>
            <p:cNvPr id="157697" name="Object 1"/>
            <p:cNvGraphicFramePr>
              <a:graphicFrameLocks noChangeAspect="1"/>
            </p:cNvGraphicFramePr>
            <p:nvPr/>
          </p:nvGraphicFramePr>
          <p:xfrm>
            <a:off x="1872" y="1249"/>
            <a:ext cx="1724" cy="2560"/>
          </p:xfrm>
          <a:graphic>
            <a:graphicData uri="http://schemas.openxmlformats.org/presentationml/2006/ole">
              <mc:AlternateContent xmlns:mc="http://schemas.openxmlformats.org/markup-compatibility/2006">
                <mc:Choice xmlns:v="urn:schemas-microsoft-com:vml" Requires="v">
                  <p:oleObj name="Photo Editor Photo" r:id="rId4" imgW="4866667" imgH="7228571" progId="MSPhotoEd.3">
                    <p:embed/>
                  </p:oleObj>
                </mc:Choice>
                <mc:Fallback>
                  <p:oleObj name="Photo Editor Photo" r:id="rId4" imgW="4866667" imgH="7228571" progId="MSPhotoEd.3">
                    <p:embed/>
                    <p:pic>
                      <p:nvPicPr>
                        <p:cNvPr id="157697"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2" y="1249"/>
                          <a:ext cx="1724" cy="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1" name="Text Box 7"/>
            <p:cNvSpPr txBox="1">
              <a:spLocks noChangeArrowheads="1"/>
            </p:cNvSpPr>
            <p:nvPr/>
          </p:nvSpPr>
          <p:spPr bwMode="auto">
            <a:xfrm>
              <a:off x="2496" y="3888"/>
              <a:ext cx="820" cy="173"/>
            </a:xfrm>
            <a:prstGeom prst="rect">
              <a:avLst/>
            </a:prstGeom>
            <a:noFill/>
            <a:ln w="9525">
              <a:noFill/>
              <a:miter lim="800000"/>
              <a:headEnd/>
              <a:tailEnd/>
            </a:ln>
            <a:effectLst/>
          </p:spPr>
          <p:txBody>
            <a:bodyPr wrap="none">
              <a:spAutoFit/>
            </a:bodyPr>
            <a:lstStyle/>
            <a:p>
              <a:pPr eaLnBrk="0" hangingPunct="0"/>
              <a:r>
                <a:rPr lang="en-US" sz="1200" b="1" dirty="0">
                  <a:solidFill>
                    <a:srgbClr val="A50021"/>
                  </a:solidFill>
                  <a:latin typeface="Arial" pitchFamily="34" charset="0"/>
                </a:rPr>
                <a:t>Crime hotspots</a:t>
              </a:r>
            </a:p>
          </p:txBody>
        </p:sp>
      </p:grpSp>
      <p:grpSp>
        <p:nvGrpSpPr>
          <p:cNvPr id="4" name="Group 14"/>
          <p:cNvGrpSpPr>
            <a:grpSpLocks/>
          </p:cNvGrpSpPr>
          <p:nvPr/>
        </p:nvGrpSpPr>
        <p:grpSpPr bwMode="auto">
          <a:xfrm>
            <a:off x="5718175" y="1524000"/>
            <a:ext cx="3425825" cy="4391025"/>
            <a:chOff x="3602" y="1248"/>
            <a:chExt cx="2158" cy="2766"/>
          </a:xfrm>
        </p:grpSpPr>
        <p:graphicFrame>
          <p:nvGraphicFramePr>
            <p:cNvPr id="157696" name="Object 0"/>
            <p:cNvGraphicFramePr>
              <a:graphicFrameLocks noChangeAspect="1"/>
            </p:cNvGraphicFramePr>
            <p:nvPr/>
          </p:nvGraphicFramePr>
          <p:xfrm>
            <a:off x="3602" y="1248"/>
            <a:ext cx="2158" cy="2559"/>
          </p:xfrm>
          <a:graphic>
            <a:graphicData uri="http://schemas.openxmlformats.org/presentationml/2006/ole">
              <mc:AlternateContent xmlns:mc="http://schemas.openxmlformats.org/markup-compatibility/2006">
                <mc:Choice xmlns:v="urn:schemas-microsoft-com:vml" Requires="v">
                  <p:oleObj name="Photo Editor Photo" r:id="rId6" imgW="4923810" imgH="5838095" progId="MSPhotoEd.3">
                    <p:embed/>
                  </p:oleObj>
                </mc:Choice>
                <mc:Fallback>
                  <p:oleObj name="Photo Editor Photo" r:id="rId6" imgW="4923810" imgH="5838095" progId="MSPhotoEd.3">
                    <p:embed/>
                    <p:pic>
                      <p:nvPicPr>
                        <p:cNvPr id="157696" name="Object 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2" y="1248"/>
                          <a:ext cx="2158" cy="2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4" name="Text Box 10"/>
            <p:cNvSpPr txBox="1">
              <a:spLocks noChangeArrowheads="1"/>
            </p:cNvSpPr>
            <p:nvPr/>
          </p:nvSpPr>
          <p:spPr bwMode="auto">
            <a:xfrm>
              <a:off x="4272" y="3840"/>
              <a:ext cx="1064" cy="174"/>
            </a:xfrm>
            <a:prstGeom prst="rect">
              <a:avLst/>
            </a:prstGeom>
            <a:noFill/>
            <a:ln w="9525">
              <a:noFill/>
              <a:miter lim="800000"/>
              <a:headEnd/>
              <a:tailEnd/>
            </a:ln>
            <a:effectLst/>
          </p:spPr>
          <p:txBody>
            <a:bodyPr wrap="square">
              <a:spAutoFit/>
            </a:bodyPr>
            <a:lstStyle/>
            <a:p>
              <a:pPr eaLnBrk="0" hangingPunct="0"/>
              <a:r>
                <a:rPr lang="en-US" sz="1200" b="1" dirty="0">
                  <a:solidFill>
                    <a:srgbClr val="A50021"/>
                  </a:solidFill>
                  <a:latin typeface="Arial" pitchFamily="34" charset="0"/>
                </a:rPr>
                <a:t>Child lead poisoning</a:t>
              </a:r>
            </a:p>
          </p:txBody>
        </p:sp>
      </p:grpSp>
      <p:sp>
        <p:nvSpPr>
          <p:cNvPr id="21515" name="Text Box 11"/>
          <p:cNvSpPr txBox="1">
            <a:spLocks noChangeArrowheads="1"/>
          </p:cNvSpPr>
          <p:nvPr/>
        </p:nvSpPr>
        <p:spPr bwMode="auto">
          <a:xfrm>
            <a:off x="5715000" y="2819400"/>
            <a:ext cx="990600" cy="1590675"/>
          </a:xfrm>
          <a:prstGeom prst="rect">
            <a:avLst/>
          </a:prstGeom>
          <a:noFill/>
          <a:ln w="38100">
            <a:solidFill>
              <a:schemeClr val="tx1"/>
            </a:solidFill>
            <a:miter lim="800000"/>
            <a:headEnd/>
            <a:tailEnd/>
          </a:ln>
          <a:effectLst/>
        </p:spPr>
        <p:txBody>
          <a:bodyPr>
            <a:spAutoFit/>
          </a:bodyPr>
          <a:lstStyle/>
          <a:p>
            <a:pPr eaLnBrk="0" hangingPunct="0"/>
            <a:r>
              <a:rPr lang="en-US" sz="1200" b="1" dirty="0">
                <a:solidFill>
                  <a:srgbClr val="A50021"/>
                </a:solidFill>
                <a:latin typeface="Arial" pitchFamily="34" charset="0"/>
              </a:rPr>
              <a:t>More than 80 percent of homes built before 1978 contain lead paint </a:t>
            </a:r>
          </a:p>
        </p:txBody>
      </p:sp>
      <p:sp>
        <p:nvSpPr>
          <p:cNvPr id="21519" name="Text Box 15"/>
          <p:cNvSpPr txBox="1">
            <a:spLocks noChangeArrowheads="1"/>
          </p:cNvSpPr>
          <p:nvPr/>
        </p:nvSpPr>
        <p:spPr bwMode="auto">
          <a:xfrm>
            <a:off x="228600" y="6172200"/>
            <a:ext cx="457200" cy="457200"/>
          </a:xfrm>
          <a:prstGeom prst="rect">
            <a:avLst/>
          </a:prstGeom>
          <a:noFill/>
          <a:ln w="9525">
            <a:noFill/>
            <a:miter lim="800000"/>
            <a:headEnd/>
            <a:tailEnd/>
          </a:ln>
          <a:effectLst/>
        </p:spPr>
        <p:txBody>
          <a:bodyPr>
            <a:spAutoFit/>
          </a:bodyPr>
          <a:lstStyle/>
          <a:p>
            <a:r>
              <a:rPr lang="en-US" b="1" dirty="0">
                <a:latin typeface="Arial Unicode MS" pitchFamily="34" charset="-128"/>
                <a:cs typeface="Times New Roman" pitchFamily="18" charset="0"/>
              </a:rPr>
              <a:t>©</a:t>
            </a:r>
            <a:endParaRPr lang="en-US" b="1" dirty="0">
              <a:latin typeface="Arial Unicode MS"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21515"/>
                                        </p:tgtEl>
                                        <p:attrNameLst>
                                          <p:attrName>style.visibility</p:attrName>
                                        </p:attrNameLst>
                                      </p:cBhvr>
                                      <p:to>
                                        <p:strVal val="visible"/>
                                      </p:to>
                                    </p:set>
                                    <p:animEffect transition="in" filter="checkerboard(across)">
                                      <p:cBhvr>
                                        <p:cTn id="19" dur="500"/>
                                        <p:tgtEl>
                                          <p:spTgt spid="21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5"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581192" y="863100"/>
            <a:ext cx="8105608" cy="868362"/>
          </a:xfrm>
        </p:spPr>
        <p:txBody>
          <a:bodyPr>
            <a:noAutofit/>
          </a:bodyPr>
          <a:lstStyle/>
          <a:p>
            <a:r>
              <a:rPr lang="en-US" sz="3600" dirty="0"/>
              <a:t>Natural Breaks:  Identifies ‘gaps’ in the distribution of the data</a:t>
            </a:r>
          </a:p>
        </p:txBody>
      </p:sp>
      <p:sp>
        <p:nvSpPr>
          <p:cNvPr id="9" name="Content Placeholder 8"/>
          <p:cNvSpPr>
            <a:spLocks noGrp="1"/>
          </p:cNvSpPr>
          <p:nvPr>
            <p:ph idx="1"/>
          </p:nvPr>
        </p:nvSpPr>
        <p:spPr/>
        <p:txBody>
          <a:bodyPr/>
          <a:lstStyle/>
          <a:p>
            <a:pPr>
              <a:buNone/>
            </a:pPr>
            <a:r>
              <a:rPr lang="en-US" dirty="0"/>
              <a:t>  </a:t>
            </a:r>
          </a:p>
        </p:txBody>
      </p:sp>
      <p:sp>
        <p:nvSpPr>
          <p:cNvPr id="8" name="Slide Number Placeholder 5"/>
          <p:cNvSpPr>
            <a:spLocks noGrp="1"/>
          </p:cNvSpPr>
          <p:nvPr>
            <p:ph type="sldNum" sz="quarter" idx="12"/>
          </p:nvPr>
        </p:nvSpPr>
        <p:spPr/>
        <p:txBody>
          <a:bodyPr/>
          <a:lstStyle/>
          <a:p>
            <a:fld id="{B6775CF1-E182-4628-9469-608ADE760EC7}" type="slidenum">
              <a:rPr lang="en-US"/>
              <a:pPr/>
              <a:t>33</a:t>
            </a:fld>
            <a:endParaRPr lang="en-US"/>
          </a:p>
        </p:txBody>
      </p:sp>
      <p:sp>
        <p:nvSpPr>
          <p:cNvPr id="121862" name="Rectangle 6"/>
          <p:cNvSpPr>
            <a:spLocks noChangeArrowheads="1"/>
          </p:cNvSpPr>
          <p:nvPr/>
        </p:nvSpPr>
        <p:spPr bwMode="auto">
          <a:xfrm>
            <a:off x="2909888" y="2257425"/>
            <a:ext cx="9144000" cy="0"/>
          </a:xfrm>
          <a:prstGeom prst="rect">
            <a:avLst/>
          </a:prstGeom>
          <a:noFill/>
          <a:ln w="9525">
            <a:noFill/>
            <a:miter lim="800000"/>
            <a:headEnd/>
            <a:tailEnd/>
          </a:ln>
          <a:effectLst/>
        </p:spPr>
        <p:txBody>
          <a:bodyPr>
            <a:spAutoFit/>
          </a:bodyPr>
          <a:lstStyle/>
          <a:p>
            <a:endParaRPr lang="en-US"/>
          </a:p>
        </p:txBody>
      </p:sp>
      <p:sp>
        <p:nvSpPr>
          <p:cNvPr id="121864" name="Rectangle 8"/>
          <p:cNvSpPr>
            <a:spLocks noChangeArrowheads="1"/>
          </p:cNvSpPr>
          <p:nvPr/>
        </p:nvSpPr>
        <p:spPr bwMode="auto">
          <a:xfrm>
            <a:off x="3062288" y="2266950"/>
            <a:ext cx="9144000" cy="0"/>
          </a:xfrm>
          <a:prstGeom prst="rect">
            <a:avLst/>
          </a:prstGeom>
          <a:noFill/>
          <a:ln w="9525">
            <a:noFill/>
            <a:miter lim="800000"/>
            <a:headEnd/>
            <a:tailEnd/>
          </a:ln>
          <a:effectLst/>
        </p:spPr>
        <p:txBody>
          <a:bodyPr>
            <a:spAutoFit/>
          </a:bodyPr>
          <a:lstStyle/>
          <a:p>
            <a:endParaRPr lang="en-US"/>
          </a:p>
        </p:txBody>
      </p:sp>
      <p:pic>
        <p:nvPicPr>
          <p:cNvPr id="121866" name="Picture 10" descr="Natural breaks polygon"/>
          <p:cNvPicPr>
            <a:picLocks noChangeAspect="1" noChangeArrowheads="1"/>
          </p:cNvPicPr>
          <p:nvPr/>
        </p:nvPicPr>
        <p:blipFill>
          <a:blip r:embed="rId3" cstate="print"/>
          <a:srcRect/>
          <a:stretch>
            <a:fillRect/>
          </a:stretch>
        </p:blipFill>
        <p:spPr bwMode="auto">
          <a:xfrm>
            <a:off x="999166" y="1828800"/>
            <a:ext cx="6331932" cy="4873752"/>
          </a:xfrm>
          <a:prstGeom prst="rect">
            <a:avLst/>
          </a:prstGeom>
          <a:noFill/>
          <a:ln w="9525">
            <a:solidFill>
              <a:srgbClr val="000000"/>
            </a:solidFill>
            <a:miter lim="800000"/>
            <a:headEnd/>
            <a:tailEnd/>
          </a:ln>
        </p:spPr>
      </p:pic>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476003" y="392971"/>
            <a:ext cx="8686800" cy="1341438"/>
          </a:xfrm>
        </p:spPr>
        <p:txBody>
          <a:bodyPr>
            <a:noAutofit/>
          </a:bodyPr>
          <a:lstStyle/>
          <a:p>
            <a:r>
              <a:rPr lang="en-US" sz="3600" dirty="0" err="1"/>
              <a:t>Quantile</a:t>
            </a:r>
            <a:r>
              <a:rPr lang="en-US" sz="3600" dirty="0"/>
              <a:t>:  Quartiles or Quintiles are Common</a:t>
            </a:r>
          </a:p>
        </p:txBody>
      </p:sp>
      <p:sp>
        <p:nvSpPr>
          <p:cNvPr id="9" name="Content Placeholder 8"/>
          <p:cNvSpPr>
            <a:spLocks noGrp="1"/>
          </p:cNvSpPr>
          <p:nvPr>
            <p:ph idx="1"/>
          </p:nvPr>
        </p:nvSpPr>
        <p:spPr/>
        <p:txBody>
          <a:bodyPr/>
          <a:lstStyle/>
          <a:p>
            <a:pPr>
              <a:buNone/>
            </a:pPr>
            <a:r>
              <a:rPr lang="en-US" dirty="0"/>
              <a:t> </a:t>
            </a:r>
          </a:p>
        </p:txBody>
      </p:sp>
      <p:sp>
        <p:nvSpPr>
          <p:cNvPr id="8" name="Slide Number Placeholder 5"/>
          <p:cNvSpPr>
            <a:spLocks noGrp="1"/>
          </p:cNvSpPr>
          <p:nvPr>
            <p:ph type="sldNum" sz="quarter" idx="12"/>
          </p:nvPr>
        </p:nvSpPr>
        <p:spPr/>
        <p:txBody>
          <a:bodyPr/>
          <a:lstStyle/>
          <a:p>
            <a:fld id="{F9319631-1CF9-4B61-B22E-F5D3E1FFF05D}" type="slidenum">
              <a:rPr lang="en-US"/>
              <a:pPr/>
              <a:t>34</a:t>
            </a:fld>
            <a:endParaRPr lang="en-US"/>
          </a:p>
        </p:txBody>
      </p:sp>
      <p:sp>
        <p:nvSpPr>
          <p:cNvPr id="122886" name="Rectangle 6"/>
          <p:cNvSpPr>
            <a:spLocks noChangeArrowheads="1"/>
          </p:cNvSpPr>
          <p:nvPr/>
        </p:nvSpPr>
        <p:spPr bwMode="auto">
          <a:xfrm>
            <a:off x="2890838" y="2247900"/>
            <a:ext cx="9144000" cy="0"/>
          </a:xfrm>
          <a:prstGeom prst="rect">
            <a:avLst/>
          </a:prstGeom>
          <a:noFill/>
          <a:ln w="9525">
            <a:noFill/>
            <a:miter lim="800000"/>
            <a:headEnd/>
            <a:tailEnd/>
          </a:ln>
          <a:effectLst/>
        </p:spPr>
        <p:txBody>
          <a:bodyPr>
            <a:spAutoFit/>
          </a:bodyPr>
          <a:lstStyle/>
          <a:p>
            <a:endParaRPr lang="en-US"/>
          </a:p>
        </p:txBody>
      </p:sp>
      <p:sp>
        <p:nvSpPr>
          <p:cNvPr id="122888" name="Rectangle 8"/>
          <p:cNvSpPr>
            <a:spLocks noChangeArrowheads="1"/>
          </p:cNvSpPr>
          <p:nvPr/>
        </p:nvSpPr>
        <p:spPr bwMode="auto">
          <a:xfrm>
            <a:off x="3057525" y="2281238"/>
            <a:ext cx="9144000" cy="0"/>
          </a:xfrm>
          <a:prstGeom prst="rect">
            <a:avLst/>
          </a:prstGeom>
          <a:noFill/>
          <a:ln w="9525">
            <a:noFill/>
            <a:miter lim="800000"/>
            <a:headEnd/>
            <a:tailEnd/>
          </a:ln>
          <a:effectLst/>
        </p:spPr>
        <p:txBody>
          <a:bodyPr>
            <a:spAutoFit/>
          </a:bodyPr>
          <a:lstStyle/>
          <a:p>
            <a:endParaRPr lang="en-US"/>
          </a:p>
        </p:txBody>
      </p:sp>
      <p:sp>
        <p:nvSpPr>
          <p:cNvPr id="122889" name="Rectangle 9"/>
          <p:cNvSpPr>
            <a:spLocks noChangeArrowheads="1"/>
          </p:cNvSpPr>
          <p:nvPr/>
        </p:nvSpPr>
        <p:spPr bwMode="auto">
          <a:xfrm>
            <a:off x="1371600" y="1371600"/>
            <a:ext cx="3657600" cy="457200"/>
          </a:xfrm>
          <a:prstGeom prst="rect">
            <a:avLst/>
          </a:prstGeom>
          <a:noFill/>
          <a:ln w="9525">
            <a:noFill/>
            <a:miter lim="800000"/>
            <a:headEnd/>
            <a:tailEnd/>
          </a:ln>
          <a:effectLst/>
        </p:spPr>
        <p:txBody>
          <a:bodyPr anchor="ctr"/>
          <a:lstStyle/>
          <a:p>
            <a:pPr>
              <a:lnSpc>
                <a:spcPct val="85000"/>
              </a:lnSpc>
            </a:pPr>
            <a:endParaRPr lang="en-US" sz="1600" dirty="0">
              <a:solidFill>
                <a:schemeClr val="tx2"/>
              </a:solidFill>
            </a:endParaRPr>
          </a:p>
        </p:txBody>
      </p:sp>
      <p:pic>
        <p:nvPicPr>
          <p:cNvPr id="122890" name="Picture 10" descr="Quantile polygon"/>
          <p:cNvPicPr>
            <a:picLocks noChangeAspect="1" noChangeArrowheads="1"/>
          </p:cNvPicPr>
          <p:nvPr/>
        </p:nvPicPr>
        <p:blipFill>
          <a:blip r:embed="rId3" cstate="print"/>
          <a:srcRect/>
          <a:stretch>
            <a:fillRect/>
          </a:stretch>
        </p:blipFill>
        <p:spPr bwMode="auto">
          <a:xfrm>
            <a:off x="1061754" y="1831747"/>
            <a:ext cx="6433741" cy="4873752"/>
          </a:xfrm>
          <a:prstGeom prst="rect">
            <a:avLst/>
          </a:prstGeom>
          <a:noFill/>
          <a:ln w="9525">
            <a:solidFill>
              <a:srgbClr val="000000"/>
            </a:solidFill>
            <a:miter lim="800000"/>
            <a:headEnd/>
            <a:tailEnd/>
          </a:ln>
        </p:spPr>
      </p:pic>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228600"/>
            <a:ext cx="8686800" cy="990600"/>
          </a:xfrm>
        </p:spPr>
        <p:txBody>
          <a:bodyPr>
            <a:normAutofit/>
          </a:bodyPr>
          <a:lstStyle/>
          <a:p>
            <a:r>
              <a:rPr lang="en-US" sz="3600" dirty="0"/>
              <a:t>Custom:  User Defined Ranges</a:t>
            </a:r>
          </a:p>
        </p:txBody>
      </p:sp>
      <p:pic>
        <p:nvPicPr>
          <p:cNvPr id="4" name="Picture 10"/>
          <p:cNvPicPr>
            <a:picLocks noGrp="1" noChangeAspect="1" noChangeArrowheads="1"/>
          </p:cNvPicPr>
          <p:nvPr>
            <p:ph idx="1"/>
          </p:nvPr>
        </p:nvPicPr>
        <p:blipFill>
          <a:blip r:embed="rId2" cstate="print"/>
          <a:srcRect/>
          <a:stretch>
            <a:fillRect/>
          </a:stretch>
        </p:blipFill>
        <p:spPr bwMode="auto">
          <a:xfrm>
            <a:off x="1143000" y="1971304"/>
            <a:ext cx="6455322" cy="4876800"/>
          </a:xfrm>
          <a:prstGeom prst="rect">
            <a:avLst/>
          </a:prstGeom>
          <a:noFill/>
          <a:ln w="9525">
            <a:solidFill>
              <a:schemeClr val="tx1"/>
            </a:solidFill>
            <a:miter lim="800000"/>
            <a:headEnd/>
            <a:tailEnd/>
          </a:ln>
          <a:effectLst/>
        </p:spPr>
      </p:pic>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12439</TotalTime>
  <Words>1401</Words>
  <Application>Microsoft Macintosh PowerPoint</Application>
  <PresentationFormat>On-screen Show (4:3)</PresentationFormat>
  <Paragraphs>218</Paragraphs>
  <Slides>35</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3" baseType="lpstr">
      <vt:lpstr>Arial Unicode MS</vt:lpstr>
      <vt:lpstr>Arial</vt:lpstr>
      <vt:lpstr>Calibri</vt:lpstr>
      <vt:lpstr>Gill Sans MT</vt:lpstr>
      <vt:lpstr>Times New Roman</vt:lpstr>
      <vt:lpstr>Wingdings 2</vt:lpstr>
      <vt:lpstr>Dividend</vt:lpstr>
      <vt:lpstr>Photo Editor Photo</vt:lpstr>
      <vt:lpstr>GIS and Spatial Analytics QMSS 5070</vt:lpstr>
      <vt:lpstr>PowerPoint Presentation</vt:lpstr>
      <vt:lpstr>Data Types: Vector examples</vt:lpstr>
      <vt:lpstr>Data Types: Vector file formats</vt:lpstr>
      <vt:lpstr>Data Types: Tabular file formats</vt:lpstr>
      <vt:lpstr>Data Types:  Vector mapping</vt:lpstr>
      <vt:lpstr>Data Types: Vector mapping</vt:lpstr>
      <vt:lpstr>Data Types: Vector mapping</vt:lpstr>
      <vt:lpstr>Data Types: Vector mapping</vt:lpstr>
      <vt:lpstr>Other data formats</vt:lpstr>
      <vt:lpstr>Making Great Maps</vt:lpstr>
      <vt:lpstr>Making Great Maps</vt:lpstr>
      <vt:lpstr>Three Key Questions</vt:lpstr>
      <vt:lpstr>Vector Symbolization</vt:lpstr>
      <vt:lpstr>Choosing Color Tips</vt:lpstr>
      <vt:lpstr>Qualitative Color Example</vt:lpstr>
      <vt:lpstr>Sequential Color Example</vt:lpstr>
      <vt:lpstr>Diverging Color Example</vt:lpstr>
      <vt:lpstr>Commonly used map type: Choropleth</vt:lpstr>
      <vt:lpstr>Map Design Process</vt:lpstr>
      <vt:lpstr>Map Layout Design Example</vt:lpstr>
      <vt:lpstr>Choropleth map choices</vt:lpstr>
      <vt:lpstr>Classification Methods</vt:lpstr>
      <vt:lpstr>PowerPoint Presentation</vt:lpstr>
      <vt:lpstr>Map Layout Design Example</vt:lpstr>
      <vt:lpstr>Choropleth:  Families Below Poverty in Chicago</vt:lpstr>
      <vt:lpstr>Choropleth:  Talk Radio Consumption </vt:lpstr>
      <vt:lpstr>Choropleth:  % of Bank Branches Receiving TARP Bailout Funds</vt:lpstr>
      <vt:lpstr>Choropleth: % Immigrant by State</vt:lpstr>
      <vt:lpstr>Graduated Symbol:  Campaign Volunteers per 1000 Voters</vt:lpstr>
      <vt:lpstr>Two Variable Maps:  Defense Contracts and Population Density</vt:lpstr>
      <vt:lpstr>Associating Variables </vt:lpstr>
      <vt:lpstr>Natural Breaks:  Identifies ‘gaps’ in the distribution of the data</vt:lpstr>
      <vt:lpstr>Quantile:  Quartiles or Quintiles are Common</vt:lpstr>
      <vt:lpstr>Custom:  User Defined Ranges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Gimpel</dc:creator>
  <cp:lastModifiedBy>Edwin Grimsley</cp:lastModifiedBy>
  <cp:revision>61</cp:revision>
  <dcterms:created xsi:type="dcterms:W3CDTF">2011-09-13T13:49:46Z</dcterms:created>
  <dcterms:modified xsi:type="dcterms:W3CDTF">2025-01-28T15:08:38Z</dcterms:modified>
</cp:coreProperties>
</file>