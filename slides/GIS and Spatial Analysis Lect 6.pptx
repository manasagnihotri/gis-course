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78" r:id="rId1"/>
  </p:sldMasterIdLst>
  <p:notesMasterIdLst>
    <p:notesMasterId r:id="rId33"/>
  </p:notesMasterIdLst>
  <p:sldIdLst>
    <p:sldId id="256" r:id="rId2"/>
    <p:sldId id="337" r:id="rId3"/>
    <p:sldId id="311" r:id="rId4"/>
    <p:sldId id="278" r:id="rId5"/>
    <p:sldId id="310" r:id="rId6"/>
    <p:sldId id="306" r:id="rId7"/>
    <p:sldId id="280" r:id="rId8"/>
    <p:sldId id="281" r:id="rId9"/>
    <p:sldId id="285" r:id="rId10"/>
    <p:sldId id="286" r:id="rId11"/>
    <p:sldId id="276" r:id="rId12"/>
    <p:sldId id="290" r:id="rId13"/>
    <p:sldId id="291" r:id="rId14"/>
    <p:sldId id="292" r:id="rId15"/>
    <p:sldId id="296" r:id="rId16"/>
    <p:sldId id="294" r:id="rId17"/>
    <p:sldId id="295" r:id="rId18"/>
    <p:sldId id="282" r:id="rId19"/>
    <p:sldId id="335" r:id="rId20"/>
    <p:sldId id="336" r:id="rId21"/>
    <p:sldId id="324" r:id="rId22"/>
    <p:sldId id="325" r:id="rId23"/>
    <p:sldId id="328" r:id="rId24"/>
    <p:sldId id="329" r:id="rId25"/>
    <p:sldId id="260" r:id="rId26"/>
    <p:sldId id="258" r:id="rId27"/>
    <p:sldId id="331" r:id="rId28"/>
    <p:sldId id="333" r:id="rId29"/>
    <p:sldId id="330" r:id="rId30"/>
    <p:sldId id="332" r:id="rId31"/>
    <p:sldId id="262" r:id="rId3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282"/>
    <p:restoredTop sz="94521"/>
  </p:normalViewPr>
  <p:slideViewPr>
    <p:cSldViewPr>
      <p:cViewPr varScale="1">
        <p:scale>
          <a:sx n="120" d="100"/>
          <a:sy n="120" d="100"/>
        </p:scale>
        <p:origin x="2280" y="184"/>
      </p:cViewPr>
      <p:guideLst>
        <p:guide orient="horz" pos="2160"/>
        <p:guide pos="2880"/>
      </p:guideLst>
    </p:cSldViewPr>
  </p:slideViewPr>
  <p:notesTextViewPr>
    <p:cViewPr>
      <p:scale>
        <a:sx n="100" d="100"/>
        <a:sy n="100" d="100"/>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5153FF9-58DC-4866-BA34-588FC57ECD05}" type="datetimeFigureOut">
              <a:rPr lang="en-US" smtClean="0"/>
              <a:t>10/7/25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4889072-7365-4511-AB37-D013CF61EF89}" type="slidenum">
              <a:rPr lang="en-US" smtClean="0"/>
              <a:t>‹#›</a:t>
            </a:fld>
            <a:endParaRPr lang="en-US"/>
          </a:p>
        </p:txBody>
      </p:sp>
    </p:spTree>
    <p:extLst>
      <p:ext uri="{BB962C8B-B14F-4D97-AF65-F5344CB8AC3E}">
        <p14:creationId xmlns:p14="http://schemas.microsoft.com/office/powerpoint/2010/main" val="23326810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p:spPr>
        <p:txBody>
          <a:bodyPr/>
          <a:lstStyle/>
          <a:p>
            <a:fld id="{D96D02D5-7D22-4F4F-91B9-5C5388AA0635}" type="slidenum">
              <a:rPr lang="en-US"/>
              <a:pPr/>
              <a:t>10</a:t>
            </a:fld>
            <a:endParaRPr lang="en-US"/>
          </a:p>
        </p:txBody>
      </p:sp>
      <p:sp>
        <p:nvSpPr>
          <p:cNvPr id="64515" name="Rectangle 2"/>
          <p:cNvSpPr>
            <a:spLocks noGrp="1" noRot="1" noChangeAspect="1" noChangeArrowheads="1" noTextEdit="1"/>
          </p:cNvSpPr>
          <p:nvPr>
            <p:ph type="sldImg"/>
          </p:nvPr>
        </p:nvSpPr>
        <p:spPr>
          <a:ln/>
        </p:spPr>
      </p:sp>
      <p:sp>
        <p:nvSpPr>
          <p:cNvPr id="64516" name="Rectangle 3"/>
          <p:cNvSpPr>
            <a:spLocks noGrp="1" noChangeArrowheads="1"/>
          </p:cNvSpPr>
          <p:nvPr>
            <p:ph type="body" idx="1"/>
          </p:nvPr>
        </p:nvSpPr>
        <p:spPr>
          <a:noFill/>
          <a:ln/>
        </p:spPr>
        <p:txBody>
          <a:bodyPr/>
          <a:lstStyle/>
          <a:p>
            <a:pPr eaLnBrk="1" hangingPunct="1">
              <a:lnSpc>
                <a:spcPct val="80000"/>
              </a:lnSpc>
            </a:pPr>
            <a:r>
              <a:rPr lang="en-US" sz="800" dirty="0"/>
              <a:t>U1: </a:t>
            </a:r>
          </a:p>
          <a:p>
            <a:pPr eaLnBrk="1" hangingPunct="1">
              <a:lnSpc>
                <a:spcPct val="80000"/>
              </a:lnSpc>
            </a:pPr>
            <a:r>
              <a:rPr lang="en-US" sz="800" dirty="0"/>
              <a:t>1. Spatial uncertainty. firstly, </a:t>
            </a:r>
            <a:r>
              <a:rPr lang="en-US" sz="800" dirty="0" err="1"/>
              <a:t>Tobler’s</a:t>
            </a:r>
            <a:r>
              <a:rPr lang="en-US" sz="800" dirty="0"/>
              <a:t> law: spatial autocorrelation, secondly, natural units of analysis: what is the measurement unit for a soil profile, how might we delimit an environmental impact of spillage from an oil tanker?</a:t>
            </a:r>
          </a:p>
          <a:p>
            <a:pPr eaLnBrk="1" hangingPunct="1">
              <a:lnSpc>
                <a:spcPct val="80000"/>
              </a:lnSpc>
            </a:pPr>
            <a:r>
              <a:rPr lang="en-US" sz="800" dirty="0"/>
              <a:t>(</a:t>
            </a:r>
            <a:r>
              <a:rPr lang="en-US" sz="1000" dirty="0"/>
              <a:t>In nature, ecological phenomena or discrete</a:t>
            </a:r>
          </a:p>
          <a:p>
            <a:pPr eaLnBrk="1" hangingPunct="1">
              <a:lnSpc>
                <a:spcPct val="80000"/>
              </a:lnSpc>
            </a:pPr>
            <a:r>
              <a:rPr lang="en-US" sz="1000" dirty="0"/>
              <a:t>features either influence neighbors, are influenced by neighbors, or both. The level of</a:t>
            </a:r>
          </a:p>
          <a:p>
            <a:pPr eaLnBrk="1" hangingPunct="1">
              <a:lnSpc>
                <a:spcPct val="80000"/>
              </a:lnSpc>
            </a:pPr>
            <a:r>
              <a:rPr lang="en-US" sz="1000" dirty="0"/>
              <a:t>neighbor influence may vary with distance and other factors, making the autocorrelation</a:t>
            </a:r>
          </a:p>
          <a:p>
            <a:pPr eaLnBrk="1" hangingPunct="1">
              <a:lnSpc>
                <a:spcPct val="80000"/>
              </a:lnSpc>
            </a:pPr>
            <a:r>
              <a:rPr lang="en-US" sz="1000" dirty="0"/>
              <a:t>function non-linear. In general, the closer the neighbors, the greater the level of</a:t>
            </a:r>
          </a:p>
          <a:p>
            <a:pPr eaLnBrk="1" hangingPunct="1">
              <a:lnSpc>
                <a:spcPct val="80000"/>
              </a:lnSpc>
            </a:pPr>
            <a:r>
              <a:rPr lang="en-US" sz="1000" dirty="0"/>
              <a:t>correlation, which distorts statistical tests of significance in analyses such as correlation,</a:t>
            </a:r>
          </a:p>
          <a:p>
            <a:pPr eaLnBrk="1" hangingPunct="1">
              <a:lnSpc>
                <a:spcPct val="80000"/>
              </a:lnSpc>
            </a:pPr>
            <a:r>
              <a:rPr lang="en-US" sz="1000" dirty="0"/>
              <a:t>regression, or analysis of variance (Cliff and </a:t>
            </a:r>
            <a:r>
              <a:rPr lang="en-US" sz="1000" dirty="0" err="1"/>
              <a:t>Ord</a:t>
            </a:r>
            <a:r>
              <a:rPr lang="en-US" sz="1000" dirty="0"/>
              <a:t> 1981).</a:t>
            </a:r>
          </a:p>
          <a:p>
            <a:pPr eaLnBrk="1" hangingPunct="1">
              <a:lnSpc>
                <a:spcPct val="80000"/>
              </a:lnSpc>
            </a:pPr>
            <a:r>
              <a:rPr lang="en-US" sz="800" dirty="0"/>
              <a:t>)</a:t>
            </a:r>
          </a:p>
          <a:p>
            <a:pPr eaLnBrk="1" hangingPunct="1">
              <a:lnSpc>
                <a:spcPct val="80000"/>
              </a:lnSpc>
            </a:pPr>
            <a:endParaRPr lang="en-US" sz="800" dirty="0"/>
          </a:p>
          <a:p>
            <a:pPr eaLnBrk="1" hangingPunct="1">
              <a:lnSpc>
                <a:spcPct val="80000"/>
              </a:lnSpc>
            </a:pPr>
            <a:r>
              <a:rPr lang="en-US" sz="800" dirty="0"/>
              <a:t>2. Vagueness. can exist both in the positions of the boundaries of a zone and its attributes. how many oak trees in a forested zone can label as oak woodland? how far from ABQ to Socorro</a:t>
            </a:r>
          </a:p>
          <a:p>
            <a:pPr eaLnBrk="1" hangingPunct="1">
              <a:lnSpc>
                <a:spcPct val="80000"/>
              </a:lnSpc>
            </a:pPr>
            <a:endParaRPr lang="en-US" sz="800" dirty="0"/>
          </a:p>
          <a:p>
            <a:pPr eaLnBrk="1" hangingPunct="1">
              <a:lnSpc>
                <a:spcPct val="80000"/>
              </a:lnSpc>
            </a:pPr>
            <a:r>
              <a:rPr lang="en-US" sz="800" dirty="0"/>
              <a:t>3. Ambiguity. many objects are assigned different labels by different national or cultural groups. this is inherently ambiguous. second, imperfect indicators of phenomena cause ambiguous. For example, detail household income figures, provide direct indicator of demand for goods and services; rates of multiple car ownership might provide indirect indicator for household income data.</a:t>
            </a:r>
          </a:p>
          <a:p>
            <a:pPr eaLnBrk="1" hangingPunct="1">
              <a:lnSpc>
                <a:spcPct val="80000"/>
              </a:lnSpc>
            </a:pPr>
            <a:endParaRPr lang="en-US" sz="800" dirty="0"/>
          </a:p>
          <a:p>
            <a:pPr eaLnBrk="1" hangingPunct="1">
              <a:lnSpc>
                <a:spcPct val="80000"/>
              </a:lnSpc>
            </a:pPr>
            <a:r>
              <a:rPr lang="en-US" sz="800" dirty="0"/>
              <a:t>U2:</a:t>
            </a:r>
          </a:p>
          <a:p>
            <a:pPr eaLnBrk="1" hangingPunct="1">
              <a:lnSpc>
                <a:spcPct val="80000"/>
              </a:lnSpc>
            </a:pPr>
            <a:r>
              <a:rPr lang="en-US" sz="800" dirty="0"/>
              <a:t>1. Measurement &amp; Representation</a:t>
            </a:r>
          </a:p>
          <a:p>
            <a:pPr>
              <a:lnSpc>
                <a:spcPct val="80000"/>
              </a:lnSpc>
              <a:spcBef>
                <a:spcPct val="0"/>
              </a:spcBef>
            </a:pPr>
            <a:r>
              <a:rPr lang="en-US" sz="800" dirty="0"/>
              <a:t>objects and fields: raster and vector are characterized by different uncertainties: vector requires a priori conceptualization of the nature and extent of geographic individuals and the ways in which they nest together into higher-order zones. raster defines square or rectangle cells, with boundaries that bear no relationship at all to natural features. furthermore, the measurement process can actually introduce uncertainty. </a:t>
            </a:r>
          </a:p>
          <a:p>
            <a:pPr>
              <a:lnSpc>
                <a:spcPct val="80000"/>
              </a:lnSpc>
              <a:spcBef>
                <a:spcPct val="0"/>
              </a:spcBef>
            </a:pPr>
            <a:endParaRPr lang="en-US" sz="800" dirty="0"/>
          </a:p>
          <a:p>
            <a:pPr>
              <a:lnSpc>
                <a:spcPct val="80000"/>
              </a:lnSpc>
              <a:spcBef>
                <a:spcPct val="0"/>
              </a:spcBef>
            </a:pPr>
            <a:r>
              <a:rPr lang="en-US" sz="800" dirty="0"/>
              <a:t>2. error and accuracy</a:t>
            </a:r>
          </a:p>
          <a:p>
            <a:pPr>
              <a:lnSpc>
                <a:spcPct val="80000"/>
              </a:lnSpc>
              <a:spcBef>
                <a:spcPct val="0"/>
              </a:spcBef>
            </a:pPr>
            <a:r>
              <a:rPr lang="en-US" sz="800" dirty="0"/>
              <a:t>Digitizing error, GPS accuracy</a:t>
            </a:r>
          </a:p>
          <a:p>
            <a:pPr>
              <a:lnSpc>
                <a:spcPct val="80000"/>
              </a:lnSpc>
              <a:spcBef>
                <a:spcPct val="0"/>
              </a:spcBef>
            </a:pPr>
            <a:endParaRPr lang="en-US" sz="800" dirty="0"/>
          </a:p>
          <a:p>
            <a:pPr>
              <a:lnSpc>
                <a:spcPct val="80000"/>
              </a:lnSpc>
              <a:spcBef>
                <a:spcPct val="0"/>
              </a:spcBef>
            </a:pPr>
            <a:r>
              <a:rPr lang="en-US" sz="800" dirty="0"/>
              <a:t>U3:</a:t>
            </a:r>
          </a:p>
        </p:txBody>
      </p:sp>
    </p:spTree>
    <p:extLst>
      <p:ext uri="{BB962C8B-B14F-4D97-AF65-F5344CB8AC3E}">
        <p14:creationId xmlns:p14="http://schemas.microsoft.com/office/powerpoint/2010/main" val="22797875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Slide Image Placeholder 1"/>
          <p:cNvSpPr>
            <a:spLocks noGrp="1" noRot="1" noChangeAspect="1" noTextEdit="1"/>
          </p:cNvSpPr>
          <p:nvPr>
            <p:ph type="sldImg"/>
          </p:nvPr>
        </p:nvSpPr>
        <p:spPr>
          <a:ln/>
        </p:spPr>
      </p:sp>
      <p:sp>
        <p:nvSpPr>
          <p:cNvPr id="74755" name="Notes Placeholder 2"/>
          <p:cNvSpPr>
            <a:spLocks noGrp="1"/>
          </p:cNvSpPr>
          <p:nvPr>
            <p:ph type="body" idx="1"/>
          </p:nvPr>
        </p:nvSpPr>
        <p:spPr>
          <a:noFill/>
          <a:ln/>
        </p:spPr>
        <p:txBody>
          <a:bodyPr/>
          <a:lstStyle/>
          <a:p>
            <a:endParaRPr lang="en-US"/>
          </a:p>
        </p:txBody>
      </p:sp>
      <p:sp>
        <p:nvSpPr>
          <p:cNvPr id="74756" name="Slide Number Placeholder 3"/>
          <p:cNvSpPr>
            <a:spLocks noGrp="1"/>
          </p:cNvSpPr>
          <p:nvPr>
            <p:ph type="sldNum" sz="quarter" idx="5"/>
          </p:nvPr>
        </p:nvSpPr>
        <p:spPr>
          <a:noFill/>
        </p:spPr>
        <p:txBody>
          <a:bodyPr/>
          <a:lstStyle/>
          <a:p>
            <a:fld id="{1FB2EE38-8A26-4518-A3F1-5BC55B56BFFC}" type="slidenum">
              <a:rPr lang="en-US" smtClean="0"/>
              <a:pPr/>
              <a:t>16</a:t>
            </a:fld>
            <a:endParaRPr lang="en-US"/>
          </a:p>
        </p:txBody>
      </p:sp>
    </p:spTree>
    <p:extLst>
      <p:ext uri="{BB962C8B-B14F-4D97-AF65-F5344CB8AC3E}">
        <p14:creationId xmlns:p14="http://schemas.microsoft.com/office/powerpoint/2010/main" val="7330063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p:spPr>
        <p:txBody>
          <a:bodyPr/>
          <a:lstStyle/>
          <a:p>
            <a:fld id="{58E4872D-3CAF-4E4E-A953-4F0C23ACC09B}" type="slidenum">
              <a:rPr lang="en-US" smtClean="0"/>
              <a:pPr/>
              <a:t>17</a:t>
            </a:fld>
            <a:endParaRPr lang="en-US"/>
          </a:p>
        </p:txBody>
      </p:sp>
      <p:sp>
        <p:nvSpPr>
          <p:cNvPr id="75779" name="Rectangle 2"/>
          <p:cNvSpPr>
            <a:spLocks noGrp="1" noRot="1" noChangeAspect="1" noChangeArrowheads="1" noTextEdit="1"/>
          </p:cNvSpPr>
          <p:nvPr>
            <p:ph type="sldImg"/>
          </p:nvPr>
        </p:nvSpPr>
        <p:spPr>
          <a:ln/>
        </p:spPr>
      </p:sp>
      <p:sp>
        <p:nvSpPr>
          <p:cNvPr id="75780"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7953159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8091" y="3085765"/>
            <a:ext cx="8240108"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ctrTitle"/>
          </p:nvPr>
        </p:nvSpPr>
        <p:spPr>
          <a:xfrm>
            <a:off x="581192" y="990600"/>
            <a:ext cx="7989752" cy="1504844"/>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2" y="2495444"/>
            <a:ext cx="7989752"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E81D416C-15FF-42A3-8E36-5C91A35E9801}" type="datetimeFigureOut">
              <a:rPr lang="en-US" smtClean="0"/>
              <a:t>10/7/25</a:t>
            </a:fld>
            <a:endParaRPr lang="en-US"/>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1F4645AA-C0DC-42CB-B806-075F3A6970AF}" type="slidenum">
              <a:rPr lang="en-US" smtClean="0"/>
              <a:t>‹#›</a:t>
            </a:fld>
            <a:endParaRPr lang="en-US"/>
          </a:p>
        </p:txBody>
      </p:sp>
    </p:spTree>
    <p:extLst>
      <p:ext uri="{BB962C8B-B14F-4D97-AF65-F5344CB8AC3E}">
        <p14:creationId xmlns:p14="http://schemas.microsoft.com/office/powerpoint/2010/main" val="38038381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8092" y="599725"/>
            <a:ext cx="8238707"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581192" y="2228003"/>
            <a:ext cx="7989752" cy="36307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81D416C-15FF-42A3-8E36-5C91A35E9801}" type="datetimeFigureOut">
              <a:rPr lang="en-US" smtClean="0"/>
              <a:t>10/7/25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4645AA-C0DC-42CB-B806-075F3A6970AF}" type="slidenum">
              <a:rPr lang="en-US" smtClean="0"/>
              <a:t>‹#›</a:t>
            </a:fld>
            <a:endParaRPr lang="en-US"/>
          </a:p>
        </p:txBody>
      </p:sp>
    </p:spTree>
    <p:extLst>
      <p:ext uri="{BB962C8B-B14F-4D97-AF65-F5344CB8AC3E}">
        <p14:creationId xmlns:p14="http://schemas.microsoft.com/office/powerpoint/2010/main" val="20152324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52646" y="5141973"/>
            <a:ext cx="8238707"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36573"/>
            <a:ext cx="7989751" cy="1504844"/>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3" y="4541417"/>
            <a:ext cx="7989751"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E81D416C-15FF-42A3-8E36-5C91A35E9801}" type="datetimeFigureOut">
              <a:rPr lang="en-US" smtClean="0"/>
              <a:t>10/7/25</a:t>
            </a:fld>
            <a:endParaRPr lang="en-US"/>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1F4645AA-C0DC-42CB-B806-075F3A6970AF}" type="slidenum">
              <a:rPr lang="en-US" smtClean="0"/>
              <a:t>‹#›</a:t>
            </a:fld>
            <a:endParaRPr lang="en-US"/>
          </a:p>
        </p:txBody>
      </p:sp>
    </p:spTree>
    <p:extLst>
      <p:ext uri="{BB962C8B-B14F-4D97-AF65-F5344CB8AC3E}">
        <p14:creationId xmlns:p14="http://schemas.microsoft.com/office/powerpoint/2010/main" val="28693314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8092" y="599725"/>
            <a:ext cx="8238707"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81192" y="2228002"/>
            <a:ext cx="3899527"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63282" y="2228003"/>
            <a:ext cx="390766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81D416C-15FF-42A3-8E36-5C91A35E9801}" type="datetimeFigureOut">
              <a:rPr lang="en-US" smtClean="0"/>
              <a:t>10/7/25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F4645AA-C0DC-42CB-B806-075F3A6970AF}" type="slidenum">
              <a:rPr lang="en-US" smtClean="0"/>
              <a:t>‹#›</a:t>
            </a:fld>
            <a:endParaRPr lang="en-US"/>
          </a:p>
        </p:txBody>
      </p:sp>
    </p:spTree>
    <p:extLst>
      <p:ext uri="{BB962C8B-B14F-4D97-AF65-F5344CB8AC3E}">
        <p14:creationId xmlns:p14="http://schemas.microsoft.com/office/powerpoint/2010/main" val="42335648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a:spLocks noChangeAspect="1"/>
          </p:cNvSpPr>
          <p:nvPr/>
        </p:nvSpPr>
        <p:spPr>
          <a:xfrm>
            <a:off x="448092" y="599725"/>
            <a:ext cx="8238707"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87219" y="2228003"/>
            <a:ext cx="3593500" cy="576262"/>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2" y="2926051"/>
            <a:ext cx="3899527"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969308" y="2228003"/>
            <a:ext cx="3601635" cy="576262"/>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63282" y="2926051"/>
            <a:ext cx="3907662"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81D416C-15FF-42A3-8E36-5C91A35E9801}" type="datetimeFigureOut">
              <a:rPr lang="en-US" smtClean="0"/>
              <a:t>10/7/25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F4645AA-C0DC-42CB-B806-075F3A6970AF}" type="slidenum">
              <a:rPr lang="en-US" smtClean="0"/>
              <a:t>‹#›</a:t>
            </a:fld>
            <a:endParaRPr lang="en-US"/>
          </a:p>
        </p:txBody>
      </p:sp>
    </p:spTree>
    <p:extLst>
      <p:ext uri="{BB962C8B-B14F-4D97-AF65-F5344CB8AC3E}">
        <p14:creationId xmlns:p14="http://schemas.microsoft.com/office/powerpoint/2010/main" val="15365240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a:spLocks noChangeAspect="1"/>
          </p:cNvSpPr>
          <p:nvPr/>
        </p:nvSpPr>
        <p:spPr>
          <a:xfrm>
            <a:off x="448092" y="599725"/>
            <a:ext cx="8238707"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81D416C-15FF-42A3-8E36-5C91A35E9801}" type="datetimeFigureOut">
              <a:rPr lang="en-US" smtClean="0"/>
              <a:t>10/7/25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F4645AA-C0DC-42CB-B806-075F3A6970AF}" type="slidenum">
              <a:rPr lang="en-US" smtClean="0"/>
              <a:t>‹#›</a:t>
            </a:fld>
            <a:endParaRPr lang="en-US"/>
          </a:p>
        </p:txBody>
      </p:sp>
    </p:spTree>
    <p:extLst>
      <p:ext uri="{BB962C8B-B14F-4D97-AF65-F5344CB8AC3E}">
        <p14:creationId xmlns:p14="http://schemas.microsoft.com/office/powerpoint/2010/main" val="6697114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81D416C-15FF-42A3-8E36-5C91A35E9801}" type="datetimeFigureOut">
              <a:rPr lang="en-US" smtClean="0"/>
              <a:t>10/7/25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F4645AA-C0DC-42CB-B806-075F3A6970AF}" type="slidenum">
              <a:rPr lang="en-US" smtClean="0"/>
              <a:t>‹#›</a:t>
            </a:fld>
            <a:endParaRPr lang="en-US"/>
          </a:p>
        </p:txBody>
      </p:sp>
    </p:spTree>
    <p:extLst>
      <p:ext uri="{BB962C8B-B14F-4D97-AF65-F5344CB8AC3E}">
        <p14:creationId xmlns:p14="http://schemas.microsoft.com/office/powerpoint/2010/main" val="7284385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52646" y="5141973"/>
            <a:ext cx="8238707"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352" y="5262296"/>
            <a:ext cx="353662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6399" y="601200"/>
            <a:ext cx="824040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305617" y="5262295"/>
            <a:ext cx="426532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E81D416C-15FF-42A3-8E36-5C91A35E9801}" type="datetimeFigureOut">
              <a:rPr lang="en-US" smtClean="0"/>
              <a:t>10/7/25</a:t>
            </a:fld>
            <a:endParaRPr lang="en-US"/>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1F4645AA-C0DC-42CB-B806-075F3A6970AF}" type="slidenum">
              <a:rPr lang="en-US" smtClean="0"/>
              <a:t>‹#›</a:t>
            </a:fld>
            <a:endParaRPr lang="en-US"/>
          </a:p>
        </p:txBody>
      </p:sp>
    </p:spTree>
    <p:extLst>
      <p:ext uri="{BB962C8B-B14F-4D97-AF65-F5344CB8AC3E}">
        <p14:creationId xmlns:p14="http://schemas.microsoft.com/office/powerpoint/2010/main" val="13761663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2" y="4693389"/>
            <a:ext cx="7989752"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8093" y="599725"/>
            <a:ext cx="8238706"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6"/>
            <a:ext cx="7989752"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81D416C-15FF-42A3-8E36-5C91A35E9801}" type="datetimeFigureOut">
              <a:rPr lang="en-US" smtClean="0"/>
              <a:t>10/7/25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F4645AA-C0DC-42CB-B806-075F3A6970AF}" type="slidenum">
              <a:rPr lang="en-US" smtClean="0"/>
              <a:t>‹#›</a:t>
            </a:fld>
            <a:endParaRPr lang="en-US"/>
          </a:p>
        </p:txBody>
      </p:sp>
    </p:spTree>
    <p:extLst>
      <p:ext uri="{BB962C8B-B14F-4D97-AF65-F5344CB8AC3E}">
        <p14:creationId xmlns:p14="http://schemas.microsoft.com/office/powerpoint/2010/main" val="6729366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a:spLocks noChangeAspect="1"/>
          </p:cNvSpPr>
          <p:nvPr/>
        </p:nvSpPr>
        <p:spPr>
          <a:xfrm>
            <a:off x="448092" y="599725"/>
            <a:ext cx="8238707"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81D416C-15FF-42A3-8E36-5C91A35E9801}" type="datetimeFigureOut">
              <a:rPr lang="en-US" smtClean="0"/>
              <a:t>10/7/25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4645AA-C0DC-42CB-B806-075F3A6970AF}" type="slidenum">
              <a:rPr lang="en-US" smtClean="0"/>
              <a:t>‹#›</a:t>
            </a:fld>
            <a:endParaRPr lang="en-US"/>
          </a:p>
        </p:txBody>
      </p:sp>
    </p:spTree>
    <p:extLst>
      <p:ext uri="{BB962C8B-B14F-4D97-AF65-F5344CB8AC3E}">
        <p14:creationId xmlns:p14="http://schemas.microsoft.com/office/powerpoint/2010/main" val="3579648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6629400" y="599725"/>
            <a:ext cx="2057399"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6629400" y="675725"/>
            <a:ext cx="1503123"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581192" y="675725"/>
            <a:ext cx="592220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745255" y="5956136"/>
            <a:ext cx="947672" cy="365125"/>
          </a:xfrm>
        </p:spPr>
        <p:txBody>
          <a:bodyPr/>
          <a:lstStyle>
            <a:lvl1pPr>
              <a:defRPr>
                <a:solidFill>
                  <a:schemeClr val="accent1">
                    <a:lumMod val="75000"/>
                    <a:lumOff val="25000"/>
                  </a:schemeClr>
                </a:solidFill>
              </a:defRPr>
            </a:lvl1pPr>
          </a:lstStyle>
          <a:p>
            <a:fld id="{E81D416C-15FF-42A3-8E36-5C91A35E9801}" type="datetimeFigureOut">
              <a:rPr lang="en-US" smtClean="0"/>
              <a:t>10/7/25</a:t>
            </a:fld>
            <a:endParaRPr lang="en-US"/>
          </a:p>
        </p:txBody>
      </p:sp>
      <p:sp>
        <p:nvSpPr>
          <p:cNvPr id="5" name="Footer Placeholder 4"/>
          <p:cNvSpPr>
            <a:spLocks noGrp="1"/>
          </p:cNvSpPr>
          <p:nvPr>
            <p:ph type="ftr" sz="quarter" idx="11"/>
          </p:nvPr>
        </p:nvSpPr>
        <p:spPr>
          <a:xfrm>
            <a:off x="581192" y="5951810"/>
            <a:ext cx="5922209" cy="365125"/>
          </a:xfrm>
        </p:spPr>
        <p:txBody>
          <a:bodyPr/>
          <a:lstStyle/>
          <a:p>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1F4645AA-C0DC-42CB-B806-075F3A6970AF}" type="slidenum">
              <a:rPr lang="en-US" smtClean="0"/>
              <a:t>‹#›</a:t>
            </a:fld>
            <a:endParaRPr lang="en-US"/>
          </a:p>
        </p:txBody>
      </p:sp>
    </p:spTree>
    <p:extLst>
      <p:ext uri="{BB962C8B-B14F-4D97-AF65-F5344CB8AC3E}">
        <p14:creationId xmlns:p14="http://schemas.microsoft.com/office/powerpoint/2010/main" val="7120738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687474"/>
            <a:ext cx="7989752" cy="1083329"/>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228003"/>
            <a:ext cx="7989752" cy="3630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559327" y="5956136"/>
            <a:ext cx="2133600" cy="365125"/>
          </a:xfrm>
          <a:prstGeom prst="rect">
            <a:avLst/>
          </a:prstGeom>
        </p:spPr>
        <p:txBody>
          <a:bodyPr vert="horz" lIns="91440" tIns="45720" rIns="91440" bIns="45720" rtlCol="0" anchor="ctr"/>
          <a:lstStyle>
            <a:lvl1pPr algn="r">
              <a:defRPr sz="900">
                <a:solidFill>
                  <a:schemeClr val="accent2"/>
                </a:solidFill>
              </a:defRPr>
            </a:lvl1pPr>
          </a:lstStyle>
          <a:p>
            <a:fld id="{E81D416C-15FF-42A3-8E36-5C91A35E9801}" type="datetimeFigureOut">
              <a:rPr lang="en-US" smtClean="0"/>
              <a:t>10/7/25</a:t>
            </a:fld>
            <a:endParaRPr lang="en-US"/>
          </a:p>
        </p:txBody>
      </p:sp>
      <p:sp>
        <p:nvSpPr>
          <p:cNvPr id="5" name="Footer Placeholder 4"/>
          <p:cNvSpPr>
            <a:spLocks noGrp="1"/>
          </p:cNvSpPr>
          <p:nvPr>
            <p:ph type="ftr" sz="quarter" idx="3"/>
          </p:nvPr>
        </p:nvSpPr>
        <p:spPr>
          <a:xfrm>
            <a:off x="581192" y="5951810"/>
            <a:ext cx="4870585"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a:p>
        </p:txBody>
      </p:sp>
      <p:sp>
        <p:nvSpPr>
          <p:cNvPr id="6" name="Slide Number Placeholder 5"/>
          <p:cNvSpPr>
            <a:spLocks noGrp="1"/>
          </p:cNvSpPr>
          <p:nvPr>
            <p:ph type="sldNum" sz="quarter" idx="4"/>
          </p:nvPr>
        </p:nvSpPr>
        <p:spPr>
          <a:xfrm>
            <a:off x="7800476" y="5956136"/>
            <a:ext cx="770468" cy="365125"/>
          </a:xfrm>
          <a:prstGeom prst="rect">
            <a:avLst/>
          </a:prstGeom>
        </p:spPr>
        <p:txBody>
          <a:bodyPr vert="horz" lIns="91440" tIns="45720" rIns="91440" bIns="45720" rtlCol="0" anchor="ctr"/>
          <a:lstStyle>
            <a:lvl1pPr algn="r">
              <a:defRPr sz="900">
                <a:solidFill>
                  <a:schemeClr val="accent2"/>
                </a:solidFill>
              </a:defRPr>
            </a:lvl1pPr>
          </a:lstStyle>
          <a:p>
            <a:fld id="{1F4645AA-C0DC-42CB-B806-075F3A6970AF}" type="slidenum">
              <a:rPr lang="en-US" smtClean="0"/>
              <a:t>‹#›</a:t>
            </a:fld>
            <a:endParaRPr lang="en-US"/>
          </a:p>
        </p:txBody>
      </p:sp>
      <p:sp>
        <p:nvSpPr>
          <p:cNvPr id="9" name="Rectangle 8"/>
          <p:cNvSpPr/>
          <p:nvPr/>
        </p:nvSpPr>
        <p:spPr>
          <a:xfrm>
            <a:off x="448091" y="441325"/>
            <a:ext cx="2719909" cy="10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 name="Rectangle 9"/>
          <p:cNvSpPr/>
          <p:nvPr/>
        </p:nvSpPr>
        <p:spPr>
          <a:xfrm>
            <a:off x="5976001" y="441325"/>
            <a:ext cx="2710800" cy="108000"/>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1" name="Rectangle 10"/>
          <p:cNvSpPr/>
          <p:nvPr/>
        </p:nvSpPr>
        <p:spPr>
          <a:xfrm>
            <a:off x="3216601" y="441325"/>
            <a:ext cx="2710800" cy="10800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3701913010"/>
      </p:ext>
    </p:extLst>
  </p:cSld>
  <p:clrMap bg1="lt1" tx1="dk1" bg2="lt2" tx2="dk2" accent1="accent1" accent2="accent2" accent3="accent3" accent4="accent4" accent5="accent5" accent6="accent6" hlink="hlink" folHlink="folHlink"/>
  <p:sldLayoutIdLst>
    <p:sldLayoutId id="2147483879" r:id="rId1"/>
    <p:sldLayoutId id="2147483880" r:id="rId2"/>
    <p:sldLayoutId id="2147483881" r:id="rId3"/>
    <p:sldLayoutId id="2147483882" r:id="rId4"/>
    <p:sldLayoutId id="2147483883" r:id="rId5"/>
    <p:sldLayoutId id="2147483884" r:id="rId6"/>
    <p:sldLayoutId id="2147483885" r:id="rId7"/>
    <p:sldLayoutId id="2147483886" r:id="rId8"/>
    <p:sldLayoutId id="2147483887" r:id="rId9"/>
    <p:sldLayoutId id="2147483888" r:id="rId10"/>
    <p:sldLayoutId id="2147483889"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oleObject" Target="../embeddings/oleObject1.bin"/><Relationship Id="rId1" Type="http://schemas.openxmlformats.org/officeDocument/2006/relationships/slideLayout" Target="../slideLayouts/slideLayout2.xml"/><Relationship Id="rId5" Type="http://schemas.openxmlformats.org/officeDocument/2006/relationships/image" Target="../media/image7.emf"/><Relationship Id="rId4" Type="http://schemas.openxmlformats.org/officeDocument/2006/relationships/oleObject" Target="../embeddings/oleObject2.bin"/></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10.emf"/><Relationship Id="rId4" Type="http://schemas.openxmlformats.org/officeDocument/2006/relationships/image" Target="../media/image9.emf"/></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836185" y="0"/>
            <a:ext cx="5471630" cy="3703320"/>
          </a:xfrm>
        </p:spPr>
        <p:txBody>
          <a:bodyPr anchor="ctr">
            <a:normAutofit/>
          </a:bodyPr>
          <a:lstStyle/>
          <a:p>
            <a:pPr algn="ctr"/>
            <a:r>
              <a:rPr lang="en-US" sz="4200" dirty="0"/>
              <a:t>GIS and Spatial Analytics</a:t>
            </a:r>
            <a:br>
              <a:rPr lang="en-US" sz="4200" dirty="0"/>
            </a:br>
            <a:endParaRPr lang="en-US" sz="4200" dirty="0"/>
          </a:p>
        </p:txBody>
      </p:sp>
      <p:sp>
        <p:nvSpPr>
          <p:cNvPr id="3" name="Subtitle 2"/>
          <p:cNvSpPr>
            <a:spLocks noGrp="1"/>
          </p:cNvSpPr>
          <p:nvPr>
            <p:ph type="subTitle" idx="1"/>
          </p:nvPr>
        </p:nvSpPr>
        <p:spPr>
          <a:xfrm>
            <a:off x="1981200" y="2819400"/>
            <a:ext cx="3810000" cy="3703320"/>
          </a:xfrm>
          <a:ln w="57150">
            <a:noFill/>
          </a:ln>
        </p:spPr>
        <p:txBody>
          <a:bodyPr anchor="ctr">
            <a:normAutofit/>
          </a:bodyPr>
          <a:lstStyle/>
          <a:p>
            <a:pPr algn="r"/>
            <a:r>
              <a:rPr lang="en-US" sz="2800" dirty="0">
                <a:solidFill>
                  <a:schemeClr val="bg1"/>
                </a:solidFill>
                <a:latin typeface="Arial" panose="020B0604020202020204" pitchFamily="34" charset="0"/>
                <a:cs typeface="Arial" panose="020B0604020202020204" pitchFamily="34" charset="0"/>
              </a:rPr>
              <a:t>Lecture 6</a:t>
            </a:r>
          </a:p>
          <a:p>
            <a:pPr algn="r"/>
            <a:endParaRPr lang="en-US" sz="17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0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929A87-0C89-C2B8-C50C-033272532DE6}"/>
              </a:ext>
            </a:extLst>
          </p:cNvPr>
          <p:cNvSpPr>
            <a:spLocks noGrp="1"/>
          </p:cNvSpPr>
          <p:nvPr>
            <p:ph type="title"/>
          </p:nvPr>
        </p:nvSpPr>
        <p:spPr/>
        <p:txBody>
          <a:bodyPr>
            <a:normAutofit/>
          </a:bodyPr>
          <a:lstStyle/>
          <a:p>
            <a:r>
              <a:rPr lang="en-US" dirty="0"/>
              <a:t>What Will We Cover Today?</a:t>
            </a:r>
          </a:p>
        </p:txBody>
      </p:sp>
      <p:sp>
        <p:nvSpPr>
          <p:cNvPr id="3" name="Content Placeholder 2">
            <a:extLst>
              <a:ext uri="{FF2B5EF4-FFF2-40B4-BE49-F238E27FC236}">
                <a16:creationId xmlns:a16="http://schemas.microsoft.com/office/drawing/2014/main" id="{E6ED4A7C-5DF5-7A7F-AD26-0EB85892DB51}"/>
              </a:ext>
            </a:extLst>
          </p:cNvPr>
          <p:cNvSpPr>
            <a:spLocks noGrp="1"/>
          </p:cNvSpPr>
          <p:nvPr>
            <p:ph idx="1"/>
          </p:nvPr>
        </p:nvSpPr>
        <p:spPr/>
        <p:txBody>
          <a:bodyPr>
            <a:normAutofit/>
          </a:bodyPr>
          <a:lstStyle/>
          <a:p>
            <a:r>
              <a:rPr lang="en-US" sz="2800" dirty="0"/>
              <a:t>Buffers Recap!</a:t>
            </a:r>
          </a:p>
          <a:p>
            <a:r>
              <a:rPr lang="en-US" sz="2800" dirty="0"/>
              <a:t>Points, Near (Closest) and Distances</a:t>
            </a:r>
          </a:p>
          <a:p>
            <a:r>
              <a:rPr lang="en-US" sz="2800" dirty="0"/>
              <a:t>Summary Statistics </a:t>
            </a:r>
          </a:p>
          <a:p>
            <a:r>
              <a:rPr lang="en-US" sz="2800" dirty="0"/>
              <a:t>Geocoding Addresses</a:t>
            </a:r>
          </a:p>
        </p:txBody>
      </p:sp>
    </p:spTree>
    <p:extLst>
      <p:ext uri="{BB962C8B-B14F-4D97-AF65-F5344CB8AC3E}">
        <p14:creationId xmlns:p14="http://schemas.microsoft.com/office/powerpoint/2010/main" val="11602120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457200" y="1828800"/>
            <a:ext cx="8001000" cy="4525963"/>
          </a:xfrm>
        </p:spPr>
        <p:txBody>
          <a:bodyPr>
            <a:normAutofit/>
          </a:bodyPr>
          <a:lstStyle/>
          <a:p>
            <a:r>
              <a:rPr lang="en-US" sz="2400" dirty="0"/>
              <a:t>Spatially combine two layers to:</a:t>
            </a:r>
          </a:p>
          <a:p>
            <a:pPr>
              <a:buNone/>
            </a:pPr>
            <a:endParaRPr lang="en-US" sz="2400" dirty="0"/>
          </a:p>
          <a:p>
            <a:pPr lvl="1"/>
            <a:r>
              <a:rPr lang="en-US" sz="2400" dirty="0"/>
              <a:t>Generate a new output data layer</a:t>
            </a:r>
          </a:p>
          <a:p>
            <a:pPr lvl="1"/>
            <a:endParaRPr lang="en-US" sz="2400" dirty="0"/>
          </a:p>
          <a:p>
            <a:pPr lvl="1"/>
            <a:r>
              <a:rPr lang="en-US" sz="2400" dirty="0"/>
              <a:t>Assign attributes of one data layer to another</a:t>
            </a:r>
          </a:p>
          <a:p>
            <a:pPr lvl="1"/>
            <a:endParaRPr lang="en-US" sz="2400" dirty="0"/>
          </a:p>
          <a:p>
            <a:pPr lvl="1"/>
            <a:r>
              <a:rPr lang="en-US" sz="2400" dirty="0"/>
              <a:t>Usually one of the data layers will be polygons</a:t>
            </a:r>
          </a:p>
          <a:p>
            <a:pPr lvl="2"/>
            <a:r>
              <a:rPr lang="en-US" sz="2400" dirty="0"/>
              <a:t>A point-in-polygon overlay is typical </a:t>
            </a:r>
          </a:p>
        </p:txBody>
      </p:sp>
      <p:sp>
        <p:nvSpPr>
          <p:cNvPr id="4" name="Title 3"/>
          <p:cNvSpPr>
            <a:spLocks noGrp="1"/>
          </p:cNvSpPr>
          <p:nvPr>
            <p:ph type="title"/>
          </p:nvPr>
        </p:nvSpPr>
        <p:spPr>
          <a:xfrm>
            <a:off x="990600" y="30162"/>
            <a:ext cx="8686800" cy="1417638"/>
          </a:xfrm>
        </p:spPr>
        <p:txBody>
          <a:bodyPr>
            <a:normAutofit/>
          </a:bodyPr>
          <a:lstStyle/>
          <a:p>
            <a:r>
              <a:rPr lang="en-US" sz="3600" dirty="0"/>
              <a:t>Spatial Overlays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3"/>
          <p:cNvSpPr>
            <a:spLocks noGrp="1" noChangeArrowheads="1"/>
          </p:cNvSpPr>
          <p:nvPr>
            <p:ph idx="1"/>
          </p:nvPr>
        </p:nvSpPr>
        <p:spPr/>
        <p:txBody>
          <a:bodyPr>
            <a:normAutofit/>
          </a:bodyPr>
          <a:lstStyle/>
          <a:p>
            <a:pPr eaLnBrk="1" hangingPunct="1"/>
            <a:r>
              <a:rPr lang="en-US" sz="2800" dirty="0"/>
              <a:t>Buffer</a:t>
            </a:r>
          </a:p>
          <a:p>
            <a:pPr eaLnBrk="1" hangingPunct="1"/>
            <a:r>
              <a:rPr lang="en-US" sz="2800" dirty="0"/>
              <a:t>Multiple Ring Buffer</a:t>
            </a:r>
          </a:p>
          <a:p>
            <a:pPr eaLnBrk="1" hangingPunct="1"/>
            <a:r>
              <a:rPr lang="en-US" sz="2800" dirty="0"/>
              <a:t>Near</a:t>
            </a:r>
          </a:p>
          <a:p>
            <a:pPr eaLnBrk="1" hangingPunct="1"/>
            <a:r>
              <a:rPr lang="en-US" sz="2800" dirty="0"/>
              <a:t>Point Distance</a:t>
            </a:r>
          </a:p>
        </p:txBody>
      </p:sp>
      <p:sp>
        <p:nvSpPr>
          <p:cNvPr id="32770" name="Rectangle 2"/>
          <p:cNvSpPr>
            <a:spLocks noGrp="1" noChangeArrowheads="1"/>
          </p:cNvSpPr>
          <p:nvPr>
            <p:ph type="title"/>
          </p:nvPr>
        </p:nvSpPr>
        <p:spPr>
          <a:xfrm>
            <a:off x="1219200" y="457200"/>
            <a:ext cx="8610600" cy="868362"/>
          </a:xfrm>
        </p:spPr>
        <p:txBody>
          <a:bodyPr>
            <a:normAutofit/>
          </a:bodyPr>
          <a:lstStyle/>
          <a:p>
            <a:pPr eaLnBrk="1" hangingPunct="1">
              <a:defRPr/>
            </a:pPr>
            <a:r>
              <a:rPr lang="en-US" sz="3600" dirty="0"/>
              <a:t>Proximity Tools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537C7D7-6F10-BED1-5C80-18036C9F211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600" y="457200"/>
            <a:ext cx="10896600" cy="6181202"/>
          </a:xfrm>
          <a:prstGeom prst="rect">
            <a:avLst/>
          </a:prstGeom>
        </p:spPr>
      </p:pic>
    </p:spTree>
    <p:extLst>
      <p:ext uri="{BB962C8B-B14F-4D97-AF65-F5344CB8AC3E}">
        <p14:creationId xmlns:p14="http://schemas.microsoft.com/office/powerpoint/2010/main" val="25529053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4435" name="Picture 3" descr="buffer1"/>
          <p:cNvPicPr>
            <a:picLocks noChangeAspect="1" noChangeArrowheads="1"/>
          </p:cNvPicPr>
          <p:nvPr/>
        </p:nvPicPr>
        <p:blipFill>
          <a:blip r:embed="rId2" cstate="print"/>
          <a:srcRect/>
          <a:stretch>
            <a:fillRect/>
          </a:stretch>
        </p:blipFill>
        <p:spPr bwMode="auto">
          <a:xfrm>
            <a:off x="4419600" y="1905000"/>
            <a:ext cx="4495800" cy="4411663"/>
          </a:xfrm>
          <a:prstGeom prst="rect">
            <a:avLst/>
          </a:prstGeom>
          <a:noFill/>
        </p:spPr>
      </p:pic>
      <p:pic>
        <p:nvPicPr>
          <p:cNvPr id="274436" name="Picture 4" descr="buffer2_cnstr_line"/>
          <p:cNvPicPr>
            <a:picLocks noChangeAspect="1" noChangeArrowheads="1"/>
          </p:cNvPicPr>
          <p:nvPr/>
        </p:nvPicPr>
        <p:blipFill>
          <a:blip r:embed="rId3" cstate="print"/>
          <a:srcRect/>
          <a:stretch>
            <a:fillRect/>
          </a:stretch>
        </p:blipFill>
        <p:spPr bwMode="auto">
          <a:xfrm>
            <a:off x="762000" y="4495800"/>
            <a:ext cx="3276600" cy="1681163"/>
          </a:xfrm>
          <a:prstGeom prst="rect">
            <a:avLst/>
          </a:prstGeom>
          <a:noFill/>
        </p:spPr>
      </p:pic>
      <p:sp>
        <p:nvSpPr>
          <p:cNvPr id="274437" name="Text Box 5"/>
          <p:cNvSpPr txBox="1">
            <a:spLocks noChangeArrowheads="1"/>
          </p:cNvSpPr>
          <p:nvPr/>
        </p:nvSpPr>
        <p:spPr bwMode="auto">
          <a:xfrm>
            <a:off x="533400" y="2286000"/>
            <a:ext cx="3615092" cy="1569660"/>
          </a:xfrm>
          <a:prstGeom prst="rect">
            <a:avLst/>
          </a:prstGeom>
          <a:noFill/>
          <a:ln w="9525">
            <a:noFill/>
            <a:miter lim="800000"/>
            <a:headEnd/>
            <a:tailEnd/>
          </a:ln>
          <a:effectLst/>
        </p:spPr>
        <p:txBody>
          <a:bodyPr wrap="square">
            <a:spAutoFit/>
          </a:bodyPr>
          <a:lstStyle/>
          <a:p>
            <a:pPr eaLnBrk="1" hangingPunct="1"/>
            <a:r>
              <a:rPr lang="en-US" altLang="zh-CN" sz="1600" dirty="0">
                <a:solidFill>
                  <a:srgbClr val="0000FF"/>
                </a:solidFill>
                <a:latin typeface="Times New Roman" pitchFamily="18" charset="0"/>
                <a:ea typeface="SimSun" pitchFamily="2" charset="-122"/>
              </a:rPr>
              <a:t>Move circle of specified radius along line</a:t>
            </a:r>
          </a:p>
          <a:p>
            <a:pPr eaLnBrk="1" hangingPunct="1"/>
            <a:r>
              <a:rPr lang="en-US" altLang="zh-CN" sz="1600" dirty="0">
                <a:solidFill>
                  <a:srgbClr val="0000FF"/>
                </a:solidFill>
                <a:latin typeface="Times New Roman" pitchFamily="18" charset="0"/>
                <a:ea typeface="SimSun" pitchFamily="2" charset="-122"/>
              </a:rPr>
              <a:t>(or lines forming polygon)</a:t>
            </a:r>
          </a:p>
          <a:p>
            <a:pPr eaLnBrk="1" hangingPunct="1"/>
            <a:endParaRPr lang="en-US" altLang="zh-CN" sz="1600" dirty="0">
              <a:solidFill>
                <a:srgbClr val="0000FF"/>
              </a:solidFill>
              <a:latin typeface="Times New Roman" pitchFamily="18" charset="0"/>
              <a:ea typeface="SimSun" pitchFamily="2" charset="-122"/>
            </a:endParaRPr>
          </a:p>
          <a:p>
            <a:pPr eaLnBrk="1" hangingPunct="1"/>
            <a:endParaRPr lang="en-US" altLang="zh-CN" sz="1600" dirty="0">
              <a:solidFill>
                <a:srgbClr val="0000FF"/>
              </a:solidFill>
              <a:latin typeface="Times New Roman" pitchFamily="18" charset="0"/>
              <a:ea typeface="SimSun" pitchFamily="2" charset="-122"/>
            </a:endParaRPr>
          </a:p>
          <a:p>
            <a:pPr eaLnBrk="1" hangingPunct="1"/>
            <a:endParaRPr lang="en-US" altLang="zh-CN" sz="1600" dirty="0">
              <a:solidFill>
                <a:srgbClr val="0000FF"/>
              </a:solidFill>
              <a:latin typeface="Times New Roman" pitchFamily="18" charset="0"/>
              <a:ea typeface="SimSun" pitchFamily="2" charset="-122"/>
            </a:endParaRPr>
          </a:p>
          <a:p>
            <a:pPr eaLnBrk="1" hangingPunct="1"/>
            <a:endParaRPr lang="en-US" altLang="zh-CN" sz="1600" dirty="0">
              <a:solidFill>
                <a:srgbClr val="0000FF"/>
              </a:solidFill>
              <a:latin typeface="Times New Roman" pitchFamily="18" charset="0"/>
              <a:ea typeface="SimSun" pitchFamily="2" charset="-122"/>
            </a:endParaRPr>
          </a:p>
        </p:txBody>
      </p:sp>
      <p:sp>
        <p:nvSpPr>
          <p:cNvPr id="7" name="Content Placeholder 6"/>
          <p:cNvSpPr>
            <a:spLocks noGrp="1"/>
          </p:cNvSpPr>
          <p:nvPr>
            <p:ph idx="1"/>
          </p:nvPr>
        </p:nvSpPr>
        <p:spPr>
          <a:xfrm>
            <a:off x="1752600" y="1481328"/>
            <a:ext cx="6934200" cy="4525963"/>
          </a:xfrm>
        </p:spPr>
        <p:txBody>
          <a:bodyPr/>
          <a:lstStyle/>
          <a:p>
            <a:pPr>
              <a:buNone/>
            </a:pPr>
            <a:r>
              <a:rPr lang="en-US" dirty="0"/>
              <a:t> </a:t>
            </a:r>
          </a:p>
        </p:txBody>
      </p:sp>
      <p:sp>
        <p:nvSpPr>
          <p:cNvPr id="6" name="Title 5"/>
          <p:cNvSpPr>
            <a:spLocks noGrp="1"/>
          </p:cNvSpPr>
          <p:nvPr>
            <p:ph type="title"/>
          </p:nvPr>
        </p:nvSpPr>
        <p:spPr/>
        <p:txBody>
          <a:bodyPr/>
          <a:lstStyle/>
          <a:p>
            <a:r>
              <a:rPr lang="en-US" dirty="0"/>
              <a:t>Buffers for Lines and Polygons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Rectangle 3"/>
          <p:cNvSpPr>
            <a:spLocks noGrp="1" noChangeArrowheads="1"/>
          </p:cNvSpPr>
          <p:nvPr>
            <p:ph idx="1"/>
          </p:nvPr>
        </p:nvSpPr>
        <p:spPr>
          <a:xfrm>
            <a:off x="457200" y="1600200"/>
            <a:ext cx="8229600" cy="1905000"/>
          </a:xfrm>
        </p:spPr>
        <p:txBody>
          <a:bodyPr>
            <a:normAutofit/>
          </a:bodyPr>
          <a:lstStyle/>
          <a:p>
            <a:pPr eaLnBrk="1" hangingPunct="1"/>
            <a:r>
              <a:rPr lang="en-US" sz="2400" dirty="0"/>
              <a:t>Creates a new feature class of buffer features using a set of buffer distances. The new features may be dissolved using the distance values or as a set of individual features. </a:t>
            </a:r>
          </a:p>
        </p:txBody>
      </p:sp>
      <p:sp>
        <p:nvSpPr>
          <p:cNvPr id="34818" name="Rectangle 2"/>
          <p:cNvSpPr>
            <a:spLocks noGrp="1" noChangeArrowheads="1"/>
          </p:cNvSpPr>
          <p:nvPr>
            <p:ph type="title"/>
          </p:nvPr>
        </p:nvSpPr>
        <p:spPr/>
        <p:txBody>
          <a:bodyPr/>
          <a:lstStyle/>
          <a:p>
            <a:pPr eaLnBrk="1" hangingPunct="1">
              <a:defRPr/>
            </a:pPr>
            <a:r>
              <a:rPr lang="en-US"/>
              <a:t>Multiple Ring Buffer</a:t>
            </a:r>
          </a:p>
        </p:txBody>
      </p:sp>
      <p:pic>
        <p:nvPicPr>
          <p:cNvPr id="29700" name="Picture 5" descr="Multiple Ring Buffer illustration"/>
          <p:cNvPicPr>
            <a:picLocks noChangeAspect="1" noChangeArrowheads="1"/>
          </p:cNvPicPr>
          <p:nvPr/>
        </p:nvPicPr>
        <p:blipFill>
          <a:blip r:embed="rId2" cstate="print"/>
          <a:srcRect/>
          <a:stretch>
            <a:fillRect/>
          </a:stretch>
        </p:blipFill>
        <p:spPr bwMode="auto">
          <a:xfrm>
            <a:off x="3886200" y="3505200"/>
            <a:ext cx="4648200" cy="3035300"/>
          </a:xfrm>
          <a:prstGeom prst="rect">
            <a:avLst/>
          </a:prstGeom>
          <a:noFill/>
          <a:ln w="9525">
            <a:noFill/>
            <a:miter lim="800000"/>
            <a:headEnd/>
            <a:tailEnd/>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Rectangle 3"/>
          <p:cNvSpPr>
            <a:spLocks noGrp="1" noChangeArrowheads="1"/>
          </p:cNvSpPr>
          <p:nvPr>
            <p:ph idx="1"/>
          </p:nvPr>
        </p:nvSpPr>
        <p:spPr>
          <a:xfrm>
            <a:off x="457200" y="1600200"/>
            <a:ext cx="8229600" cy="1676400"/>
          </a:xfrm>
        </p:spPr>
        <p:txBody>
          <a:bodyPr/>
          <a:lstStyle/>
          <a:p>
            <a:pPr eaLnBrk="1" hangingPunct="1">
              <a:lnSpc>
                <a:spcPct val="90000"/>
              </a:lnSpc>
            </a:pPr>
            <a:r>
              <a:rPr lang="en-US" sz="2800" dirty="0"/>
              <a:t>Computes the distance from each point in a feature class to the nearest line or point in another feature class.</a:t>
            </a:r>
          </a:p>
        </p:txBody>
      </p:sp>
      <p:sp>
        <p:nvSpPr>
          <p:cNvPr id="35842" name="Rectangle 2"/>
          <p:cNvSpPr>
            <a:spLocks noGrp="1" noChangeArrowheads="1"/>
          </p:cNvSpPr>
          <p:nvPr>
            <p:ph type="title"/>
          </p:nvPr>
        </p:nvSpPr>
        <p:spPr/>
        <p:txBody>
          <a:bodyPr/>
          <a:lstStyle/>
          <a:p>
            <a:pPr eaLnBrk="1" hangingPunct="1">
              <a:defRPr/>
            </a:pPr>
            <a:r>
              <a:rPr lang="en-US"/>
              <a:t>Near</a:t>
            </a:r>
          </a:p>
        </p:txBody>
      </p:sp>
      <p:pic>
        <p:nvPicPr>
          <p:cNvPr id="30724" name="Picture 5" descr="Near illustration"/>
          <p:cNvPicPr>
            <a:picLocks noChangeAspect="1" noChangeArrowheads="1"/>
          </p:cNvPicPr>
          <p:nvPr/>
        </p:nvPicPr>
        <p:blipFill>
          <a:blip r:embed="rId2" cstate="print"/>
          <a:srcRect/>
          <a:stretch>
            <a:fillRect/>
          </a:stretch>
        </p:blipFill>
        <p:spPr bwMode="auto">
          <a:xfrm>
            <a:off x="2590800" y="2895600"/>
            <a:ext cx="5791200" cy="3681413"/>
          </a:xfrm>
          <a:prstGeom prst="rect">
            <a:avLst/>
          </a:prstGeom>
          <a:noFill/>
          <a:ln w="9525">
            <a:noFill/>
            <a:miter lim="800000"/>
            <a:headEnd/>
            <a:tailEnd/>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Rectangle 3"/>
          <p:cNvSpPr>
            <a:spLocks noGrp="1" noChangeArrowheads="1"/>
          </p:cNvSpPr>
          <p:nvPr>
            <p:ph idx="1"/>
          </p:nvPr>
        </p:nvSpPr>
        <p:spPr>
          <a:xfrm>
            <a:off x="457200" y="2057400"/>
            <a:ext cx="8077200" cy="4876800"/>
          </a:xfrm>
        </p:spPr>
        <p:txBody>
          <a:bodyPr>
            <a:normAutofit lnSpcReduction="10000"/>
          </a:bodyPr>
          <a:lstStyle/>
          <a:p>
            <a:pPr eaLnBrk="1" hangingPunct="1">
              <a:lnSpc>
                <a:spcPct val="80000"/>
              </a:lnSpc>
              <a:buFontTx/>
              <a:buNone/>
            </a:pPr>
            <a:r>
              <a:rPr lang="en-US" sz="2400" dirty="0"/>
              <a:t>A GIS cannot perfectly represent the world for many reasons, including: </a:t>
            </a:r>
          </a:p>
          <a:p>
            <a:pPr eaLnBrk="1" hangingPunct="1">
              <a:lnSpc>
                <a:spcPct val="80000"/>
              </a:lnSpc>
              <a:buFontTx/>
              <a:buNone/>
            </a:pPr>
            <a:endParaRPr lang="en-US" sz="2400" dirty="0"/>
          </a:p>
          <a:p>
            <a:pPr eaLnBrk="1" hangingPunct="1">
              <a:lnSpc>
                <a:spcPct val="80000"/>
              </a:lnSpc>
            </a:pPr>
            <a:r>
              <a:rPr lang="en-US" sz="2400" dirty="0"/>
              <a:t>The world is too complex and detailed. </a:t>
            </a:r>
          </a:p>
          <a:p>
            <a:pPr eaLnBrk="1" hangingPunct="1">
              <a:lnSpc>
                <a:spcPct val="80000"/>
              </a:lnSpc>
            </a:pPr>
            <a:endParaRPr lang="en-US" sz="2400" dirty="0"/>
          </a:p>
          <a:p>
            <a:pPr eaLnBrk="1" hangingPunct="1">
              <a:lnSpc>
                <a:spcPct val="80000"/>
              </a:lnSpc>
            </a:pPr>
            <a:r>
              <a:rPr lang="en-US" sz="2400" dirty="0"/>
              <a:t>We make decisions (how to categorize data, how to define zones or districts) that are not always fully informed or justified.</a:t>
            </a:r>
          </a:p>
          <a:p>
            <a:pPr eaLnBrk="1" hangingPunct="1">
              <a:lnSpc>
                <a:spcPct val="80000"/>
              </a:lnSpc>
              <a:buNone/>
            </a:pPr>
            <a:r>
              <a:rPr lang="en-US" sz="2400" dirty="0"/>
              <a:t> </a:t>
            </a:r>
          </a:p>
          <a:p>
            <a:pPr eaLnBrk="1" hangingPunct="1">
              <a:lnSpc>
                <a:spcPct val="80000"/>
              </a:lnSpc>
            </a:pPr>
            <a:r>
              <a:rPr lang="en-US" sz="2400" dirty="0"/>
              <a:t>It is impossible to make a perfect representation of the world, so uncertainty is inevitable</a:t>
            </a:r>
          </a:p>
          <a:p>
            <a:pPr eaLnBrk="1" hangingPunct="1">
              <a:lnSpc>
                <a:spcPct val="80000"/>
              </a:lnSpc>
              <a:buNone/>
            </a:pPr>
            <a:endParaRPr lang="en-US" sz="2400" dirty="0"/>
          </a:p>
          <a:p>
            <a:pPr eaLnBrk="1" hangingPunct="1">
              <a:lnSpc>
                <a:spcPct val="80000"/>
              </a:lnSpc>
            </a:pPr>
            <a:r>
              <a:rPr lang="en-US" sz="2400" dirty="0"/>
              <a:t>Uncertainty degrades the quality of a spatial representation</a:t>
            </a:r>
          </a:p>
          <a:p>
            <a:pPr eaLnBrk="1" hangingPunct="1">
              <a:lnSpc>
                <a:spcPct val="80000"/>
              </a:lnSpc>
            </a:pPr>
            <a:endParaRPr lang="en-US" sz="2400" dirty="0"/>
          </a:p>
        </p:txBody>
      </p:sp>
      <p:sp>
        <p:nvSpPr>
          <p:cNvPr id="67586" name="Rectangle 2"/>
          <p:cNvSpPr>
            <a:spLocks noGrp="1" noChangeArrowheads="1"/>
          </p:cNvSpPr>
          <p:nvPr>
            <p:ph type="title"/>
          </p:nvPr>
        </p:nvSpPr>
        <p:spPr>
          <a:xfrm>
            <a:off x="685800" y="152400"/>
            <a:ext cx="8686800" cy="1066800"/>
          </a:xfrm>
        </p:spPr>
        <p:txBody>
          <a:bodyPr/>
          <a:lstStyle/>
          <a:p>
            <a:pPr eaLnBrk="1" hangingPunct="1">
              <a:defRPr/>
            </a:pPr>
            <a:r>
              <a:rPr lang="en-US" dirty="0"/>
              <a:t>GIS is not perfect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title"/>
          </p:nvPr>
        </p:nvSpPr>
        <p:spPr>
          <a:xfrm>
            <a:off x="531075" y="961967"/>
            <a:ext cx="8372475" cy="762000"/>
          </a:xfrm>
        </p:spPr>
        <p:txBody>
          <a:bodyPr>
            <a:normAutofit fontScale="90000"/>
          </a:bodyPr>
          <a:lstStyle/>
          <a:p>
            <a:pPr eaLnBrk="1" hangingPunct="1">
              <a:defRPr/>
            </a:pPr>
            <a:r>
              <a:rPr lang="en-US" sz="4000" dirty="0"/>
              <a:t>A Conceptual View of Uncertainty</a:t>
            </a:r>
          </a:p>
        </p:txBody>
      </p:sp>
      <p:sp>
        <p:nvSpPr>
          <p:cNvPr id="55299" name="Text Box 3"/>
          <p:cNvSpPr txBox="1">
            <a:spLocks noChangeArrowheads="1"/>
          </p:cNvSpPr>
          <p:nvPr/>
        </p:nvSpPr>
        <p:spPr bwMode="auto">
          <a:xfrm>
            <a:off x="746125" y="1708150"/>
            <a:ext cx="1692275" cy="366713"/>
          </a:xfrm>
          <a:prstGeom prst="rect">
            <a:avLst/>
          </a:prstGeom>
          <a:noFill/>
          <a:ln w="9525">
            <a:noFill/>
            <a:miter lim="800000"/>
            <a:headEnd/>
            <a:tailEnd/>
          </a:ln>
        </p:spPr>
        <p:txBody>
          <a:bodyPr>
            <a:spAutoFit/>
          </a:bodyPr>
          <a:lstStyle/>
          <a:p>
            <a:endParaRPr lang="en-US">
              <a:latin typeface="Tahoma" charset="0"/>
            </a:endParaRPr>
          </a:p>
        </p:txBody>
      </p:sp>
      <p:sp>
        <p:nvSpPr>
          <p:cNvPr id="55300" name="Text Box 4"/>
          <p:cNvSpPr txBox="1">
            <a:spLocks noChangeArrowheads="1"/>
          </p:cNvSpPr>
          <p:nvPr/>
        </p:nvSpPr>
        <p:spPr bwMode="auto">
          <a:xfrm>
            <a:off x="131762" y="1863850"/>
            <a:ext cx="1320800" cy="404813"/>
          </a:xfrm>
          <a:prstGeom prst="rect">
            <a:avLst/>
          </a:prstGeom>
          <a:noFill/>
          <a:ln w="38100">
            <a:solidFill>
              <a:schemeClr val="folHlink"/>
            </a:solidFill>
            <a:miter lim="800000"/>
            <a:headEnd/>
            <a:tailEnd/>
          </a:ln>
        </p:spPr>
        <p:txBody>
          <a:bodyPr wrap="none">
            <a:spAutoFit/>
          </a:bodyPr>
          <a:lstStyle/>
          <a:p>
            <a:r>
              <a:rPr lang="en-US" dirty="0">
                <a:latin typeface="Tahoma" charset="0"/>
              </a:rPr>
              <a:t>Real World</a:t>
            </a:r>
          </a:p>
        </p:txBody>
      </p:sp>
      <p:sp>
        <p:nvSpPr>
          <p:cNvPr id="55301" name="Line 5"/>
          <p:cNvSpPr>
            <a:spLocks noChangeShapeType="1"/>
          </p:cNvSpPr>
          <p:nvPr/>
        </p:nvSpPr>
        <p:spPr bwMode="auto">
          <a:xfrm>
            <a:off x="1104900" y="2294856"/>
            <a:ext cx="838200" cy="457200"/>
          </a:xfrm>
          <a:prstGeom prst="line">
            <a:avLst/>
          </a:prstGeom>
          <a:noFill/>
          <a:ln w="38100">
            <a:solidFill>
              <a:schemeClr val="tx1"/>
            </a:solidFill>
            <a:round/>
            <a:headEnd/>
            <a:tailEnd type="triangle" w="med" len="med"/>
          </a:ln>
        </p:spPr>
        <p:txBody>
          <a:bodyPr/>
          <a:lstStyle/>
          <a:p>
            <a:endParaRPr lang="en-US"/>
          </a:p>
        </p:txBody>
      </p:sp>
      <p:sp>
        <p:nvSpPr>
          <p:cNvPr id="55302" name="Text Box 6"/>
          <p:cNvSpPr txBox="1">
            <a:spLocks noChangeArrowheads="1"/>
          </p:cNvSpPr>
          <p:nvPr/>
        </p:nvSpPr>
        <p:spPr bwMode="auto">
          <a:xfrm>
            <a:off x="1524000" y="2760754"/>
            <a:ext cx="1341438" cy="404813"/>
          </a:xfrm>
          <a:prstGeom prst="rect">
            <a:avLst/>
          </a:prstGeom>
          <a:noFill/>
          <a:ln w="38100">
            <a:solidFill>
              <a:schemeClr val="folHlink"/>
            </a:solidFill>
            <a:miter lim="800000"/>
            <a:headEnd/>
            <a:tailEnd/>
          </a:ln>
        </p:spPr>
        <p:txBody>
          <a:bodyPr wrap="none">
            <a:spAutoFit/>
          </a:bodyPr>
          <a:lstStyle/>
          <a:p>
            <a:r>
              <a:rPr lang="en-US" dirty="0">
                <a:latin typeface="Tahoma" charset="0"/>
              </a:rPr>
              <a:t>Conception</a:t>
            </a:r>
          </a:p>
        </p:txBody>
      </p:sp>
      <p:sp>
        <p:nvSpPr>
          <p:cNvPr id="55303" name="Text Box 7"/>
          <p:cNvSpPr txBox="1">
            <a:spLocks noChangeArrowheads="1"/>
          </p:cNvSpPr>
          <p:nvPr/>
        </p:nvSpPr>
        <p:spPr bwMode="auto">
          <a:xfrm>
            <a:off x="4832350" y="4492253"/>
            <a:ext cx="3168650" cy="404813"/>
          </a:xfrm>
          <a:prstGeom prst="rect">
            <a:avLst/>
          </a:prstGeom>
          <a:noFill/>
          <a:ln w="38100">
            <a:solidFill>
              <a:schemeClr val="folHlink"/>
            </a:solidFill>
            <a:miter lim="800000"/>
            <a:headEnd/>
            <a:tailEnd/>
          </a:ln>
        </p:spPr>
        <p:txBody>
          <a:bodyPr wrap="none">
            <a:spAutoFit/>
          </a:bodyPr>
          <a:lstStyle/>
          <a:p>
            <a:r>
              <a:rPr lang="en-US">
                <a:latin typeface="Tahoma" charset="0"/>
              </a:rPr>
              <a:t>Data conversion and Analysis</a:t>
            </a:r>
          </a:p>
        </p:txBody>
      </p:sp>
      <p:sp>
        <p:nvSpPr>
          <p:cNvPr id="55304" name="Text Box 8"/>
          <p:cNvSpPr txBox="1">
            <a:spLocks noChangeArrowheads="1"/>
          </p:cNvSpPr>
          <p:nvPr/>
        </p:nvSpPr>
        <p:spPr bwMode="auto">
          <a:xfrm>
            <a:off x="2904388" y="3680271"/>
            <a:ext cx="1812925" cy="679450"/>
          </a:xfrm>
          <a:prstGeom prst="rect">
            <a:avLst/>
          </a:prstGeom>
          <a:noFill/>
          <a:ln w="38100">
            <a:solidFill>
              <a:schemeClr val="folHlink"/>
            </a:solidFill>
            <a:miter lim="800000"/>
            <a:headEnd/>
            <a:tailEnd/>
          </a:ln>
        </p:spPr>
        <p:txBody>
          <a:bodyPr wrap="none">
            <a:spAutoFit/>
          </a:bodyPr>
          <a:lstStyle/>
          <a:p>
            <a:r>
              <a:rPr lang="en-US" dirty="0">
                <a:latin typeface="Tahoma" charset="0"/>
              </a:rPr>
              <a:t>Measurement &amp;</a:t>
            </a:r>
          </a:p>
          <a:p>
            <a:r>
              <a:rPr lang="en-US" dirty="0">
                <a:latin typeface="Tahoma" charset="0"/>
              </a:rPr>
              <a:t>Representation</a:t>
            </a:r>
          </a:p>
        </p:txBody>
      </p:sp>
      <p:sp>
        <p:nvSpPr>
          <p:cNvPr id="55305" name="Line 9"/>
          <p:cNvSpPr>
            <a:spLocks noChangeShapeType="1"/>
          </p:cNvSpPr>
          <p:nvPr/>
        </p:nvSpPr>
        <p:spPr bwMode="auto">
          <a:xfrm>
            <a:off x="2286000" y="3200400"/>
            <a:ext cx="914400" cy="533400"/>
          </a:xfrm>
          <a:prstGeom prst="line">
            <a:avLst/>
          </a:prstGeom>
          <a:noFill/>
          <a:ln w="38100">
            <a:solidFill>
              <a:schemeClr val="tx1"/>
            </a:solidFill>
            <a:round/>
            <a:headEnd/>
            <a:tailEnd type="triangle" w="med" len="med"/>
          </a:ln>
        </p:spPr>
        <p:txBody>
          <a:bodyPr/>
          <a:lstStyle/>
          <a:p>
            <a:endParaRPr lang="en-US"/>
          </a:p>
        </p:txBody>
      </p:sp>
      <p:sp>
        <p:nvSpPr>
          <p:cNvPr id="55306" name="Line 10"/>
          <p:cNvSpPr>
            <a:spLocks noChangeShapeType="1"/>
          </p:cNvSpPr>
          <p:nvPr/>
        </p:nvSpPr>
        <p:spPr bwMode="auto">
          <a:xfrm>
            <a:off x="4687114" y="3939904"/>
            <a:ext cx="1219200" cy="457200"/>
          </a:xfrm>
          <a:prstGeom prst="line">
            <a:avLst/>
          </a:prstGeom>
          <a:noFill/>
          <a:ln w="38100">
            <a:solidFill>
              <a:schemeClr val="tx1"/>
            </a:solidFill>
            <a:round/>
            <a:headEnd/>
            <a:tailEnd type="triangle" w="med" len="med"/>
          </a:ln>
        </p:spPr>
        <p:txBody>
          <a:bodyPr/>
          <a:lstStyle/>
          <a:p>
            <a:endParaRPr lang="en-US"/>
          </a:p>
        </p:txBody>
      </p:sp>
      <p:sp>
        <p:nvSpPr>
          <p:cNvPr id="68619" name="Line 11"/>
          <p:cNvSpPr>
            <a:spLocks noChangeShapeType="1"/>
          </p:cNvSpPr>
          <p:nvPr/>
        </p:nvSpPr>
        <p:spPr bwMode="auto">
          <a:xfrm>
            <a:off x="1520456" y="3738117"/>
            <a:ext cx="1752600" cy="1066800"/>
          </a:xfrm>
          <a:prstGeom prst="line">
            <a:avLst/>
          </a:prstGeom>
          <a:noFill/>
          <a:ln w="19050">
            <a:solidFill>
              <a:schemeClr val="accent1"/>
            </a:solidFill>
            <a:round/>
            <a:headEnd/>
            <a:tailEnd type="triangle" w="med" len="med"/>
          </a:ln>
        </p:spPr>
        <p:txBody>
          <a:bodyPr/>
          <a:lstStyle/>
          <a:p>
            <a:endParaRPr lang="en-US"/>
          </a:p>
        </p:txBody>
      </p:sp>
      <p:sp>
        <p:nvSpPr>
          <p:cNvPr id="68620" name="Line 12"/>
          <p:cNvSpPr>
            <a:spLocks noChangeShapeType="1"/>
          </p:cNvSpPr>
          <p:nvPr/>
        </p:nvSpPr>
        <p:spPr bwMode="auto">
          <a:xfrm>
            <a:off x="5676900" y="5536960"/>
            <a:ext cx="2133600" cy="304800"/>
          </a:xfrm>
          <a:prstGeom prst="line">
            <a:avLst/>
          </a:prstGeom>
          <a:noFill/>
          <a:ln w="76200">
            <a:solidFill>
              <a:schemeClr val="accent2"/>
            </a:solidFill>
            <a:round/>
            <a:headEnd/>
            <a:tailEnd type="triangle" w="med" len="med"/>
          </a:ln>
        </p:spPr>
        <p:txBody>
          <a:bodyPr/>
          <a:lstStyle/>
          <a:p>
            <a:endParaRPr lang="en-US"/>
          </a:p>
        </p:txBody>
      </p:sp>
      <p:sp>
        <p:nvSpPr>
          <p:cNvPr id="55309" name="Text Box 13"/>
          <p:cNvSpPr txBox="1">
            <a:spLocks noChangeArrowheads="1"/>
          </p:cNvSpPr>
          <p:nvPr/>
        </p:nvSpPr>
        <p:spPr bwMode="auto">
          <a:xfrm>
            <a:off x="8001000" y="5257800"/>
            <a:ext cx="184150" cy="366713"/>
          </a:xfrm>
          <a:prstGeom prst="rect">
            <a:avLst/>
          </a:prstGeom>
          <a:noFill/>
          <a:ln w="9525">
            <a:noFill/>
            <a:miter lim="800000"/>
            <a:headEnd/>
            <a:tailEnd/>
          </a:ln>
        </p:spPr>
        <p:txBody>
          <a:bodyPr wrap="none">
            <a:spAutoFit/>
          </a:bodyPr>
          <a:lstStyle/>
          <a:p>
            <a:endParaRPr lang="en-US">
              <a:latin typeface="Tahoma" charset="0"/>
            </a:endParaRPr>
          </a:p>
        </p:txBody>
      </p:sp>
      <p:sp>
        <p:nvSpPr>
          <p:cNvPr id="55310" name="Text Box 14"/>
          <p:cNvSpPr txBox="1">
            <a:spLocks noChangeArrowheads="1"/>
          </p:cNvSpPr>
          <p:nvPr/>
        </p:nvSpPr>
        <p:spPr bwMode="auto">
          <a:xfrm>
            <a:off x="7848600" y="5629829"/>
            <a:ext cx="860425" cy="423863"/>
          </a:xfrm>
          <a:prstGeom prst="rect">
            <a:avLst/>
          </a:prstGeom>
          <a:noFill/>
          <a:ln w="57150">
            <a:solidFill>
              <a:schemeClr val="hlink"/>
            </a:solidFill>
            <a:miter lim="800000"/>
            <a:headEnd/>
            <a:tailEnd/>
          </a:ln>
        </p:spPr>
        <p:txBody>
          <a:bodyPr wrap="none">
            <a:spAutoFit/>
          </a:bodyPr>
          <a:lstStyle/>
          <a:p>
            <a:r>
              <a:rPr lang="en-US">
                <a:latin typeface="Tahoma" charset="0"/>
              </a:rPr>
              <a:t>Result</a:t>
            </a:r>
          </a:p>
        </p:txBody>
      </p:sp>
      <p:sp>
        <p:nvSpPr>
          <p:cNvPr id="55311" name="Line 15"/>
          <p:cNvSpPr>
            <a:spLocks noChangeShapeType="1"/>
          </p:cNvSpPr>
          <p:nvPr/>
        </p:nvSpPr>
        <p:spPr bwMode="auto">
          <a:xfrm>
            <a:off x="6754812" y="4889977"/>
            <a:ext cx="1524000" cy="609600"/>
          </a:xfrm>
          <a:prstGeom prst="line">
            <a:avLst/>
          </a:prstGeom>
          <a:noFill/>
          <a:ln w="38100">
            <a:solidFill>
              <a:schemeClr val="tx1"/>
            </a:solidFill>
            <a:round/>
            <a:headEnd/>
            <a:tailEnd type="triangle" w="med" len="med"/>
          </a:ln>
        </p:spPr>
        <p:txBody>
          <a:bodyPr/>
          <a:lstStyle/>
          <a:p>
            <a:endParaRPr lang="en-US"/>
          </a:p>
        </p:txBody>
      </p:sp>
      <p:sp>
        <p:nvSpPr>
          <p:cNvPr id="68624" name="Line 16"/>
          <p:cNvSpPr>
            <a:spLocks noChangeShapeType="1"/>
          </p:cNvSpPr>
          <p:nvPr/>
        </p:nvSpPr>
        <p:spPr bwMode="auto">
          <a:xfrm>
            <a:off x="3254938" y="4829233"/>
            <a:ext cx="2438400" cy="685800"/>
          </a:xfrm>
          <a:prstGeom prst="line">
            <a:avLst/>
          </a:prstGeom>
          <a:noFill/>
          <a:ln w="38100">
            <a:solidFill>
              <a:schemeClr val="tx2"/>
            </a:solidFill>
            <a:round/>
            <a:headEnd/>
            <a:tailEnd type="triangle" w="med" len="med"/>
          </a:ln>
        </p:spPr>
        <p:txBody>
          <a:bodyPr/>
          <a:lstStyle/>
          <a:p>
            <a:endParaRPr lang="en-US"/>
          </a:p>
        </p:txBody>
      </p:sp>
      <p:sp>
        <p:nvSpPr>
          <p:cNvPr id="68625" name="Text Box 17"/>
          <p:cNvSpPr txBox="1">
            <a:spLocks noChangeArrowheads="1"/>
          </p:cNvSpPr>
          <p:nvPr/>
        </p:nvSpPr>
        <p:spPr bwMode="auto">
          <a:xfrm rot="1200000">
            <a:off x="2362200" y="4800600"/>
            <a:ext cx="1955800" cy="366713"/>
          </a:xfrm>
          <a:prstGeom prst="rect">
            <a:avLst/>
          </a:prstGeom>
          <a:noFill/>
          <a:ln w="9525">
            <a:noFill/>
            <a:miter lim="800000"/>
            <a:headEnd/>
            <a:tailEnd/>
          </a:ln>
        </p:spPr>
        <p:txBody>
          <a:bodyPr wrap="none">
            <a:spAutoFit/>
          </a:bodyPr>
          <a:lstStyle/>
          <a:p>
            <a:r>
              <a:rPr lang="en-US">
                <a:latin typeface="Tahoma" charset="0"/>
              </a:rPr>
              <a:t>error propagation</a:t>
            </a:r>
          </a:p>
        </p:txBody>
      </p:sp>
      <p:sp>
        <p:nvSpPr>
          <p:cNvPr id="68626" name="Line 18"/>
          <p:cNvSpPr>
            <a:spLocks noChangeShapeType="1"/>
          </p:cNvSpPr>
          <p:nvPr/>
        </p:nvSpPr>
        <p:spPr bwMode="auto">
          <a:xfrm>
            <a:off x="228600" y="2268663"/>
            <a:ext cx="1291856" cy="1465137"/>
          </a:xfrm>
          <a:prstGeom prst="line">
            <a:avLst/>
          </a:prstGeom>
          <a:noFill/>
          <a:ln w="9525">
            <a:solidFill>
              <a:schemeClr val="hlink"/>
            </a:solidFill>
            <a:round/>
            <a:headEnd/>
            <a:tailEnd type="triangle" w="med" len="med"/>
          </a:ln>
        </p:spPr>
        <p:txBody>
          <a:body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9" fill="hold" grpId="0" nodeType="clickEffect">
                                  <p:stCondLst>
                                    <p:cond delay="0"/>
                                  </p:stCondLst>
                                  <p:childTnLst>
                                    <p:set>
                                      <p:cBhvr>
                                        <p:cTn id="6" dur="1" fill="hold">
                                          <p:stCondLst>
                                            <p:cond delay="0"/>
                                          </p:stCondLst>
                                        </p:cTn>
                                        <p:tgtEl>
                                          <p:spTgt spid="68626"/>
                                        </p:tgtEl>
                                        <p:attrNameLst>
                                          <p:attrName>style.visibility</p:attrName>
                                        </p:attrNameLst>
                                      </p:cBhvr>
                                      <p:to>
                                        <p:strVal val="visible"/>
                                      </p:to>
                                    </p:set>
                                    <p:anim calcmode="lin" valueType="num">
                                      <p:cBhvr additive="base">
                                        <p:cTn id="7" dur="500" fill="hold"/>
                                        <p:tgtEl>
                                          <p:spTgt spid="68626"/>
                                        </p:tgtEl>
                                        <p:attrNameLst>
                                          <p:attrName>ppt_x</p:attrName>
                                        </p:attrNameLst>
                                      </p:cBhvr>
                                      <p:tavLst>
                                        <p:tav tm="0">
                                          <p:val>
                                            <p:strVal val="0-#ppt_w/2"/>
                                          </p:val>
                                        </p:tav>
                                        <p:tav tm="100000">
                                          <p:val>
                                            <p:strVal val="#ppt_x"/>
                                          </p:val>
                                        </p:tav>
                                      </p:tavLst>
                                    </p:anim>
                                    <p:anim calcmode="lin" valueType="num">
                                      <p:cBhvr additive="base">
                                        <p:cTn id="8" dur="500" fill="hold"/>
                                        <p:tgtEl>
                                          <p:spTgt spid="68626"/>
                                        </p:tgtEl>
                                        <p:attrNameLst>
                                          <p:attrName>ppt_y</p:attrName>
                                        </p:attrNameLst>
                                      </p:cBhvr>
                                      <p:tavLst>
                                        <p:tav tm="0">
                                          <p:val>
                                            <p:strVal val="0-#ppt_h/2"/>
                                          </p:val>
                                        </p:tav>
                                        <p:tav tm="100000">
                                          <p:val>
                                            <p:strVal val="#ppt_y"/>
                                          </p:val>
                                        </p:tav>
                                      </p:tavLst>
                                    </p:anim>
                                  </p:childTnLst>
                                </p:cTn>
                              </p:par>
                              <p:par>
                                <p:cTn id="9" presetID="2" presetClass="entr" presetSubtype="9" fill="hold" grpId="0" nodeType="withEffect">
                                  <p:stCondLst>
                                    <p:cond delay="0"/>
                                  </p:stCondLst>
                                  <p:childTnLst>
                                    <p:set>
                                      <p:cBhvr>
                                        <p:cTn id="10" dur="1" fill="hold">
                                          <p:stCondLst>
                                            <p:cond delay="0"/>
                                          </p:stCondLst>
                                        </p:cTn>
                                        <p:tgtEl>
                                          <p:spTgt spid="68619"/>
                                        </p:tgtEl>
                                        <p:attrNameLst>
                                          <p:attrName>style.visibility</p:attrName>
                                        </p:attrNameLst>
                                      </p:cBhvr>
                                      <p:to>
                                        <p:strVal val="visible"/>
                                      </p:to>
                                    </p:set>
                                    <p:anim calcmode="lin" valueType="num">
                                      <p:cBhvr additive="base">
                                        <p:cTn id="11" dur="500" fill="hold"/>
                                        <p:tgtEl>
                                          <p:spTgt spid="68619"/>
                                        </p:tgtEl>
                                        <p:attrNameLst>
                                          <p:attrName>ppt_x</p:attrName>
                                        </p:attrNameLst>
                                      </p:cBhvr>
                                      <p:tavLst>
                                        <p:tav tm="0">
                                          <p:val>
                                            <p:strVal val="0-#ppt_w/2"/>
                                          </p:val>
                                        </p:tav>
                                        <p:tav tm="100000">
                                          <p:val>
                                            <p:strVal val="#ppt_x"/>
                                          </p:val>
                                        </p:tav>
                                      </p:tavLst>
                                    </p:anim>
                                    <p:anim calcmode="lin" valueType="num">
                                      <p:cBhvr additive="base">
                                        <p:cTn id="12" dur="500" fill="hold"/>
                                        <p:tgtEl>
                                          <p:spTgt spid="68619"/>
                                        </p:tgtEl>
                                        <p:attrNameLst>
                                          <p:attrName>ppt_y</p:attrName>
                                        </p:attrNameLst>
                                      </p:cBhvr>
                                      <p:tavLst>
                                        <p:tav tm="0">
                                          <p:val>
                                            <p:strVal val="0-#ppt_h/2"/>
                                          </p:val>
                                        </p:tav>
                                        <p:tav tm="100000">
                                          <p:val>
                                            <p:strVal val="#ppt_y"/>
                                          </p:val>
                                        </p:tav>
                                      </p:tavLst>
                                    </p:anim>
                                  </p:childTnLst>
                                </p:cTn>
                              </p:par>
                              <p:par>
                                <p:cTn id="13" presetID="2" presetClass="entr" presetSubtype="9" fill="hold" grpId="0" nodeType="withEffect">
                                  <p:stCondLst>
                                    <p:cond delay="0"/>
                                  </p:stCondLst>
                                  <p:childTnLst>
                                    <p:set>
                                      <p:cBhvr>
                                        <p:cTn id="14" dur="1" fill="hold">
                                          <p:stCondLst>
                                            <p:cond delay="0"/>
                                          </p:stCondLst>
                                        </p:cTn>
                                        <p:tgtEl>
                                          <p:spTgt spid="68624"/>
                                        </p:tgtEl>
                                        <p:attrNameLst>
                                          <p:attrName>style.visibility</p:attrName>
                                        </p:attrNameLst>
                                      </p:cBhvr>
                                      <p:to>
                                        <p:strVal val="visible"/>
                                      </p:to>
                                    </p:set>
                                    <p:anim calcmode="lin" valueType="num">
                                      <p:cBhvr additive="base">
                                        <p:cTn id="15" dur="500" fill="hold"/>
                                        <p:tgtEl>
                                          <p:spTgt spid="68624"/>
                                        </p:tgtEl>
                                        <p:attrNameLst>
                                          <p:attrName>ppt_x</p:attrName>
                                        </p:attrNameLst>
                                      </p:cBhvr>
                                      <p:tavLst>
                                        <p:tav tm="0">
                                          <p:val>
                                            <p:strVal val="0-#ppt_w/2"/>
                                          </p:val>
                                        </p:tav>
                                        <p:tav tm="100000">
                                          <p:val>
                                            <p:strVal val="#ppt_x"/>
                                          </p:val>
                                        </p:tav>
                                      </p:tavLst>
                                    </p:anim>
                                    <p:anim calcmode="lin" valueType="num">
                                      <p:cBhvr additive="base">
                                        <p:cTn id="16" dur="500" fill="hold"/>
                                        <p:tgtEl>
                                          <p:spTgt spid="68624"/>
                                        </p:tgtEl>
                                        <p:attrNameLst>
                                          <p:attrName>ppt_y</p:attrName>
                                        </p:attrNameLst>
                                      </p:cBhvr>
                                      <p:tavLst>
                                        <p:tav tm="0">
                                          <p:val>
                                            <p:strVal val="0-#ppt_h/2"/>
                                          </p:val>
                                        </p:tav>
                                        <p:tav tm="100000">
                                          <p:val>
                                            <p:strVal val="#ppt_y"/>
                                          </p:val>
                                        </p:tav>
                                      </p:tavLst>
                                    </p:anim>
                                  </p:childTnLst>
                                </p:cTn>
                              </p:par>
                              <p:par>
                                <p:cTn id="17" presetID="2" presetClass="entr" presetSubtype="9" fill="hold" grpId="0" nodeType="withEffect">
                                  <p:stCondLst>
                                    <p:cond delay="0"/>
                                  </p:stCondLst>
                                  <p:childTnLst>
                                    <p:set>
                                      <p:cBhvr>
                                        <p:cTn id="18" dur="1" fill="hold">
                                          <p:stCondLst>
                                            <p:cond delay="0"/>
                                          </p:stCondLst>
                                        </p:cTn>
                                        <p:tgtEl>
                                          <p:spTgt spid="68620"/>
                                        </p:tgtEl>
                                        <p:attrNameLst>
                                          <p:attrName>style.visibility</p:attrName>
                                        </p:attrNameLst>
                                      </p:cBhvr>
                                      <p:to>
                                        <p:strVal val="visible"/>
                                      </p:to>
                                    </p:set>
                                    <p:anim calcmode="lin" valueType="num">
                                      <p:cBhvr additive="base">
                                        <p:cTn id="19" dur="500" fill="hold"/>
                                        <p:tgtEl>
                                          <p:spTgt spid="68620"/>
                                        </p:tgtEl>
                                        <p:attrNameLst>
                                          <p:attrName>ppt_x</p:attrName>
                                        </p:attrNameLst>
                                      </p:cBhvr>
                                      <p:tavLst>
                                        <p:tav tm="0">
                                          <p:val>
                                            <p:strVal val="0-#ppt_w/2"/>
                                          </p:val>
                                        </p:tav>
                                        <p:tav tm="100000">
                                          <p:val>
                                            <p:strVal val="#ppt_x"/>
                                          </p:val>
                                        </p:tav>
                                      </p:tavLst>
                                    </p:anim>
                                    <p:anim calcmode="lin" valueType="num">
                                      <p:cBhvr additive="base">
                                        <p:cTn id="20" dur="500" fill="hold"/>
                                        <p:tgtEl>
                                          <p:spTgt spid="68620"/>
                                        </p:tgtEl>
                                        <p:attrNameLst>
                                          <p:attrName>ppt_y</p:attrName>
                                        </p:attrNameLst>
                                      </p:cBhvr>
                                      <p:tavLst>
                                        <p:tav tm="0">
                                          <p:val>
                                            <p:strVal val="0-#ppt_h/2"/>
                                          </p:val>
                                        </p:tav>
                                        <p:tav tm="100000">
                                          <p:val>
                                            <p:strVal val="#ppt_y"/>
                                          </p:val>
                                        </p:tav>
                                      </p:tavLst>
                                    </p:anim>
                                  </p:childTnLst>
                                </p:cTn>
                              </p:par>
                              <p:par>
                                <p:cTn id="21" presetID="2" presetClass="entr" presetSubtype="9" fill="hold" grpId="0" nodeType="withEffect">
                                  <p:stCondLst>
                                    <p:cond delay="0"/>
                                  </p:stCondLst>
                                  <p:childTnLst>
                                    <p:set>
                                      <p:cBhvr>
                                        <p:cTn id="22" dur="1" fill="hold">
                                          <p:stCondLst>
                                            <p:cond delay="0"/>
                                          </p:stCondLst>
                                        </p:cTn>
                                        <p:tgtEl>
                                          <p:spTgt spid="68625"/>
                                        </p:tgtEl>
                                        <p:attrNameLst>
                                          <p:attrName>style.visibility</p:attrName>
                                        </p:attrNameLst>
                                      </p:cBhvr>
                                      <p:to>
                                        <p:strVal val="visible"/>
                                      </p:to>
                                    </p:set>
                                    <p:anim calcmode="lin" valueType="num">
                                      <p:cBhvr additive="base">
                                        <p:cTn id="23" dur="500" fill="hold"/>
                                        <p:tgtEl>
                                          <p:spTgt spid="68625"/>
                                        </p:tgtEl>
                                        <p:attrNameLst>
                                          <p:attrName>ppt_x</p:attrName>
                                        </p:attrNameLst>
                                      </p:cBhvr>
                                      <p:tavLst>
                                        <p:tav tm="0">
                                          <p:val>
                                            <p:strVal val="0-#ppt_w/2"/>
                                          </p:val>
                                        </p:tav>
                                        <p:tav tm="100000">
                                          <p:val>
                                            <p:strVal val="#ppt_x"/>
                                          </p:val>
                                        </p:tav>
                                      </p:tavLst>
                                    </p:anim>
                                    <p:anim calcmode="lin" valueType="num">
                                      <p:cBhvr additive="base">
                                        <p:cTn id="24" dur="500" fill="hold"/>
                                        <p:tgtEl>
                                          <p:spTgt spid="68625"/>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619" grpId="0" animBg="1"/>
      <p:bldP spid="68620" grpId="0" animBg="1"/>
      <p:bldP spid="68624" grpId="0" animBg="1"/>
      <p:bldP spid="68625" grpId="0"/>
      <p:bldP spid="68626"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581192" y="2228003"/>
            <a:ext cx="7989752" cy="4401397"/>
          </a:xfrm>
        </p:spPr>
        <p:txBody>
          <a:bodyPr>
            <a:normAutofit fontScale="62500" lnSpcReduction="20000"/>
          </a:bodyPr>
          <a:lstStyle/>
          <a:p>
            <a:r>
              <a:rPr lang="en-US" sz="3400" dirty="0"/>
              <a:t>Acknowledge it!</a:t>
            </a:r>
          </a:p>
          <a:p>
            <a:endParaRPr lang="en-US" sz="3400" dirty="0"/>
          </a:p>
          <a:p>
            <a:r>
              <a:rPr lang="en-US" sz="3400" dirty="0"/>
              <a:t>Use metadata to document the uncertainty</a:t>
            </a:r>
          </a:p>
          <a:p>
            <a:endParaRPr lang="en-US" sz="3400" dirty="0"/>
          </a:p>
          <a:p>
            <a:r>
              <a:rPr lang="en-US" sz="3400" dirty="0"/>
              <a:t>Analysis can sometimes identify the impact of input uncertainty on output</a:t>
            </a:r>
          </a:p>
          <a:p>
            <a:endParaRPr lang="en-US" sz="3400" dirty="0"/>
          </a:p>
          <a:p>
            <a:r>
              <a:rPr lang="en-US" sz="3400" dirty="0"/>
              <a:t>Use multiple sources of data</a:t>
            </a:r>
          </a:p>
          <a:p>
            <a:endParaRPr lang="en-US" sz="3400" dirty="0"/>
          </a:p>
          <a:p>
            <a:r>
              <a:rPr lang="en-US" sz="3400" dirty="0"/>
              <a:t>Be honest and appropriately modest in reporting the results of analysis</a:t>
            </a:r>
          </a:p>
          <a:p>
            <a:pPr>
              <a:buNone/>
            </a:pPr>
            <a:endParaRPr lang="en-US" dirty="0"/>
          </a:p>
        </p:txBody>
      </p:sp>
      <p:sp>
        <p:nvSpPr>
          <p:cNvPr id="3" name="Title 2"/>
          <p:cNvSpPr>
            <a:spLocks noGrp="1"/>
          </p:cNvSpPr>
          <p:nvPr>
            <p:ph type="title"/>
          </p:nvPr>
        </p:nvSpPr>
        <p:spPr/>
        <p:txBody>
          <a:bodyPr/>
          <a:lstStyle/>
          <a:p>
            <a:r>
              <a:rPr lang="en-US" dirty="0"/>
              <a:t>Response to Uncertainty</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581192" y="2228003"/>
            <a:ext cx="7989752" cy="4096597"/>
          </a:xfrm>
        </p:spPr>
        <p:txBody>
          <a:bodyPr>
            <a:normAutofit fontScale="77500" lnSpcReduction="20000"/>
          </a:bodyPr>
          <a:lstStyle/>
          <a:p>
            <a:r>
              <a:rPr lang="en-US" sz="3000" dirty="0"/>
              <a:t>One-to-many, vs. one-to-one joins</a:t>
            </a:r>
          </a:p>
          <a:p>
            <a:endParaRPr lang="en-US" sz="3000" dirty="0"/>
          </a:p>
          <a:p>
            <a:r>
              <a:rPr lang="en-US" sz="3000" dirty="0"/>
              <a:t>Intend a one-to-one join</a:t>
            </a:r>
          </a:p>
          <a:p>
            <a:pPr lvl="1"/>
            <a:r>
              <a:rPr lang="en-US" sz="3000" dirty="0"/>
              <a:t>Result is a one-to-many join</a:t>
            </a:r>
          </a:p>
          <a:p>
            <a:pPr lvl="1"/>
            <a:endParaRPr lang="en-US" sz="3000" dirty="0"/>
          </a:p>
          <a:p>
            <a:endParaRPr lang="en-US" sz="3000" dirty="0"/>
          </a:p>
          <a:p>
            <a:r>
              <a:rPr lang="en-US" sz="3000" dirty="0"/>
              <a:t>Be careful with islands</a:t>
            </a:r>
          </a:p>
          <a:p>
            <a:pPr lvl="1"/>
            <a:r>
              <a:rPr lang="en-US" sz="3000" dirty="0"/>
              <a:t>Every polygon in a shapefile gets a record, even if it belongs to the same unit</a:t>
            </a:r>
          </a:p>
          <a:p>
            <a:pPr lvl="1">
              <a:buNone/>
            </a:pPr>
            <a:endParaRPr lang="en-US" dirty="0"/>
          </a:p>
        </p:txBody>
      </p:sp>
      <p:sp>
        <p:nvSpPr>
          <p:cNvPr id="3" name="Title 2"/>
          <p:cNvSpPr>
            <a:spLocks noGrp="1"/>
          </p:cNvSpPr>
          <p:nvPr>
            <p:ph type="title"/>
          </p:nvPr>
        </p:nvSpPr>
        <p:spPr>
          <a:xfrm>
            <a:off x="559927" y="304800"/>
            <a:ext cx="8458200" cy="1143000"/>
          </a:xfrm>
        </p:spPr>
        <p:txBody>
          <a:bodyPr/>
          <a:lstStyle/>
          <a:p>
            <a:r>
              <a:rPr lang="en-US" dirty="0"/>
              <a:t>Common Errors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4"/>
          <p:cNvSpPr txBox="1">
            <a:spLocks noGrp="1" noChangeArrowheads="1"/>
          </p:cNvSpPr>
          <p:nvPr>
            <p:ph idx="1"/>
          </p:nvPr>
        </p:nvSpPr>
        <p:spPr bwMode="auto">
          <a:xfrm>
            <a:off x="541158" y="2057400"/>
            <a:ext cx="8229600" cy="3621504"/>
          </a:xfrm>
          <a:prstGeom prst="rect">
            <a:avLst/>
          </a:prstGeom>
          <a:noFill/>
          <a:ln w="9525">
            <a:noFill/>
            <a:miter lim="800000"/>
            <a:headEnd/>
            <a:tailEnd/>
          </a:ln>
        </p:spPr>
        <p:txBody>
          <a:bodyPr>
            <a:spAutoFit/>
          </a:bodyPr>
          <a:lstStyle/>
          <a:p>
            <a:r>
              <a:rPr lang="en-US" sz="2400" dirty="0"/>
              <a:t>If there are islands, a unit (state, province) must be drawn as a </a:t>
            </a:r>
            <a:r>
              <a:rPr lang="en-US" sz="2400" i="1" u="sng" dirty="0"/>
              <a:t>multi-part feature</a:t>
            </a:r>
            <a:r>
              <a:rPr lang="en-US" sz="2400" dirty="0"/>
              <a:t> in the shapefile (the spatial data)</a:t>
            </a:r>
          </a:p>
          <a:p>
            <a:endParaRPr lang="en-US" sz="2400" dirty="0"/>
          </a:p>
          <a:p>
            <a:r>
              <a:rPr lang="en-US" sz="2400" dirty="0"/>
              <a:t>Then there will be only </a:t>
            </a:r>
            <a:r>
              <a:rPr lang="en-US" sz="2400" u="sng" dirty="0"/>
              <a:t>one</a:t>
            </a:r>
            <a:r>
              <a:rPr lang="en-US" sz="2400" dirty="0"/>
              <a:t> row in the attribute table</a:t>
            </a:r>
          </a:p>
          <a:p>
            <a:endParaRPr lang="en-US" sz="2400" dirty="0"/>
          </a:p>
          <a:p>
            <a:r>
              <a:rPr lang="en-US" sz="2400" dirty="0"/>
              <a:t>If each island is drawn as a separate feature,  there will be </a:t>
            </a:r>
            <a:r>
              <a:rPr lang="en-US" sz="2400" u="sng" dirty="0"/>
              <a:t>multiple rows</a:t>
            </a:r>
            <a:r>
              <a:rPr lang="en-US" sz="2400" dirty="0"/>
              <a:t> in the attribute table</a:t>
            </a:r>
          </a:p>
        </p:txBody>
      </p:sp>
      <p:sp>
        <p:nvSpPr>
          <p:cNvPr id="3" name="Title 2"/>
          <p:cNvSpPr>
            <a:spLocks noGrp="1"/>
          </p:cNvSpPr>
          <p:nvPr>
            <p:ph type="title"/>
          </p:nvPr>
        </p:nvSpPr>
        <p:spPr/>
        <p:txBody>
          <a:bodyPr/>
          <a:lstStyle/>
          <a:p>
            <a:r>
              <a:rPr lang="en-US" dirty="0"/>
              <a:t>Single Parts vs. Multiple Parts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26" name="Object 2"/>
          <p:cNvGraphicFramePr>
            <a:graphicFrameLocks noGrp="1" noChangeAspect="1"/>
          </p:cNvGraphicFramePr>
          <p:nvPr>
            <p:ph idx="1"/>
            <p:extLst>
              <p:ext uri="{D42A27DB-BD31-4B8C-83A1-F6EECF244321}">
                <p14:modId xmlns:p14="http://schemas.microsoft.com/office/powerpoint/2010/main" val="2727982063"/>
              </p:ext>
            </p:extLst>
          </p:nvPr>
        </p:nvGraphicFramePr>
        <p:xfrm>
          <a:off x="461962" y="1935126"/>
          <a:ext cx="3648075" cy="2019300"/>
        </p:xfrm>
        <a:graphic>
          <a:graphicData uri="http://schemas.openxmlformats.org/presentationml/2006/ole">
            <mc:AlternateContent xmlns:mc="http://schemas.openxmlformats.org/markup-compatibility/2006">
              <mc:Choice xmlns:v="urn:schemas-microsoft-com:vml" Requires="v">
                <p:oleObj name="Worksheet" r:id="rId2" imgW="3648078" imgH="2019171" progId="Excel.Sheet.8">
                  <p:embed/>
                </p:oleObj>
              </mc:Choice>
              <mc:Fallback>
                <p:oleObj name="Worksheet" r:id="rId2" imgW="3648078" imgH="2019171" progId="Excel.Sheet.8">
                  <p:embed/>
                  <p:pic>
                    <p:nvPicPr>
                      <p:cNvPr id="1026"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1962" y="1935126"/>
                        <a:ext cx="3648075" cy="2019300"/>
                      </a:xfrm>
                      <a:prstGeom prst="rect">
                        <a:avLst/>
                      </a:prstGeom>
                      <a:noFill/>
                      <a:ln w="25400">
                        <a:solidFill>
                          <a:schemeClr val="hlink"/>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p:cNvSpPr>
            <a:spLocks noGrp="1"/>
          </p:cNvSpPr>
          <p:nvPr>
            <p:ph type="title"/>
          </p:nvPr>
        </p:nvSpPr>
        <p:spPr/>
        <p:txBody>
          <a:bodyPr/>
          <a:lstStyle/>
          <a:p>
            <a:r>
              <a:rPr lang="en-US" dirty="0"/>
              <a:t>Multi-Part vs. Single-Part</a:t>
            </a:r>
          </a:p>
        </p:txBody>
      </p:sp>
      <p:graphicFrame>
        <p:nvGraphicFramePr>
          <p:cNvPr id="1027" name="Object 3"/>
          <p:cNvGraphicFramePr>
            <a:graphicFrameLocks noChangeAspect="1"/>
          </p:cNvGraphicFramePr>
          <p:nvPr/>
        </p:nvGraphicFramePr>
        <p:xfrm>
          <a:off x="4038600" y="3810000"/>
          <a:ext cx="4924425" cy="2528888"/>
        </p:xfrm>
        <a:graphic>
          <a:graphicData uri="http://schemas.openxmlformats.org/presentationml/2006/ole">
            <mc:AlternateContent xmlns:mc="http://schemas.openxmlformats.org/markup-compatibility/2006">
              <mc:Choice xmlns:v="urn:schemas-microsoft-com:vml" Requires="v">
                <p:oleObj name="Worksheet" r:id="rId4" imgW="4933905" imgH="2533560" progId="Excel.Sheet.8">
                  <p:embed/>
                </p:oleObj>
              </mc:Choice>
              <mc:Fallback>
                <p:oleObj name="Worksheet" r:id="rId4" imgW="4933905" imgH="2533560" progId="Excel.Sheet.8">
                  <p:embed/>
                  <p:pic>
                    <p:nvPicPr>
                      <p:cNvPr id="1027"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38600" y="3810000"/>
                        <a:ext cx="4924425" cy="2528888"/>
                      </a:xfrm>
                      <a:prstGeom prst="rect">
                        <a:avLst/>
                      </a:prstGeom>
                      <a:noFill/>
                      <a:ln w="25400">
                        <a:solidFill>
                          <a:schemeClr val="hlink"/>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 name="TextBox 5"/>
          <p:cNvSpPr txBox="1"/>
          <p:nvPr/>
        </p:nvSpPr>
        <p:spPr>
          <a:xfrm>
            <a:off x="1371600" y="4724400"/>
            <a:ext cx="2424062" cy="646331"/>
          </a:xfrm>
          <a:prstGeom prst="rect">
            <a:avLst/>
          </a:prstGeom>
          <a:noFill/>
        </p:spPr>
        <p:txBody>
          <a:bodyPr wrap="none" rtlCol="0">
            <a:spAutoFit/>
          </a:bodyPr>
          <a:lstStyle/>
          <a:p>
            <a:r>
              <a:rPr lang="en-US" dirty="0"/>
              <a:t>Note the population</a:t>
            </a:r>
          </a:p>
          <a:p>
            <a:r>
              <a:rPr lang="en-US" dirty="0"/>
              <a:t>sum is wrong here</a:t>
            </a:r>
          </a:p>
        </p:txBody>
      </p:sp>
      <p:sp>
        <p:nvSpPr>
          <p:cNvPr id="7" name="Right Arrow 6"/>
          <p:cNvSpPr/>
          <p:nvPr/>
        </p:nvSpPr>
        <p:spPr>
          <a:xfrm>
            <a:off x="2286000" y="5410200"/>
            <a:ext cx="1524000" cy="228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p:cNvSpPr txBox="1"/>
          <p:nvPr/>
        </p:nvSpPr>
        <p:spPr>
          <a:xfrm>
            <a:off x="4495800" y="1905000"/>
            <a:ext cx="4645938" cy="923330"/>
          </a:xfrm>
          <a:prstGeom prst="rect">
            <a:avLst/>
          </a:prstGeom>
          <a:noFill/>
        </p:spPr>
        <p:txBody>
          <a:bodyPr wrap="square" rtlCol="0">
            <a:spAutoFit/>
          </a:bodyPr>
          <a:lstStyle/>
          <a:p>
            <a:r>
              <a:rPr lang="en-US" dirty="0"/>
              <a:t>We join the state population figures to</a:t>
            </a:r>
          </a:p>
          <a:p>
            <a:r>
              <a:rPr lang="en-US" dirty="0"/>
              <a:t>a file of states, here to a multi-part </a:t>
            </a:r>
          </a:p>
          <a:p>
            <a:r>
              <a:rPr lang="en-US" dirty="0"/>
              <a:t>shapefile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sz="2400" dirty="0"/>
              <a:t>Merge – takes single-part features and merges to multi-part</a:t>
            </a:r>
          </a:p>
          <a:p>
            <a:endParaRPr lang="en-US" sz="2400" dirty="0"/>
          </a:p>
          <a:p>
            <a:r>
              <a:rPr lang="en-US" sz="2400" dirty="0"/>
              <a:t>Explode – goes from multi- to single, making the parts of multi-part features independent</a:t>
            </a:r>
          </a:p>
          <a:p>
            <a:endParaRPr lang="en-US" sz="2400" dirty="0"/>
          </a:p>
          <a:p>
            <a:r>
              <a:rPr lang="en-US" sz="2400" dirty="0"/>
              <a:t>These work on all features in a layer rather than just selected features when used via the geoprocessing tools in QGIS</a:t>
            </a:r>
          </a:p>
        </p:txBody>
      </p:sp>
      <p:sp>
        <p:nvSpPr>
          <p:cNvPr id="3" name="Title 2"/>
          <p:cNvSpPr>
            <a:spLocks noGrp="1"/>
          </p:cNvSpPr>
          <p:nvPr>
            <p:ph type="title"/>
          </p:nvPr>
        </p:nvSpPr>
        <p:spPr/>
        <p:txBody>
          <a:bodyPr>
            <a:normAutofit/>
          </a:bodyPr>
          <a:lstStyle/>
          <a:p>
            <a:r>
              <a:rPr lang="en-US" dirty="0"/>
              <a:t>Merge and Single-to-Multi-part Commands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Content Placeholder 2"/>
          <p:cNvSpPr>
            <a:spLocks noGrp="1"/>
          </p:cNvSpPr>
          <p:nvPr>
            <p:ph idx="1"/>
          </p:nvPr>
        </p:nvSpPr>
        <p:spPr>
          <a:xfrm>
            <a:off x="457200" y="1828800"/>
            <a:ext cx="4038600" cy="4114800"/>
          </a:xfrm>
        </p:spPr>
        <p:txBody>
          <a:bodyPr/>
          <a:lstStyle/>
          <a:p>
            <a:pPr lvl="1"/>
            <a:endParaRPr lang="en-US" dirty="0"/>
          </a:p>
          <a:p>
            <a:pPr lvl="1"/>
            <a:r>
              <a:rPr lang="en-US" dirty="0"/>
              <a:t>Distance/Proximity</a:t>
            </a:r>
          </a:p>
          <a:p>
            <a:pPr lvl="4"/>
            <a:endParaRPr lang="en-US" dirty="0"/>
          </a:p>
          <a:p>
            <a:pPr lvl="4"/>
            <a:endParaRPr lang="en-US" dirty="0"/>
          </a:p>
          <a:p>
            <a:pPr lvl="4"/>
            <a:endParaRPr lang="en-US" dirty="0"/>
          </a:p>
          <a:p>
            <a:pPr lvl="1"/>
            <a:r>
              <a:rPr lang="en-US" dirty="0"/>
              <a:t>Adjacency </a:t>
            </a:r>
          </a:p>
          <a:p>
            <a:pPr lvl="1">
              <a:buFontTx/>
              <a:buNone/>
            </a:pPr>
            <a:r>
              <a:rPr lang="en-US" dirty="0"/>
              <a:t>or neighborhood</a:t>
            </a:r>
          </a:p>
          <a:p>
            <a:pPr lvl="4">
              <a:buFontTx/>
              <a:buNone/>
            </a:pPr>
            <a:endParaRPr lang="en-US" dirty="0"/>
          </a:p>
          <a:p>
            <a:pPr lvl="4">
              <a:buFontTx/>
              <a:buNone/>
            </a:pPr>
            <a:endParaRPr lang="en-US" dirty="0"/>
          </a:p>
          <a:p>
            <a:pPr lvl="4"/>
            <a:endParaRPr lang="en-US" dirty="0"/>
          </a:p>
          <a:p>
            <a:pPr lvl="1"/>
            <a:r>
              <a:rPr lang="en-US" dirty="0"/>
              <a:t>Interaction</a:t>
            </a:r>
          </a:p>
        </p:txBody>
      </p:sp>
      <p:sp>
        <p:nvSpPr>
          <p:cNvPr id="35842" name="Title 1"/>
          <p:cNvSpPr>
            <a:spLocks noGrp="1"/>
          </p:cNvSpPr>
          <p:nvPr>
            <p:ph type="title"/>
          </p:nvPr>
        </p:nvSpPr>
        <p:spPr>
          <a:xfrm>
            <a:off x="723900" y="228600"/>
            <a:ext cx="8915400" cy="1143000"/>
          </a:xfrm>
        </p:spPr>
        <p:txBody>
          <a:bodyPr>
            <a:normAutofit/>
          </a:bodyPr>
          <a:lstStyle/>
          <a:p>
            <a:r>
              <a:rPr lang="en-US" dirty="0"/>
              <a:t>Spatial is </a:t>
            </a:r>
            <a:r>
              <a:rPr lang="en-US" b="1" i="1" dirty="0">
                <a:solidFill>
                  <a:srgbClr val="00B0F0"/>
                </a:solidFill>
              </a:rPr>
              <a:t>special:</a:t>
            </a:r>
            <a:r>
              <a:rPr lang="en-US" b="1" dirty="0">
                <a:solidFill>
                  <a:srgbClr val="00B0F0"/>
                </a:solidFill>
              </a:rPr>
              <a:t> </a:t>
            </a:r>
            <a:r>
              <a:rPr lang="en-US" b="1" dirty="0"/>
              <a:t>3 </a:t>
            </a:r>
            <a:r>
              <a:rPr lang="en-US" dirty="0"/>
              <a:t>critical concepts</a:t>
            </a:r>
            <a:endParaRPr lang="en-US" b="1" dirty="0"/>
          </a:p>
        </p:txBody>
      </p:sp>
      <p:pic>
        <p:nvPicPr>
          <p:cNvPr id="29701" name="Picture 6" descr="distance2.gif"/>
          <p:cNvPicPr>
            <a:picLocks noChangeAspect="1"/>
          </p:cNvPicPr>
          <p:nvPr/>
        </p:nvPicPr>
        <p:blipFill>
          <a:blip r:embed="rId3" cstate="print"/>
          <a:srcRect/>
          <a:stretch>
            <a:fillRect/>
          </a:stretch>
        </p:blipFill>
        <p:spPr bwMode="auto">
          <a:xfrm>
            <a:off x="4921250" y="1828800"/>
            <a:ext cx="2120900" cy="1447800"/>
          </a:xfrm>
          <a:prstGeom prst="rect">
            <a:avLst/>
          </a:prstGeom>
          <a:noFill/>
          <a:ln w="9525">
            <a:noFill/>
            <a:miter lim="800000"/>
            <a:headEnd/>
            <a:tailEnd/>
          </a:ln>
        </p:spPr>
      </p:pic>
      <p:pic>
        <p:nvPicPr>
          <p:cNvPr id="29702" name="Picture 8" descr="Untitled.emf"/>
          <p:cNvPicPr>
            <a:picLocks noChangeAspect="1"/>
          </p:cNvPicPr>
          <p:nvPr/>
        </p:nvPicPr>
        <p:blipFill>
          <a:blip r:embed="rId4" cstate="print"/>
          <a:srcRect/>
          <a:stretch>
            <a:fillRect/>
          </a:stretch>
        </p:blipFill>
        <p:spPr bwMode="auto">
          <a:xfrm>
            <a:off x="5137150" y="3439023"/>
            <a:ext cx="1600200" cy="1262063"/>
          </a:xfrm>
          <a:prstGeom prst="rect">
            <a:avLst/>
          </a:prstGeom>
          <a:noFill/>
          <a:ln w="9525">
            <a:noFill/>
            <a:miter lim="800000"/>
            <a:headEnd/>
            <a:tailEnd/>
          </a:ln>
        </p:spPr>
      </p:pic>
      <p:pic>
        <p:nvPicPr>
          <p:cNvPr id="29703" name="Picture 9" descr="Untitled.emf"/>
          <p:cNvPicPr>
            <a:picLocks noChangeAspect="1"/>
          </p:cNvPicPr>
          <p:nvPr/>
        </p:nvPicPr>
        <p:blipFill>
          <a:blip r:embed="rId5" cstate="print"/>
          <a:srcRect t="26540" b="25331"/>
          <a:stretch>
            <a:fillRect/>
          </a:stretch>
        </p:blipFill>
        <p:spPr bwMode="auto">
          <a:xfrm>
            <a:off x="5029200" y="5191347"/>
            <a:ext cx="1905000" cy="72390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699">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970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9699">
                                            <p:txEl>
                                              <p:pRg st="5" end="5"/>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9699">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970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9699">
                                            <p:txEl>
                                              <p:pRg st="10" end="10"/>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970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699"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5" name="Rectangle 3"/>
          <p:cNvSpPr>
            <a:spLocks noGrp="1" noChangeArrowheads="1"/>
          </p:cNvSpPr>
          <p:nvPr>
            <p:ph idx="1"/>
          </p:nvPr>
        </p:nvSpPr>
        <p:spPr>
          <a:xfrm>
            <a:off x="381000" y="1750828"/>
            <a:ext cx="8610600" cy="5105400"/>
          </a:xfrm>
        </p:spPr>
        <p:txBody>
          <a:bodyPr>
            <a:normAutofit/>
          </a:bodyPr>
          <a:lstStyle/>
          <a:p>
            <a:pPr eaLnBrk="1" hangingPunct="1">
              <a:lnSpc>
                <a:spcPct val="90000"/>
              </a:lnSpc>
            </a:pPr>
            <a:r>
              <a:rPr lang="en-US" sz="2800" dirty="0"/>
              <a:t>Distance</a:t>
            </a:r>
          </a:p>
          <a:p>
            <a:pPr lvl="1" eaLnBrk="1" hangingPunct="1">
              <a:lnSpc>
                <a:spcPct val="90000"/>
              </a:lnSpc>
            </a:pPr>
            <a:r>
              <a:rPr lang="en-US" sz="2400" dirty="0"/>
              <a:t>The magnitude of spatial separation</a:t>
            </a:r>
          </a:p>
          <a:p>
            <a:pPr lvl="1" eaLnBrk="1" hangingPunct="1">
              <a:lnSpc>
                <a:spcPct val="90000"/>
              </a:lnSpc>
            </a:pPr>
            <a:r>
              <a:rPr lang="en-US" sz="2400" dirty="0"/>
              <a:t>Euclidean (straight line) distance often only an approximation</a:t>
            </a:r>
          </a:p>
          <a:p>
            <a:pPr eaLnBrk="1" hangingPunct="1">
              <a:lnSpc>
                <a:spcPct val="90000"/>
              </a:lnSpc>
            </a:pPr>
            <a:r>
              <a:rPr lang="en-US" sz="2800" dirty="0"/>
              <a:t>Adjacency or neighborhood</a:t>
            </a:r>
          </a:p>
          <a:p>
            <a:pPr lvl="1" eaLnBrk="1" hangingPunct="1">
              <a:lnSpc>
                <a:spcPct val="90000"/>
              </a:lnSpc>
            </a:pPr>
            <a:r>
              <a:rPr lang="en-US" sz="2400" dirty="0"/>
              <a:t>Nominal or binary (0,1) equivalent of distance</a:t>
            </a:r>
          </a:p>
          <a:p>
            <a:pPr lvl="1" eaLnBrk="1" hangingPunct="1">
              <a:lnSpc>
                <a:spcPct val="90000"/>
              </a:lnSpc>
            </a:pPr>
            <a:r>
              <a:rPr lang="en-US" sz="2400" dirty="0"/>
              <a:t>Levels of adjacency exist: 1</a:t>
            </a:r>
            <a:r>
              <a:rPr lang="en-US" sz="2400" baseline="30000" dirty="0"/>
              <a:t>st</a:t>
            </a:r>
            <a:r>
              <a:rPr lang="en-US" sz="2400" dirty="0"/>
              <a:t>, 2</a:t>
            </a:r>
            <a:r>
              <a:rPr lang="en-US" sz="2400" baseline="30000" dirty="0"/>
              <a:t>nd</a:t>
            </a:r>
            <a:r>
              <a:rPr lang="en-US" sz="2400" dirty="0"/>
              <a:t>, 3</a:t>
            </a:r>
            <a:r>
              <a:rPr lang="en-US" sz="2400" baseline="30000" dirty="0"/>
              <a:t>rd</a:t>
            </a:r>
            <a:r>
              <a:rPr lang="en-US" sz="2400" dirty="0"/>
              <a:t>  nearest neighbor, etc..</a:t>
            </a:r>
          </a:p>
          <a:p>
            <a:pPr eaLnBrk="1" hangingPunct="1">
              <a:lnSpc>
                <a:spcPct val="90000"/>
              </a:lnSpc>
            </a:pPr>
            <a:r>
              <a:rPr lang="en-US" sz="2800" dirty="0"/>
              <a:t>Interaction</a:t>
            </a:r>
          </a:p>
          <a:p>
            <a:pPr lvl="1" eaLnBrk="1" hangingPunct="1">
              <a:lnSpc>
                <a:spcPct val="90000"/>
              </a:lnSpc>
            </a:pPr>
            <a:r>
              <a:rPr lang="en-US" sz="2400" dirty="0"/>
              <a:t>The strength of the relationship between entities</a:t>
            </a:r>
          </a:p>
          <a:p>
            <a:pPr lvl="1" eaLnBrk="1" hangingPunct="1">
              <a:lnSpc>
                <a:spcPct val="90000"/>
              </a:lnSpc>
            </a:pPr>
            <a:r>
              <a:rPr lang="en-US" sz="2400" dirty="0"/>
              <a:t>An inverse  function of distance</a:t>
            </a:r>
          </a:p>
        </p:txBody>
      </p:sp>
      <p:sp>
        <p:nvSpPr>
          <p:cNvPr id="36867" name="Slide Number Placeholder 5"/>
          <p:cNvSpPr>
            <a:spLocks noGrp="1"/>
          </p:cNvSpPr>
          <p:nvPr>
            <p:ph type="sldNum" sz="quarter" idx="12"/>
          </p:nvPr>
        </p:nvSpPr>
        <p:spPr>
          <a:noFill/>
        </p:spPr>
        <p:txBody>
          <a:bodyPr/>
          <a:lstStyle/>
          <a:p>
            <a:fld id="{C2E6B27C-0E19-4399-A920-08426D56BEBC}" type="slidenum">
              <a:rPr lang="en-US" smtClean="0"/>
              <a:pPr/>
              <a:t>17</a:t>
            </a:fld>
            <a:endParaRPr lang="en-US"/>
          </a:p>
        </p:txBody>
      </p:sp>
      <p:sp>
        <p:nvSpPr>
          <p:cNvPr id="36868" name="Rectangle 2"/>
          <p:cNvSpPr>
            <a:spLocks noGrp="1" noChangeArrowheads="1"/>
          </p:cNvSpPr>
          <p:nvPr>
            <p:ph type="title"/>
          </p:nvPr>
        </p:nvSpPr>
        <p:spPr>
          <a:xfrm>
            <a:off x="495300" y="499525"/>
            <a:ext cx="8153400" cy="914400"/>
          </a:xfrm>
        </p:spPr>
        <p:txBody>
          <a:bodyPr/>
          <a:lstStyle/>
          <a:p>
            <a:pPr eaLnBrk="1" hangingPunct="1"/>
            <a:r>
              <a:rPr lang="en-US" sz="3600" dirty="0"/>
              <a:t>Fundamental Spatial Concepts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72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0725">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072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0725">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0725">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0725">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0725">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0725">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072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Rectangle 3"/>
          <p:cNvSpPr>
            <a:spLocks noGrp="1" noChangeArrowheads="1"/>
          </p:cNvSpPr>
          <p:nvPr>
            <p:ph idx="1"/>
          </p:nvPr>
        </p:nvSpPr>
        <p:spPr/>
        <p:txBody>
          <a:bodyPr>
            <a:normAutofit/>
          </a:bodyPr>
          <a:lstStyle/>
          <a:p>
            <a:pPr eaLnBrk="1" hangingPunct="1"/>
            <a:r>
              <a:rPr lang="en-US" sz="3200" dirty="0"/>
              <a:t>Frequency</a:t>
            </a:r>
          </a:p>
          <a:p>
            <a:pPr eaLnBrk="1" hangingPunct="1"/>
            <a:r>
              <a:rPr lang="en-US" sz="3200" dirty="0"/>
              <a:t>Summary Statistics</a:t>
            </a:r>
          </a:p>
        </p:txBody>
      </p:sp>
      <p:sp>
        <p:nvSpPr>
          <p:cNvPr id="37890" name="Rectangle 2"/>
          <p:cNvSpPr>
            <a:spLocks noGrp="1" noChangeArrowheads="1"/>
          </p:cNvSpPr>
          <p:nvPr>
            <p:ph type="title"/>
          </p:nvPr>
        </p:nvSpPr>
        <p:spPr/>
        <p:txBody>
          <a:bodyPr/>
          <a:lstStyle/>
          <a:p>
            <a:pPr eaLnBrk="1" hangingPunct="1">
              <a:defRPr/>
            </a:pPr>
            <a:r>
              <a:rPr lang="en-US"/>
              <a:t>Statistics Tools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Rectangle 3"/>
          <p:cNvSpPr>
            <a:spLocks noGrp="1" noChangeArrowheads="1"/>
          </p:cNvSpPr>
          <p:nvPr>
            <p:ph idx="1"/>
          </p:nvPr>
        </p:nvSpPr>
        <p:spPr/>
        <p:txBody>
          <a:bodyPr>
            <a:normAutofit/>
          </a:bodyPr>
          <a:lstStyle/>
          <a:p>
            <a:pPr eaLnBrk="1" hangingPunct="1"/>
            <a:r>
              <a:rPr lang="en-US" sz="2400" dirty="0"/>
              <a:t>Produces a list of the unique code occurrences and their frequency in an output table for a specified set of fields from an input feature class or table. </a:t>
            </a:r>
          </a:p>
          <a:p>
            <a:pPr eaLnBrk="1" hangingPunct="1"/>
            <a:endParaRPr lang="en-US" sz="2400" dirty="0"/>
          </a:p>
          <a:p>
            <a:pPr eaLnBrk="1" hangingPunct="1"/>
            <a:r>
              <a:rPr lang="en-US" sz="2400" dirty="0"/>
              <a:t>Optionally, summary items may be totaled for each unique code combination—for example, the total area for unique combinations of zoning and land use. </a:t>
            </a:r>
          </a:p>
        </p:txBody>
      </p:sp>
      <p:sp>
        <p:nvSpPr>
          <p:cNvPr id="38914" name="Rectangle 2"/>
          <p:cNvSpPr>
            <a:spLocks noGrp="1" noChangeArrowheads="1"/>
          </p:cNvSpPr>
          <p:nvPr>
            <p:ph type="title"/>
          </p:nvPr>
        </p:nvSpPr>
        <p:spPr/>
        <p:txBody>
          <a:bodyPr/>
          <a:lstStyle/>
          <a:p>
            <a:pPr eaLnBrk="1" hangingPunct="1">
              <a:defRPr/>
            </a:pPr>
            <a:r>
              <a:rPr lang="en-US"/>
              <a:t>Frequency</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Rectangle 3"/>
          <p:cNvSpPr>
            <a:spLocks noGrp="1" noChangeArrowheads="1"/>
          </p:cNvSpPr>
          <p:nvPr>
            <p:ph idx="1"/>
          </p:nvPr>
        </p:nvSpPr>
        <p:spPr/>
        <p:txBody>
          <a:bodyPr>
            <a:normAutofit/>
          </a:bodyPr>
          <a:lstStyle/>
          <a:p>
            <a:pPr eaLnBrk="1" hangingPunct="1"/>
            <a:r>
              <a:rPr lang="en-US" sz="2400" dirty="0"/>
              <a:t>Generates summary statistics for fields from an input table or feature class and saves them in an output table. </a:t>
            </a:r>
          </a:p>
          <a:p>
            <a:pPr eaLnBrk="1" hangingPunct="1"/>
            <a:endParaRPr lang="en-US" sz="2400" dirty="0"/>
          </a:p>
          <a:p>
            <a:pPr eaLnBrk="1" hangingPunct="1"/>
            <a:r>
              <a:rPr lang="en-US" sz="2400" dirty="0"/>
              <a:t>This tool contains the following statistics types: sum, mean, minimum, maximum, standard deviation, range, first value, and last value.</a:t>
            </a:r>
          </a:p>
        </p:txBody>
      </p:sp>
      <p:sp>
        <p:nvSpPr>
          <p:cNvPr id="39938" name="Rectangle 2"/>
          <p:cNvSpPr>
            <a:spLocks noGrp="1" noChangeArrowheads="1"/>
          </p:cNvSpPr>
          <p:nvPr>
            <p:ph type="title"/>
          </p:nvPr>
        </p:nvSpPr>
        <p:spPr/>
        <p:txBody>
          <a:bodyPr/>
          <a:lstStyle/>
          <a:p>
            <a:pPr eaLnBrk="1" hangingPunct="1">
              <a:defRPr/>
            </a:pPr>
            <a:r>
              <a:rPr lang="en-US"/>
              <a:t>Summary Statistics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a:xfrm>
            <a:off x="609600" y="304800"/>
            <a:ext cx="8839200" cy="1066800"/>
          </a:xfrm>
        </p:spPr>
        <p:txBody>
          <a:bodyPr/>
          <a:lstStyle/>
          <a:p>
            <a:r>
              <a:rPr lang="en-US" sz="3600" dirty="0"/>
              <a:t>The Process of Geocoding:</a:t>
            </a:r>
          </a:p>
        </p:txBody>
      </p:sp>
      <p:sp>
        <p:nvSpPr>
          <p:cNvPr id="30723" name="Rectangle 3"/>
          <p:cNvSpPr>
            <a:spLocks noGrp="1" noChangeArrowheads="1"/>
          </p:cNvSpPr>
          <p:nvPr>
            <p:ph type="body" idx="1"/>
          </p:nvPr>
        </p:nvSpPr>
        <p:spPr>
          <a:xfrm>
            <a:off x="990600" y="1752600"/>
            <a:ext cx="7848600" cy="3886200"/>
          </a:xfrm>
        </p:spPr>
        <p:txBody>
          <a:bodyPr/>
          <a:lstStyle/>
          <a:p>
            <a:r>
              <a:rPr lang="en-US" sz="2800" dirty="0"/>
              <a:t>Standardizing the address</a:t>
            </a:r>
          </a:p>
          <a:p>
            <a:r>
              <a:rPr lang="en-US" sz="2800" dirty="0"/>
              <a:t>Searching for potential candidates</a:t>
            </a:r>
          </a:p>
          <a:p>
            <a:r>
              <a:rPr lang="en-US" sz="2800" dirty="0"/>
              <a:t>Scoring each candidate</a:t>
            </a:r>
          </a:p>
          <a:p>
            <a:r>
              <a:rPr lang="en-US" sz="2800" dirty="0"/>
              <a:t>Matching address to best candidate</a:t>
            </a:r>
          </a:p>
        </p:txBody>
      </p:sp>
    </p:spTree>
    <p:extLst>
      <p:ext uri="{BB962C8B-B14F-4D97-AF65-F5344CB8AC3E}">
        <p14:creationId xmlns:p14="http://schemas.microsoft.com/office/powerpoint/2010/main" val="18866397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xfrm>
            <a:off x="838200" y="381000"/>
            <a:ext cx="8839200" cy="990600"/>
          </a:xfrm>
        </p:spPr>
        <p:txBody>
          <a:bodyPr/>
          <a:lstStyle/>
          <a:p>
            <a:r>
              <a:rPr lang="en-US" sz="3600" dirty="0"/>
              <a:t>Standardizing the Address</a:t>
            </a:r>
          </a:p>
        </p:txBody>
      </p:sp>
      <p:sp>
        <p:nvSpPr>
          <p:cNvPr id="32771" name="Rectangle 3"/>
          <p:cNvSpPr>
            <a:spLocks noGrp="1" noChangeArrowheads="1"/>
          </p:cNvSpPr>
          <p:nvPr>
            <p:ph type="body" idx="1"/>
          </p:nvPr>
        </p:nvSpPr>
        <p:spPr/>
        <p:txBody>
          <a:bodyPr>
            <a:normAutofit/>
          </a:bodyPr>
          <a:lstStyle/>
          <a:p>
            <a:r>
              <a:rPr lang="en-US" sz="2800" dirty="0"/>
              <a:t>During this step the address is broken into components</a:t>
            </a:r>
          </a:p>
          <a:p>
            <a:r>
              <a:rPr lang="en-US" sz="2800" dirty="0"/>
              <a:t>For example: street number, street name, street type and street direction</a:t>
            </a:r>
          </a:p>
        </p:txBody>
      </p:sp>
    </p:spTree>
    <p:extLst>
      <p:ext uri="{BB962C8B-B14F-4D97-AF65-F5344CB8AC3E}">
        <p14:creationId xmlns:p14="http://schemas.microsoft.com/office/powerpoint/2010/main" val="25061831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xfrm>
            <a:off x="762000" y="533400"/>
            <a:ext cx="8686800" cy="1219199"/>
          </a:xfrm>
        </p:spPr>
        <p:txBody>
          <a:bodyPr/>
          <a:lstStyle/>
          <a:p>
            <a:r>
              <a:rPr lang="en-US" sz="3600" dirty="0"/>
              <a:t>Matching Address to Best Candidate</a:t>
            </a:r>
          </a:p>
        </p:txBody>
      </p:sp>
      <p:sp>
        <p:nvSpPr>
          <p:cNvPr id="35843" name="Rectangle 3"/>
          <p:cNvSpPr>
            <a:spLocks noGrp="1" noChangeArrowheads="1"/>
          </p:cNvSpPr>
          <p:nvPr>
            <p:ph type="body" idx="1"/>
          </p:nvPr>
        </p:nvSpPr>
        <p:spPr/>
        <p:txBody>
          <a:bodyPr>
            <a:normAutofit/>
          </a:bodyPr>
          <a:lstStyle/>
          <a:p>
            <a:r>
              <a:rPr lang="en-US" sz="2800" dirty="0"/>
              <a:t>The geocoding service looks for the potential candidate with the highest score</a:t>
            </a:r>
          </a:p>
          <a:p>
            <a:endParaRPr lang="en-US" sz="2800" dirty="0"/>
          </a:p>
          <a:p>
            <a:r>
              <a:rPr lang="en-US" sz="2800" dirty="0"/>
              <a:t>If the score exceeds the minimum match score setting, then the service matches the address with that candidate</a:t>
            </a:r>
          </a:p>
        </p:txBody>
      </p:sp>
    </p:spTree>
    <p:extLst>
      <p:ext uri="{BB962C8B-B14F-4D97-AF65-F5344CB8AC3E}">
        <p14:creationId xmlns:p14="http://schemas.microsoft.com/office/powerpoint/2010/main" val="20289738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a:xfrm>
            <a:off x="457200" y="228600"/>
            <a:ext cx="8915400" cy="914400"/>
          </a:xfrm>
        </p:spPr>
        <p:txBody>
          <a:bodyPr/>
          <a:lstStyle/>
          <a:p>
            <a:r>
              <a:rPr lang="en-US" sz="3600" dirty="0"/>
              <a:t>Geocoding Process Settings</a:t>
            </a:r>
          </a:p>
        </p:txBody>
      </p:sp>
      <p:sp>
        <p:nvSpPr>
          <p:cNvPr id="36867" name="Rectangle 3"/>
          <p:cNvSpPr>
            <a:spLocks noGrp="1" noChangeArrowheads="1"/>
          </p:cNvSpPr>
          <p:nvPr>
            <p:ph type="body" idx="1"/>
          </p:nvPr>
        </p:nvSpPr>
        <p:spPr>
          <a:xfrm>
            <a:off x="990600" y="1600200"/>
            <a:ext cx="7848600" cy="4876800"/>
          </a:xfrm>
        </p:spPr>
        <p:txBody>
          <a:bodyPr>
            <a:normAutofit/>
          </a:bodyPr>
          <a:lstStyle/>
          <a:p>
            <a:r>
              <a:rPr lang="en-US" sz="3200" dirty="0"/>
              <a:t>Spelling Sensitivity</a:t>
            </a:r>
          </a:p>
          <a:p>
            <a:r>
              <a:rPr lang="en-US" sz="3200" dirty="0"/>
              <a:t>Minimum Candidate Score</a:t>
            </a:r>
          </a:p>
          <a:p>
            <a:r>
              <a:rPr lang="en-US" sz="3200" dirty="0"/>
              <a:t>Minimum Match Score</a:t>
            </a:r>
          </a:p>
        </p:txBody>
      </p:sp>
    </p:spTree>
    <p:extLst>
      <p:ext uri="{BB962C8B-B14F-4D97-AF65-F5344CB8AC3E}">
        <p14:creationId xmlns:p14="http://schemas.microsoft.com/office/powerpoint/2010/main" val="268799094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A30CC-29B1-64BB-B1A4-6CE9E6212928}"/>
              </a:ext>
            </a:extLst>
          </p:cNvPr>
          <p:cNvSpPr>
            <a:spLocks noGrp="1"/>
          </p:cNvSpPr>
          <p:nvPr>
            <p:ph type="title"/>
          </p:nvPr>
        </p:nvSpPr>
        <p:spPr/>
        <p:txBody>
          <a:bodyPr/>
          <a:lstStyle/>
          <a:p>
            <a:r>
              <a:rPr lang="en-US" dirty="0"/>
              <a:t>MMQGIS PLUGIN</a:t>
            </a:r>
          </a:p>
        </p:txBody>
      </p:sp>
      <p:pic>
        <p:nvPicPr>
          <p:cNvPr id="5" name="Content Placeholder 4">
            <a:extLst>
              <a:ext uri="{FF2B5EF4-FFF2-40B4-BE49-F238E27FC236}">
                <a16:creationId xmlns:a16="http://schemas.microsoft.com/office/drawing/2014/main" id="{70F50ADA-963F-27C1-9EF5-B0F9B5EC974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42367" y="2057400"/>
            <a:ext cx="7659265" cy="4499818"/>
          </a:xfrm>
        </p:spPr>
      </p:pic>
    </p:spTree>
    <p:extLst>
      <p:ext uri="{BB962C8B-B14F-4D97-AF65-F5344CB8AC3E}">
        <p14:creationId xmlns:p14="http://schemas.microsoft.com/office/powerpoint/2010/main" val="413333102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E5C383-9AEF-28B5-C46E-F68AE2C18E6D}"/>
              </a:ext>
            </a:extLst>
          </p:cNvPr>
          <p:cNvSpPr>
            <a:spLocks noGrp="1"/>
          </p:cNvSpPr>
          <p:nvPr>
            <p:ph type="title"/>
          </p:nvPr>
        </p:nvSpPr>
        <p:spPr/>
        <p:txBody>
          <a:bodyPr/>
          <a:lstStyle/>
          <a:p>
            <a:r>
              <a:rPr lang="en-US" dirty="0"/>
              <a:t>ADDRESSES</a:t>
            </a:r>
          </a:p>
        </p:txBody>
      </p:sp>
      <p:pic>
        <p:nvPicPr>
          <p:cNvPr id="5" name="Content Placeholder 4">
            <a:extLst>
              <a:ext uri="{FF2B5EF4-FFF2-40B4-BE49-F238E27FC236}">
                <a16:creationId xmlns:a16="http://schemas.microsoft.com/office/drawing/2014/main" id="{477A4D49-2DCF-D5C5-BC3E-99F05D696C2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62000" y="1981200"/>
            <a:ext cx="7355425" cy="4719952"/>
          </a:xfrm>
        </p:spPr>
      </p:pic>
    </p:spTree>
    <p:extLst>
      <p:ext uri="{BB962C8B-B14F-4D97-AF65-F5344CB8AC3E}">
        <p14:creationId xmlns:p14="http://schemas.microsoft.com/office/powerpoint/2010/main" val="27363300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57A1A25-64B5-1F79-7C6A-F8928ED7BC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86" y="778336"/>
            <a:ext cx="9189832" cy="5301327"/>
          </a:xfrm>
          <a:prstGeom prst="rect">
            <a:avLst/>
          </a:prstGeom>
        </p:spPr>
      </p:pic>
    </p:spTree>
    <p:extLst>
      <p:ext uri="{BB962C8B-B14F-4D97-AF65-F5344CB8AC3E}">
        <p14:creationId xmlns:p14="http://schemas.microsoft.com/office/powerpoint/2010/main" val="373401385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computer&#10;&#10;Description automatically generated">
            <a:extLst>
              <a:ext uri="{FF2B5EF4-FFF2-40B4-BE49-F238E27FC236}">
                <a16:creationId xmlns:a16="http://schemas.microsoft.com/office/drawing/2014/main" id="{5C33B391-CCFA-44E7-248F-BD48857883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0" y="762000"/>
            <a:ext cx="8534400" cy="5576230"/>
          </a:xfrm>
          <a:prstGeom prst="rect">
            <a:avLst/>
          </a:prstGeom>
        </p:spPr>
      </p:pic>
    </p:spTree>
    <p:extLst>
      <p:ext uri="{BB962C8B-B14F-4D97-AF65-F5344CB8AC3E}">
        <p14:creationId xmlns:p14="http://schemas.microsoft.com/office/powerpoint/2010/main" val="93136138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8F1373-5072-CECC-D51F-676834783139}"/>
              </a:ext>
            </a:extLst>
          </p:cNvPr>
          <p:cNvSpPr>
            <a:spLocks noGrp="1"/>
          </p:cNvSpPr>
          <p:nvPr>
            <p:ph type="title"/>
          </p:nvPr>
        </p:nvSpPr>
        <p:spPr/>
        <p:txBody>
          <a:bodyPr/>
          <a:lstStyle/>
          <a:p>
            <a:endParaRPr lang="en-US" dirty="0"/>
          </a:p>
        </p:txBody>
      </p:sp>
      <p:pic>
        <p:nvPicPr>
          <p:cNvPr id="5" name="Content Placeholder 4" descr="A screenshot of a computer&#10;&#10;Description automatically generated">
            <a:extLst>
              <a:ext uri="{FF2B5EF4-FFF2-40B4-BE49-F238E27FC236}">
                <a16:creationId xmlns:a16="http://schemas.microsoft.com/office/drawing/2014/main" id="{0587EB99-85A1-1B4B-A98C-1EDE301CF63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10338" y="2227263"/>
            <a:ext cx="5731261" cy="3632200"/>
          </a:xfrm>
        </p:spPr>
      </p:pic>
    </p:spTree>
    <p:extLst>
      <p:ext uri="{BB962C8B-B14F-4D97-AF65-F5344CB8AC3E}">
        <p14:creationId xmlns:p14="http://schemas.microsoft.com/office/powerpoint/2010/main" val="292058606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computer&#10;&#10;Description automatically generated">
            <a:extLst>
              <a:ext uri="{FF2B5EF4-FFF2-40B4-BE49-F238E27FC236}">
                <a16:creationId xmlns:a16="http://schemas.microsoft.com/office/drawing/2014/main" id="{48BCC054-9C58-080B-B50F-39DEA252562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 y="717415"/>
            <a:ext cx="9144000" cy="5423169"/>
          </a:xfrm>
          <a:prstGeom prst="rect">
            <a:avLst/>
          </a:prstGeom>
        </p:spPr>
      </p:pic>
    </p:spTree>
    <p:extLst>
      <p:ext uri="{BB962C8B-B14F-4D97-AF65-F5344CB8AC3E}">
        <p14:creationId xmlns:p14="http://schemas.microsoft.com/office/powerpoint/2010/main" val="106362866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4">
            <a:extLst>
              <a:ext uri="{FF2B5EF4-FFF2-40B4-BE49-F238E27FC236}">
                <a16:creationId xmlns:a16="http://schemas.microsoft.com/office/drawing/2014/main" id="{0467DC42-0F6C-31E2-E830-B80535B34E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5426" y="1066800"/>
            <a:ext cx="8833147" cy="5097463"/>
          </a:xfrm>
          <a:prstGeom prst="rect">
            <a:avLst/>
          </a:prstGeom>
        </p:spPr>
      </p:pic>
    </p:spTree>
    <p:extLst>
      <p:ext uri="{BB962C8B-B14F-4D97-AF65-F5344CB8AC3E}">
        <p14:creationId xmlns:p14="http://schemas.microsoft.com/office/powerpoint/2010/main" val="205141873"/>
      </p:ext>
    </p:extLst>
  </p:cSld>
  <p:clrMapOvr>
    <a:masterClrMapping/>
  </p:clrMapOvr>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66F1C100-1D2B-4BEA-AD01-C4F230B3B96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Dividend</Template>
  <TotalTime>15579</TotalTime>
  <Words>1061</Words>
  <Application>Microsoft Macintosh PowerPoint</Application>
  <PresentationFormat>On-screen Show (4:3)</PresentationFormat>
  <Paragraphs>163</Paragraphs>
  <Slides>31</Slides>
  <Notes>3</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31</vt:i4>
      </vt:variant>
    </vt:vector>
  </HeadingPairs>
  <TitlesOfParts>
    <vt:vector size="39" baseType="lpstr">
      <vt:lpstr>Arial</vt:lpstr>
      <vt:lpstr>Calibri</vt:lpstr>
      <vt:lpstr>Gill Sans MT</vt:lpstr>
      <vt:lpstr>Tahoma</vt:lpstr>
      <vt:lpstr>Times New Roman</vt:lpstr>
      <vt:lpstr>Wingdings 2</vt:lpstr>
      <vt:lpstr>Dividend</vt:lpstr>
      <vt:lpstr>Worksheet</vt:lpstr>
      <vt:lpstr>GIS and Spatial Analytics </vt:lpstr>
      <vt:lpstr>What Will We Cover Today?</vt:lpstr>
      <vt:lpstr>Spatial Overlays</vt:lpstr>
      <vt:lpstr>Proximity Tools</vt:lpstr>
      <vt:lpstr>PowerPoint Presentation</vt:lpstr>
      <vt:lpstr>Buffers for Lines and Polygons</vt:lpstr>
      <vt:lpstr>Multiple Ring Buffer</vt:lpstr>
      <vt:lpstr>Near</vt:lpstr>
      <vt:lpstr>GIS is not perfect</vt:lpstr>
      <vt:lpstr>A Conceptual View of Uncertainty</vt:lpstr>
      <vt:lpstr>Response to Uncertainty</vt:lpstr>
      <vt:lpstr>Common Errors</vt:lpstr>
      <vt:lpstr>Single Parts vs. Multiple Parts</vt:lpstr>
      <vt:lpstr>Multi-Part vs. Single-Part</vt:lpstr>
      <vt:lpstr>Merge and Single-to-Multi-part Commands</vt:lpstr>
      <vt:lpstr>Spatial is special: 3 critical concepts</vt:lpstr>
      <vt:lpstr>Fundamental Spatial Concepts</vt:lpstr>
      <vt:lpstr>Statistics Tools</vt:lpstr>
      <vt:lpstr>Frequency</vt:lpstr>
      <vt:lpstr>Summary Statistics</vt:lpstr>
      <vt:lpstr>The Process of Geocoding:</vt:lpstr>
      <vt:lpstr>Standardizing the Address</vt:lpstr>
      <vt:lpstr>Matching Address to Best Candidate</vt:lpstr>
      <vt:lpstr>Geocoding Process Settings</vt:lpstr>
      <vt:lpstr>MMQGIS PLUGIN</vt:lpstr>
      <vt:lpstr>ADDRESSES</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James Gimpel</dc:creator>
  <cp:lastModifiedBy>Edwin Grimsley</cp:lastModifiedBy>
  <cp:revision>67</cp:revision>
  <dcterms:created xsi:type="dcterms:W3CDTF">2011-09-13T13:49:46Z</dcterms:created>
  <dcterms:modified xsi:type="dcterms:W3CDTF">2025-10-07T16:13:19Z</dcterms:modified>
</cp:coreProperties>
</file>